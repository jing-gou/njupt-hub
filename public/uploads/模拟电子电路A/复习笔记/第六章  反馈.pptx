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466" r:id="rId3"/>
    <p:sldId id="286" r:id="rId4"/>
    <p:sldId id="370" r:id="rId5"/>
    <p:sldId id="492" r:id="rId6"/>
    <p:sldId id="372" r:id="rId7"/>
    <p:sldId id="373" r:id="rId8"/>
    <p:sldId id="523" r:id="rId9"/>
    <p:sldId id="524" r:id="rId10"/>
    <p:sldId id="374" r:id="rId11"/>
    <p:sldId id="452" r:id="rId12"/>
    <p:sldId id="453" r:id="rId13"/>
    <p:sldId id="493" r:id="rId14"/>
    <p:sldId id="494" r:id="rId15"/>
    <p:sldId id="495" r:id="rId16"/>
    <p:sldId id="515" r:id="rId17"/>
    <p:sldId id="516" r:id="rId18"/>
    <p:sldId id="501" r:id="rId19"/>
    <p:sldId id="502" r:id="rId20"/>
    <p:sldId id="503" r:id="rId21"/>
    <p:sldId id="506" r:id="rId22"/>
    <p:sldId id="504" r:id="rId23"/>
    <p:sldId id="505" r:id="rId24"/>
    <p:sldId id="509" r:id="rId25"/>
    <p:sldId id="517" r:id="rId26"/>
    <p:sldId id="518" r:id="rId27"/>
    <p:sldId id="553" r:id="rId28"/>
    <p:sldId id="554" r:id="rId29"/>
    <p:sldId id="555" r:id="rId30"/>
    <p:sldId id="556" r:id="rId31"/>
    <p:sldId id="557" r:id="rId32"/>
    <p:sldId id="519" r:id="rId33"/>
    <p:sldId id="520" r:id="rId34"/>
    <p:sldId id="521" r:id="rId35"/>
    <p:sldId id="522" r:id="rId36"/>
    <p:sldId id="525" r:id="rId37"/>
    <p:sldId id="526" r:id="rId38"/>
    <p:sldId id="528" r:id="rId39"/>
    <p:sldId id="529" r:id="rId40"/>
    <p:sldId id="530" r:id="rId41"/>
    <p:sldId id="531" r:id="rId42"/>
    <p:sldId id="532" r:id="rId43"/>
    <p:sldId id="535" r:id="rId44"/>
    <p:sldId id="375" r:id="rId45"/>
    <p:sldId id="376" r:id="rId46"/>
    <p:sldId id="468" r:id="rId47"/>
    <p:sldId id="379" r:id="rId48"/>
    <p:sldId id="380" r:id="rId49"/>
    <p:sldId id="381" r:id="rId50"/>
    <p:sldId id="384" r:id="rId51"/>
    <p:sldId id="385" r:id="rId52"/>
    <p:sldId id="470" r:id="rId53"/>
    <p:sldId id="469" r:id="rId54"/>
    <p:sldId id="386" r:id="rId55"/>
    <p:sldId id="536" r:id="rId56"/>
    <p:sldId id="458" r:id="rId57"/>
    <p:sldId id="478" r:id="rId58"/>
    <p:sldId id="479" r:id="rId59"/>
    <p:sldId id="389" r:id="rId60"/>
    <p:sldId id="472" r:id="rId62"/>
    <p:sldId id="473" r:id="rId63"/>
    <p:sldId id="391" r:id="rId64"/>
    <p:sldId id="559" r:id="rId65"/>
    <p:sldId id="537" r:id="rId66"/>
    <p:sldId id="417" r:id="rId67"/>
    <p:sldId id="416" r:id="rId68"/>
    <p:sldId id="538" r:id="rId69"/>
    <p:sldId id="539" r:id="rId70"/>
    <p:sldId id="540" r:id="rId71"/>
    <p:sldId id="541" r:id="rId72"/>
    <p:sldId id="542" r:id="rId73"/>
    <p:sldId id="543" r:id="rId74"/>
    <p:sldId id="544" r:id="rId75"/>
    <p:sldId id="545" r:id="rId76"/>
    <p:sldId id="421" r:id="rId77"/>
    <p:sldId id="420" r:id="rId78"/>
    <p:sldId id="546" r:id="rId79"/>
    <p:sldId id="438" r:id="rId80"/>
    <p:sldId id="547" r:id="rId81"/>
    <p:sldId id="439" r:id="rId82"/>
    <p:sldId id="558" r:id="rId83"/>
    <p:sldId id="440" r:id="rId84"/>
    <p:sldId id="549" r:id="rId85"/>
    <p:sldId id="441" r:id="rId86"/>
    <p:sldId id="551" r:id="rId87"/>
    <p:sldId id="550" r:id="rId88"/>
    <p:sldId id="552" r:id="rId89"/>
    <p:sldId id="442" r:id="rId90"/>
    <p:sldId id="560" r:id="rId91"/>
    <p:sldId id="561" r:id="rId92"/>
    <p:sldId id="562" r:id="rId93"/>
    <p:sldId id="563" r:id="rId94"/>
    <p:sldId id="564" r:id="rId95"/>
    <p:sldId id="565" r:id="rId96"/>
    <p:sldId id="566" r:id="rId97"/>
    <p:sldId id="568" r:id="rId98"/>
    <p:sldId id="567" r:id="rId99"/>
    <p:sldId id="369" r:id="rId100"/>
  </p:sldIdLst>
  <p:sldSz cx="9144000" cy="6858000" type="screen4x3"/>
  <p:notesSz cx="6858000" cy="9144000"/>
  <p:defaultTextStyle>
    <a:defPPr>
      <a:defRPr lang="zh-CN"/>
    </a:defPPr>
    <a:lvl1pPr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236" userDrawn="1">
          <p15:clr>
            <a:srgbClr val="A4A3A4"/>
          </p15:clr>
        </p15:guide>
        <p15:guide id="2" pos="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FF"/>
    <a:srgbClr val="990099"/>
    <a:srgbClr val="CC0000"/>
    <a:srgbClr val="FF00FF"/>
    <a:srgbClr val="CC0099"/>
    <a:srgbClr val="660066"/>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8" d="100"/>
          <a:sy n="88" d="100"/>
        </p:scale>
        <p:origin x="1334" y="67"/>
      </p:cViewPr>
      <p:guideLst>
        <p:guide orient="horz" pos="4236"/>
        <p:guide pos="86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notesMaster" Target="notesMasters/notesMaster1.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emf"/><Relationship Id="rId2" Type="http://schemas.openxmlformats.org/officeDocument/2006/relationships/image" Target="../media/image10.w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52.e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emf"/><Relationship Id="rId1" Type="http://schemas.openxmlformats.org/officeDocument/2006/relationships/image" Target="../media/image5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3.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image" Target="../media/image6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image" Target="../media/image69.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82.wmf"/><Relationship Id="rId3" Type="http://schemas.openxmlformats.org/officeDocument/2006/relationships/image" Target="../media/image81.emf"/><Relationship Id="rId2" Type="http://schemas.openxmlformats.org/officeDocument/2006/relationships/image" Target="../media/image80.wmf"/><Relationship Id="rId1" Type="http://schemas.openxmlformats.org/officeDocument/2006/relationships/image" Target="../media/image79.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84.wmf"/><Relationship Id="rId1" Type="http://schemas.openxmlformats.org/officeDocument/2006/relationships/image" Target="../media/image83.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86.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8.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7.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91.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9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28.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26.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26.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99.wmf"/><Relationship Id="rId1" Type="http://schemas.openxmlformats.org/officeDocument/2006/relationships/image" Target="../media/image100.wmf"/></Relationships>
</file>

<file path=ppt/drawings/_rels/vmlDrawing50.vml.rels><?xml version="1.0" encoding="UTF-8" standalone="yes"?>
<Relationships xmlns="http://schemas.openxmlformats.org/package/2006/relationships"><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55.vml.rels><?xml version="1.0" encoding="UTF-8" standalone="yes"?>
<Relationships xmlns="http://schemas.openxmlformats.org/package/2006/relationships"><Relationship Id="rId5" Type="http://schemas.openxmlformats.org/officeDocument/2006/relationships/image" Target="../media/image123.wmf"/><Relationship Id="rId4" Type="http://schemas.openxmlformats.org/officeDocument/2006/relationships/image" Target="../media/image122.wmf"/><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26.wmf"/><Relationship Id="rId1" Type="http://schemas.openxmlformats.org/officeDocument/2006/relationships/image" Target="../media/image125.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image" Target="../media/image128.wmf"/></Relationships>
</file>

<file path=ppt/drawings/_rels/vmlDrawing60.vml.rels><?xml version="1.0" encoding="UTF-8" standalone="yes"?>
<Relationships xmlns="http://schemas.openxmlformats.org/package/2006/relationships"><Relationship Id="rId6" Type="http://schemas.openxmlformats.org/officeDocument/2006/relationships/image" Target="../media/image127.wmf"/><Relationship Id="rId5" Type="http://schemas.openxmlformats.org/officeDocument/2006/relationships/image" Target="../media/image135.wmf"/><Relationship Id="rId4" Type="http://schemas.openxmlformats.org/officeDocument/2006/relationships/image" Target="../media/image134.wmf"/><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sz="1200" b="0"/>
            </a:lvl1pPr>
          </a:lstStyle>
          <a:p>
            <a:pPr>
              <a:defRPr/>
            </a:pPr>
            <a:endParaRPr lang="zh-CN" altLang="zh-CN"/>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b="0"/>
            </a:lvl1pPr>
          </a:lstStyle>
          <a:p>
            <a:pPr>
              <a:defRPr/>
            </a:pPr>
            <a:endParaRPr lang="zh-CN" altLang="zh-CN"/>
          </a:p>
        </p:txBody>
      </p:sp>
      <p:sp>
        <p:nvSpPr>
          <p:cNvPr id="3076" name="Rectangle 4"/>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ctr" anchorCtr="0" compatLnSpc="1"/>
          <a:lstStyle/>
          <a:p>
            <a:pPr lvl="0"/>
            <a:r>
              <a:rPr lang="zh-CN" noProof="0" smtClean="0"/>
              <a:t>单击此处编辑母版文本样式</a:t>
            </a:r>
            <a:endParaRPr lang="zh-CN" noProof="0" smtClean="0"/>
          </a:p>
          <a:p>
            <a:pPr lvl="1"/>
            <a:r>
              <a:rPr lang="zh-CN" noProof="0" smtClean="0"/>
              <a:t>第二级</a:t>
            </a:r>
            <a:endParaRPr lang="zh-CN" noProof="0" smtClean="0"/>
          </a:p>
          <a:p>
            <a:pPr lvl="2"/>
            <a:r>
              <a:rPr lang="zh-CN" noProof="0" smtClean="0"/>
              <a:t>第三级</a:t>
            </a:r>
            <a:endParaRPr lang="zh-CN" noProof="0" smtClean="0"/>
          </a:p>
          <a:p>
            <a:pPr lvl="3"/>
            <a:r>
              <a:rPr lang="zh-CN" noProof="0" smtClean="0"/>
              <a:t>第四级</a:t>
            </a:r>
            <a:endParaRPr lang="zh-CN" noProof="0" smtClean="0"/>
          </a:p>
          <a:p>
            <a:pPr lvl="4"/>
            <a:r>
              <a:rPr lang="zh-CN" noProof="0" smtClean="0"/>
              <a:t>第五级</a:t>
            </a:r>
            <a:endParaRPr lang="zh-CN" noProof="0" smtClean="0"/>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 typeface="Arial" panose="020B0604020202020204" pitchFamily="34" charset="0"/>
              <a:buNone/>
              <a:defRPr sz="1200" b="0"/>
            </a:lvl1pPr>
          </a:lstStyle>
          <a:p>
            <a:pPr>
              <a:defRPr/>
            </a:pPr>
            <a:endParaRPr lang="zh-CN" altLang="zh-CN"/>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a:lvl1pPr>
          </a:lstStyle>
          <a:p>
            <a:pPr>
              <a:defRPr/>
            </a:pPr>
            <a:fld id="{5A04ED42-0BD2-42B8-8D45-EA992DC2CB43}" type="slidenum">
              <a:rPr lang="zh-CN" altLang="zh-CN"/>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Text Box 7"/>
          <p:cNvSpPr txBox="1">
            <a:spLocks noChangeArrowheads="1"/>
          </p:cNvSpPr>
          <p:nvPr userDrawn="1"/>
        </p:nvSpPr>
        <p:spPr bwMode="auto">
          <a:xfrm>
            <a:off x="685800" y="16002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zh-CN" sz="2400" b="0" smtClean="0"/>
          </a:p>
        </p:txBody>
      </p:sp>
      <p:sp>
        <p:nvSpPr>
          <p:cNvPr id="5" name="Text Box 8"/>
          <p:cNvSpPr txBox="1">
            <a:spLocks noChangeArrowheads="1"/>
          </p:cNvSpPr>
          <p:nvPr userDrawn="1"/>
        </p:nvSpPr>
        <p:spPr bwMode="auto">
          <a:xfrm>
            <a:off x="685800" y="15240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zh-CN" sz="2400" b="0" smtClean="0"/>
          </a:p>
        </p:txBody>
      </p:sp>
      <p:sp>
        <p:nvSpPr>
          <p:cNvPr id="6" name="AutoShape 9">
            <a:hlinkClick r:id="" action="ppaction://hlinkshowjump?jump=nextslide" highlightClick="1"/>
            <a:hlinkHover r:id="" action="ppaction://noaction" highlightClick="1"/>
          </p:cNvPr>
          <p:cNvSpPr>
            <a:spLocks noChangeArrowheads="1"/>
          </p:cNvSpPr>
          <p:nvPr userDrawn="1"/>
        </p:nvSpPr>
        <p:spPr bwMode="auto">
          <a:xfrm>
            <a:off x="8628063" y="3938588"/>
            <a:ext cx="287337" cy="252412"/>
          </a:xfrm>
          <a:prstGeom prst="curvedDownArrow">
            <a:avLst>
              <a:gd name="adj1" fmla="val 22767"/>
              <a:gd name="adj2" fmla="val 45535"/>
              <a:gd name="adj3" fmla="val 33333"/>
            </a:avLst>
          </a:prstGeom>
          <a:solidFill>
            <a:srgbClr val="3366FF"/>
          </a:solidFill>
          <a:ln w="28575">
            <a:solidFill>
              <a:schemeClr val="tx1"/>
            </a:solidFill>
            <a:miter lim="800000"/>
          </a:ln>
        </p:spPr>
        <p:txBody>
          <a:bodyPr anchor="ct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mtClean="0"/>
          </a:p>
        </p:txBody>
      </p:sp>
      <p:sp>
        <p:nvSpPr>
          <p:cNvPr id="7" name="AutoShape 10">
            <a:hlinkClick r:id="" action="ppaction://hlinkshowjump?jump=previousslide" highlightClick="1"/>
            <a:hlinkHover r:id="" action="ppaction://noaction" highlightClick="1"/>
          </p:cNvPr>
          <p:cNvSpPr>
            <a:spLocks noChangeArrowheads="1"/>
          </p:cNvSpPr>
          <p:nvPr userDrawn="1"/>
        </p:nvSpPr>
        <p:spPr bwMode="auto">
          <a:xfrm>
            <a:off x="8628063" y="2667000"/>
            <a:ext cx="287337" cy="252413"/>
          </a:xfrm>
          <a:prstGeom prst="curvedUpArrow">
            <a:avLst>
              <a:gd name="adj1" fmla="val 22767"/>
              <a:gd name="adj2" fmla="val 45534"/>
              <a:gd name="adj3" fmla="val 33333"/>
            </a:avLst>
          </a:prstGeom>
          <a:solidFill>
            <a:srgbClr val="3366FF"/>
          </a:solidFill>
          <a:ln w="28575">
            <a:solidFill>
              <a:schemeClr val="tx1"/>
            </a:solidFill>
            <a:miter lim="800000"/>
          </a:ln>
        </p:spPr>
        <p:txBody>
          <a:bodyPr wrap="none" anchor="ct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mtClean="0"/>
          </a:p>
        </p:txBody>
      </p:sp>
      <p:sp>
        <p:nvSpPr>
          <p:cNvPr id="2050"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smtClean="0"/>
              <a:t>单击此处编辑母版标题样式</a:t>
            </a:r>
            <a:endParaRPr lang="zh-CN"/>
          </a:p>
        </p:txBody>
      </p:sp>
      <p:sp>
        <p:nvSpPr>
          <p:cNvPr id="2051" name="Rectangle 3"/>
          <p:cNvSpPr>
            <a:spLocks noGrp="1" noRot="1" noChangeArrowheads="1"/>
          </p:cNvSpPr>
          <p:nvPr>
            <p:ph type="subTitle" idx="1" hasCustomPrompt="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smtClean="0"/>
              <a:t>单击以编辑母版副标题样式</a:t>
            </a:r>
            <a:endParaRPr lang="zh-CN"/>
          </a:p>
        </p:txBody>
      </p:sp>
      <p:sp>
        <p:nvSpPr>
          <p:cNvPr id="8" name="Rectangle 4"/>
          <p:cNvSpPr>
            <a:spLocks noGrp="1" noChangeArrowheads="1"/>
          </p:cNvSpPr>
          <p:nvPr>
            <p:ph type="dt" sz="half" idx="10"/>
          </p:nvPr>
        </p:nvSpPr>
        <p:spPr>
          <a:xfrm>
            <a:off x="301625" y="6076950"/>
            <a:ext cx="2289175" cy="476250"/>
          </a:xfrm>
        </p:spPr>
        <p:txBody>
          <a:bodyPr/>
          <a:lstStyle>
            <a:lvl1pPr>
              <a:defRPr/>
            </a:lvl1pPr>
          </a:lstStyle>
          <a:p>
            <a:pPr>
              <a:defRPr/>
            </a:pPr>
            <a:fld id="{D4C1392F-9C6F-4462-A82D-CF12D4E928F0}" type="datetime3">
              <a:rPr lang="zh-CN" altLang="en-US"/>
            </a:fld>
            <a:endParaRPr lang="zh-CN" altLang="zh-CN"/>
          </a:p>
        </p:txBody>
      </p:sp>
      <p:sp>
        <p:nvSpPr>
          <p:cNvPr id="9" name="Rectangle 5"/>
          <p:cNvSpPr>
            <a:spLocks noGrp="1" noChangeArrowheads="1"/>
          </p:cNvSpPr>
          <p:nvPr>
            <p:ph type="ftr" sz="quarter" idx="11"/>
          </p:nvPr>
        </p:nvSpPr>
        <p:spPr>
          <a:xfrm>
            <a:off x="3124200" y="6076950"/>
            <a:ext cx="2895600" cy="476250"/>
          </a:xfrm>
        </p:spPr>
        <p:txBody>
          <a:bodyPr/>
          <a:lstStyle>
            <a:lvl1pPr>
              <a:defRPr/>
            </a:lvl1pPr>
          </a:lstStyle>
          <a:p>
            <a:pPr>
              <a:defRPr/>
            </a:pPr>
            <a:r>
              <a:rPr lang="zh-CN" altLang="zh-CN"/>
              <a:t>模拟电子电路</a:t>
            </a:r>
            <a:endParaRPr lang="zh-CN" altLang="zh-CN"/>
          </a:p>
        </p:txBody>
      </p:sp>
      <p:sp>
        <p:nvSpPr>
          <p:cNvPr id="10"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A2132F9C-766E-45D3-B101-E8123D4644F7}" type="slidenum">
              <a:rPr lang="zh-CN" altLang="zh-CN"/>
            </a:fld>
            <a:endParaRPr lang="zh-CN"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2C7A3F56-26FE-4BB1-B5A7-75A63BC95404}" type="datetime3">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289C136A-B314-4D6C-9541-81EF6676CD2A}" type="slidenum">
              <a:rPr lang="zh-CN" altLang="zh-CN"/>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fld id="{D0C51BB2-1D87-4540-9EA9-36FE1DA315D4}" type="datetime3">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5725CB92-5F3B-419F-9384-A1B83AA65D66}" type="slidenum">
              <a:rPr lang="zh-CN" altLang="zh-CN"/>
            </a:fld>
            <a:endParaRPr lang="zh-CN"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7399B80B-87BE-4D9A-BCDF-32988F64FBA4}" type="datetime3">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D82090B0-BEB7-475B-904B-16F94520B5A6}" type="slidenum">
              <a:rPr lang="zh-CN" altLang="zh-CN"/>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C1310874-47FA-4B02-999B-C4E4F1CA38CF}" type="datetime3">
              <a:rPr lang="zh-CN" altLang="en-US"/>
            </a:fld>
            <a:endParaRPr lang="zh-CN" altLang="zh-CN"/>
          </a:p>
        </p:txBody>
      </p:sp>
      <p:sp>
        <p:nvSpPr>
          <p:cNvPr id="8"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9" name="Rectangle 6"/>
          <p:cNvSpPr>
            <a:spLocks noGrp="1" noChangeArrowheads="1"/>
          </p:cNvSpPr>
          <p:nvPr>
            <p:ph type="sldNum" sz="quarter" idx="12"/>
          </p:nvPr>
        </p:nvSpPr>
        <p:spPr/>
        <p:txBody>
          <a:bodyPr/>
          <a:lstStyle>
            <a:lvl1pPr>
              <a:defRPr/>
            </a:lvl1pPr>
          </a:lstStyle>
          <a:p>
            <a:pPr>
              <a:defRPr/>
            </a:pPr>
            <a:fld id="{70470CDF-DE73-45E9-B8E4-9BD8707AF440}" type="slidenum">
              <a:rPr lang="zh-CN" altLang="zh-CN"/>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D5F41F35-4355-4586-8E0D-7C3EDE9F6FE6}" type="datetime3">
              <a:rPr lang="zh-CN" altLang="en-US"/>
            </a:fld>
            <a:endParaRPr lang="zh-CN" altLang="zh-CN"/>
          </a:p>
        </p:txBody>
      </p:sp>
      <p:sp>
        <p:nvSpPr>
          <p:cNvPr id="4"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5" name="Rectangle 6"/>
          <p:cNvSpPr>
            <a:spLocks noGrp="1" noChangeArrowheads="1"/>
          </p:cNvSpPr>
          <p:nvPr>
            <p:ph type="sldNum" sz="quarter" idx="12"/>
          </p:nvPr>
        </p:nvSpPr>
        <p:spPr/>
        <p:txBody>
          <a:bodyPr/>
          <a:lstStyle>
            <a:lvl1pPr>
              <a:defRPr/>
            </a:lvl1pPr>
          </a:lstStyle>
          <a:p>
            <a:pPr>
              <a:defRPr/>
            </a:pPr>
            <a:fld id="{B5078C70-A675-466E-B5DB-9A92CE029737}" type="slidenum">
              <a:rPr lang="zh-CN" altLang="zh-CN"/>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225342E5-B8C6-4959-9FFE-F8448472E175}" type="datetime3">
              <a:rPr lang="zh-CN" altLang="en-US"/>
            </a:fld>
            <a:endParaRPr lang="zh-CN" altLang="zh-CN"/>
          </a:p>
        </p:txBody>
      </p:sp>
      <p:sp>
        <p:nvSpPr>
          <p:cNvPr id="3"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4" name="Rectangle 6"/>
          <p:cNvSpPr>
            <a:spLocks noGrp="1" noChangeArrowheads="1"/>
          </p:cNvSpPr>
          <p:nvPr>
            <p:ph type="sldNum" sz="quarter" idx="12"/>
          </p:nvPr>
        </p:nvSpPr>
        <p:spPr/>
        <p:txBody>
          <a:bodyPr/>
          <a:lstStyle>
            <a:lvl1pPr>
              <a:defRPr/>
            </a:lvl1pPr>
          </a:lstStyle>
          <a:p>
            <a:pPr>
              <a:defRPr/>
            </a:pPr>
            <a:fld id="{EA2D3CBB-7FF9-45BD-8E83-1A9AA3158425}" type="slidenum">
              <a:rPr lang="zh-CN" altLang="zh-CN"/>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EDD2F9CA-8E7A-4313-8B2E-84833C40A137}" type="datetime3">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31A7E171-6FC8-450C-B7FE-26199ED2E417}" type="slidenum">
              <a:rPr lang="zh-CN" altLang="zh-CN"/>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fld id="{827A024F-C354-4649-9E27-F10736CB73AA}" type="datetime3">
              <a:rPr lang="zh-CN" altLang="en-US"/>
            </a:fld>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7" name="Rectangle 6"/>
          <p:cNvSpPr>
            <a:spLocks noGrp="1" noChangeArrowheads="1"/>
          </p:cNvSpPr>
          <p:nvPr>
            <p:ph type="sldNum" sz="quarter" idx="12"/>
          </p:nvPr>
        </p:nvSpPr>
        <p:spPr/>
        <p:txBody>
          <a:bodyPr/>
          <a:lstStyle>
            <a:lvl1pPr>
              <a:defRPr/>
            </a:lvl1pPr>
          </a:lstStyle>
          <a:p>
            <a:pPr>
              <a:defRPr/>
            </a:pPr>
            <a:fld id="{F11BEAA7-16D4-4C55-BF31-334BADB66FC1}" type="slidenum">
              <a:rPr lang="zh-CN" altLang="zh-CN"/>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4C0ACED8-4731-49BA-9CEF-EC7B05A631BF}" type="datetime3">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1935C02B-152C-4149-9297-0374106A579F}" type="slidenum">
              <a:rPr lang="zh-CN" altLang="zh-CN"/>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301625" y="685800"/>
            <a:ext cx="6256338" cy="5181600"/>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DFEFE678-89AA-44E2-9FEF-435072DB0306}" type="datetime3">
              <a:rPr lang="zh-CN" altLang="en-US"/>
            </a:fld>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zh-CN" altLang="zh-CN"/>
              <a:t>模拟电子电路</a:t>
            </a:r>
            <a:endParaRPr lang="zh-CN" altLang="zh-CN"/>
          </a:p>
        </p:txBody>
      </p:sp>
      <p:sp>
        <p:nvSpPr>
          <p:cNvPr id="6" name="Rectangle 6"/>
          <p:cNvSpPr>
            <a:spLocks noGrp="1" noChangeArrowheads="1"/>
          </p:cNvSpPr>
          <p:nvPr>
            <p:ph type="sldNum" sz="quarter" idx="12"/>
          </p:nvPr>
        </p:nvSpPr>
        <p:spPr/>
        <p:txBody>
          <a:bodyPr/>
          <a:lstStyle>
            <a:lvl1pPr>
              <a:defRPr/>
            </a:lvl1pPr>
          </a:lstStyle>
          <a:p>
            <a:pPr>
              <a:defRPr/>
            </a:pPr>
            <a:fld id="{D29E5825-72CE-46F9-9885-CBA88F03E072}" type="slidenum">
              <a:rPr lang="zh-CN" altLang="zh-CN"/>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2"/>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t>单击此处编辑母版标题样式</a:t>
            </a:r>
            <a:endParaRPr lang="zh-CN" altLang="zh-CN" smtClean="0"/>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1028"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buFont typeface="Arial" panose="020B0604020202020204" pitchFamily="34" charset="0"/>
              <a:buNone/>
              <a:defRPr sz="1400" b="0">
                <a:latin typeface="+mn-lt"/>
              </a:defRPr>
            </a:lvl1pPr>
          </a:lstStyle>
          <a:p>
            <a:pPr>
              <a:defRPr/>
            </a:pPr>
            <a:fld id="{5075ADF1-689C-4558-B2E0-684F46C6C572}" type="datetime3">
              <a:rPr lang="zh-CN" altLang="en-US"/>
            </a:fld>
            <a:endParaRPr lang="zh-CN" altLang="zh-CN"/>
          </a:p>
        </p:txBody>
      </p:sp>
      <p:sp>
        <p:nvSpPr>
          <p:cNvPr id="1029"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 typeface="Arial" panose="020B0604020202020204" pitchFamily="34" charset="0"/>
              <a:buNone/>
              <a:defRPr sz="1400" b="0">
                <a:latin typeface="+mn-lt"/>
              </a:defRPr>
            </a:lvl1pPr>
          </a:lstStyle>
          <a:p>
            <a:pPr>
              <a:defRPr/>
            </a:pPr>
            <a:r>
              <a:rPr lang="zh-CN" altLang="zh-CN"/>
              <a:t>模拟电子电路</a:t>
            </a:r>
            <a:endParaRPr lang="zh-CN" altLang="zh-CN"/>
          </a:p>
        </p:txBody>
      </p:sp>
      <p:sp>
        <p:nvSpPr>
          <p:cNvPr id="1030"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b="0">
                <a:latin typeface="Arial" panose="020B0604020202020204" pitchFamily="34" charset="0"/>
              </a:defRPr>
            </a:lvl1pPr>
          </a:lstStyle>
          <a:p>
            <a:pPr>
              <a:defRPr/>
            </a:pPr>
            <a:fld id="{9DEAFD37-B7C3-4743-9913-66CBB5997CBB}" type="slidenum">
              <a:rPr lang="zh-CN" altLang="zh-CN"/>
            </a:fld>
            <a:endParaRPr lang="zh-CN" altLang="zh-CN"/>
          </a:p>
        </p:txBody>
      </p:sp>
      <p:sp>
        <p:nvSpPr>
          <p:cNvPr id="1031" name="Text Box 7"/>
          <p:cNvSpPr txBox="1">
            <a:spLocks noChangeArrowheads="1"/>
          </p:cNvSpPr>
          <p:nvPr userDrawn="1"/>
        </p:nvSpPr>
        <p:spPr bwMode="auto">
          <a:xfrm>
            <a:off x="685800" y="16002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zh-CN" sz="2400" b="0" smtClean="0"/>
          </a:p>
        </p:txBody>
      </p:sp>
      <p:sp>
        <p:nvSpPr>
          <p:cNvPr id="1032" name="Text Box 8"/>
          <p:cNvSpPr txBox="1">
            <a:spLocks noChangeArrowheads="1"/>
          </p:cNvSpPr>
          <p:nvPr userDrawn="1"/>
        </p:nvSpPr>
        <p:spPr bwMode="auto">
          <a:xfrm>
            <a:off x="685800" y="15240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endParaRPr lang="zh-CN" altLang="zh-CN" sz="2400" b="0" smtClean="0"/>
          </a:p>
        </p:txBody>
      </p:sp>
      <p:sp>
        <p:nvSpPr>
          <p:cNvPr id="1033" name="AutoShape 9">
            <a:hlinkClick r:id="" action="ppaction://hlinkshowjump?jump=nextslide" highlightClick="1"/>
            <a:hlinkHover r:id="" action="ppaction://noaction" highlightClick="1"/>
          </p:cNvPr>
          <p:cNvSpPr>
            <a:spLocks noChangeArrowheads="1"/>
          </p:cNvSpPr>
          <p:nvPr userDrawn="1"/>
        </p:nvSpPr>
        <p:spPr bwMode="auto">
          <a:xfrm>
            <a:off x="8628063" y="3938588"/>
            <a:ext cx="287337" cy="252412"/>
          </a:xfrm>
          <a:prstGeom prst="curvedDownArrow">
            <a:avLst>
              <a:gd name="adj1" fmla="val 22767"/>
              <a:gd name="adj2" fmla="val 45535"/>
              <a:gd name="adj3" fmla="val 33333"/>
            </a:avLst>
          </a:prstGeom>
          <a:solidFill>
            <a:srgbClr val="3366FF"/>
          </a:solidFill>
          <a:ln w="28575">
            <a:solidFill>
              <a:schemeClr val="tx1"/>
            </a:solidFill>
            <a:miter lim="800000"/>
          </a:ln>
        </p:spPr>
        <p:txBody>
          <a:bodyPr anchor="ct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mtClean="0"/>
          </a:p>
        </p:txBody>
      </p:sp>
      <p:sp>
        <p:nvSpPr>
          <p:cNvPr id="1034" name="AutoShape 10">
            <a:hlinkClick r:id="" action="ppaction://hlinkshowjump?jump=previousslide" highlightClick="1"/>
            <a:hlinkHover r:id="" action="ppaction://noaction" highlightClick="1"/>
          </p:cNvPr>
          <p:cNvSpPr>
            <a:spLocks noChangeArrowheads="1"/>
          </p:cNvSpPr>
          <p:nvPr userDrawn="1"/>
        </p:nvSpPr>
        <p:spPr bwMode="auto">
          <a:xfrm>
            <a:off x="8628063" y="2667000"/>
            <a:ext cx="287337" cy="252413"/>
          </a:xfrm>
          <a:prstGeom prst="curvedUpArrow">
            <a:avLst>
              <a:gd name="adj1" fmla="val 22767"/>
              <a:gd name="adj2" fmla="val 45534"/>
              <a:gd name="adj3" fmla="val 33333"/>
            </a:avLst>
          </a:prstGeom>
          <a:solidFill>
            <a:srgbClr val="3366FF"/>
          </a:solidFill>
          <a:ln w="28575">
            <a:solidFill>
              <a:schemeClr val="tx1"/>
            </a:solidFill>
            <a:miter lim="800000"/>
          </a:ln>
        </p:spPr>
        <p:txBody>
          <a:bodyPr wrap="none" anchor="ctr">
            <a:spAutoFit/>
          </a:bodyPr>
          <a:lstStyle>
            <a:lvl1pPr>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1" fontAlgn="base" hangingPunct="1">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6.w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8.wmf"/><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wmf"/><Relationship Id="rId7" Type="http://schemas.openxmlformats.org/officeDocument/2006/relationships/oleObject" Target="../embeddings/oleObject9.bin"/><Relationship Id="rId6" Type="http://schemas.openxmlformats.org/officeDocument/2006/relationships/image" Target="../media/image11.emf"/><Relationship Id="rId5" Type="http://schemas.openxmlformats.org/officeDocument/2006/relationships/oleObject" Target="../embeddings/oleObject8.bin"/><Relationship Id="rId4" Type="http://schemas.openxmlformats.org/officeDocument/2006/relationships/image" Target="../media/image10.wmf"/><Relationship Id="rId3" Type="http://schemas.openxmlformats.org/officeDocument/2006/relationships/oleObject" Target="../embeddings/oleObject7.bin"/><Relationship Id="rId2" Type="http://schemas.openxmlformats.org/officeDocument/2006/relationships/image" Target="../media/image9.wmf"/><Relationship Id="rId10" Type="http://schemas.openxmlformats.org/officeDocument/2006/relationships/vmlDrawing" Target="../drawings/vmlDrawing6.vml"/><Relationship Id="rId1"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14.wmf"/><Relationship Id="rId3" Type="http://schemas.openxmlformats.org/officeDocument/2006/relationships/oleObject" Target="../embeddings/oleObject11.bin"/><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9.emf"/><Relationship Id="rId1" Type="http://schemas.openxmlformats.org/officeDocument/2006/relationships/oleObject" Target="../embeddings/oleObject1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wmf"/><Relationship Id="rId7" Type="http://schemas.openxmlformats.org/officeDocument/2006/relationships/oleObject" Target="../embeddings/oleObject18.bin"/><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 Id="rId3" Type="http://schemas.openxmlformats.org/officeDocument/2006/relationships/oleObject" Target="../embeddings/oleObject16.bin"/><Relationship Id="rId2" Type="http://schemas.openxmlformats.org/officeDocument/2006/relationships/image" Target="../media/image20.wmf"/><Relationship Id="rId10" Type="http://schemas.openxmlformats.org/officeDocument/2006/relationships/vmlDrawing" Target="../drawings/vmlDrawing10.vml"/><Relationship Id="rId1"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19.bin"/></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0.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21.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7.xml"/><Relationship Id="rId5" Type="http://schemas.openxmlformats.org/officeDocument/2006/relationships/image" Target="../media/image31.wmf"/><Relationship Id="rId4" Type="http://schemas.openxmlformats.org/officeDocument/2006/relationships/oleObject" Target="../embeddings/oleObject24.bin"/><Relationship Id="rId3" Type="http://schemas.openxmlformats.org/officeDocument/2006/relationships/image" Target="../media/image30.wmf"/><Relationship Id="rId2" Type="http://schemas.openxmlformats.org/officeDocument/2006/relationships/oleObject" Target="../embeddings/oleObject23.bin"/><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16.vml"/><Relationship Id="rId6" Type="http://schemas.openxmlformats.org/officeDocument/2006/relationships/slideLayout" Target="../slideLayouts/slideLayout7.xml"/><Relationship Id="rId5" Type="http://schemas.openxmlformats.org/officeDocument/2006/relationships/image" Target="../media/image34.wmf"/><Relationship Id="rId4" Type="http://schemas.openxmlformats.org/officeDocument/2006/relationships/oleObject" Target="../embeddings/oleObject26.bin"/><Relationship Id="rId3" Type="http://schemas.openxmlformats.org/officeDocument/2006/relationships/image" Target="../media/image33.wmf"/><Relationship Id="rId2" Type="http://schemas.openxmlformats.org/officeDocument/2006/relationships/oleObject" Target="../embeddings/oleObject25.bin"/><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7.xml"/><Relationship Id="rId5" Type="http://schemas.openxmlformats.org/officeDocument/2006/relationships/image" Target="../media/image37.wmf"/><Relationship Id="rId4" Type="http://schemas.openxmlformats.org/officeDocument/2006/relationships/oleObject" Target="../embeddings/oleObject28.bin"/><Relationship Id="rId3" Type="http://schemas.openxmlformats.org/officeDocument/2006/relationships/image" Target="../media/image36.wmf"/><Relationship Id="rId2" Type="http://schemas.openxmlformats.org/officeDocument/2006/relationships/oleObject" Target="../embeddings/oleObject27.bin"/><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7" Type="http://schemas.openxmlformats.org/officeDocument/2006/relationships/vmlDrawing" Target="../drawings/vmlDrawing18.vml"/><Relationship Id="rId6" Type="http://schemas.openxmlformats.org/officeDocument/2006/relationships/slideLayout" Target="../slideLayouts/slideLayout7.xml"/><Relationship Id="rId5" Type="http://schemas.openxmlformats.org/officeDocument/2006/relationships/image" Target="../media/image37.wmf"/><Relationship Id="rId4" Type="http://schemas.openxmlformats.org/officeDocument/2006/relationships/oleObject" Target="../embeddings/oleObject30.bin"/><Relationship Id="rId3" Type="http://schemas.openxmlformats.org/officeDocument/2006/relationships/image" Target="../media/image39.wmf"/><Relationship Id="rId2" Type="http://schemas.openxmlformats.org/officeDocument/2006/relationships/oleObject" Target="../embeddings/oleObject29.bin"/><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39.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7.xml"/><Relationship Id="rId5" Type="http://schemas.openxmlformats.org/officeDocument/2006/relationships/image" Target="../media/image42.wmf"/><Relationship Id="rId4" Type="http://schemas.openxmlformats.org/officeDocument/2006/relationships/oleObject" Target="../embeddings/oleObject32.bin"/><Relationship Id="rId3" Type="http://schemas.openxmlformats.org/officeDocument/2006/relationships/image" Target="../media/image41.wmf"/><Relationship Id="rId2" Type="http://schemas.openxmlformats.org/officeDocument/2006/relationships/oleObject" Target="../embeddings/oleObject31.bin"/><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7.xml"/><Relationship Id="rId5" Type="http://schemas.openxmlformats.org/officeDocument/2006/relationships/image" Target="../media/image45.wmf"/><Relationship Id="rId4" Type="http://schemas.openxmlformats.org/officeDocument/2006/relationships/oleObject" Target="../embeddings/oleObject34.bin"/><Relationship Id="rId3" Type="http://schemas.openxmlformats.org/officeDocument/2006/relationships/image" Target="../media/image44.wmf"/><Relationship Id="rId2" Type="http://schemas.openxmlformats.org/officeDocument/2006/relationships/oleObject" Target="../embeddings/oleObject33.bin"/><Relationship Id="rId1" Type="http://schemas.openxmlformats.org/officeDocument/2006/relationships/image" Target="../media/image4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42.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7.xml"/><Relationship Id="rId5" Type="http://schemas.openxmlformats.org/officeDocument/2006/relationships/image" Target="../media/image48.wmf"/><Relationship Id="rId4" Type="http://schemas.openxmlformats.org/officeDocument/2006/relationships/oleObject" Target="../embeddings/oleObject36.bin"/><Relationship Id="rId3" Type="http://schemas.openxmlformats.org/officeDocument/2006/relationships/image" Target="../media/image47.wmf"/><Relationship Id="rId2" Type="http://schemas.openxmlformats.org/officeDocument/2006/relationships/oleObject" Target="../embeddings/oleObject35.bin"/><Relationship Id="rId1"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2.emf"/><Relationship Id="rId7" Type="http://schemas.openxmlformats.org/officeDocument/2006/relationships/oleObject" Target="../embeddings/oleObject40.bin"/><Relationship Id="rId6" Type="http://schemas.openxmlformats.org/officeDocument/2006/relationships/image" Target="../media/image51.wmf"/><Relationship Id="rId5" Type="http://schemas.openxmlformats.org/officeDocument/2006/relationships/oleObject" Target="../embeddings/oleObject39.bin"/><Relationship Id="rId4" Type="http://schemas.openxmlformats.org/officeDocument/2006/relationships/image" Target="../media/image50.wmf"/><Relationship Id="rId3" Type="http://schemas.openxmlformats.org/officeDocument/2006/relationships/oleObject" Target="../embeddings/oleObject38.bin"/><Relationship Id="rId2" Type="http://schemas.openxmlformats.org/officeDocument/2006/relationships/image" Target="../media/image49.wmf"/><Relationship Id="rId10" Type="http://schemas.openxmlformats.org/officeDocument/2006/relationships/vmlDrawing" Target="../drawings/vmlDrawing22.vml"/><Relationship Id="rId1" Type="http://schemas.openxmlformats.org/officeDocument/2006/relationships/oleObject" Target="../embeddings/oleObject37.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55.wmf"/><Relationship Id="rId5" Type="http://schemas.openxmlformats.org/officeDocument/2006/relationships/oleObject" Target="../embeddings/oleObject43.bin"/><Relationship Id="rId4" Type="http://schemas.openxmlformats.org/officeDocument/2006/relationships/image" Target="../media/image54.wmf"/><Relationship Id="rId3" Type="http://schemas.openxmlformats.org/officeDocument/2006/relationships/oleObject" Target="../embeddings/oleObject42.bin"/><Relationship Id="rId2" Type="http://schemas.openxmlformats.org/officeDocument/2006/relationships/image" Target="../media/image53.wmf"/><Relationship Id="rId1" Type="http://schemas.openxmlformats.org/officeDocument/2006/relationships/oleObject" Target="../embeddings/oleObject41.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59.wmf"/><Relationship Id="rId7" Type="http://schemas.openxmlformats.org/officeDocument/2006/relationships/oleObject" Target="../embeddings/oleObject47.bin"/><Relationship Id="rId6" Type="http://schemas.openxmlformats.org/officeDocument/2006/relationships/image" Target="../media/image58.wmf"/><Relationship Id="rId5" Type="http://schemas.openxmlformats.org/officeDocument/2006/relationships/oleObject" Target="../embeddings/oleObject46.bin"/><Relationship Id="rId4" Type="http://schemas.openxmlformats.org/officeDocument/2006/relationships/image" Target="../media/image57.emf"/><Relationship Id="rId3" Type="http://schemas.openxmlformats.org/officeDocument/2006/relationships/oleObject" Target="../embeddings/oleObject45.bin"/><Relationship Id="rId2" Type="http://schemas.openxmlformats.org/officeDocument/2006/relationships/image" Target="../media/image56.wmf"/><Relationship Id="rId12" Type="http://schemas.openxmlformats.org/officeDocument/2006/relationships/vmlDrawing" Target="../drawings/vmlDrawing24.vml"/><Relationship Id="rId11" Type="http://schemas.openxmlformats.org/officeDocument/2006/relationships/slideLayout" Target="../slideLayouts/slideLayout7.xml"/><Relationship Id="rId10" Type="http://schemas.openxmlformats.org/officeDocument/2006/relationships/image" Target="../media/image60.wmf"/><Relationship Id="rId1" Type="http://schemas.openxmlformats.org/officeDocument/2006/relationships/oleObject" Target="../embeddings/oleObject44.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49.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7.xml"/><Relationship Id="rId2" Type="http://schemas.openxmlformats.org/officeDocument/2006/relationships/image" Target="../media/image62.wmf"/><Relationship Id="rId1" Type="http://schemas.openxmlformats.org/officeDocument/2006/relationships/oleObject" Target="../embeddings/oleObject50.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53.bin"/><Relationship Id="rId4" Type="http://schemas.openxmlformats.org/officeDocument/2006/relationships/image" Target="../media/image61.wmf"/><Relationship Id="rId3" Type="http://schemas.openxmlformats.org/officeDocument/2006/relationships/oleObject" Target="../embeddings/oleObject52.bin"/><Relationship Id="rId2" Type="http://schemas.openxmlformats.org/officeDocument/2006/relationships/image" Target="../media/image63.wmf"/><Relationship Id="rId1" Type="http://schemas.openxmlformats.org/officeDocument/2006/relationships/oleObject" Target="../embeddings/oleObject51.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68.emf"/><Relationship Id="rId3" Type="http://schemas.openxmlformats.org/officeDocument/2006/relationships/oleObject" Target="../embeddings/oleObject55.bin"/><Relationship Id="rId2" Type="http://schemas.openxmlformats.org/officeDocument/2006/relationships/image" Target="../media/image67.wmf"/><Relationship Id="rId1" Type="http://schemas.openxmlformats.org/officeDocument/2006/relationships/oleObject" Target="../embeddings/oleObject54.bin"/></Relationships>
</file>

<file path=ppt/slides/_rels/slide57.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70.emf"/><Relationship Id="rId3" Type="http://schemas.openxmlformats.org/officeDocument/2006/relationships/oleObject" Target="../embeddings/oleObject57.bin"/><Relationship Id="rId2" Type="http://schemas.openxmlformats.org/officeDocument/2006/relationships/image" Target="../media/image69.wmf"/><Relationship Id="rId1" Type="http://schemas.openxmlformats.org/officeDocument/2006/relationships/oleObject" Target="../embeddings/oleObject56.bin"/></Relationships>
</file>

<file path=ppt/slides/_rels/slide58.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30.vml"/><Relationship Id="rId4" Type="http://schemas.openxmlformats.org/officeDocument/2006/relationships/slideLayout" Target="../slideLayouts/slideLayout7.xml"/><Relationship Id="rId3" Type="http://schemas.openxmlformats.org/officeDocument/2006/relationships/image" Target="../media/image72.png"/><Relationship Id="rId2" Type="http://schemas.openxmlformats.org/officeDocument/2006/relationships/image" Target="../media/image71.wmf"/><Relationship Id="rId1" Type="http://schemas.openxmlformats.org/officeDocument/2006/relationships/oleObject" Target="../embeddings/oleObject58.bin"/></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7.xml"/><Relationship Id="rId3" Type="http://schemas.openxmlformats.org/officeDocument/2006/relationships/image" Target="../media/image72.png"/><Relationship Id="rId2" Type="http://schemas.openxmlformats.org/officeDocument/2006/relationships/image" Target="../media/image73.wmf"/><Relationship Id="rId1" Type="http://schemas.openxmlformats.org/officeDocument/2006/relationships/oleObject" Target="../embeddings/oleObject59.bin"/></Relationships>
</file>

<file path=ppt/slides/_rels/slide60.xml.rels><?xml version="1.0" encoding="UTF-8" standalone="yes"?>
<Relationships xmlns="http://schemas.openxmlformats.org/package/2006/relationships"><Relationship Id="rId7" Type="http://schemas.openxmlformats.org/officeDocument/2006/relationships/vmlDrawing" Target="../drawings/vmlDrawing32.vml"/><Relationship Id="rId6" Type="http://schemas.openxmlformats.org/officeDocument/2006/relationships/slideLayout" Target="../slideLayouts/slideLayout7.xml"/><Relationship Id="rId5" Type="http://schemas.openxmlformats.org/officeDocument/2006/relationships/image" Target="../media/image72.png"/><Relationship Id="rId4" Type="http://schemas.openxmlformats.org/officeDocument/2006/relationships/image" Target="../media/image75.wmf"/><Relationship Id="rId3" Type="http://schemas.openxmlformats.org/officeDocument/2006/relationships/oleObject" Target="../embeddings/oleObject61.bin"/><Relationship Id="rId2" Type="http://schemas.openxmlformats.org/officeDocument/2006/relationships/image" Target="../media/image74.wmf"/><Relationship Id="rId1" Type="http://schemas.openxmlformats.org/officeDocument/2006/relationships/oleObject" Target="../embeddings/oleObject60.bin"/></Relationships>
</file>

<file path=ppt/slides/_rels/slide61.xml.rels><?xml version="1.0" encoding="UTF-8" standalone="yes"?>
<Relationships xmlns="http://schemas.openxmlformats.org/package/2006/relationships"><Relationship Id="rId7" Type="http://schemas.openxmlformats.org/officeDocument/2006/relationships/vmlDrawing" Target="../drawings/vmlDrawing33.vml"/><Relationship Id="rId6" Type="http://schemas.openxmlformats.org/officeDocument/2006/relationships/slideLayout" Target="../slideLayouts/slideLayout7.xml"/><Relationship Id="rId5" Type="http://schemas.openxmlformats.org/officeDocument/2006/relationships/image" Target="../media/image78.png"/><Relationship Id="rId4" Type="http://schemas.openxmlformats.org/officeDocument/2006/relationships/image" Target="../media/image77.wmf"/><Relationship Id="rId3" Type="http://schemas.openxmlformats.org/officeDocument/2006/relationships/oleObject" Target="../embeddings/oleObject63.bin"/><Relationship Id="rId2" Type="http://schemas.openxmlformats.org/officeDocument/2006/relationships/image" Target="../media/image76.wmf"/><Relationship Id="rId1" Type="http://schemas.openxmlformats.org/officeDocument/2006/relationships/oleObject" Target="../embeddings/oleObject62.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2.wmf"/><Relationship Id="rId7" Type="http://schemas.openxmlformats.org/officeDocument/2006/relationships/oleObject" Target="../embeddings/oleObject67.bin"/><Relationship Id="rId6" Type="http://schemas.openxmlformats.org/officeDocument/2006/relationships/image" Target="../media/image81.emf"/><Relationship Id="rId5" Type="http://schemas.openxmlformats.org/officeDocument/2006/relationships/oleObject" Target="../embeddings/oleObject66.bin"/><Relationship Id="rId4" Type="http://schemas.openxmlformats.org/officeDocument/2006/relationships/image" Target="../media/image80.wmf"/><Relationship Id="rId3" Type="http://schemas.openxmlformats.org/officeDocument/2006/relationships/oleObject" Target="../embeddings/oleObject65.bin"/><Relationship Id="rId2" Type="http://schemas.openxmlformats.org/officeDocument/2006/relationships/image" Target="../media/image79.emf"/><Relationship Id="rId10" Type="http://schemas.openxmlformats.org/officeDocument/2006/relationships/vmlDrawing" Target="../drawings/vmlDrawing34.vml"/><Relationship Id="rId1" Type="http://schemas.openxmlformats.org/officeDocument/2006/relationships/oleObject" Target="../embeddings/oleObject64.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68.bin"/></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36.vml"/><Relationship Id="rId8" Type="http://schemas.openxmlformats.org/officeDocument/2006/relationships/slideLayout" Target="../slideLayouts/slideLayout7.xml"/><Relationship Id="rId7" Type="http://schemas.openxmlformats.org/officeDocument/2006/relationships/image" Target="../media/image85.png"/><Relationship Id="rId6" Type="http://schemas.openxmlformats.org/officeDocument/2006/relationships/image" Target="../media/image25.wmf"/><Relationship Id="rId5" Type="http://schemas.openxmlformats.org/officeDocument/2006/relationships/oleObject" Target="../embeddings/oleObject71.bin"/><Relationship Id="rId4" Type="http://schemas.openxmlformats.org/officeDocument/2006/relationships/image" Target="../media/image84.wmf"/><Relationship Id="rId3" Type="http://schemas.openxmlformats.org/officeDocument/2006/relationships/oleObject" Target="../embeddings/oleObject70.bin"/><Relationship Id="rId2" Type="http://schemas.openxmlformats.org/officeDocument/2006/relationships/image" Target="../media/image83.wmf"/><Relationship Id="rId1" Type="http://schemas.openxmlformats.org/officeDocument/2006/relationships/oleObject" Target="../embeddings/oleObject69.bin"/></Relationships>
</file>

<file path=ppt/slides/_rels/slide66.xml.rels><?xml version="1.0" encoding="UTF-8" standalone="yes"?>
<Relationships xmlns="http://schemas.openxmlformats.org/package/2006/relationships"><Relationship Id="rId6" Type="http://schemas.openxmlformats.org/officeDocument/2006/relationships/vmlDrawing" Target="../drawings/vmlDrawing37.vml"/><Relationship Id="rId5" Type="http://schemas.openxmlformats.org/officeDocument/2006/relationships/slideLayout" Target="../slideLayouts/slideLayout7.xml"/><Relationship Id="rId4" Type="http://schemas.openxmlformats.org/officeDocument/2006/relationships/image" Target="../media/image25.wmf"/><Relationship Id="rId3" Type="http://schemas.openxmlformats.org/officeDocument/2006/relationships/oleObject" Target="../embeddings/oleObject73.bin"/><Relationship Id="rId2" Type="http://schemas.openxmlformats.org/officeDocument/2006/relationships/image" Target="../media/image86.wmf"/><Relationship Id="rId1" Type="http://schemas.openxmlformats.org/officeDocument/2006/relationships/oleObject" Target="../embeddings/oleObject72.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7.xml"/><Relationship Id="rId2" Type="http://schemas.openxmlformats.org/officeDocument/2006/relationships/image" Target="../media/image87.wmf"/><Relationship Id="rId1" Type="http://schemas.openxmlformats.org/officeDocument/2006/relationships/oleObject" Target="../embeddings/oleObject74.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39.vml"/><Relationship Id="rId5" Type="http://schemas.openxmlformats.org/officeDocument/2006/relationships/slideLayout" Target="../slideLayouts/slideLayout7.xml"/><Relationship Id="rId4" Type="http://schemas.openxmlformats.org/officeDocument/2006/relationships/image" Target="../media/image87.wmf"/><Relationship Id="rId3" Type="http://schemas.openxmlformats.org/officeDocument/2006/relationships/oleObject" Target="../embeddings/oleObject76.bin"/><Relationship Id="rId2" Type="http://schemas.openxmlformats.org/officeDocument/2006/relationships/image" Target="../media/image88.wmf"/><Relationship Id="rId1" Type="http://schemas.openxmlformats.org/officeDocument/2006/relationships/oleObject" Target="../embeddings/oleObject75.bin"/></Relationships>
</file>

<file path=ppt/slides/_rels/slide69.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7.xml"/><Relationship Id="rId6" Type="http://schemas.openxmlformats.org/officeDocument/2006/relationships/image" Target="../media/image90.wmf"/><Relationship Id="rId5" Type="http://schemas.openxmlformats.org/officeDocument/2006/relationships/oleObject" Target="../embeddings/oleObject79.bin"/><Relationship Id="rId4" Type="http://schemas.openxmlformats.org/officeDocument/2006/relationships/image" Target="../media/image89.wmf"/><Relationship Id="rId3" Type="http://schemas.openxmlformats.org/officeDocument/2006/relationships/oleObject" Target="../embeddings/oleObject78.bin"/><Relationship Id="rId2" Type="http://schemas.openxmlformats.org/officeDocument/2006/relationships/image" Target="../media/image87.wmf"/><Relationship Id="rId1" Type="http://schemas.openxmlformats.org/officeDocument/2006/relationships/oleObject" Target="../embeddings/oleObject77.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28.wmf"/><Relationship Id="rId1" Type="http://schemas.openxmlformats.org/officeDocument/2006/relationships/oleObject" Target="../embeddings/oleObject80.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28.wmf"/><Relationship Id="rId3" Type="http://schemas.openxmlformats.org/officeDocument/2006/relationships/oleObject" Target="../embeddings/oleObject82.bin"/><Relationship Id="rId2" Type="http://schemas.openxmlformats.org/officeDocument/2006/relationships/image" Target="../media/image91.wmf"/><Relationship Id="rId1" Type="http://schemas.openxmlformats.org/officeDocument/2006/relationships/oleObject" Target="../embeddings/oleObject81.bin"/></Relationships>
</file>

<file path=ppt/slides/_rels/slide72.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7.xml"/><Relationship Id="rId4" Type="http://schemas.openxmlformats.org/officeDocument/2006/relationships/image" Target="../media/image28.wmf"/><Relationship Id="rId3" Type="http://schemas.openxmlformats.org/officeDocument/2006/relationships/oleObject" Target="../embeddings/oleObject84.bin"/><Relationship Id="rId2" Type="http://schemas.openxmlformats.org/officeDocument/2006/relationships/image" Target="../media/image92.wmf"/><Relationship Id="rId1" Type="http://schemas.openxmlformats.org/officeDocument/2006/relationships/oleObject" Target="../embeddings/oleObject83.bin"/></Relationships>
</file>

<file path=ppt/slides/_rels/slide73.xml.rels><?xml version="1.0" encoding="UTF-8" standalone="yes"?>
<Relationships xmlns="http://schemas.openxmlformats.org/package/2006/relationships"><Relationship Id="rId8" Type="http://schemas.openxmlformats.org/officeDocument/2006/relationships/vmlDrawing" Target="../drawings/vmlDrawing44.vml"/><Relationship Id="rId7" Type="http://schemas.openxmlformats.org/officeDocument/2006/relationships/slideLayout" Target="../slideLayouts/slideLayout7.xml"/><Relationship Id="rId6" Type="http://schemas.openxmlformats.org/officeDocument/2006/relationships/image" Target="../media/image94.wmf"/><Relationship Id="rId5" Type="http://schemas.openxmlformats.org/officeDocument/2006/relationships/oleObject" Target="../embeddings/oleObject87.bin"/><Relationship Id="rId4" Type="http://schemas.openxmlformats.org/officeDocument/2006/relationships/image" Target="../media/image93.wmf"/><Relationship Id="rId3" Type="http://schemas.openxmlformats.org/officeDocument/2006/relationships/oleObject" Target="../embeddings/oleObject86.bin"/><Relationship Id="rId2" Type="http://schemas.openxmlformats.org/officeDocument/2006/relationships/image" Target="../media/image28.wmf"/><Relationship Id="rId1" Type="http://schemas.openxmlformats.org/officeDocument/2006/relationships/oleObject" Target="../embeddings/oleObject85.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88.bin"/></Relationships>
</file>

<file path=ppt/slides/_rels/slide75.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7.xml"/><Relationship Id="rId4" Type="http://schemas.openxmlformats.org/officeDocument/2006/relationships/image" Target="../media/image95.wmf"/><Relationship Id="rId3" Type="http://schemas.openxmlformats.org/officeDocument/2006/relationships/oleObject" Target="../embeddings/oleObject90.bin"/><Relationship Id="rId2" Type="http://schemas.openxmlformats.org/officeDocument/2006/relationships/image" Target="../media/image26.wmf"/><Relationship Id="rId1" Type="http://schemas.openxmlformats.org/officeDocument/2006/relationships/oleObject" Target="../embeddings/oleObject89.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7.xml"/><Relationship Id="rId4" Type="http://schemas.openxmlformats.org/officeDocument/2006/relationships/image" Target="../media/image96.wmf"/><Relationship Id="rId3" Type="http://schemas.openxmlformats.org/officeDocument/2006/relationships/oleObject" Target="../embeddings/oleObject92.bin"/><Relationship Id="rId2" Type="http://schemas.openxmlformats.org/officeDocument/2006/relationships/image" Target="../media/image26.wmf"/><Relationship Id="rId1" Type="http://schemas.openxmlformats.org/officeDocument/2006/relationships/oleObject" Target="../embeddings/oleObject91.bin"/></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97.png"/></Relationships>
</file>

<file path=ppt/slides/_rels/slide78.xml.rels><?xml version="1.0" encoding="UTF-8" standalone="yes"?>
<Relationships xmlns="http://schemas.openxmlformats.org/package/2006/relationships"><Relationship Id="rId7" Type="http://schemas.openxmlformats.org/officeDocument/2006/relationships/vmlDrawing" Target="../drawings/vmlDrawing48.vml"/><Relationship Id="rId6" Type="http://schemas.openxmlformats.org/officeDocument/2006/relationships/slideLayout" Target="../slideLayouts/slideLayout7.xml"/><Relationship Id="rId5" Type="http://schemas.openxmlformats.org/officeDocument/2006/relationships/image" Target="../media/image99.wmf"/><Relationship Id="rId4" Type="http://schemas.openxmlformats.org/officeDocument/2006/relationships/oleObject" Target="../embeddings/oleObject94.bin"/><Relationship Id="rId3" Type="http://schemas.openxmlformats.org/officeDocument/2006/relationships/image" Target="../media/image97.png"/><Relationship Id="rId2" Type="http://schemas.openxmlformats.org/officeDocument/2006/relationships/image" Target="../media/image98.emf"/><Relationship Id="rId1" Type="http://schemas.openxmlformats.org/officeDocument/2006/relationships/oleObject" Target="../embeddings/oleObject93.bin"/></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7.xml"/><Relationship Id="rId6" Type="http://schemas.openxmlformats.org/officeDocument/2006/relationships/image" Target="../media/image101.wmf"/><Relationship Id="rId5" Type="http://schemas.openxmlformats.org/officeDocument/2006/relationships/oleObject" Target="../embeddings/oleObject97.bin"/><Relationship Id="rId4" Type="http://schemas.openxmlformats.org/officeDocument/2006/relationships/image" Target="../media/image99.wmf"/><Relationship Id="rId3" Type="http://schemas.openxmlformats.org/officeDocument/2006/relationships/oleObject" Target="../embeddings/oleObject96.bin"/><Relationship Id="rId2" Type="http://schemas.openxmlformats.org/officeDocument/2006/relationships/image" Target="../media/image100.wmf"/><Relationship Id="rId1" Type="http://schemas.openxmlformats.org/officeDocument/2006/relationships/oleObject" Target="../embeddings/oleObject95.bin"/></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3.png"/><Relationship Id="rId1" Type="http://schemas.openxmlformats.org/officeDocument/2006/relationships/image" Target="../media/image102.png"/></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07.wmf"/><Relationship Id="rId7" Type="http://schemas.openxmlformats.org/officeDocument/2006/relationships/oleObject" Target="../embeddings/oleObject101.bin"/><Relationship Id="rId6" Type="http://schemas.openxmlformats.org/officeDocument/2006/relationships/image" Target="../media/image106.wmf"/><Relationship Id="rId5" Type="http://schemas.openxmlformats.org/officeDocument/2006/relationships/oleObject" Target="../embeddings/oleObject100.bin"/><Relationship Id="rId4" Type="http://schemas.openxmlformats.org/officeDocument/2006/relationships/image" Target="../media/image105.wmf"/><Relationship Id="rId3" Type="http://schemas.openxmlformats.org/officeDocument/2006/relationships/oleObject" Target="../embeddings/oleObject99.bin"/><Relationship Id="rId2" Type="http://schemas.openxmlformats.org/officeDocument/2006/relationships/image" Target="../media/image104.wmf"/><Relationship Id="rId14" Type="http://schemas.openxmlformats.org/officeDocument/2006/relationships/vmlDrawing" Target="../drawings/vmlDrawing50.vml"/><Relationship Id="rId13" Type="http://schemas.openxmlformats.org/officeDocument/2006/relationships/slideLayout" Target="../slideLayouts/slideLayout7.xml"/><Relationship Id="rId12" Type="http://schemas.openxmlformats.org/officeDocument/2006/relationships/image" Target="../media/image109.wmf"/><Relationship Id="rId11" Type="http://schemas.openxmlformats.org/officeDocument/2006/relationships/oleObject" Target="../embeddings/oleObject103.bin"/><Relationship Id="rId10" Type="http://schemas.openxmlformats.org/officeDocument/2006/relationships/image" Target="../media/image108.wmf"/><Relationship Id="rId1" Type="http://schemas.openxmlformats.org/officeDocument/2006/relationships/oleObject" Target="../embeddings/oleObject98.bin"/></Relationships>
</file>

<file path=ppt/slides/_rels/slide82.xml.rels><?xml version="1.0" encoding="UTF-8" standalone="yes"?>
<Relationships xmlns="http://schemas.openxmlformats.org/package/2006/relationships"><Relationship Id="rId7" Type="http://schemas.openxmlformats.org/officeDocument/2006/relationships/vmlDrawing" Target="../drawings/vmlDrawing51.vml"/><Relationship Id="rId6" Type="http://schemas.openxmlformats.org/officeDocument/2006/relationships/slideLayout" Target="../slideLayouts/slideLayout7.xml"/><Relationship Id="rId5" Type="http://schemas.openxmlformats.org/officeDocument/2006/relationships/image" Target="../media/image112.wmf"/><Relationship Id="rId4" Type="http://schemas.openxmlformats.org/officeDocument/2006/relationships/oleObject" Target="../embeddings/oleObject105.bin"/><Relationship Id="rId3" Type="http://schemas.openxmlformats.org/officeDocument/2006/relationships/image" Target="../media/image111.wmf"/><Relationship Id="rId2" Type="http://schemas.openxmlformats.org/officeDocument/2006/relationships/oleObject" Target="../embeddings/oleObject104.bin"/><Relationship Id="rId1" Type="http://schemas.openxmlformats.org/officeDocument/2006/relationships/image" Target="../media/image110.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84.xml.rels><?xml version="1.0" encoding="UTF-8" standalone="yes"?>
<Relationships xmlns="http://schemas.openxmlformats.org/package/2006/relationships"><Relationship Id="rId9" Type="http://schemas.openxmlformats.org/officeDocument/2006/relationships/vmlDrawing" Target="../drawings/vmlDrawing52.vml"/><Relationship Id="rId8" Type="http://schemas.openxmlformats.org/officeDocument/2006/relationships/slideLayout" Target="../slideLayouts/slideLayout7.xml"/><Relationship Id="rId7" Type="http://schemas.openxmlformats.org/officeDocument/2006/relationships/image" Target="../media/image115.wmf"/><Relationship Id="rId6" Type="http://schemas.openxmlformats.org/officeDocument/2006/relationships/oleObject" Target="../embeddings/oleObject108.bin"/><Relationship Id="rId5" Type="http://schemas.openxmlformats.org/officeDocument/2006/relationships/image" Target="../media/image114.wmf"/><Relationship Id="rId4" Type="http://schemas.openxmlformats.org/officeDocument/2006/relationships/oleObject" Target="../embeddings/oleObject107.bin"/><Relationship Id="rId3" Type="http://schemas.openxmlformats.org/officeDocument/2006/relationships/image" Target="../media/image110.png"/><Relationship Id="rId2" Type="http://schemas.openxmlformats.org/officeDocument/2006/relationships/image" Target="../media/image113.wmf"/><Relationship Id="rId1" Type="http://schemas.openxmlformats.org/officeDocument/2006/relationships/oleObject" Target="../embeddings/oleObject106.bin"/></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116.wmf"/><Relationship Id="rId1" Type="http://schemas.openxmlformats.org/officeDocument/2006/relationships/oleObject" Target="../embeddings/oleObject109.bin"/></Relationships>
</file>

<file path=ppt/slides/_rels/slide86.xml.rels><?xml version="1.0" encoding="UTF-8" standalone="yes"?>
<Relationships xmlns="http://schemas.openxmlformats.org/package/2006/relationships"><Relationship Id="rId5" Type="http://schemas.openxmlformats.org/officeDocument/2006/relationships/vmlDrawing" Target="../drawings/vmlDrawing54.vml"/><Relationship Id="rId4" Type="http://schemas.openxmlformats.org/officeDocument/2006/relationships/slideLayout" Target="../slideLayouts/slideLayout7.xml"/><Relationship Id="rId3" Type="http://schemas.openxmlformats.org/officeDocument/2006/relationships/image" Target="../media/image118.png"/><Relationship Id="rId2" Type="http://schemas.openxmlformats.org/officeDocument/2006/relationships/image" Target="../media/image117.wmf"/><Relationship Id="rId1" Type="http://schemas.openxmlformats.org/officeDocument/2006/relationships/oleObject" Target="../embeddings/oleObject110.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115.bin"/><Relationship Id="rId8" Type="http://schemas.openxmlformats.org/officeDocument/2006/relationships/image" Target="../media/image122.wmf"/><Relationship Id="rId7" Type="http://schemas.openxmlformats.org/officeDocument/2006/relationships/oleObject" Target="../embeddings/oleObject114.bin"/><Relationship Id="rId6" Type="http://schemas.openxmlformats.org/officeDocument/2006/relationships/image" Target="../media/image121.wmf"/><Relationship Id="rId5" Type="http://schemas.openxmlformats.org/officeDocument/2006/relationships/oleObject" Target="../embeddings/oleObject113.bin"/><Relationship Id="rId4" Type="http://schemas.openxmlformats.org/officeDocument/2006/relationships/image" Target="../media/image120.wmf"/><Relationship Id="rId3" Type="http://schemas.openxmlformats.org/officeDocument/2006/relationships/oleObject" Target="../embeddings/oleObject112.bin"/><Relationship Id="rId2" Type="http://schemas.openxmlformats.org/officeDocument/2006/relationships/image" Target="../media/image119.wmf"/><Relationship Id="rId12" Type="http://schemas.openxmlformats.org/officeDocument/2006/relationships/vmlDrawing" Target="../drawings/vmlDrawing55.vml"/><Relationship Id="rId11" Type="http://schemas.openxmlformats.org/officeDocument/2006/relationships/slideLayout" Target="../slideLayouts/slideLayout7.xml"/><Relationship Id="rId10" Type="http://schemas.openxmlformats.org/officeDocument/2006/relationships/image" Target="../media/image123.wmf"/><Relationship Id="rId1" Type="http://schemas.openxmlformats.org/officeDocument/2006/relationships/oleObject" Target="../embeddings/oleObject111.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124.wmf"/><Relationship Id="rId1" Type="http://schemas.openxmlformats.org/officeDocument/2006/relationships/oleObject" Target="../embeddings/oleObject116.bin"/></Relationships>
</file>

<file path=ppt/slides/_rels/slide90.xml.rels><?xml version="1.0" encoding="UTF-8" standalone="yes"?>
<Relationships xmlns="http://schemas.openxmlformats.org/package/2006/relationships"><Relationship Id="rId6" Type="http://schemas.openxmlformats.org/officeDocument/2006/relationships/vmlDrawing" Target="../drawings/vmlDrawing57.vml"/><Relationship Id="rId5" Type="http://schemas.openxmlformats.org/officeDocument/2006/relationships/slideLayout" Target="../slideLayouts/slideLayout7.xml"/><Relationship Id="rId4" Type="http://schemas.openxmlformats.org/officeDocument/2006/relationships/image" Target="../media/image126.wmf"/><Relationship Id="rId3" Type="http://schemas.openxmlformats.org/officeDocument/2006/relationships/oleObject" Target="../embeddings/oleObject118.bin"/><Relationship Id="rId2" Type="http://schemas.openxmlformats.org/officeDocument/2006/relationships/image" Target="../media/image125.wmf"/><Relationship Id="rId1" Type="http://schemas.openxmlformats.org/officeDocument/2006/relationships/oleObject" Target="../embeddings/oleObject117.bin"/></Relationships>
</file>

<file path=ppt/slides/_rels/slide91.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7.xml"/><Relationship Id="rId2" Type="http://schemas.openxmlformats.org/officeDocument/2006/relationships/image" Target="../media/image127.wmf"/><Relationship Id="rId1" Type="http://schemas.openxmlformats.org/officeDocument/2006/relationships/oleObject" Target="../embeddings/oleObject119.bin"/></Relationships>
</file>

<file path=ppt/slides/_rels/slide92.xml.rels><?xml version="1.0" encoding="UTF-8" standalone="yes"?>
<Relationships xmlns="http://schemas.openxmlformats.org/package/2006/relationships"><Relationship Id="rId8" Type="http://schemas.openxmlformats.org/officeDocument/2006/relationships/vmlDrawing" Target="../drawings/vmlDrawing59.vml"/><Relationship Id="rId7" Type="http://schemas.openxmlformats.org/officeDocument/2006/relationships/slideLayout" Target="../slideLayouts/slideLayout7.xml"/><Relationship Id="rId6" Type="http://schemas.openxmlformats.org/officeDocument/2006/relationships/image" Target="../media/image130.emf"/><Relationship Id="rId5" Type="http://schemas.openxmlformats.org/officeDocument/2006/relationships/oleObject" Target="../embeddings/oleObject122.bin"/><Relationship Id="rId4" Type="http://schemas.openxmlformats.org/officeDocument/2006/relationships/image" Target="../media/image129.emf"/><Relationship Id="rId3" Type="http://schemas.openxmlformats.org/officeDocument/2006/relationships/oleObject" Target="../embeddings/oleObject121.bin"/><Relationship Id="rId2" Type="http://schemas.openxmlformats.org/officeDocument/2006/relationships/image" Target="../media/image128.wmf"/><Relationship Id="rId1" Type="http://schemas.openxmlformats.org/officeDocument/2006/relationships/oleObject" Target="../embeddings/oleObject120.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127.bin"/><Relationship Id="rId8" Type="http://schemas.openxmlformats.org/officeDocument/2006/relationships/image" Target="../media/image134.wmf"/><Relationship Id="rId7" Type="http://schemas.openxmlformats.org/officeDocument/2006/relationships/oleObject" Target="../embeddings/oleObject126.bin"/><Relationship Id="rId6" Type="http://schemas.openxmlformats.org/officeDocument/2006/relationships/image" Target="../media/image133.wmf"/><Relationship Id="rId5" Type="http://schemas.openxmlformats.org/officeDocument/2006/relationships/oleObject" Target="../embeddings/oleObject125.bin"/><Relationship Id="rId4" Type="http://schemas.openxmlformats.org/officeDocument/2006/relationships/image" Target="../media/image132.wmf"/><Relationship Id="rId3" Type="http://schemas.openxmlformats.org/officeDocument/2006/relationships/oleObject" Target="../embeddings/oleObject124.bin"/><Relationship Id="rId2" Type="http://schemas.openxmlformats.org/officeDocument/2006/relationships/image" Target="../media/image131.wmf"/><Relationship Id="rId14" Type="http://schemas.openxmlformats.org/officeDocument/2006/relationships/vmlDrawing" Target="../drawings/vmlDrawing60.vml"/><Relationship Id="rId13" Type="http://schemas.openxmlformats.org/officeDocument/2006/relationships/slideLayout" Target="../slideLayouts/slideLayout7.xml"/><Relationship Id="rId12" Type="http://schemas.openxmlformats.org/officeDocument/2006/relationships/image" Target="../media/image127.wmf"/><Relationship Id="rId11" Type="http://schemas.openxmlformats.org/officeDocument/2006/relationships/oleObject" Target="../embeddings/oleObject128.bin"/><Relationship Id="rId10" Type="http://schemas.openxmlformats.org/officeDocument/2006/relationships/image" Target="../media/image135.wmf"/><Relationship Id="rId1" Type="http://schemas.openxmlformats.org/officeDocument/2006/relationships/oleObject" Target="../embeddings/oleObject123.bin"/></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02BCD00-8452-4673-BD42-453DBFB52DE2}" type="slidenum">
              <a:rPr lang="zh-CN" altLang="zh-CN" sz="1400" smtClean="0"/>
            </a:fld>
            <a:endParaRPr lang="zh-CN" altLang="zh-CN" sz="1400" smtClean="0"/>
          </a:p>
        </p:txBody>
      </p:sp>
      <p:sp>
        <p:nvSpPr>
          <p:cNvPr id="4099" name="Rectangle 2"/>
          <p:cNvSpPr>
            <a:spLocks noGrp="1" noRot="1" noChangeArrowheads="1"/>
          </p:cNvSpPr>
          <p:nvPr>
            <p:ph type="ctrTitle"/>
          </p:nvPr>
        </p:nvSpPr>
        <p:spPr>
          <a:xfrm>
            <a:off x="2192338" y="1619250"/>
            <a:ext cx="4648200" cy="1981200"/>
          </a:xfrm>
        </p:spPr>
        <p:txBody>
          <a:bodyPr/>
          <a:lstStyle/>
          <a:p>
            <a:pPr eaLnBrk="1" hangingPunct="1"/>
            <a:r>
              <a:rPr lang="zh-CN" altLang="zh-CN" b="1" smtClean="0">
                <a:solidFill>
                  <a:schemeClr val="tx1"/>
                </a:solidFill>
              </a:rPr>
              <a:t>第六章  反馈</a:t>
            </a:r>
            <a:br>
              <a:rPr lang="zh-CN" altLang="zh-CN" b="1" smtClean="0">
                <a:solidFill>
                  <a:schemeClr val="tx1"/>
                </a:solidFill>
              </a:rPr>
            </a:br>
            <a:endParaRPr lang="zh-CN" altLang="zh-CN" b="1" smtClean="0">
              <a:solidFill>
                <a:schemeClr val="tx1"/>
              </a:solidFill>
            </a:endParaRPr>
          </a:p>
        </p:txBody>
      </p:sp>
      <p:sp>
        <p:nvSpPr>
          <p:cNvPr id="2" name="文本框 1"/>
          <p:cNvSpPr txBox="1"/>
          <p:nvPr/>
        </p:nvSpPr>
        <p:spPr>
          <a:xfrm>
            <a:off x="1803862" y="2823312"/>
            <a:ext cx="5552902" cy="2595839"/>
          </a:xfrm>
          <a:prstGeom prst="rect">
            <a:avLst/>
          </a:prstGeom>
          <a:noFill/>
        </p:spPr>
        <p:txBody>
          <a:bodyPr wrap="square" rtlCol="0">
            <a:spAutoFit/>
          </a:bodyPr>
          <a:lstStyle/>
          <a:p>
            <a:pPr>
              <a:lnSpc>
                <a:spcPct val="150000"/>
              </a:lnSpc>
            </a:pPr>
            <a:r>
              <a:rPr lang="en-US" altLang="zh-CN" dirty="0" smtClean="0"/>
              <a:t>6.1 </a:t>
            </a:r>
            <a:r>
              <a:rPr lang="zh-CN" altLang="en-US" dirty="0" smtClean="0"/>
              <a:t>反馈的基本概念及类型</a:t>
            </a:r>
            <a:endParaRPr lang="en-US" altLang="zh-CN" dirty="0" smtClean="0"/>
          </a:p>
          <a:p>
            <a:pPr>
              <a:lnSpc>
                <a:spcPct val="150000"/>
              </a:lnSpc>
            </a:pPr>
            <a:r>
              <a:rPr lang="en-US" altLang="zh-CN" dirty="0" smtClean="0"/>
              <a:t>6.2 </a:t>
            </a:r>
            <a:r>
              <a:rPr lang="zh-CN" altLang="en-US" dirty="0" smtClean="0"/>
              <a:t>负反馈对放大电路性能的影响</a:t>
            </a:r>
            <a:endParaRPr lang="en-US" altLang="zh-CN" dirty="0" smtClean="0"/>
          </a:p>
          <a:p>
            <a:pPr>
              <a:lnSpc>
                <a:spcPct val="150000"/>
              </a:lnSpc>
            </a:pPr>
            <a:r>
              <a:rPr lang="en-US" altLang="zh-CN" dirty="0" smtClean="0"/>
              <a:t>6.3</a:t>
            </a:r>
            <a:r>
              <a:rPr lang="zh-CN" altLang="en-US" dirty="0" smtClean="0"/>
              <a:t>深度负反馈放大电路的计算</a:t>
            </a:r>
            <a:endParaRPr lang="en-US" altLang="zh-CN" dirty="0" smtClean="0"/>
          </a:p>
          <a:p>
            <a:pPr>
              <a:lnSpc>
                <a:spcPct val="150000"/>
              </a:lnSpc>
            </a:pPr>
            <a:r>
              <a:rPr lang="en-US" altLang="zh-CN" dirty="0" smtClean="0"/>
              <a:t>6.4 </a:t>
            </a:r>
            <a:r>
              <a:rPr lang="zh-CN" altLang="en-US" dirty="0" smtClean="0"/>
              <a:t>负反馈放大电路的稳定性</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6078C18-82A0-473B-97F5-5A5FCB1D8AA7}" type="slidenum">
              <a:rPr lang="zh-CN" altLang="zh-CN" sz="1400" smtClean="0"/>
            </a:fld>
            <a:endParaRPr lang="zh-CN" altLang="zh-CN" sz="1400" smtClean="0"/>
          </a:p>
        </p:txBody>
      </p:sp>
      <p:sp>
        <p:nvSpPr>
          <p:cNvPr id="5123" name="Rectangle 2"/>
          <p:cNvSpPr>
            <a:spLocks noChangeArrowheads="1"/>
          </p:cNvSpPr>
          <p:nvPr/>
        </p:nvSpPr>
        <p:spPr bwMode="auto">
          <a:xfrm>
            <a:off x="736600" y="604838"/>
            <a:ext cx="6172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6.1  反馈的基本概念及基本方程</a:t>
            </a:r>
            <a:endParaRPr lang="zh-CN" altLang="zh-CN">
              <a:latin typeface="Times New Roman" panose="02020603050405020304" pitchFamily="18" charset="0"/>
            </a:endParaRPr>
          </a:p>
        </p:txBody>
      </p:sp>
      <p:sp>
        <p:nvSpPr>
          <p:cNvPr id="5124" name="Rectangle 3"/>
          <p:cNvSpPr>
            <a:spLocks noChangeArrowheads="1"/>
          </p:cNvSpPr>
          <p:nvPr/>
        </p:nvSpPr>
        <p:spPr bwMode="auto">
          <a:xfrm>
            <a:off x="687388" y="1254125"/>
            <a:ext cx="381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6.1.1 反馈的概念</a:t>
            </a:r>
            <a:endParaRPr lang="zh-CN" altLang="zh-CN">
              <a:latin typeface="Times New Roman" panose="02020603050405020304" pitchFamily="18" charset="0"/>
            </a:endParaRPr>
          </a:p>
        </p:txBody>
      </p:sp>
      <p:sp>
        <p:nvSpPr>
          <p:cNvPr id="5125" name="Text Box 4"/>
          <p:cNvSpPr txBox="1">
            <a:spLocks noChangeArrowheads="1"/>
          </p:cNvSpPr>
          <p:nvPr/>
        </p:nvSpPr>
        <p:spPr bwMode="auto">
          <a:xfrm>
            <a:off x="731838" y="1855788"/>
            <a:ext cx="780415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buClrTx/>
              <a:buSzTx/>
              <a:buFont typeface="Arial" panose="020B0604020202020204" pitchFamily="34" charset="0"/>
              <a:buNone/>
            </a:pPr>
            <a:r>
              <a:rPr lang="zh-CN" altLang="en-US" sz="2800">
                <a:latin typeface="Times New Roman" panose="02020603050405020304" pitchFamily="18" charset="0"/>
              </a:rPr>
              <a:t>	就是将放大器的输出量（输出电流或输出电压）的一部分或全部通过一定的网络，回送到放大器的输入回路，用来影响其输入量（输入电流或输入电压）的措施，称为</a:t>
            </a:r>
            <a:r>
              <a:rPr lang="zh-CN" altLang="en-US" sz="2800">
                <a:solidFill>
                  <a:srgbClr val="0000FF"/>
                </a:solidFill>
                <a:latin typeface="Times New Roman" panose="02020603050405020304" pitchFamily="18" charset="0"/>
              </a:rPr>
              <a:t>反馈</a:t>
            </a:r>
            <a:r>
              <a:rPr lang="zh-CN" altLang="en-US" sz="2800">
                <a:latin typeface="Times New Roman" panose="02020603050405020304" pitchFamily="18" charset="0"/>
              </a:rPr>
              <a:t>。</a:t>
            </a:r>
            <a:endParaRPr lang="zh-CN" altLang="en-US" sz="2800">
              <a:latin typeface="Times New Roman" panose="02020603050405020304" pitchFamily="18" charset="0"/>
            </a:endParaRPr>
          </a:p>
        </p:txBody>
      </p:sp>
      <p:sp>
        <p:nvSpPr>
          <p:cNvPr id="2" name="Text Box 5"/>
          <p:cNvSpPr txBox="1">
            <a:spLocks noChangeArrowheads="1"/>
          </p:cNvSpPr>
          <p:nvPr/>
        </p:nvSpPr>
        <p:spPr bwMode="auto">
          <a:xfrm>
            <a:off x="628650" y="4117975"/>
            <a:ext cx="77724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2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正反馈：</a:t>
            </a:r>
            <a:r>
              <a:rPr lang="zh-CN" altLang="zh-CN" sz="2800">
                <a:latin typeface="Times New Roman" panose="02020603050405020304" pitchFamily="18" charset="0"/>
              </a:rPr>
              <a:t>反馈信号对输入信号起增强作用（如振荡器）。</a:t>
            </a:r>
            <a:endParaRPr lang="zh-CN" altLang="zh-CN" sz="2800">
              <a:latin typeface="Times New Roman" panose="02020603050405020304" pitchFamily="18" charset="0"/>
            </a:endParaRPr>
          </a:p>
          <a:p>
            <a:pPr>
              <a:lnSpc>
                <a:spcPct val="130000"/>
              </a:lnSpc>
              <a:spcBef>
                <a:spcPct val="1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负反馈：</a:t>
            </a:r>
            <a:r>
              <a:rPr lang="zh-CN" altLang="zh-CN" sz="2800">
                <a:latin typeface="Times New Roman" panose="02020603050405020304" pitchFamily="18" charset="0"/>
              </a:rPr>
              <a:t>反馈信号对输入信号起减弱作用（使放大器的某些性能得到改善） 。</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4AE6AFB-CEFA-4DE4-B01C-A747D295227E}" type="slidenum">
              <a:rPr lang="zh-CN" altLang="zh-CN" sz="1400" smtClean="0"/>
            </a:fld>
            <a:endParaRPr lang="zh-CN" altLang="zh-CN" sz="1400" smtClean="0"/>
          </a:p>
        </p:txBody>
      </p:sp>
      <p:graphicFrame>
        <p:nvGraphicFramePr>
          <p:cNvPr id="6147" name="Object 2"/>
          <p:cNvGraphicFramePr>
            <a:graphicFrameLocks noChangeAspect="1"/>
          </p:cNvGraphicFramePr>
          <p:nvPr/>
        </p:nvGraphicFramePr>
        <p:xfrm>
          <a:off x="1535113" y="374650"/>
          <a:ext cx="5703887" cy="4378325"/>
        </p:xfrm>
        <a:graphic>
          <a:graphicData uri="http://schemas.openxmlformats.org/presentationml/2006/ole">
            <mc:AlternateContent xmlns:mc="http://schemas.openxmlformats.org/markup-compatibility/2006">
              <mc:Choice xmlns:v="urn:schemas-microsoft-com:vml" Requires="v">
                <p:oleObj spid="_x0000_s6181" name="" r:id="rId1" imgW="2552700" imgH="1783080" progId="Visio.Drawing.11">
                  <p:embed/>
                </p:oleObj>
              </mc:Choice>
              <mc:Fallback>
                <p:oleObj name="" r:id="rId1" imgW="2552700" imgH="178308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11246" t="6650" r="8266" b="4755"/>
                      <a:stretch>
                        <a:fillRect/>
                      </a:stretch>
                    </p:blipFill>
                    <p:spPr bwMode="auto">
                      <a:xfrm>
                        <a:off x="1535113" y="374650"/>
                        <a:ext cx="5703887" cy="437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Text Box 3"/>
          <p:cNvSpPr txBox="1">
            <a:spLocks noChangeArrowheads="1"/>
          </p:cNvSpPr>
          <p:nvPr/>
        </p:nvSpPr>
        <p:spPr bwMode="auto">
          <a:xfrm>
            <a:off x="2263775" y="4827588"/>
            <a:ext cx="445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图6.1.1  负反馈稳定工作点电路 </a:t>
            </a:r>
            <a:endParaRPr lang="zh-CN" altLang="zh-CN" sz="2400">
              <a:latin typeface="Times New Roman" panose="02020603050405020304" pitchFamily="18" charset="0"/>
            </a:endParaRPr>
          </a:p>
        </p:txBody>
      </p:sp>
      <p:sp>
        <p:nvSpPr>
          <p:cNvPr id="6149" name="Text Box 4"/>
          <p:cNvSpPr txBox="1">
            <a:spLocks noChangeArrowheads="1"/>
          </p:cNvSpPr>
          <p:nvPr/>
        </p:nvSpPr>
        <p:spPr bwMode="auto">
          <a:xfrm>
            <a:off x="542925" y="5505450"/>
            <a:ext cx="78041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buClrTx/>
              <a:buSzTx/>
              <a:buFont typeface="Arial" panose="020B0604020202020204" pitchFamily="34" charset="0"/>
              <a:buNone/>
            </a:pPr>
            <a:r>
              <a:rPr lang="zh-CN" altLang="en-US" sz="2400">
                <a:solidFill>
                  <a:srgbClr val="CC0099"/>
                </a:solidFill>
                <a:latin typeface="Times New Roman" panose="02020603050405020304" pitchFamily="18" charset="0"/>
              </a:rPr>
              <a:t>直流反馈：</a:t>
            </a:r>
            <a:r>
              <a:rPr lang="zh-CN" altLang="en-US" sz="2400">
                <a:latin typeface="Times New Roman" panose="02020603050405020304" pitchFamily="18" charset="0"/>
              </a:rPr>
              <a:t>仅在直流通路中存在的反馈称为直流反馈。</a:t>
            </a:r>
            <a:endParaRPr lang="zh-CN" altLang="en-US" sz="2400" noProof="1">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E2A76B1-B10E-469E-9540-03E322E3F4CF}" type="slidenum">
              <a:rPr lang="zh-CN" altLang="zh-CN" sz="1400" smtClean="0"/>
            </a:fld>
            <a:endParaRPr lang="zh-CN" altLang="zh-CN" sz="1400" smtClean="0"/>
          </a:p>
        </p:txBody>
      </p:sp>
      <p:sp>
        <p:nvSpPr>
          <p:cNvPr id="7171" name="Text Box 2"/>
          <p:cNvSpPr txBox="1">
            <a:spLocks noChangeArrowheads="1"/>
          </p:cNvSpPr>
          <p:nvPr/>
        </p:nvSpPr>
        <p:spPr bwMode="auto">
          <a:xfrm>
            <a:off x="760413" y="4276725"/>
            <a:ext cx="78041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0"/>
              </a:spcBef>
              <a:buClrTx/>
              <a:buSzTx/>
              <a:buFont typeface="Arial" panose="020B0604020202020204" pitchFamily="34" charset="0"/>
              <a:buNone/>
            </a:pPr>
            <a:r>
              <a:rPr lang="zh-CN" altLang="en-US" sz="2400">
                <a:solidFill>
                  <a:srgbClr val="CC0099"/>
                </a:solidFill>
                <a:latin typeface="Times New Roman" panose="02020603050405020304" pitchFamily="18" charset="0"/>
              </a:rPr>
              <a:t>交流反馈：</a:t>
            </a:r>
            <a:r>
              <a:rPr lang="zh-CN" altLang="en-US" sz="2400">
                <a:latin typeface="Times New Roman" panose="02020603050405020304" pitchFamily="18" charset="0"/>
              </a:rPr>
              <a:t>仅在交流通路中存在的反馈称为交流反馈。</a:t>
            </a:r>
            <a:endParaRPr lang="zh-CN" altLang="en-US" sz="2400" noProof="1">
              <a:latin typeface="Times New Roman" panose="02020603050405020304" pitchFamily="18" charset="0"/>
            </a:endParaRPr>
          </a:p>
        </p:txBody>
      </p:sp>
      <p:pic>
        <p:nvPicPr>
          <p:cNvPr id="717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1588" y="192088"/>
            <a:ext cx="6194425"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4"/>
          <p:cNvSpPr txBox="1">
            <a:spLocks noChangeArrowheads="1"/>
          </p:cNvSpPr>
          <p:nvPr/>
        </p:nvSpPr>
        <p:spPr bwMode="auto">
          <a:xfrm>
            <a:off x="1941513" y="3690938"/>
            <a:ext cx="475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图6.1.2  交流反馈电路的交流通路 </a:t>
            </a:r>
            <a:endParaRPr lang="zh-CN" altLang="zh-CN" sz="2400">
              <a:latin typeface="Times New Roman" panose="02020603050405020304" pitchFamily="18" charset="0"/>
            </a:endParaRPr>
          </a:p>
        </p:txBody>
      </p:sp>
      <p:sp>
        <p:nvSpPr>
          <p:cNvPr id="7174" name="Text Box 5"/>
          <p:cNvSpPr txBox="1">
            <a:spLocks noChangeArrowheads="1"/>
          </p:cNvSpPr>
          <p:nvPr/>
        </p:nvSpPr>
        <p:spPr bwMode="auto">
          <a:xfrm>
            <a:off x="887413" y="4908550"/>
            <a:ext cx="728980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        直流负反馈主要用于稳定放大器的静态工作点，本章重点讨论交流负反馈，引入交流负反馈的放大器称为</a:t>
            </a:r>
            <a:r>
              <a:rPr lang="zh-CN" altLang="zh-CN" sz="2400">
                <a:solidFill>
                  <a:srgbClr val="CC0099"/>
                </a:solidFill>
                <a:latin typeface="Times New Roman" panose="02020603050405020304" pitchFamily="18" charset="0"/>
              </a:rPr>
              <a:t>负反馈放大器</a:t>
            </a:r>
            <a:r>
              <a:rPr lang="zh-CN" altLang="zh-CN" sz="2400">
                <a:latin typeface="Times New Roman" panose="02020603050405020304" pitchFamily="18" charset="0"/>
              </a:rPr>
              <a:t>。</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473C795-52F1-47B7-9E57-559FD5955E70}" type="slidenum">
              <a:rPr lang="zh-CN" altLang="zh-CN" sz="1400" smtClean="0"/>
            </a:fld>
            <a:endParaRPr lang="zh-CN" altLang="zh-CN" sz="1400" smtClean="0"/>
          </a:p>
        </p:txBody>
      </p:sp>
      <p:sp>
        <p:nvSpPr>
          <p:cNvPr id="8195" name="Line 2"/>
          <p:cNvSpPr>
            <a:spLocks noChangeShapeType="1"/>
          </p:cNvSpPr>
          <p:nvPr/>
        </p:nvSpPr>
        <p:spPr bwMode="auto">
          <a:xfrm>
            <a:off x="10398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96" name="Line 3"/>
          <p:cNvSpPr>
            <a:spLocks noChangeShapeType="1"/>
          </p:cNvSpPr>
          <p:nvPr/>
        </p:nvSpPr>
        <p:spPr bwMode="auto">
          <a:xfrm>
            <a:off x="12080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97" name="Line 4"/>
          <p:cNvSpPr>
            <a:spLocks noChangeShapeType="1"/>
          </p:cNvSpPr>
          <p:nvPr/>
        </p:nvSpPr>
        <p:spPr bwMode="auto">
          <a:xfrm>
            <a:off x="137636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98" name="Line 5"/>
          <p:cNvSpPr>
            <a:spLocks noChangeShapeType="1"/>
          </p:cNvSpPr>
          <p:nvPr/>
        </p:nvSpPr>
        <p:spPr bwMode="auto">
          <a:xfrm>
            <a:off x="154463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99" name="Line 6"/>
          <p:cNvSpPr>
            <a:spLocks noChangeShapeType="1"/>
          </p:cNvSpPr>
          <p:nvPr/>
        </p:nvSpPr>
        <p:spPr bwMode="auto">
          <a:xfrm>
            <a:off x="17129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0" name="Line 7"/>
          <p:cNvSpPr>
            <a:spLocks noChangeShapeType="1"/>
          </p:cNvSpPr>
          <p:nvPr/>
        </p:nvSpPr>
        <p:spPr bwMode="auto">
          <a:xfrm>
            <a:off x="188277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1" name="Line 8"/>
          <p:cNvSpPr>
            <a:spLocks noChangeShapeType="1"/>
          </p:cNvSpPr>
          <p:nvPr/>
        </p:nvSpPr>
        <p:spPr bwMode="auto">
          <a:xfrm>
            <a:off x="205105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2" name="Line 9"/>
          <p:cNvSpPr>
            <a:spLocks noChangeShapeType="1"/>
          </p:cNvSpPr>
          <p:nvPr/>
        </p:nvSpPr>
        <p:spPr bwMode="auto">
          <a:xfrm>
            <a:off x="221932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3" name="Line 10"/>
          <p:cNvSpPr>
            <a:spLocks noChangeShapeType="1"/>
          </p:cNvSpPr>
          <p:nvPr/>
        </p:nvSpPr>
        <p:spPr bwMode="auto">
          <a:xfrm>
            <a:off x="238760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4" name="Line 11"/>
          <p:cNvSpPr>
            <a:spLocks noChangeShapeType="1"/>
          </p:cNvSpPr>
          <p:nvPr/>
        </p:nvSpPr>
        <p:spPr bwMode="auto">
          <a:xfrm>
            <a:off x="255587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5" name="Line 12"/>
          <p:cNvSpPr>
            <a:spLocks noChangeShapeType="1"/>
          </p:cNvSpPr>
          <p:nvPr/>
        </p:nvSpPr>
        <p:spPr bwMode="auto">
          <a:xfrm>
            <a:off x="2724150" y="5267325"/>
            <a:ext cx="85725"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6" name="Line 13"/>
          <p:cNvSpPr>
            <a:spLocks noChangeShapeType="1"/>
          </p:cNvSpPr>
          <p:nvPr/>
        </p:nvSpPr>
        <p:spPr bwMode="auto">
          <a:xfrm>
            <a:off x="28940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7" name="Line 14"/>
          <p:cNvSpPr>
            <a:spLocks noChangeShapeType="1"/>
          </p:cNvSpPr>
          <p:nvPr/>
        </p:nvSpPr>
        <p:spPr bwMode="auto">
          <a:xfrm>
            <a:off x="30622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8" name="Line 15"/>
          <p:cNvSpPr>
            <a:spLocks noChangeShapeType="1"/>
          </p:cNvSpPr>
          <p:nvPr/>
        </p:nvSpPr>
        <p:spPr bwMode="auto">
          <a:xfrm>
            <a:off x="323056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09" name="Line 16"/>
          <p:cNvSpPr>
            <a:spLocks noChangeShapeType="1"/>
          </p:cNvSpPr>
          <p:nvPr/>
        </p:nvSpPr>
        <p:spPr bwMode="auto">
          <a:xfrm>
            <a:off x="339883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0" name="Line 17"/>
          <p:cNvSpPr>
            <a:spLocks noChangeShapeType="1"/>
          </p:cNvSpPr>
          <p:nvPr/>
        </p:nvSpPr>
        <p:spPr bwMode="auto">
          <a:xfrm>
            <a:off x="35671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1" name="Line 18"/>
          <p:cNvSpPr>
            <a:spLocks noChangeShapeType="1"/>
          </p:cNvSpPr>
          <p:nvPr/>
        </p:nvSpPr>
        <p:spPr bwMode="auto">
          <a:xfrm>
            <a:off x="3735388" y="5267325"/>
            <a:ext cx="85725"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2" name="Line 19"/>
          <p:cNvSpPr>
            <a:spLocks noChangeShapeType="1"/>
          </p:cNvSpPr>
          <p:nvPr/>
        </p:nvSpPr>
        <p:spPr bwMode="auto">
          <a:xfrm>
            <a:off x="390525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3" name="Line 20"/>
          <p:cNvSpPr>
            <a:spLocks noChangeShapeType="1"/>
          </p:cNvSpPr>
          <p:nvPr/>
        </p:nvSpPr>
        <p:spPr bwMode="auto">
          <a:xfrm>
            <a:off x="407352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4" name="Line 21"/>
          <p:cNvSpPr>
            <a:spLocks noChangeShapeType="1"/>
          </p:cNvSpPr>
          <p:nvPr/>
        </p:nvSpPr>
        <p:spPr bwMode="auto">
          <a:xfrm>
            <a:off x="424180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5" name="Line 22"/>
          <p:cNvSpPr>
            <a:spLocks noChangeShapeType="1"/>
          </p:cNvSpPr>
          <p:nvPr/>
        </p:nvSpPr>
        <p:spPr bwMode="auto">
          <a:xfrm>
            <a:off x="441007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6" name="Line 23"/>
          <p:cNvSpPr>
            <a:spLocks noChangeShapeType="1"/>
          </p:cNvSpPr>
          <p:nvPr/>
        </p:nvSpPr>
        <p:spPr bwMode="auto">
          <a:xfrm>
            <a:off x="457835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7" name="Line 24"/>
          <p:cNvSpPr>
            <a:spLocks noChangeShapeType="1"/>
          </p:cNvSpPr>
          <p:nvPr/>
        </p:nvSpPr>
        <p:spPr bwMode="auto">
          <a:xfrm>
            <a:off x="47482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8" name="Line 25"/>
          <p:cNvSpPr>
            <a:spLocks noChangeShapeType="1"/>
          </p:cNvSpPr>
          <p:nvPr/>
        </p:nvSpPr>
        <p:spPr bwMode="auto">
          <a:xfrm>
            <a:off x="49164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19" name="Line 26"/>
          <p:cNvSpPr>
            <a:spLocks noChangeShapeType="1"/>
          </p:cNvSpPr>
          <p:nvPr/>
        </p:nvSpPr>
        <p:spPr bwMode="auto">
          <a:xfrm>
            <a:off x="508476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0" name="Line 27"/>
          <p:cNvSpPr>
            <a:spLocks noChangeShapeType="1"/>
          </p:cNvSpPr>
          <p:nvPr/>
        </p:nvSpPr>
        <p:spPr bwMode="auto">
          <a:xfrm>
            <a:off x="525303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1" name="Line 28"/>
          <p:cNvSpPr>
            <a:spLocks noChangeShapeType="1"/>
          </p:cNvSpPr>
          <p:nvPr/>
        </p:nvSpPr>
        <p:spPr bwMode="auto">
          <a:xfrm>
            <a:off x="54213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2" name="Line 29"/>
          <p:cNvSpPr>
            <a:spLocks noChangeShapeType="1"/>
          </p:cNvSpPr>
          <p:nvPr/>
        </p:nvSpPr>
        <p:spPr bwMode="auto">
          <a:xfrm>
            <a:off x="55895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3" name="Line 30"/>
          <p:cNvSpPr>
            <a:spLocks noChangeShapeType="1"/>
          </p:cNvSpPr>
          <p:nvPr/>
        </p:nvSpPr>
        <p:spPr bwMode="auto">
          <a:xfrm>
            <a:off x="575945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4" name="Line 31"/>
          <p:cNvSpPr>
            <a:spLocks noChangeShapeType="1"/>
          </p:cNvSpPr>
          <p:nvPr/>
        </p:nvSpPr>
        <p:spPr bwMode="auto">
          <a:xfrm>
            <a:off x="592772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5" name="Line 32"/>
          <p:cNvSpPr>
            <a:spLocks noChangeShapeType="1"/>
          </p:cNvSpPr>
          <p:nvPr/>
        </p:nvSpPr>
        <p:spPr bwMode="auto">
          <a:xfrm>
            <a:off x="609600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6" name="Line 33"/>
          <p:cNvSpPr>
            <a:spLocks noChangeShapeType="1"/>
          </p:cNvSpPr>
          <p:nvPr/>
        </p:nvSpPr>
        <p:spPr bwMode="auto">
          <a:xfrm>
            <a:off x="6264275"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7" name="Line 34"/>
          <p:cNvSpPr>
            <a:spLocks noChangeShapeType="1"/>
          </p:cNvSpPr>
          <p:nvPr/>
        </p:nvSpPr>
        <p:spPr bwMode="auto">
          <a:xfrm>
            <a:off x="6432550" y="5267325"/>
            <a:ext cx="84138"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8" name="Line 35"/>
          <p:cNvSpPr>
            <a:spLocks noChangeShapeType="1"/>
          </p:cNvSpPr>
          <p:nvPr/>
        </p:nvSpPr>
        <p:spPr bwMode="auto">
          <a:xfrm>
            <a:off x="6600825" y="5267325"/>
            <a:ext cx="85725"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29" name="Line 36"/>
          <p:cNvSpPr>
            <a:spLocks noChangeShapeType="1"/>
          </p:cNvSpPr>
          <p:nvPr/>
        </p:nvSpPr>
        <p:spPr bwMode="auto">
          <a:xfrm>
            <a:off x="67706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0" name="Line 37"/>
          <p:cNvSpPr>
            <a:spLocks noChangeShapeType="1"/>
          </p:cNvSpPr>
          <p:nvPr/>
        </p:nvSpPr>
        <p:spPr bwMode="auto">
          <a:xfrm>
            <a:off x="693896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1" name="Line 38"/>
          <p:cNvSpPr>
            <a:spLocks noChangeShapeType="1"/>
          </p:cNvSpPr>
          <p:nvPr/>
        </p:nvSpPr>
        <p:spPr bwMode="auto">
          <a:xfrm>
            <a:off x="710723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2" name="Line 39"/>
          <p:cNvSpPr>
            <a:spLocks noChangeShapeType="1"/>
          </p:cNvSpPr>
          <p:nvPr/>
        </p:nvSpPr>
        <p:spPr bwMode="auto">
          <a:xfrm>
            <a:off x="7275513"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3" name="Line 40"/>
          <p:cNvSpPr>
            <a:spLocks noChangeShapeType="1"/>
          </p:cNvSpPr>
          <p:nvPr/>
        </p:nvSpPr>
        <p:spPr bwMode="auto">
          <a:xfrm>
            <a:off x="7443788" y="5267325"/>
            <a:ext cx="8413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4" name="Line 41"/>
          <p:cNvSpPr>
            <a:spLocks noChangeShapeType="1"/>
          </p:cNvSpPr>
          <p:nvPr/>
        </p:nvSpPr>
        <p:spPr bwMode="auto">
          <a:xfrm flipV="1">
            <a:off x="7527925" y="5099050"/>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5" name="Line 42"/>
          <p:cNvSpPr>
            <a:spLocks noChangeShapeType="1"/>
          </p:cNvSpPr>
          <p:nvPr/>
        </p:nvSpPr>
        <p:spPr bwMode="auto">
          <a:xfrm flipV="1">
            <a:off x="7527925" y="4930775"/>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6" name="Line 43"/>
          <p:cNvSpPr>
            <a:spLocks noChangeShapeType="1"/>
          </p:cNvSpPr>
          <p:nvPr/>
        </p:nvSpPr>
        <p:spPr bwMode="auto">
          <a:xfrm flipV="1">
            <a:off x="7527925" y="4760913"/>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7" name="Line 44"/>
          <p:cNvSpPr>
            <a:spLocks noChangeShapeType="1"/>
          </p:cNvSpPr>
          <p:nvPr/>
        </p:nvSpPr>
        <p:spPr bwMode="auto">
          <a:xfrm flipV="1">
            <a:off x="7527925" y="459263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8" name="Line 45"/>
          <p:cNvSpPr>
            <a:spLocks noChangeShapeType="1"/>
          </p:cNvSpPr>
          <p:nvPr/>
        </p:nvSpPr>
        <p:spPr bwMode="auto">
          <a:xfrm flipV="1">
            <a:off x="7527925" y="4424363"/>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39" name="Line 46"/>
          <p:cNvSpPr>
            <a:spLocks noChangeShapeType="1"/>
          </p:cNvSpPr>
          <p:nvPr/>
        </p:nvSpPr>
        <p:spPr bwMode="auto">
          <a:xfrm flipV="1">
            <a:off x="7527925" y="425608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0" name="Line 47"/>
          <p:cNvSpPr>
            <a:spLocks noChangeShapeType="1"/>
          </p:cNvSpPr>
          <p:nvPr/>
        </p:nvSpPr>
        <p:spPr bwMode="auto">
          <a:xfrm flipV="1">
            <a:off x="7527925" y="4086225"/>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1" name="Line 48"/>
          <p:cNvSpPr>
            <a:spLocks noChangeShapeType="1"/>
          </p:cNvSpPr>
          <p:nvPr/>
        </p:nvSpPr>
        <p:spPr bwMode="auto">
          <a:xfrm flipV="1">
            <a:off x="7527925" y="3917950"/>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2" name="Line 49"/>
          <p:cNvSpPr>
            <a:spLocks noChangeShapeType="1"/>
          </p:cNvSpPr>
          <p:nvPr/>
        </p:nvSpPr>
        <p:spPr bwMode="auto">
          <a:xfrm flipV="1">
            <a:off x="7527925" y="3749675"/>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3" name="Line 50"/>
          <p:cNvSpPr>
            <a:spLocks noChangeShapeType="1"/>
          </p:cNvSpPr>
          <p:nvPr/>
        </p:nvSpPr>
        <p:spPr bwMode="auto">
          <a:xfrm flipV="1">
            <a:off x="7527925" y="3579813"/>
            <a:ext cx="1588" cy="8572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4" name="Line 51"/>
          <p:cNvSpPr>
            <a:spLocks noChangeShapeType="1"/>
          </p:cNvSpPr>
          <p:nvPr/>
        </p:nvSpPr>
        <p:spPr bwMode="auto">
          <a:xfrm flipV="1">
            <a:off x="7527925" y="341153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5" name="Line 52"/>
          <p:cNvSpPr>
            <a:spLocks noChangeShapeType="1"/>
          </p:cNvSpPr>
          <p:nvPr/>
        </p:nvSpPr>
        <p:spPr bwMode="auto">
          <a:xfrm flipV="1">
            <a:off x="7527925" y="3243263"/>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6" name="Line 53"/>
          <p:cNvSpPr>
            <a:spLocks noChangeShapeType="1"/>
          </p:cNvSpPr>
          <p:nvPr/>
        </p:nvSpPr>
        <p:spPr bwMode="auto">
          <a:xfrm flipV="1">
            <a:off x="7527925" y="307498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7" name="Line 54"/>
          <p:cNvSpPr>
            <a:spLocks noChangeShapeType="1"/>
          </p:cNvSpPr>
          <p:nvPr/>
        </p:nvSpPr>
        <p:spPr bwMode="auto">
          <a:xfrm flipV="1">
            <a:off x="7527925" y="2905125"/>
            <a:ext cx="1588" cy="8572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8" name="Line 55"/>
          <p:cNvSpPr>
            <a:spLocks noChangeShapeType="1"/>
          </p:cNvSpPr>
          <p:nvPr/>
        </p:nvSpPr>
        <p:spPr bwMode="auto">
          <a:xfrm flipV="1">
            <a:off x="7527925" y="2736850"/>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49" name="Line 56"/>
          <p:cNvSpPr>
            <a:spLocks noChangeShapeType="1"/>
          </p:cNvSpPr>
          <p:nvPr/>
        </p:nvSpPr>
        <p:spPr bwMode="auto">
          <a:xfrm flipV="1">
            <a:off x="7527925" y="2568575"/>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0" name="Line 57"/>
          <p:cNvSpPr>
            <a:spLocks noChangeShapeType="1"/>
          </p:cNvSpPr>
          <p:nvPr/>
        </p:nvSpPr>
        <p:spPr bwMode="auto">
          <a:xfrm flipV="1">
            <a:off x="7527925" y="2400300"/>
            <a:ext cx="1588"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1" name="Line 58"/>
          <p:cNvSpPr>
            <a:spLocks noChangeShapeType="1"/>
          </p:cNvSpPr>
          <p:nvPr/>
        </p:nvSpPr>
        <p:spPr bwMode="auto">
          <a:xfrm flipV="1">
            <a:off x="7527925" y="223043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2" name="Line 59"/>
          <p:cNvSpPr>
            <a:spLocks noChangeShapeType="1"/>
          </p:cNvSpPr>
          <p:nvPr/>
        </p:nvSpPr>
        <p:spPr bwMode="auto">
          <a:xfrm flipV="1">
            <a:off x="7527925" y="2062163"/>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3" name="Line 60"/>
          <p:cNvSpPr>
            <a:spLocks noChangeShapeType="1"/>
          </p:cNvSpPr>
          <p:nvPr/>
        </p:nvSpPr>
        <p:spPr bwMode="auto">
          <a:xfrm flipV="1">
            <a:off x="7527925" y="1893888"/>
            <a:ext cx="1588"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4" name="Line 61"/>
          <p:cNvSpPr>
            <a:spLocks noChangeShapeType="1"/>
          </p:cNvSpPr>
          <p:nvPr/>
        </p:nvSpPr>
        <p:spPr bwMode="auto">
          <a:xfrm flipH="1">
            <a:off x="73818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5" name="Line 62"/>
          <p:cNvSpPr>
            <a:spLocks noChangeShapeType="1"/>
          </p:cNvSpPr>
          <p:nvPr/>
        </p:nvSpPr>
        <p:spPr bwMode="auto">
          <a:xfrm flipH="1">
            <a:off x="721201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6" name="Line 63"/>
          <p:cNvSpPr>
            <a:spLocks noChangeShapeType="1"/>
          </p:cNvSpPr>
          <p:nvPr/>
        </p:nvSpPr>
        <p:spPr bwMode="auto">
          <a:xfrm flipH="1">
            <a:off x="70437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7" name="Line 64"/>
          <p:cNvSpPr>
            <a:spLocks noChangeShapeType="1"/>
          </p:cNvSpPr>
          <p:nvPr/>
        </p:nvSpPr>
        <p:spPr bwMode="auto">
          <a:xfrm flipH="1">
            <a:off x="687546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8" name="Line 65"/>
          <p:cNvSpPr>
            <a:spLocks noChangeShapeType="1"/>
          </p:cNvSpPr>
          <p:nvPr/>
        </p:nvSpPr>
        <p:spPr bwMode="auto">
          <a:xfrm flipH="1">
            <a:off x="670718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59" name="Line 66"/>
          <p:cNvSpPr>
            <a:spLocks noChangeShapeType="1"/>
          </p:cNvSpPr>
          <p:nvPr/>
        </p:nvSpPr>
        <p:spPr bwMode="auto">
          <a:xfrm flipH="1">
            <a:off x="653891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0" name="Line 67"/>
          <p:cNvSpPr>
            <a:spLocks noChangeShapeType="1"/>
          </p:cNvSpPr>
          <p:nvPr/>
        </p:nvSpPr>
        <p:spPr bwMode="auto">
          <a:xfrm flipH="1">
            <a:off x="6369050" y="1871663"/>
            <a:ext cx="85725"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1" name="Line 68"/>
          <p:cNvSpPr>
            <a:spLocks noChangeShapeType="1"/>
          </p:cNvSpPr>
          <p:nvPr/>
        </p:nvSpPr>
        <p:spPr bwMode="auto">
          <a:xfrm flipH="1">
            <a:off x="62007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2" name="Line 69"/>
          <p:cNvSpPr>
            <a:spLocks noChangeShapeType="1"/>
          </p:cNvSpPr>
          <p:nvPr/>
        </p:nvSpPr>
        <p:spPr bwMode="auto">
          <a:xfrm flipH="1">
            <a:off x="603250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3" name="Line 70"/>
          <p:cNvSpPr>
            <a:spLocks noChangeShapeType="1"/>
          </p:cNvSpPr>
          <p:nvPr/>
        </p:nvSpPr>
        <p:spPr bwMode="auto">
          <a:xfrm flipH="1">
            <a:off x="586422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4" name="Line 71"/>
          <p:cNvSpPr>
            <a:spLocks noChangeShapeType="1"/>
          </p:cNvSpPr>
          <p:nvPr/>
        </p:nvSpPr>
        <p:spPr bwMode="auto">
          <a:xfrm flipH="1">
            <a:off x="569595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5" name="Line 72"/>
          <p:cNvSpPr>
            <a:spLocks noChangeShapeType="1"/>
          </p:cNvSpPr>
          <p:nvPr/>
        </p:nvSpPr>
        <p:spPr bwMode="auto">
          <a:xfrm flipH="1">
            <a:off x="55276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6" name="Line 73"/>
          <p:cNvSpPr>
            <a:spLocks noChangeShapeType="1"/>
          </p:cNvSpPr>
          <p:nvPr/>
        </p:nvSpPr>
        <p:spPr bwMode="auto">
          <a:xfrm flipH="1">
            <a:off x="535781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7" name="Line 74"/>
          <p:cNvSpPr>
            <a:spLocks noChangeShapeType="1"/>
          </p:cNvSpPr>
          <p:nvPr/>
        </p:nvSpPr>
        <p:spPr bwMode="auto">
          <a:xfrm flipH="1">
            <a:off x="51895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8" name="Line 75"/>
          <p:cNvSpPr>
            <a:spLocks noChangeShapeType="1"/>
          </p:cNvSpPr>
          <p:nvPr/>
        </p:nvSpPr>
        <p:spPr bwMode="auto">
          <a:xfrm flipH="1">
            <a:off x="502126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69" name="Line 76"/>
          <p:cNvSpPr>
            <a:spLocks noChangeShapeType="1"/>
          </p:cNvSpPr>
          <p:nvPr/>
        </p:nvSpPr>
        <p:spPr bwMode="auto">
          <a:xfrm flipH="1">
            <a:off x="485298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0" name="Line 77"/>
          <p:cNvSpPr>
            <a:spLocks noChangeShapeType="1"/>
          </p:cNvSpPr>
          <p:nvPr/>
        </p:nvSpPr>
        <p:spPr bwMode="auto">
          <a:xfrm flipH="1">
            <a:off x="468471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1" name="Line 78"/>
          <p:cNvSpPr>
            <a:spLocks noChangeShapeType="1"/>
          </p:cNvSpPr>
          <p:nvPr/>
        </p:nvSpPr>
        <p:spPr bwMode="auto">
          <a:xfrm flipH="1">
            <a:off x="45164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2" name="Line 79"/>
          <p:cNvSpPr>
            <a:spLocks noChangeShapeType="1"/>
          </p:cNvSpPr>
          <p:nvPr/>
        </p:nvSpPr>
        <p:spPr bwMode="auto">
          <a:xfrm flipH="1">
            <a:off x="43465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3" name="Line 80"/>
          <p:cNvSpPr>
            <a:spLocks noChangeShapeType="1"/>
          </p:cNvSpPr>
          <p:nvPr/>
        </p:nvSpPr>
        <p:spPr bwMode="auto">
          <a:xfrm flipH="1">
            <a:off x="417830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4" name="Line 81"/>
          <p:cNvSpPr>
            <a:spLocks noChangeShapeType="1"/>
          </p:cNvSpPr>
          <p:nvPr/>
        </p:nvSpPr>
        <p:spPr bwMode="auto">
          <a:xfrm flipH="1">
            <a:off x="401002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5" name="Line 82"/>
          <p:cNvSpPr>
            <a:spLocks noChangeShapeType="1"/>
          </p:cNvSpPr>
          <p:nvPr/>
        </p:nvSpPr>
        <p:spPr bwMode="auto">
          <a:xfrm flipH="1">
            <a:off x="384175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6" name="Line 83"/>
          <p:cNvSpPr>
            <a:spLocks noChangeShapeType="1"/>
          </p:cNvSpPr>
          <p:nvPr/>
        </p:nvSpPr>
        <p:spPr bwMode="auto">
          <a:xfrm flipH="1">
            <a:off x="36734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7" name="Line 84"/>
          <p:cNvSpPr>
            <a:spLocks noChangeShapeType="1"/>
          </p:cNvSpPr>
          <p:nvPr/>
        </p:nvSpPr>
        <p:spPr bwMode="auto">
          <a:xfrm flipH="1">
            <a:off x="3503613" y="1871663"/>
            <a:ext cx="85725"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8" name="Line 85"/>
          <p:cNvSpPr>
            <a:spLocks noChangeShapeType="1"/>
          </p:cNvSpPr>
          <p:nvPr/>
        </p:nvSpPr>
        <p:spPr bwMode="auto">
          <a:xfrm flipH="1">
            <a:off x="33353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79" name="Line 86"/>
          <p:cNvSpPr>
            <a:spLocks noChangeShapeType="1"/>
          </p:cNvSpPr>
          <p:nvPr/>
        </p:nvSpPr>
        <p:spPr bwMode="auto">
          <a:xfrm flipH="1">
            <a:off x="316706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0" name="Line 87"/>
          <p:cNvSpPr>
            <a:spLocks noChangeShapeType="1"/>
          </p:cNvSpPr>
          <p:nvPr/>
        </p:nvSpPr>
        <p:spPr bwMode="auto">
          <a:xfrm flipH="1">
            <a:off x="299878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1" name="Line 88"/>
          <p:cNvSpPr>
            <a:spLocks noChangeShapeType="1"/>
          </p:cNvSpPr>
          <p:nvPr/>
        </p:nvSpPr>
        <p:spPr bwMode="auto">
          <a:xfrm flipH="1">
            <a:off x="283051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2" name="Line 89"/>
          <p:cNvSpPr>
            <a:spLocks noChangeShapeType="1"/>
          </p:cNvSpPr>
          <p:nvPr/>
        </p:nvSpPr>
        <p:spPr bwMode="auto">
          <a:xfrm flipH="1">
            <a:off x="26622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3" name="Line 90"/>
          <p:cNvSpPr>
            <a:spLocks noChangeShapeType="1"/>
          </p:cNvSpPr>
          <p:nvPr/>
        </p:nvSpPr>
        <p:spPr bwMode="auto">
          <a:xfrm flipH="1">
            <a:off x="2492375" y="1871663"/>
            <a:ext cx="85725"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4" name="Line 91"/>
          <p:cNvSpPr>
            <a:spLocks noChangeShapeType="1"/>
          </p:cNvSpPr>
          <p:nvPr/>
        </p:nvSpPr>
        <p:spPr bwMode="auto">
          <a:xfrm flipH="1">
            <a:off x="232410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5" name="Line 92"/>
          <p:cNvSpPr>
            <a:spLocks noChangeShapeType="1"/>
          </p:cNvSpPr>
          <p:nvPr/>
        </p:nvSpPr>
        <p:spPr bwMode="auto">
          <a:xfrm flipH="1">
            <a:off x="215582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6" name="Line 93"/>
          <p:cNvSpPr>
            <a:spLocks noChangeShapeType="1"/>
          </p:cNvSpPr>
          <p:nvPr/>
        </p:nvSpPr>
        <p:spPr bwMode="auto">
          <a:xfrm flipH="1">
            <a:off x="198755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7" name="Line 94"/>
          <p:cNvSpPr>
            <a:spLocks noChangeShapeType="1"/>
          </p:cNvSpPr>
          <p:nvPr/>
        </p:nvSpPr>
        <p:spPr bwMode="auto">
          <a:xfrm flipH="1">
            <a:off x="1819275"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8" name="Line 95"/>
          <p:cNvSpPr>
            <a:spLocks noChangeShapeType="1"/>
          </p:cNvSpPr>
          <p:nvPr/>
        </p:nvSpPr>
        <p:spPr bwMode="auto">
          <a:xfrm flipH="1">
            <a:off x="1651000" y="1871663"/>
            <a:ext cx="8413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89" name="Line 96"/>
          <p:cNvSpPr>
            <a:spLocks noChangeShapeType="1"/>
          </p:cNvSpPr>
          <p:nvPr/>
        </p:nvSpPr>
        <p:spPr bwMode="auto">
          <a:xfrm flipH="1">
            <a:off x="148113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0" name="Line 97"/>
          <p:cNvSpPr>
            <a:spLocks noChangeShapeType="1"/>
          </p:cNvSpPr>
          <p:nvPr/>
        </p:nvSpPr>
        <p:spPr bwMode="auto">
          <a:xfrm flipH="1">
            <a:off x="1312863"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1" name="Line 98"/>
          <p:cNvSpPr>
            <a:spLocks noChangeShapeType="1"/>
          </p:cNvSpPr>
          <p:nvPr/>
        </p:nvSpPr>
        <p:spPr bwMode="auto">
          <a:xfrm flipH="1">
            <a:off x="1144588" y="1871663"/>
            <a:ext cx="84137"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2" name="Freeform 99"/>
          <p:cNvSpPr/>
          <p:nvPr/>
        </p:nvSpPr>
        <p:spPr bwMode="auto">
          <a:xfrm>
            <a:off x="1039813" y="1871663"/>
            <a:ext cx="20637" cy="63500"/>
          </a:xfrm>
          <a:custGeom>
            <a:avLst/>
            <a:gdLst>
              <a:gd name="T0" fmla="*/ 2147483646 w 1"/>
              <a:gd name="T1" fmla="*/ 0 h 3"/>
              <a:gd name="T2" fmla="*/ 0 w 1"/>
              <a:gd name="T3" fmla="*/ 0 h 3"/>
              <a:gd name="T4" fmla="*/ 0 w 1"/>
              <a:gd name="T5" fmla="*/ 2147483646 h 3"/>
              <a:gd name="T6" fmla="*/ 0 60000 65536"/>
              <a:gd name="T7" fmla="*/ 0 60000 65536"/>
              <a:gd name="T8" fmla="*/ 0 60000 65536"/>
              <a:gd name="T9" fmla="*/ 0 w 1"/>
              <a:gd name="T10" fmla="*/ 0 h 3"/>
              <a:gd name="T11" fmla="*/ 1 w 1"/>
              <a:gd name="T12" fmla="*/ 3 h 3"/>
            </a:gdLst>
            <a:ahLst/>
            <a:cxnLst>
              <a:cxn ang="T6">
                <a:pos x="T0" y="T1"/>
              </a:cxn>
              <a:cxn ang="T7">
                <a:pos x="T2" y="T3"/>
              </a:cxn>
              <a:cxn ang="T8">
                <a:pos x="T4" y="T5"/>
              </a:cxn>
            </a:cxnLst>
            <a:rect l="T9" t="T10" r="T11" b="T12"/>
            <a:pathLst>
              <a:path w="1" h="3">
                <a:moveTo>
                  <a:pt x="1" y="0"/>
                </a:moveTo>
                <a:lnTo>
                  <a:pt x="0" y="0"/>
                </a:lnTo>
                <a:lnTo>
                  <a:pt x="0" y="3"/>
                </a:lnTo>
              </a:path>
            </a:pathLst>
          </a:custGeom>
          <a:noFill/>
          <a:ln w="2063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3" name="Line 100"/>
          <p:cNvSpPr>
            <a:spLocks noChangeShapeType="1"/>
          </p:cNvSpPr>
          <p:nvPr/>
        </p:nvSpPr>
        <p:spPr bwMode="auto">
          <a:xfrm>
            <a:off x="1039813" y="2019300"/>
            <a:ext cx="1587" cy="8572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4" name="Line 101"/>
          <p:cNvSpPr>
            <a:spLocks noChangeShapeType="1"/>
          </p:cNvSpPr>
          <p:nvPr/>
        </p:nvSpPr>
        <p:spPr bwMode="auto">
          <a:xfrm>
            <a:off x="1039813" y="218916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5" name="Line 102"/>
          <p:cNvSpPr>
            <a:spLocks noChangeShapeType="1"/>
          </p:cNvSpPr>
          <p:nvPr/>
        </p:nvSpPr>
        <p:spPr bwMode="auto">
          <a:xfrm>
            <a:off x="1039813" y="2357438"/>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6" name="Line 103"/>
          <p:cNvSpPr>
            <a:spLocks noChangeShapeType="1"/>
          </p:cNvSpPr>
          <p:nvPr/>
        </p:nvSpPr>
        <p:spPr bwMode="auto">
          <a:xfrm>
            <a:off x="1039813" y="252571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7" name="Line 104"/>
          <p:cNvSpPr>
            <a:spLocks noChangeShapeType="1"/>
          </p:cNvSpPr>
          <p:nvPr/>
        </p:nvSpPr>
        <p:spPr bwMode="auto">
          <a:xfrm>
            <a:off x="1039813" y="2695575"/>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8" name="Line 105"/>
          <p:cNvSpPr>
            <a:spLocks noChangeShapeType="1"/>
          </p:cNvSpPr>
          <p:nvPr/>
        </p:nvSpPr>
        <p:spPr bwMode="auto">
          <a:xfrm>
            <a:off x="1039813" y="2863850"/>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9" name="Line 106"/>
          <p:cNvSpPr>
            <a:spLocks noChangeShapeType="1"/>
          </p:cNvSpPr>
          <p:nvPr/>
        </p:nvSpPr>
        <p:spPr bwMode="auto">
          <a:xfrm>
            <a:off x="1039813" y="3032125"/>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0" name="Line 107"/>
          <p:cNvSpPr>
            <a:spLocks noChangeShapeType="1"/>
          </p:cNvSpPr>
          <p:nvPr/>
        </p:nvSpPr>
        <p:spPr bwMode="auto">
          <a:xfrm>
            <a:off x="1039813" y="3200400"/>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1" name="Line 108"/>
          <p:cNvSpPr>
            <a:spLocks noChangeShapeType="1"/>
          </p:cNvSpPr>
          <p:nvPr/>
        </p:nvSpPr>
        <p:spPr bwMode="auto">
          <a:xfrm>
            <a:off x="1039813" y="337026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2" name="Line 109"/>
          <p:cNvSpPr>
            <a:spLocks noChangeShapeType="1"/>
          </p:cNvSpPr>
          <p:nvPr/>
        </p:nvSpPr>
        <p:spPr bwMode="auto">
          <a:xfrm>
            <a:off x="1039813" y="3538538"/>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3" name="Line 110"/>
          <p:cNvSpPr>
            <a:spLocks noChangeShapeType="1"/>
          </p:cNvSpPr>
          <p:nvPr/>
        </p:nvSpPr>
        <p:spPr bwMode="auto">
          <a:xfrm>
            <a:off x="1039813" y="370681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4" name="Line 111"/>
          <p:cNvSpPr>
            <a:spLocks noChangeShapeType="1"/>
          </p:cNvSpPr>
          <p:nvPr/>
        </p:nvSpPr>
        <p:spPr bwMode="auto">
          <a:xfrm>
            <a:off x="1039813" y="3875088"/>
            <a:ext cx="1587" cy="8572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5" name="Line 112"/>
          <p:cNvSpPr>
            <a:spLocks noChangeShapeType="1"/>
          </p:cNvSpPr>
          <p:nvPr/>
        </p:nvSpPr>
        <p:spPr bwMode="auto">
          <a:xfrm>
            <a:off x="1039813" y="4044950"/>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6" name="Line 113"/>
          <p:cNvSpPr>
            <a:spLocks noChangeShapeType="1"/>
          </p:cNvSpPr>
          <p:nvPr/>
        </p:nvSpPr>
        <p:spPr bwMode="auto">
          <a:xfrm>
            <a:off x="1039813" y="4213225"/>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7" name="Line 114"/>
          <p:cNvSpPr>
            <a:spLocks noChangeShapeType="1"/>
          </p:cNvSpPr>
          <p:nvPr/>
        </p:nvSpPr>
        <p:spPr bwMode="auto">
          <a:xfrm>
            <a:off x="1039813" y="4381500"/>
            <a:ext cx="1587" cy="841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8" name="Line 115"/>
          <p:cNvSpPr>
            <a:spLocks noChangeShapeType="1"/>
          </p:cNvSpPr>
          <p:nvPr/>
        </p:nvSpPr>
        <p:spPr bwMode="auto">
          <a:xfrm>
            <a:off x="1039813" y="455136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09" name="Line 116"/>
          <p:cNvSpPr>
            <a:spLocks noChangeShapeType="1"/>
          </p:cNvSpPr>
          <p:nvPr/>
        </p:nvSpPr>
        <p:spPr bwMode="auto">
          <a:xfrm>
            <a:off x="1039813" y="4719638"/>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0" name="Line 117"/>
          <p:cNvSpPr>
            <a:spLocks noChangeShapeType="1"/>
          </p:cNvSpPr>
          <p:nvPr/>
        </p:nvSpPr>
        <p:spPr bwMode="auto">
          <a:xfrm>
            <a:off x="1039813" y="4887913"/>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1" name="Line 118"/>
          <p:cNvSpPr>
            <a:spLocks noChangeShapeType="1"/>
          </p:cNvSpPr>
          <p:nvPr/>
        </p:nvSpPr>
        <p:spPr bwMode="auto">
          <a:xfrm>
            <a:off x="1039813" y="5056188"/>
            <a:ext cx="1587" cy="841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2" name="Line 119"/>
          <p:cNvSpPr>
            <a:spLocks noChangeShapeType="1"/>
          </p:cNvSpPr>
          <p:nvPr/>
        </p:nvSpPr>
        <p:spPr bwMode="auto">
          <a:xfrm>
            <a:off x="1039813" y="5226050"/>
            <a:ext cx="1587" cy="4127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3" name="Rectangle 120"/>
          <p:cNvSpPr>
            <a:spLocks noChangeArrowheads="1"/>
          </p:cNvSpPr>
          <p:nvPr/>
        </p:nvSpPr>
        <p:spPr bwMode="auto">
          <a:xfrm>
            <a:off x="3757613" y="2484438"/>
            <a:ext cx="1979612" cy="1181100"/>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8314" name="Line 121"/>
          <p:cNvSpPr>
            <a:spLocks noChangeShapeType="1"/>
          </p:cNvSpPr>
          <p:nvPr/>
        </p:nvSpPr>
        <p:spPr bwMode="auto">
          <a:xfrm>
            <a:off x="4346575" y="3074988"/>
            <a:ext cx="80168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5" name="Rectangle 122"/>
          <p:cNvSpPr>
            <a:spLocks noChangeArrowheads="1"/>
          </p:cNvSpPr>
          <p:nvPr/>
        </p:nvSpPr>
        <p:spPr bwMode="auto">
          <a:xfrm>
            <a:off x="4113213" y="2632075"/>
            <a:ext cx="139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基本放大器</a:t>
            </a:r>
            <a:endParaRPr lang="zh-CN" altLang="zh-CN" sz="2800">
              <a:latin typeface="Times New Roman" panose="02020603050405020304" pitchFamily="18" charset="0"/>
            </a:endParaRPr>
          </a:p>
        </p:txBody>
      </p:sp>
      <p:sp>
        <p:nvSpPr>
          <p:cNvPr id="8316" name="Freeform 123"/>
          <p:cNvSpPr/>
          <p:nvPr/>
        </p:nvSpPr>
        <p:spPr bwMode="auto">
          <a:xfrm>
            <a:off x="4873625" y="3032125"/>
            <a:ext cx="274638" cy="84138"/>
          </a:xfrm>
          <a:custGeom>
            <a:avLst/>
            <a:gdLst>
              <a:gd name="T0" fmla="*/ 0 w 173"/>
              <a:gd name="T1" fmla="*/ 0 h 53"/>
              <a:gd name="T2" fmla="*/ 2147483646 w 173"/>
              <a:gd name="T3" fmla="*/ 2147483646 h 53"/>
              <a:gd name="T4" fmla="*/ 0 w 173"/>
              <a:gd name="T5" fmla="*/ 2147483646 h 53"/>
              <a:gd name="T6" fmla="*/ 2147483646 w 173"/>
              <a:gd name="T7" fmla="*/ 2147483646 h 53"/>
              <a:gd name="T8" fmla="*/ 0 w 173"/>
              <a:gd name="T9" fmla="*/ 0 h 53"/>
              <a:gd name="T10" fmla="*/ 0 60000 65536"/>
              <a:gd name="T11" fmla="*/ 0 60000 65536"/>
              <a:gd name="T12" fmla="*/ 0 60000 65536"/>
              <a:gd name="T13" fmla="*/ 0 60000 65536"/>
              <a:gd name="T14" fmla="*/ 0 60000 65536"/>
              <a:gd name="T15" fmla="*/ 0 w 173"/>
              <a:gd name="T16" fmla="*/ 0 h 53"/>
              <a:gd name="T17" fmla="*/ 173 w 173"/>
              <a:gd name="T18" fmla="*/ 53 h 53"/>
            </a:gdLst>
            <a:ahLst/>
            <a:cxnLst>
              <a:cxn ang="T10">
                <a:pos x="T0" y="T1"/>
              </a:cxn>
              <a:cxn ang="T11">
                <a:pos x="T2" y="T3"/>
              </a:cxn>
              <a:cxn ang="T12">
                <a:pos x="T4" y="T5"/>
              </a:cxn>
              <a:cxn ang="T13">
                <a:pos x="T6" y="T7"/>
              </a:cxn>
              <a:cxn ang="T14">
                <a:pos x="T8" y="T9"/>
              </a:cxn>
            </a:cxnLst>
            <a:rect l="T15" t="T16" r="T17" b="T18"/>
            <a:pathLst>
              <a:path w="173" h="53">
                <a:moveTo>
                  <a:pt x="0" y="0"/>
                </a:moveTo>
                <a:lnTo>
                  <a:pt x="40" y="27"/>
                </a:lnTo>
                <a:lnTo>
                  <a:pt x="0" y="53"/>
                </a:lnTo>
                <a:lnTo>
                  <a:pt x="173" y="27"/>
                </a:lnTo>
                <a:lnTo>
                  <a:pt x="0" y="0"/>
                </a:lnTo>
                <a:close/>
              </a:path>
            </a:pathLst>
          </a:custGeom>
          <a:solidFill>
            <a:srgbClr val="000000"/>
          </a:solidFill>
          <a:ln w="20638">
            <a:solidFill>
              <a:srgbClr val="000000"/>
            </a:solidFill>
            <a:round/>
          </a:ln>
        </p:spPr>
        <p:txBody>
          <a:bodyPr/>
          <a:lstStyle/>
          <a:p>
            <a:endParaRPr lang="zh-CN" altLang="en-US"/>
          </a:p>
        </p:txBody>
      </p:sp>
      <p:sp>
        <p:nvSpPr>
          <p:cNvPr id="8317" name="Rectangle 124"/>
          <p:cNvSpPr>
            <a:spLocks noChangeArrowheads="1"/>
          </p:cNvSpPr>
          <p:nvPr/>
        </p:nvSpPr>
        <p:spPr bwMode="auto">
          <a:xfrm>
            <a:off x="4706938" y="3201988"/>
            <a:ext cx="1857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8318" name="Line 125"/>
          <p:cNvSpPr>
            <a:spLocks noChangeShapeType="1"/>
          </p:cNvSpPr>
          <p:nvPr/>
        </p:nvSpPr>
        <p:spPr bwMode="auto">
          <a:xfrm>
            <a:off x="5737225" y="3074988"/>
            <a:ext cx="2320925" cy="1587"/>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19" name="Rectangle 126"/>
          <p:cNvSpPr>
            <a:spLocks noChangeArrowheads="1"/>
          </p:cNvSpPr>
          <p:nvPr/>
        </p:nvSpPr>
        <p:spPr bwMode="auto">
          <a:xfrm>
            <a:off x="6538913" y="2273300"/>
            <a:ext cx="800100" cy="400050"/>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8320" name="Rectangle 127"/>
          <p:cNvSpPr>
            <a:spLocks noChangeArrowheads="1"/>
          </p:cNvSpPr>
          <p:nvPr/>
        </p:nvSpPr>
        <p:spPr bwMode="auto">
          <a:xfrm>
            <a:off x="6681788" y="2286000"/>
            <a:ext cx="5588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取样</a:t>
            </a:r>
            <a:endParaRPr lang="zh-CN" altLang="zh-CN" sz="2800">
              <a:latin typeface="Times New Roman" panose="02020603050405020304" pitchFamily="18" charset="0"/>
            </a:endParaRPr>
          </a:p>
        </p:txBody>
      </p:sp>
      <p:sp>
        <p:nvSpPr>
          <p:cNvPr id="8321" name="Freeform 128"/>
          <p:cNvSpPr/>
          <p:nvPr/>
        </p:nvSpPr>
        <p:spPr bwMode="auto">
          <a:xfrm>
            <a:off x="6075363" y="3032125"/>
            <a:ext cx="252412" cy="84138"/>
          </a:xfrm>
          <a:custGeom>
            <a:avLst/>
            <a:gdLst>
              <a:gd name="T0" fmla="*/ 0 w 159"/>
              <a:gd name="T1" fmla="*/ 0 h 53"/>
              <a:gd name="T2" fmla="*/ 2147483646 w 159"/>
              <a:gd name="T3" fmla="*/ 2147483646 h 53"/>
              <a:gd name="T4" fmla="*/ 0 w 159"/>
              <a:gd name="T5" fmla="*/ 2147483646 h 53"/>
              <a:gd name="T6" fmla="*/ 2147483646 w 159"/>
              <a:gd name="T7" fmla="*/ 2147483646 h 53"/>
              <a:gd name="T8" fmla="*/ 0 w 159"/>
              <a:gd name="T9" fmla="*/ 0 h 53"/>
              <a:gd name="T10" fmla="*/ 0 60000 65536"/>
              <a:gd name="T11" fmla="*/ 0 60000 65536"/>
              <a:gd name="T12" fmla="*/ 0 60000 65536"/>
              <a:gd name="T13" fmla="*/ 0 60000 65536"/>
              <a:gd name="T14" fmla="*/ 0 60000 65536"/>
              <a:gd name="T15" fmla="*/ 0 w 159"/>
              <a:gd name="T16" fmla="*/ 0 h 53"/>
              <a:gd name="T17" fmla="*/ 159 w 159"/>
              <a:gd name="T18" fmla="*/ 53 h 53"/>
            </a:gdLst>
            <a:ahLst/>
            <a:cxnLst>
              <a:cxn ang="T10">
                <a:pos x="T0" y="T1"/>
              </a:cxn>
              <a:cxn ang="T11">
                <a:pos x="T2" y="T3"/>
              </a:cxn>
              <a:cxn ang="T12">
                <a:pos x="T4" y="T5"/>
              </a:cxn>
              <a:cxn ang="T13">
                <a:pos x="T6" y="T7"/>
              </a:cxn>
              <a:cxn ang="T14">
                <a:pos x="T8" y="T9"/>
              </a:cxn>
            </a:cxnLst>
            <a:rect l="T15" t="T16" r="T17" b="T18"/>
            <a:pathLst>
              <a:path w="159" h="53">
                <a:moveTo>
                  <a:pt x="0" y="0"/>
                </a:moveTo>
                <a:lnTo>
                  <a:pt x="26" y="27"/>
                </a:lnTo>
                <a:lnTo>
                  <a:pt x="0" y="53"/>
                </a:lnTo>
                <a:lnTo>
                  <a:pt x="159" y="27"/>
                </a:lnTo>
                <a:lnTo>
                  <a:pt x="0" y="0"/>
                </a:lnTo>
                <a:close/>
              </a:path>
            </a:pathLst>
          </a:custGeom>
          <a:solidFill>
            <a:schemeClr val="tx1"/>
          </a:solidFill>
          <a:ln w="20701">
            <a:solidFill>
              <a:schemeClr val="tx1"/>
            </a:solidFill>
            <a:round/>
          </a:ln>
        </p:spPr>
        <p:txBody>
          <a:bodyPr/>
          <a:lstStyle/>
          <a:p>
            <a:endParaRPr lang="zh-CN" altLang="en-US"/>
          </a:p>
        </p:txBody>
      </p:sp>
      <p:sp>
        <p:nvSpPr>
          <p:cNvPr id="8322" name="Line 129"/>
          <p:cNvSpPr>
            <a:spLocks noChangeShapeType="1"/>
          </p:cNvSpPr>
          <p:nvPr/>
        </p:nvSpPr>
        <p:spPr bwMode="auto">
          <a:xfrm>
            <a:off x="6938963" y="2673350"/>
            <a:ext cx="1587" cy="181292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23" name="Freeform 130"/>
          <p:cNvSpPr/>
          <p:nvPr/>
        </p:nvSpPr>
        <p:spPr bwMode="auto">
          <a:xfrm>
            <a:off x="6875463" y="3032125"/>
            <a:ext cx="104775" cy="84138"/>
          </a:xfrm>
          <a:custGeom>
            <a:avLst/>
            <a:gdLst>
              <a:gd name="T0" fmla="*/ 0 w 66"/>
              <a:gd name="T1" fmla="*/ 2147483646 h 53"/>
              <a:gd name="T2" fmla="*/ 2147483646 w 66"/>
              <a:gd name="T3" fmla="*/ 0 h 53"/>
              <a:gd name="T4" fmla="*/ 2147483646 w 66"/>
              <a:gd name="T5" fmla="*/ 0 h 53"/>
              <a:gd name="T6" fmla="*/ 2147483646 w 66"/>
              <a:gd name="T7" fmla="*/ 2147483646 h 53"/>
              <a:gd name="T8" fmla="*/ 2147483646 w 66"/>
              <a:gd name="T9" fmla="*/ 2147483646 h 53"/>
              <a:gd name="T10" fmla="*/ 2147483646 w 66"/>
              <a:gd name="T11" fmla="*/ 2147483646 h 53"/>
              <a:gd name="T12" fmla="*/ 0 w 66"/>
              <a:gd name="T13" fmla="*/ 2147483646 h 53"/>
              <a:gd name="T14" fmla="*/ 0 60000 65536"/>
              <a:gd name="T15" fmla="*/ 0 60000 65536"/>
              <a:gd name="T16" fmla="*/ 0 60000 65536"/>
              <a:gd name="T17" fmla="*/ 0 60000 65536"/>
              <a:gd name="T18" fmla="*/ 0 60000 65536"/>
              <a:gd name="T19" fmla="*/ 0 60000 65536"/>
              <a:gd name="T20" fmla="*/ 0 60000 65536"/>
              <a:gd name="T21" fmla="*/ 0 w 66"/>
              <a:gd name="T22" fmla="*/ 0 h 53"/>
              <a:gd name="T23" fmla="*/ 66 w 66"/>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53">
                <a:moveTo>
                  <a:pt x="0" y="27"/>
                </a:moveTo>
                <a:lnTo>
                  <a:pt x="27" y="0"/>
                </a:lnTo>
                <a:lnTo>
                  <a:pt x="53" y="0"/>
                </a:lnTo>
                <a:lnTo>
                  <a:pt x="66" y="27"/>
                </a:lnTo>
                <a:lnTo>
                  <a:pt x="53" y="53"/>
                </a:lnTo>
                <a:lnTo>
                  <a:pt x="27" y="53"/>
                </a:lnTo>
                <a:lnTo>
                  <a:pt x="0" y="27"/>
                </a:lnTo>
                <a:close/>
              </a:path>
            </a:pathLst>
          </a:custGeom>
          <a:solidFill>
            <a:srgbClr val="000000"/>
          </a:solidFill>
          <a:ln w="20638">
            <a:solidFill>
              <a:srgbClr val="000000"/>
            </a:solidFill>
            <a:round/>
          </a:ln>
        </p:spPr>
        <p:txBody>
          <a:bodyPr/>
          <a:lstStyle/>
          <a:p>
            <a:endParaRPr lang="zh-CN" altLang="en-US"/>
          </a:p>
        </p:txBody>
      </p:sp>
      <p:sp>
        <p:nvSpPr>
          <p:cNvPr id="8324" name="Rectangle 131"/>
          <p:cNvSpPr>
            <a:spLocks noChangeArrowheads="1"/>
          </p:cNvSpPr>
          <p:nvPr/>
        </p:nvSpPr>
        <p:spPr bwMode="auto">
          <a:xfrm>
            <a:off x="4260850" y="4129088"/>
            <a:ext cx="11176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反馈网络</a:t>
            </a:r>
            <a:endParaRPr lang="zh-CN" altLang="zh-CN" sz="2800">
              <a:latin typeface="Times New Roman" panose="02020603050405020304" pitchFamily="18" charset="0"/>
            </a:endParaRPr>
          </a:p>
        </p:txBody>
      </p:sp>
      <p:sp>
        <p:nvSpPr>
          <p:cNvPr id="8325" name="Rectangle 132"/>
          <p:cNvSpPr>
            <a:spLocks noChangeArrowheads="1"/>
          </p:cNvSpPr>
          <p:nvPr/>
        </p:nvSpPr>
        <p:spPr bwMode="auto">
          <a:xfrm>
            <a:off x="3946525" y="4065588"/>
            <a:ext cx="1601788" cy="801687"/>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8326" name="Line 133"/>
          <p:cNvSpPr>
            <a:spLocks noChangeShapeType="1"/>
          </p:cNvSpPr>
          <p:nvPr/>
        </p:nvSpPr>
        <p:spPr bwMode="auto">
          <a:xfrm>
            <a:off x="4346575" y="4529138"/>
            <a:ext cx="801688" cy="158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27" name="Freeform 134"/>
          <p:cNvSpPr/>
          <p:nvPr/>
        </p:nvSpPr>
        <p:spPr bwMode="auto">
          <a:xfrm>
            <a:off x="4346575" y="4465638"/>
            <a:ext cx="254000" cy="106362"/>
          </a:xfrm>
          <a:custGeom>
            <a:avLst/>
            <a:gdLst>
              <a:gd name="T0" fmla="*/ 2147483646 w 160"/>
              <a:gd name="T1" fmla="*/ 0 h 67"/>
              <a:gd name="T2" fmla="*/ 2147483646 w 160"/>
              <a:gd name="T3" fmla="*/ 2147483646 h 67"/>
              <a:gd name="T4" fmla="*/ 2147483646 w 160"/>
              <a:gd name="T5" fmla="*/ 2147483646 h 67"/>
              <a:gd name="T6" fmla="*/ 0 w 160"/>
              <a:gd name="T7" fmla="*/ 2147483646 h 67"/>
              <a:gd name="T8" fmla="*/ 2147483646 w 160"/>
              <a:gd name="T9" fmla="*/ 0 h 67"/>
              <a:gd name="T10" fmla="*/ 0 60000 65536"/>
              <a:gd name="T11" fmla="*/ 0 60000 65536"/>
              <a:gd name="T12" fmla="*/ 0 60000 65536"/>
              <a:gd name="T13" fmla="*/ 0 60000 65536"/>
              <a:gd name="T14" fmla="*/ 0 60000 65536"/>
              <a:gd name="T15" fmla="*/ 0 w 160"/>
              <a:gd name="T16" fmla="*/ 0 h 67"/>
              <a:gd name="T17" fmla="*/ 160 w 160"/>
              <a:gd name="T18" fmla="*/ 67 h 67"/>
            </a:gdLst>
            <a:ahLst/>
            <a:cxnLst>
              <a:cxn ang="T10">
                <a:pos x="T0" y="T1"/>
              </a:cxn>
              <a:cxn ang="T11">
                <a:pos x="T2" y="T3"/>
              </a:cxn>
              <a:cxn ang="T12">
                <a:pos x="T4" y="T5"/>
              </a:cxn>
              <a:cxn ang="T13">
                <a:pos x="T6" y="T7"/>
              </a:cxn>
              <a:cxn ang="T14">
                <a:pos x="T8" y="T9"/>
              </a:cxn>
            </a:cxnLst>
            <a:rect l="T15" t="T16" r="T17" b="T18"/>
            <a:pathLst>
              <a:path w="160" h="67">
                <a:moveTo>
                  <a:pt x="160" y="0"/>
                </a:moveTo>
                <a:lnTo>
                  <a:pt x="133" y="40"/>
                </a:lnTo>
                <a:lnTo>
                  <a:pt x="160" y="67"/>
                </a:lnTo>
                <a:lnTo>
                  <a:pt x="0" y="40"/>
                </a:lnTo>
                <a:lnTo>
                  <a:pt x="160" y="0"/>
                </a:lnTo>
                <a:close/>
              </a:path>
            </a:pathLst>
          </a:custGeom>
          <a:solidFill>
            <a:srgbClr val="000000"/>
          </a:solidFill>
          <a:ln w="20638">
            <a:solidFill>
              <a:srgbClr val="000000"/>
            </a:solidFill>
            <a:round/>
          </a:ln>
        </p:spPr>
        <p:txBody>
          <a:bodyPr/>
          <a:lstStyle/>
          <a:p>
            <a:endParaRPr lang="zh-CN" altLang="en-US"/>
          </a:p>
        </p:txBody>
      </p:sp>
      <p:sp>
        <p:nvSpPr>
          <p:cNvPr id="8328" name="Rectangle 135"/>
          <p:cNvSpPr>
            <a:spLocks noChangeArrowheads="1"/>
          </p:cNvSpPr>
          <p:nvPr/>
        </p:nvSpPr>
        <p:spPr bwMode="auto">
          <a:xfrm>
            <a:off x="4706938" y="4559300"/>
            <a:ext cx="1857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8329" name="Line 136"/>
          <p:cNvSpPr>
            <a:spLocks noChangeShapeType="1"/>
          </p:cNvSpPr>
          <p:nvPr/>
        </p:nvSpPr>
        <p:spPr bwMode="auto">
          <a:xfrm flipV="1">
            <a:off x="5548313" y="4467225"/>
            <a:ext cx="1389062" cy="0"/>
          </a:xfrm>
          <a:prstGeom prst="line">
            <a:avLst/>
          </a:prstGeom>
          <a:noFill/>
          <a:ln w="2070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30" name="Freeform 137"/>
          <p:cNvSpPr/>
          <p:nvPr/>
        </p:nvSpPr>
        <p:spPr bwMode="auto">
          <a:xfrm>
            <a:off x="5548313" y="4424363"/>
            <a:ext cx="252412" cy="104775"/>
          </a:xfrm>
          <a:custGeom>
            <a:avLst/>
            <a:gdLst>
              <a:gd name="T0" fmla="*/ 2147483646 w 159"/>
              <a:gd name="T1" fmla="*/ 0 h 66"/>
              <a:gd name="T2" fmla="*/ 2147483646 w 159"/>
              <a:gd name="T3" fmla="*/ 2147483646 h 66"/>
              <a:gd name="T4" fmla="*/ 2147483646 w 159"/>
              <a:gd name="T5" fmla="*/ 2147483646 h 66"/>
              <a:gd name="T6" fmla="*/ 0 w 159"/>
              <a:gd name="T7" fmla="*/ 2147483646 h 66"/>
              <a:gd name="T8" fmla="*/ 2147483646 w 159"/>
              <a:gd name="T9" fmla="*/ 0 h 66"/>
              <a:gd name="T10" fmla="*/ 0 60000 65536"/>
              <a:gd name="T11" fmla="*/ 0 60000 65536"/>
              <a:gd name="T12" fmla="*/ 0 60000 65536"/>
              <a:gd name="T13" fmla="*/ 0 60000 65536"/>
              <a:gd name="T14" fmla="*/ 0 60000 65536"/>
              <a:gd name="T15" fmla="*/ 0 w 159"/>
              <a:gd name="T16" fmla="*/ 0 h 66"/>
              <a:gd name="T17" fmla="*/ 159 w 159"/>
              <a:gd name="T18" fmla="*/ 66 h 66"/>
            </a:gdLst>
            <a:ahLst/>
            <a:cxnLst>
              <a:cxn ang="T10">
                <a:pos x="T0" y="T1"/>
              </a:cxn>
              <a:cxn ang="T11">
                <a:pos x="T2" y="T3"/>
              </a:cxn>
              <a:cxn ang="T12">
                <a:pos x="T4" y="T5"/>
              </a:cxn>
              <a:cxn ang="T13">
                <a:pos x="T6" y="T7"/>
              </a:cxn>
              <a:cxn ang="T14">
                <a:pos x="T8" y="T9"/>
              </a:cxn>
            </a:cxnLst>
            <a:rect l="T15" t="T16" r="T17" b="T18"/>
            <a:pathLst>
              <a:path w="159" h="66">
                <a:moveTo>
                  <a:pt x="159" y="0"/>
                </a:moveTo>
                <a:lnTo>
                  <a:pt x="133" y="26"/>
                </a:lnTo>
                <a:lnTo>
                  <a:pt x="159" y="66"/>
                </a:lnTo>
                <a:lnTo>
                  <a:pt x="0" y="26"/>
                </a:lnTo>
                <a:lnTo>
                  <a:pt x="159" y="0"/>
                </a:lnTo>
                <a:close/>
              </a:path>
            </a:pathLst>
          </a:custGeom>
          <a:solidFill>
            <a:srgbClr val="000000"/>
          </a:solidFill>
          <a:ln w="20638">
            <a:solidFill>
              <a:srgbClr val="000000"/>
            </a:solidFill>
            <a:round/>
          </a:ln>
        </p:spPr>
        <p:txBody>
          <a:bodyPr/>
          <a:lstStyle/>
          <a:p>
            <a:endParaRPr lang="zh-CN" altLang="en-US"/>
          </a:p>
        </p:txBody>
      </p:sp>
      <p:sp>
        <p:nvSpPr>
          <p:cNvPr id="8331" name="Line 138"/>
          <p:cNvSpPr>
            <a:spLocks noChangeShapeType="1"/>
          </p:cNvSpPr>
          <p:nvPr/>
        </p:nvSpPr>
        <p:spPr bwMode="auto">
          <a:xfrm>
            <a:off x="2155825" y="3074988"/>
            <a:ext cx="1601788" cy="1587"/>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32" name="Freeform 139"/>
          <p:cNvSpPr/>
          <p:nvPr/>
        </p:nvSpPr>
        <p:spPr bwMode="auto">
          <a:xfrm>
            <a:off x="1565275" y="2779713"/>
            <a:ext cx="590550" cy="590550"/>
          </a:xfrm>
          <a:custGeom>
            <a:avLst/>
            <a:gdLst>
              <a:gd name="T0" fmla="*/ 0 w 372"/>
              <a:gd name="T1" fmla="*/ 2147483646 h 372"/>
              <a:gd name="T2" fmla="*/ 2147483646 w 372"/>
              <a:gd name="T3" fmla="*/ 2147483646 h 372"/>
              <a:gd name="T4" fmla="*/ 2147483646 w 372"/>
              <a:gd name="T5" fmla="*/ 2147483646 h 372"/>
              <a:gd name="T6" fmla="*/ 2147483646 w 372"/>
              <a:gd name="T7" fmla="*/ 0 h 372"/>
              <a:gd name="T8" fmla="*/ 2147483646 w 372"/>
              <a:gd name="T9" fmla="*/ 2147483646 h 372"/>
              <a:gd name="T10" fmla="*/ 2147483646 w 372"/>
              <a:gd name="T11" fmla="*/ 2147483646 h 372"/>
              <a:gd name="T12" fmla="*/ 2147483646 w 372"/>
              <a:gd name="T13" fmla="*/ 2147483646 h 372"/>
              <a:gd name="T14" fmla="*/ 2147483646 w 372"/>
              <a:gd name="T15" fmla="*/ 2147483646 h 372"/>
              <a:gd name="T16" fmla="*/ 2147483646 w 372"/>
              <a:gd name="T17" fmla="*/ 2147483646 h 372"/>
              <a:gd name="T18" fmla="*/ 2147483646 w 372"/>
              <a:gd name="T19" fmla="*/ 2147483646 h 372"/>
              <a:gd name="T20" fmla="*/ 2147483646 w 372"/>
              <a:gd name="T21" fmla="*/ 2147483646 h 372"/>
              <a:gd name="T22" fmla="*/ 2147483646 w 372"/>
              <a:gd name="T23" fmla="*/ 2147483646 h 372"/>
              <a:gd name="T24" fmla="*/ 0 w 372"/>
              <a:gd name="T25" fmla="*/ 2147483646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2"/>
              <a:gd name="T40" fmla="*/ 0 h 372"/>
              <a:gd name="T41" fmla="*/ 372 w 372"/>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2" h="372">
                <a:moveTo>
                  <a:pt x="0" y="186"/>
                </a:moveTo>
                <a:lnTo>
                  <a:pt x="27" y="93"/>
                </a:lnTo>
                <a:lnTo>
                  <a:pt x="93" y="26"/>
                </a:lnTo>
                <a:lnTo>
                  <a:pt x="186" y="0"/>
                </a:lnTo>
                <a:lnTo>
                  <a:pt x="279" y="26"/>
                </a:lnTo>
                <a:lnTo>
                  <a:pt x="346" y="93"/>
                </a:lnTo>
                <a:lnTo>
                  <a:pt x="372" y="186"/>
                </a:lnTo>
                <a:lnTo>
                  <a:pt x="346" y="279"/>
                </a:lnTo>
                <a:lnTo>
                  <a:pt x="279" y="345"/>
                </a:lnTo>
                <a:lnTo>
                  <a:pt x="186" y="372"/>
                </a:lnTo>
                <a:lnTo>
                  <a:pt x="93" y="345"/>
                </a:lnTo>
                <a:lnTo>
                  <a:pt x="27" y="279"/>
                </a:lnTo>
                <a:lnTo>
                  <a:pt x="0" y="186"/>
                </a:lnTo>
                <a:close/>
              </a:path>
            </a:pathLst>
          </a:custGeom>
          <a:solidFill>
            <a:srgbClr val="FFFFFF"/>
          </a:solidFill>
          <a:ln w="20638">
            <a:solidFill>
              <a:srgbClr val="000000"/>
            </a:solidFill>
            <a:round/>
          </a:ln>
        </p:spPr>
        <p:txBody>
          <a:bodyPr/>
          <a:lstStyle/>
          <a:p>
            <a:endParaRPr lang="zh-CN" altLang="en-US"/>
          </a:p>
        </p:txBody>
      </p:sp>
      <p:sp>
        <p:nvSpPr>
          <p:cNvPr id="8333" name="Rectangle 140"/>
          <p:cNvSpPr>
            <a:spLocks noChangeArrowheads="1"/>
          </p:cNvSpPr>
          <p:nvPr/>
        </p:nvSpPr>
        <p:spPr bwMode="auto">
          <a:xfrm>
            <a:off x="1782763" y="2927350"/>
            <a:ext cx="279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8334" name="Freeform 141"/>
          <p:cNvSpPr/>
          <p:nvPr/>
        </p:nvSpPr>
        <p:spPr bwMode="auto">
          <a:xfrm>
            <a:off x="6875463" y="2736850"/>
            <a:ext cx="104775" cy="274638"/>
          </a:xfrm>
          <a:custGeom>
            <a:avLst/>
            <a:gdLst>
              <a:gd name="T0" fmla="*/ 2147483646 w 66"/>
              <a:gd name="T1" fmla="*/ 0 h 173"/>
              <a:gd name="T2" fmla="*/ 2147483646 w 66"/>
              <a:gd name="T3" fmla="*/ 2147483646 h 173"/>
              <a:gd name="T4" fmla="*/ 0 w 66"/>
              <a:gd name="T5" fmla="*/ 0 h 173"/>
              <a:gd name="T6" fmla="*/ 2147483646 w 66"/>
              <a:gd name="T7" fmla="*/ 2147483646 h 173"/>
              <a:gd name="T8" fmla="*/ 2147483646 w 66"/>
              <a:gd name="T9" fmla="*/ 0 h 173"/>
              <a:gd name="T10" fmla="*/ 0 60000 65536"/>
              <a:gd name="T11" fmla="*/ 0 60000 65536"/>
              <a:gd name="T12" fmla="*/ 0 60000 65536"/>
              <a:gd name="T13" fmla="*/ 0 60000 65536"/>
              <a:gd name="T14" fmla="*/ 0 60000 65536"/>
              <a:gd name="T15" fmla="*/ 0 w 66"/>
              <a:gd name="T16" fmla="*/ 0 h 173"/>
              <a:gd name="T17" fmla="*/ 66 w 66"/>
              <a:gd name="T18" fmla="*/ 173 h 173"/>
            </a:gdLst>
            <a:ahLst/>
            <a:cxnLst>
              <a:cxn ang="T10">
                <a:pos x="T0" y="T1"/>
              </a:cxn>
              <a:cxn ang="T11">
                <a:pos x="T2" y="T3"/>
              </a:cxn>
              <a:cxn ang="T12">
                <a:pos x="T4" y="T5"/>
              </a:cxn>
              <a:cxn ang="T13">
                <a:pos x="T6" y="T7"/>
              </a:cxn>
              <a:cxn ang="T14">
                <a:pos x="T8" y="T9"/>
              </a:cxn>
            </a:cxnLst>
            <a:rect l="T15" t="T16" r="T17" b="T18"/>
            <a:pathLst>
              <a:path w="66" h="173">
                <a:moveTo>
                  <a:pt x="66" y="0"/>
                </a:moveTo>
                <a:lnTo>
                  <a:pt x="40" y="40"/>
                </a:lnTo>
                <a:lnTo>
                  <a:pt x="0" y="0"/>
                </a:lnTo>
                <a:lnTo>
                  <a:pt x="40" y="173"/>
                </a:lnTo>
                <a:lnTo>
                  <a:pt x="66" y="0"/>
                </a:lnTo>
                <a:close/>
              </a:path>
            </a:pathLst>
          </a:custGeom>
          <a:solidFill>
            <a:srgbClr val="000000"/>
          </a:solidFill>
          <a:ln w="20638">
            <a:solidFill>
              <a:srgbClr val="000000"/>
            </a:solidFill>
            <a:round/>
          </a:ln>
        </p:spPr>
        <p:txBody>
          <a:bodyPr/>
          <a:lstStyle/>
          <a:p>
            <a:endParaRPr lang="zh-CN" altLang="en-US"/>
          </a:p>
        </p:txBody>
      </p:sp>
      <p:sp>
        <p:nvSpPr>
          <p:cNvPr id="8335" name="Line 142"/>
          <p:cNvSpPr>
            <a:spLocks noChangeShapeType="1"/>
          </p:cNvSpPr>
          <p:nvPr/>
        </p:nvSpPr>
        <p:spPr bwMode="auto">
          <a:xfrm>
            <a:off x="1860550" y="2378075"/>
            <a:ext cx="1588" cy="40163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36" name="Rectangle 143"/>
          <p:cNvSpPr>
            <a:spLocks noChangeArrowheads="1"/>
          </p:cNvSpPr>
          <p:nvPr/>
        </p:nvSpPr>
        <p:spPr bwMode="auto">
          <a:xfrm>
            <a:off x="1460500" y="1978025"/>
            <a:ext cx="800100" cy="400050"/>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8337" name="Rectangle 144"/>
          <p:cNvSpPr>
            <a:spLocks noChangeArrowheads="1"/>
          </p:cNvSpPr>
          <p:nvPr/>
        </p:nvSpPr>
        <p:spPr bwMode="auto">
          <a:xfrm>
            <a:off x="1579563" y="2003425"/>
            <a:ext cx="5588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比较</a:t>
            </a:r>
            <a:endParaRPr lang="zh-CN" altLang="zh-CN" sz="2800">
              <a:latin typeface="Times New Roman" panose="02020603050405020304" pitchFamily="18" charset="0"/>
            </a:endParaRPr>
          </a:p>
        </p:txBody>
      </p:sp>
      <p:sp>
        <p:nvSpPr>
          <p:cNvPr id="8338" name="Freeform 145"/>
          <p:cNvSpPr/>
          <p:nvPr/>
        </p:nvSpPr>
        <p:spPr bwMode="auto">
          <a:xfrm>
            <a:off x="1797050" y="2441575"/>
            <a:ext cx="106363" cy="274638"/>
          </a:xfrm>
          <a:custGeom>
            <a:avLst/>
            <a:gdLst>
              <a:gd name="T0" fmla="*/ 2147483646 w 67"/>
              <a:gd name="T1" fmla="*/ 0 h 173"/>
              <a:gd name="T2" fmla="*/ 2147483646 w 67"/>
              <a:gd name="T3" fmla="*/ 2147483646 h 173"/>
              <a:gd name="T4" fmla="*/ 0 w 67"/>
              <a:gd name="T5" fmla="*/ 0 h 173"/>
              <a:gd name="T6" fmla="*/ 2147483646 w 67"/>
              <a:gd name="T7" fmla="*/ 2147483646 h 173"/>
              <a:gd name="T8" fmla="*/ 2147483646 w 67"/>
              <a:gd name="T9" fmla="*/ 0 h 173"/>
              <a:gd name="T10" fmla="*/ 0 60000 65536"/>
              <a:gd name="T11" fmla="*/ 0 60000 65536"/>
              <a:gd name="T12" fmla="*/ 0 60000 65536"/>
              <a:gd name="T13" fmla="*/ 0 60000 65536"/>
              <a:gd name="T14" fmla="*/ 0 60000 65536"/>
              <a:gd name="T15" fmla="*/ 0 w 67"/>
              <a:gd name="T16" fmla="*/ 0 h 173"/>
              <a:gd name="T17" fmla="*/ 67 w 67"/>
              <a:gd name="T18" fmla="*/ 173 h 173"/>
            </a:gdLst>
            <a:ahLst/>
            <a:cxnLst>
              <a:cxn ang="T10">
                <a:pos x="T0" y="T1"/>
              </a:cxn>
              <a:cxn ang="T11">
                <a:pos x="T2" y="T3"/>
              </a:cxn>
              <a:cxn ang="T12">
                <a:pos x="T4" y="T5"/>
              </a:cxn>
              <a:cxn ang="T13">
                <a:pos x="T6" y="T7"/>
              </a:cxn>
              <a:cxn ang="T14">
                <a:pos x="T8" y="T9"/>
              </a:cxn>
            </a:cxnLst>
            <a:rect l="T15" t="T16" r="T17" b="T18"/>
            <a:pathLst>
              <a:path w="67" h="173">
                <a:moveTo>
                  <a:pt x="67" y="0"/>
                </a:moveTo>
                <a:lnTo>
                  <a:pt x="40" y="40"/>
                </a:lnTo>
                <a:lnTo>
                  <a:pt x="0" y="0"/>
                </a:lnTo>
                <a:lnTo>
                  <a:pt x="40" y="173"/>
                </a:lnTo>
                <a:lnTo>
                  <a:pt x="67" y="0"/>
                </a:lnTo>
                <a:close/>
              </a:path>
            </a:pathLst>
          </a:custGeom>
          <a:solidFill>
            <a:srgbClr val="000000"/>
          </a:solidFill>
          <a:ln w="20638">
            <a:solidFill>
              <a:srgbClr val="000000"/>
            </a:solidFill>
            <a:round/>
          </a:ln>
        </p:spPr>
        <p:txBody>
          <a:bodyPr/>
          <a:lstStyle/>
          <a:p>
            <a:endParaRPr lang="zh-CN" altLang="en-US"/>
          </a:p>
        </p:txBody>
      </p:sp>
      <p:sp>
        <p:nvSpPr>
          <p:cNvPr id="8339" name="Line 146"/>
          <p:cNvSpPr>
            <a:spLocks noChangeShapeType="1"/>
          </p:cNvSpPr>
          <p:nvPr/>
        </p:nvSpPr>
        <p:spPr bwMode="auto">
          <a:xfrm>
            <a:off x="722313" y="3074988"/>
            <a:ext cx="842962" cy="1587"/>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40" name="Freeform 147"/>
          <p:cNvSpPr/>
          <p:nvPr/>
        </p:nvSpPr>
        <p:spPr bwMode="auto">
          <a:xfrm>
            <a:off x="1292225" y="3032125"/>
            <a:ext cx="273050" cy="84138"/>
          </a:xfrm>
          <a:custGeom>
            <a:avLst/>
            <a:gdLst>
              <a:gd name="T0" fmla="*/ 0 w 172"/>
              <a:gd name="T1" fmla="*/ 0 h 53"/>
              <a:gd name="T2" fmla="*/ 2147483646 w 172"/>
              <a:gd name="T3" fmla="*/ 2147483646 h 53"/>
              <a:gd name="T4" fmla="*/ 0 w 172"/>
              <a:gd name="T5" fmla="*/ 2147483646 h 53"/>
              <a:gd name="T6" fmla="*/ 2147483646 w 172"/>
              <a:gd name="T7" fmla="*/ 2147483646 h 53"/>
              <a:gd name="T8" fmla="*/ 0 w 172"/>
              <a:gd name="T9" fmla="*/ 0 h 53"/>
              <a:gd name="T10" fmla="*/ 0 60000 65536"/>
              <a:gd name="T11" fmla="*/ 0 60000 65536"/>
              <a:gd name="T12" fmla="*/ 0 60000 65536"/>
              <a:gd name="T13" fmla="*/ 0 60000 65536"/>
              <a:gd name="T14" fmla="*/ 0 60000 65536"/>
              <a:gd name="T15" fmla="*/ 0 w 172"/>
              <a:gd name="T16" fmla="*/ 0 h 53"/>
              <a:gd name="T17" fmla="*/ 172 w 172"/>
              <a:gd name="T18" fmla="*/ 53 h 53"/>
            </a:gdLst>
            <a:ahLst/>
            <a:cxnLst>
              <a:cxn ang="T10">
                <a:pos x="T0" y="T1"/>
              </a:cxn>
              <a:cxn ang="T11">
                <a:pos x="T2" y="T3"/>
              </a:cxn>
              <a:cxn ang="T12">
                <a:pos x="T4" y="T5"/>
              </a:cxn>
              <a:cxn ang="T13">
                <a:pos x="T6" y="T7"/>
              </a:cxn>
              <a:cxn ang="T14">
                <a:pos x="T8" y="T9"/>
              </a:cxn>
            </a:cxnLst>
            <a:rect l="T15" t="T16" r="T17" b="T18"/>
            <a:pathLst>
              <a:path w="172" h="53">
                <a:moveTo>
                  <a:pt x="0" y="0"/>
                </a:moveTo>
                <a:lnTo>
                  <a:pt x="40" y="27"/>
                </a:lnTo>
                <a:lnTo>
                  <a:pt x="0" y="53"/>
                </a:lnTo>
                <a:lnTo>
                  <a:pt x="172" y="27"/>
                </a:lnTo>
                <a:lnTo>
                  <a:pt x="0" y="0"/>
                </a:lnTo>
                <a:close/>
              </a:path>
            </a:pathLst>
          </a:custGeom>
          <a:solidFill>
            <a:schemeClr val="tx1"/>
          </a:solidFill>
          <a:ln w="20701">
            <a:solidFill>
              <a:schemeClr val="tx1"/>
            </a:solidFill>
            <a:round/>
          </a:ln>
        </p:spPr>
        <p:txBody>
          <a:bodyPr/>
          <a:lstStyle/>
          <a:p>
            <a:endParaRPr lang="zh-CN" altLang="en-US"/>
          </a:p>
        </p:txBody>
      </p:sp>
      <p:sp>
        <p:nvSpPr>
          <p:cNvPr id="8341" name="Line 148"/>
          <p:cNvSpPr>
            <a:spLocks noChangeShapeType="1"/>
          </p:cNvSpPr>
          <p:nvPr/>
        </p:nvSpPr>
        <p:spPr bwMode="auto">
          <a:xfrm>
            <a:off x="1860550" y="4465638"/>
            <a:ext cx="2085975" cy="1587"/>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42" name="Line 149"/>
          <p:cNvSpPr>
            <a:spLocks noChangeShapeType="1"/>
          </p:cNvSpPr>
          <p:nvPr/>
        </p:nvSpPr>
        <p:spPr bwMode="auto">
          <a:xfrm flipV="1">
            <a:off x="1860550" y="3370263"/>
            <a:ext cx="1588" cy="1095375"/>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43" name="Freeform 150"/>
          <p:cNvSpPr/>
          <p:nvPr/>
        </p:nvSpPr>
        <p:spPr bwMode="auto">
          <a:xfrm>
            <a:off x="1797050" y="3370263"/>
            <a:ext cx="106363" cy="252412"/>
          </a:xfrm>
          <a:custGeom>
            <a:avLst/>
            <a:gdLst>
              <a:gd name="T0" fmla="*/ 0 w 67"/>
              <a:gd name="T1" fmla="*/ 2147483646 h 159"/>
              <a:gd name="T2" fmla="*/ 2147483646 w 67"/>
              <a:gd name="T3" fmla="*/ 2147483646 h 159"/>
              <a:gd name="T4" fmla="*/ 2147483646 w 67"/>
              <a:gd name="T5" fmla="*/ 2147483646 h 159"/>
              <a:gd name="T6" fmla="*/ 2147483646 w 67"/>
              <a:gd name="T7" fmla="*/ 0 h 159"/>
              <a:gd name="T8" fmla="*/ 0 w 67"/>
              <a:gd name="T9" fmla="*/ 2147483646 h 159"/>
              <a:gd name="T10" fmla="*/ 0 60000 65536"/>
              <a:gd name="T11" fmla="*/ 0 60000 65536"/>
              <a:gd name="T12" fmla="*/ 0 60000 65536"/>
              <a:gd name="T13" fmla="*/ 0 60000 65536"/>
              <a:gd name="T14" fmla="*/ 0 60000 65536"/>
              <a:gd name="T15" fmla="*/ 0 w 67"/>
              <a:gd name="T16" fmla="*/ 0 h 159"/>
              <a:gd name="T17" fmla="*/ 67 w 67"/>
              <a:gd name="T18" fmla="*/ 159 h 159"/>
            </a:gdLst>
            <a:ahLst/>
            <a:cxnLst>
              <a:cxn ang="T10">
                <a:pos x="T0" y="T1"/>
              </a:cxn>
              <a:cxn ang="T11">
                <a:pos x="T2" y="T3"/>
              </a:cxn>
              <a:cxn ang="T12">
                <a:pos x="T4" y="T5"/>
              </a:cxn>
              <a:cxn ang="T13">
                <a:pos x="T6" y="T7"/>
              </a:cxn>
              <a:cxn ang="T14">
                <a:pos x="T8" y="T9"/>
              </a:cxn>
            </a:cxnLst>
            <a:rect l="T15" t="T16" r="T17" b="T18"/>
            <a:pathLst>
              <a:path w="67" h="159">
                <a:moveTo>
                  <a:pt x="0" y="159"/>
                </a:moveTo>
                <a:lnTo>
                  <a:pt x="40" y="132"/>
                </a:lnTo>
                <a:lnTo>
                  <a:pt x="67" y="159"/>
                </a:lnTo>
                <a:lnTo>
                  <a:pt x="40" y="0"/>
                </a:lnTo>
                <a:lnTo>
                  <a:pt x="0" y="159"/>
                </a:lnTo>
                <a:close/>
              </a:path>
            </a:pathLst>
          </a:custGeom>
          <a:solidFill>
            <a:schemeClr val="tx1"/>
          </a:solidFill>
          <a:ln w="20701">
            <a:solidFill>
              <a:schemeClr val="tx1"/>
            </a:solidFill>
            <a:round/>
          </a:ln>
        </p:spPr>
        <p:txBody>
          <a:bodyPr/>
          <a:lstStyle/>
          <a:p>
            <a:endParaRPr lang="zh-CN" altLang="en-US"/>
          </a:p>
        </p:txBody>
      </p:sp>
      <p:sp>
        <p:nvSpPr>
          <p:cNvPr id="8344" name="Rectangle 151"/>
          <p:cNvSpPr>
            <a:spLocks noChangeArrowheads="1"/>
          </p:cNvSpPr>
          <p:nvPr/>
        </p:nvSpPr>
        <p:spPr bwMode="auto">
          <a:xfrm>
            <a:off x="2032000" y="3602038"/>
            <a:ext cx="1857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8345" name="Rectangle 152"/>
          <p:cNvSpPr>
            <a:spLocks noChangeArrowheads="1"/>
          </p:cNvSpPr>
          <p:nvPr/>
        </p:nvSpPr>
        <p:spPr bwMode="auto">
          <a:xfrm>
            <a:off x="2187575" y="3749675"/>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8346" name="Rectangle 153"/>
          <p:cNvSpPr>
            <a:spLocks noChangeArrowheads="1"/>
          </p:cNvSpPr>
          <p:nvPr/>
        </p:nvSpPr>
        <p:spPr bwMode="auto">
          <a:xfrm>
            <a:off x="2120900" y="3370263"/>
            <a:ext cx="698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47" name="Line 154"/>
          <p:cNvSpPr>
            <a:spLocks noChangeShapeType="1"/>
          </p:cNvSpPr>
          <p:nvPr/>
        </p:nvSpPr>
        <p:spPr bwMode="auto">
          <a:xfrm>
            <a:off x="1966913" y="3517900"/>
            <a:ext cx="293687"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48" name="Rectangle 155"/>
          <p:cNvSpPr>
            <a:spLocks noChangeArrowheads="1"/>
          </p:cNvSpPr>
          <p:nvPr/>
        </p:nvSpPr>
        <p:spPr bwMode="auto">
          <a:xfrm>
            <a:off x="3170238" y="2716213"/>
            <a:ext cx="1857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8349" name="Rectangle 156"/>
          <p:cNvSpPr>
            <a:spLocks noChangeArrowheads="1"/>
          </p:cNvSpPr>
          <p:nvPr/>
        </p:nvSpPr>
        <p:spPr bwMode="auto">
          <a:xfrm>
            <a:off x="3341688" y="2841625"/>
            <a:ext cx="523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8350" name="Rectangle 157"/>
          <p:cNvSpPr>
            <a:spLocks noChangeArrowheads="1"/>
          </p:cNvSpPr>
          <p:nvPr/>
        </p:nvSpPr>
        <p:spPr bwMode="auto">
          <a:xfrm>
            <a:off x="3259138" y="2463800"/>
            <a:ext cx="698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51" name="Rectangle 158"/>
          <p:cNvSpPr>
            <a:spLocks noChangeArrowheads="1"/>
          </p:cNvSpPr>
          <p:nvPr/>
        </p:nvSpPr>
        <p:spPr bwMode="auto">
          <a:xfrm>
            <a:off x="3394075" y="2638425"/>
            <a:ext cx="279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52" name="Rectangle 159"/>
          <p:cNvSpPr>
            <a:spLocks noChangeArrowheads="1"/>
          </p:cNvSpPr>
          <p:nvPr/>
        </p:nvSpPr>
        <p:spPr bwMode="auto">
          <a:xfrm>
            <a:off x="2447925" y="3186113"/>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净输</a:t>
            </a:r>
            <a:r>
              <a:rPr lang="zh-CN" altLang="zh-CN" sz="2000">
                <a:solidFill>
                  <a:srgbClr val="000000"/>
                </a:solidFill>
                <a:latin typeface="Times New Roman" panose="02020603050405020304" pitchFamily="18" charset="0"/>
              </a:rPr>
              <a:t>入信号</a:t>
            </a:r>
            <a:endParaRPr lang="zh-CN" altLang="zh-CN" sz="2000">
              <a:solidFill>
                <a:srgbClr val="000000"/>
              </a:solidFill>
              <a:latin typeface="Times New Roman" panose="02020603050405020304" pitchFamily="18" charset="0"/>
            </a:endParaRPr>
          </a:p>
        </p:txBody>
      </p:sp>
      <p:sp>
        <p:nvSpPr>
          <p:cNvPr id="8353" name="Freeform 160"/>
          <p:cNvSpPr/>
          <p:nvPr/>
        </p:nvSpPr>
        <p:spPr bwMode="auto">
          <a:xfrm>
            <a:off x="3482975" y="3032125"/>
            <a:ext cx="274638" cy="84138"/>
          </a:xfrm>
          <a:custGeom>
            <a:avLst/>
            <a:gdLst>
              <a:gd name="T0" fmla="*/ 0 w 173"/>
              <a:gd name="T1" fmla="*/ 0 h 53"/>
              <a:gd name="T2" fmla="*/ 2147483646 w 173"/>
              <a:gd name="T3" fmla="*/ 2147483646 h 53"/>
              <a:gd name="T4" fmla="*/ 0 w 173"/>
              <a:gd name="T5" fmla="*/ 2147483646 h 53"/>
              <a:gd name="T6" fmla="*/ 2147483646 w 173"/>
              <a:gd name="T7" fmla="*/ 2147483646 h 53"/>
              <a:gd name="T8" fmla="*/ 0 w 173"/>
              <a:gd name="T9" fmla="*/ 0 h 53"/>
              <a:gd name="T10" fmla="*/ 0 60000 65536"/>
              <a:gd name="T11" fmla="*/ 0 60000 65536"/>
              <a:gd name="T12" fmla="*/ 0 60000 65536"/>
              <a:gd name="T13" fmla="*/ 0 60000 65536"/>
              <a:gd name="T14" fmla="*/ 0 60000 65536"/>
              <a:gd name="T15" fmla="*/ 0 w 173"/>
              <a:gd name="T16" fmla="*/ 0 h 53"/>
              <a:gd name="T17" fmla="*/ 173 w 173"/>
              <a:gd name="T18" fmla="*/ 53 h 53"/>
            </a:gdLst>
            <a:ahLst/>
            <a:cxnLst>
              <a:cxn ang="T10">
                <a:pos x="T0" y="T1"/>
              </a:cxn>
              <a:cxn ang="T11">
                <a:pos x="T2" y="T3"/>
              </a:cxn>
              <a:cxn ang="T12">
                <a:pos x="T4" y="T5"/>
              </a:cxn>
              <a:cxn ang="T13">
                <a:pos x="T6" y="T7"/>
              </a:cxn>
              <a:cxn ang="T14">
                <a:pos x="T8" y="T9"/>
              </a:cxn>
            </a:cxnLst>
            <a:rect l="T15" t="T16" r="T17" b="T18"/>
            <a:pathLst>
              <a:path w="173" h="53">
                <a:moveTo>
                  <a:pt x="0" y="0"/>
                </a:moveTo>
                <a:lnTo>
                  <a:pt x="40" y="27"/>
                </a:lnTo>
                <a:lnTo>
                  <a:pt x="0" y="53"/>
                </a:lnTo>
                <a:lnTo>
                  <a:pt x="173" y="27"/>
                </a:lnTo>
                <a:lnTo>
                  <a:pt x="0" y="0"/>
                </a:lnTo>
                <a:close/>
              </a:path>
            </a:pathLst>
          </a:custGeom>
          <a:solidFill>
            <a:schemeClr val="tx1"/>
          </a:solidFill>
          <a:ln w="20701">
            <a:solidFill>
              <a:schemeClr val="tx1"/>
            </a:solidFill>
            <a:round/>
          </a:ln>
        </p:spPr>
        <p:txBody>
          <a:bodyPr/>
          <a:lstStyle/>
          <a:p>
            <a:endParaRPr lang="zh-CN" altLang="en-US"/>
          </a:p>
        </p:txBody>
      </p:sp>
      <p:sp>
        <p:nvSpPr>
          <p:cNvPr id="8354" name="Rectangle 161"/>
          <p:cNvSpPr>
            <a:spLocks noChangeArrowheads="1"/>
          </p:cNvSpPr>
          <p:nvPr/>
        </p:nvSpPr>
        <p:spPr bwMode="auto">
          <a:xfrm>
            <a:off x="2141538" y="4065588"/>
            <a:ext cx="11176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反馈信号</a:t>
            </a:r>
            <a:endParaRPr lang="zh-CN" altLang="zh-CN" sz="2800">
              <a:latin typeface="Times New Roman" panose="02020603050405020304" pitchFamily="18" charset="0"/>
            </a:endParaRPr>
          </a:p>
        </p:txBody>
      </p:sp>
      <p:sp>
        <p:nvSpPr>
          <p:cNvPr id="8355" name="Rectangle 162"/>
          <p:cNvSpPr>
            <a:spLocks noChangeArrowheads="1"/>
          </p:cNvSpPr>
          <p:nvPr/>
        </p:nvSpPr>
        <p:spPr bwMode="auto">
          <a:xfrm>
            <a:off x="7742238" y="3152775"/>
            <a:ext cx="317500"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输出信号</a:t>
            </a:r>
            <a:endParaRPr lang="zh-CN" altLang="zh-CN" sz="2800">
              <a:latin typeface="Times New Roman" panose="02020603050405020304" pitchFamily="18" charset="0"/>
            </a:endParaRPr>
          </a:p>
        </p:txBody>
      </p:sp>
      <p:sp>
        <p:nvSpPr>
          <p:cNvPr id="8356" name="Freeform 163"/>
          <p:cNvSpPr/>
          <p:nvPr/>
        </p:nvSpPr>
        <p:spPr bwMode="auto">
          <a:xfrm>
            <a:off x="7986713" y="3032125"/>
            <a:ext cx="252412" cy="84138"/>
          </a:xfrm>
          <a:custGeom>
            <a:avLst/>
            <a:gdLst>
              <a:gd name="T0" fmla="*/ 0 w 159"/>
              <a:gd name="T1" fmla="*/ 0 h 53"/>
              <a:gd name="T2" fmla="*/ 2147483646 w 159"/>
              <a:gd name="T3" fmla="*/ 2147483646 h 53"/>
              <a:gd name="T4" fmla="*/ 0 w 159"/>
              <a:gd name="T5" fmla="*/ 2147483646 h 53"/>
              <a:gd name="T6" fmla="*/ 2147483646 w 159"/>
              <a:gd name="T7" fmla="*/ 2147483646 h 53"/>
              <a:gd name="T8" fmla="*/ 0 w 159"/>
              <a:gd name="T9" fmla="*/ 0 h 53"/>
              <a:gd name="T10" fmla="*/ 0 60000 65536"/>
              <a:gd name="T11" fmla="*/ 0 60000 65536"/>
              <a:gd name="T12" fmla="*/ 0 60000 65536"/>
              <a:gd name="T13" fmla="*/ 0 60000 65536"/>
              <a:gd name="T14" fmla="*/ 0 60000 65536"/>
              <a:gd name="T15" fmla="*/ 0 w 159"/>
              <a:gd name="T16" fmla="*/ 0 h 53"/>
              <a:gd name="T17" fmla="*/ 159 w 159"/>
              <a:gd name="T18" fmla="*/ 53 h 53"/>
            </a:gdLst>
            <a:ahLst/>
            <a:cxnLst>
              <a:cxn ang="T10">
                <a:pos x="T0" y="T1"/>
              </a:cxn>
              <a:cxn ang="T11">
                <a:pos x="T2" y="T3"/>
              </a:cxn>
              <a:cxn ang="T12">
                <a:pos x="T4" y="T5"/>
              </a:cxn>
              <a:cxn ang="T13">
                <a:pos x="T6" y="T7"/>
              </a:cxn>
              <a:cxn ang="T14">
                <a:pos x="T8" y="T9"/>
              </a:cxn>
            </a:cxnLst>
            <a:rect l="T15" t="T16" r="T17" b="T18"/>
            <a:pathLst>
              <a:path w="159" h="53">
                <a:moveTo>
                  <a:pt x="0" y="0"/>
                </a:moveTo>
                <a:lnTo>
                  <a:pt x="26" y="27"/>
                </a:lnTo>
                <a:lnTo>
                  <a:pt x="0" y="53"/>
                </a:lnTo>
                <a:lnTo>
                  <a:pt x="159" y="27"/>
                </a:lnTo>
                <a:lnTo>
                  <a:pt x="0" y="0"/>
                </a:lnTo>
                <a:close/>
              </a:path>
            </a:pathLst>
          </a:custGeom>
          <a:solidFill>
            <a:schemeClr val="tx1"/>
          </a:solidFill>
          <a:ln w="20701">
            <a:solidFill>
              <a:schemeClr val="tx1"/>
            </a:solidFill>
            <a:round/>
          </a:ln>
        </p:spPr>
        <p:txBody>
          <a:bodyPr/>
          <a:lstStyle/>
          <a:p>
            <a:endParaRPr lang="zh-CN" altLang="en-US"/>
          </a:p>
        </p:txBody>
      </p:sp>
      <p:sp>
        <p:nvSpPr>
          <p:cNvPr id="8357" name="Rectangle 164"/>
          <p:cNvSpPr>
            <a:spLocks noChangeArrowheads="1"/>
          </p:cNvSpPr>
          <p:nvPr/>
        </p:nvSpPr>
        <p:spPr bwMode="auto">
          <a:xfrm>
            <a:off x="1235075" y="2736850"/>
            <a:ext cx="279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8358" name="Rectangle 165"/>
          <p:cNvSpPr>
            <a:spLocks noChangeArrowheads="1"/>
          </p:cNvSpPr>
          <p:nvPr/>
        </p:nvSpPr>
        <p:spPr bwMode="auto">
          <a:xfrm>
            <a:off x="1198563" y="3321050"/>
            <a:ext cx="431800"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输入信号</a:t>
            </a:r>
            <a:endParaRPr lang="zh-CN" altLang="zh-CN" sz="2800">
              <a:latin typeface="Times New Roman" panose="02020603050405020304" pitchFamily="18" charset="0"/>
            </a:endParaRPr>
          </a:p>
        </p:txBody>
      </p:sp>
      <p:sp>
        <p:nvSpPr>
          <p:cNvPr id="8359" name="Freeform 166"/>
          <p:cNvSpPr/>
          <p:nvPr/>
        </p:nvSpPr>
        <p:spPr bwMode="auto">
          <a:xfrm>
            <a:off x="4810125" y="1577975"/>
            <a:ext cx="254000" cy="104775"/>
          </a:xfrm>
          <a:custGeom>
            <a:avLst/>
            <a:gdLst>
              <a:gd name="T0" fmla="*/ 0 w 160"/>
              <a:gd name="T1" fmla="*/ 0 h 66"/>
              <a:gd name="T2" fmla="*/ 2147483646 w 160"/>
              <a:gd name="T3" fmla="*/ 2147483646 h 66"/>
              <a:gd name="T4" fmla="*/ 0 w 160"/>
              <a:gd name="T5" fmla="*/ 2147483646 h 66"/>
              <a:gd name="T6" fmla="*/ 2147483646 w 160"/>
              <a:gd name="T7" fmla="*/ 2147483646 h 66"/>
              <a:gd name="T8" fmla="*/ 0 w 160"/>
              <a:gd name="T9" fmla="*/ 0 h 66"/>
              <a:gd name="T10" fmla="*/ 0 60000 65536"/>
              <a:gd name="T11" fmla="*/ 0 60000 65536"/>
              <a:gd name="T12" fmla="*/ 0 60000 65536"/>
              <a:gd name="T13" fmla="*/ 0 60000 65536"/>
              <a:gd name="T14" fmla="*/ 0 60000 65536"/>
              <a:gd name="T15" fmla="*/ 0 w 160"/>
              <a:gd name="T16" fmla="*/ 0 h 66"/>
              <a:gd name="T17" fmla="*/ 160 w 160"/>
              <a:gd name="T18" fmla="*/ 66 h 66"/>
            </a:gdLst>
            <a:ahLst/>
            <a:cxnLst>
              <a:cxn ang="T10">
                <a:pos x="T0" y="T1"/>
              </a:cxn>
              <a:cxn ang="T11">
                <a:pos x="T2" y="T3"/>
              </a:cxn>
              <a:cxn ang="T12">
                <a:pos x="T4" y="T5"/>
              </a:cxn>
              <a:cxn ang="T13">
                <a:pos x="T6" y="T7"/>
              </a:cxn>
              <a:cxn ang="T14">
                <a:pos x="T8" y="T9"/>
              </a:cxn>
            </a:cxnLst>
            <a:rect l="T15" t="T16" r="T17" b="T18"/>
            <a:pathLst>
              <a:path w="160" h="66">
                <a:moveTo>
                  <a:pt x="0" y="0"/>
                </a:moveTo>
                <a:lnTo>
                  <a:pt x="27" y="26"/>
                </a:lnTo>
                <a:lnTo>
                  <a:pt x="0" y="66"/>
                </a:lnTo>
                <a:lnTo>
                  <a:pt x="160" y="26"/>
                </a:lnTo>
                <a:lnTo>
                  <a:pt x="0" y="0"/>
                </a:lnTo>
                <a:close/>
              </a:path>
            </a:pathLst>
          </a:custGeom>
          <a:solidFill>
            <a:srgbClr val="000000"/>
          </a:solidFill>
          <a:ln w="20638">
            <a:solidFill>
              <a:srgbClr val="000000"/>
            </a:solidFill>
            <a:round/>
          </a:ln>
        </p:spPr>
        <p:txBody>
          <a:bodyPr/>
          <a:lstStyle/>
          <a:p>
            <a:endParaRPr lang="zh-CN" altLang="en-US"/>
          </a:p>
        </p:txBody>
      </p:sp>
      <p:sp>
        <p:nvSpPr>
          <p:cNvPr id="8360" name="Line 167"/>
          <p:cNvSpPr>
            <a:spLocks noChangeShapeType="1"/>
          </p:cNvSpPr>
          <p:nvPr/>
        </p:nvSpPr>
        <p:spPr bwMode="auto">
          <a:xfrm>
            <a:off x="4137025" y="1619250"/>
            <a:ext cx="800100" cy="1588"/>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61" name="Rectangle 168"/>
          <p:cNvSpPr>
            <a:spLocks noChangeArrowheads="1"/>
          </p:cNvSpPr>
          <p:nvPr/>
        </p:nvSpPr>
        <p:spPr bwMode="auto">
          <a:xfrm>
            <a:off x="4349750" y="1239838"/>
            <a:ext cx="1857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8362" name="Rectangle 169"/>
          <p:cNvSpPr>
            <a:spLocks noChangeArrowheads="1"/>
          </p:cNvSpPr>
          <p:nvPr/>
        </p:nvSpPr>
        <p:spPr bwMode="auto">
          <a:xfrm>
            <a:off x="4505325" y="1366838"/>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8363" name="Rectangle 170"/>
          <p:cNvSpPr>
            <a:spLocks noChangeArrowheads="1"/>
          </p:cNvSpPr>
          <p:nvPr/>
        </p:nvSpPr>
        <p:spPr bwMode="auto">
          <a:xfrm>
            <a:off x="5418138" y="1323975"/>
            <a:ext cx="139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反馈放大器</a:t>
            </a:r>
            <a:endParaRPr lang="zh-CN" altLang="zh-CN" sz="2800">
              <a:latin typeface="Times New Roman" panose="02020603050405020304" pitchFamily="18" charset="0"/>
            </a:endParaRPr>
          </a:p>
        </p:txBody>
      </p:sp>
      <p:sp>
        <p:nvSpPr>
          <p:cNvPr id="8364" name="Rectangle 171"/>
          <p:cNvSpPr>
            <a:spLocks noChangeArrowheads="1"/>
          </p:cNvSpPr>
          <p:nvPr/>
        </p:nvSpPr>
        <p:spPr bwMode="auto">
          <a:xfrm>
            <a:off x="646113" y="2630488"/>
            <a:ext cx="185737"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8365" name="Rectangle 172"/>
          <p:cNvSpPr>
            <a:spLocks noChangeArrowheads="1"/>
          </p:cNvSpPr>
          <p:nvPr/>
        </p:nvSpPr>
        <p:spPr bwMode="auto">
          <a:xfrm>
            <a:off x="817563" y="2755900"/>
            <a:ext cx="523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8366" name="Rectangle 173"/>
          <p:cNvSpPr>
            <a:spLocks noChangeArrowheads="1"/>
          </p:cNvSpPr>
          <p:nvPr/>
        </p:nvSpPr>
        <p:spPr bwMode="auto">
          <a:xfrm>
            <a:off x="757238" y="2398713"/>
            <a:ext cx="698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67" name="Rectangle 174"/>
          <p:cNvSpPr>
            <a:spLocks noChangeArrowheads="1"/>
          </p:cNvSpPr>
          <p:nvPr/>
        </p:nvSpPr>
        <p:spPr bwMode="auto">
          <a:xfrm>
            <a:off x="7713663" y="2587625"/>
            <a:ext cx="18573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8368" name="Rectangle 175"/>
          <p:cNvSpPr>
            <a:spLocks noChangeArrowheads="1"/>
          </p:cNvSpPr>
          <p:nvPr/>
        </p:nvSpPr>
        <p:spPr bwMode="auto">
          <a:xfrm>
            <a:off x="7885113" y="271303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8369" name="Rectangle 176"/>
          <p:cNvSpPr>
            <a:spLocks noChangeArrowheads="1"/>
          </p:cNvSpPr>
          <p:nvPr/>
        </p:nvSpPr>
        <p:spPr bwMode="auto">
          <a:xfrm>
            <a:off x="7824788" y="2376488"/>
            <a:ext cx="698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70" name="Line 177"/>
          <p:cNvSpPr>
            <a:spLocks noChangeShapeType="1"/>
          </p:cNvSpPr>
          <p:nvPr/>
        </p:nvSpPr>
        <p:spPr bwMode="auto">
          <a:xfrm flipH="1">
            <a:off x="5843588" y="1662113"/>
            <a:ext cx="125412" cy="231775"/>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71" name="Text Box 178"/>
          <p:cNvSpPr txBox="1">
            <a:spLocks noChangeArrowheads="1"/>
          </p:cNvSpPr>
          <p:nvPr/>
        </p:nvSpPr>
        <p:spPr bwMode="auto">
          <a:xfrm>
            <a:off x="2362200" y="5461000"/>
            <a:ext cx="4527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图6.1.3   反馈放大器基本框图 </a:t>
            </a:r>
            <a:endParaRPr lang="zh-CN" altLang="zh-CN" sz="2400">
              <a:latin typeface="Times New Roman" panose="02020603050405020304" pitchFamily="18" charset="0"/>
            </a:endParaRPr>
          </a:p>
        </p:txBody>
      </p:sp>
      <p:sp>
        <p:nvSpPr>
          <p:cNvPr id="8372" name="Rectangle 179"/>
          <p:cNvSpPr>
            <a:spLocks noChangeArrowheads="1"/>
          </p:cNvSpPr>
          <p:nvPr/>
        </p:nvSpPr>
        <p:spPr bwMode="auto">
          <a:xfrm>
            <a:off x="950913" y="327025"/>
            <a:ext cx="526097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ClrTx/>
              <a:buSzTx/>
              <a:buFont typeface="Arial" panose="020B0604020202020204" pitchFamily="34" charset="0"/>
              <a:buNone/>
            </a:pPr>
            <a:r>
              <a:rPr lang="zh-CN" altLang="zh-CN">
                <a:latin typeface="Times New Roman" panose="02020603050405020304" pitchFamily="18" charset="0"/>
              </a:rPr>
              <a:t> 6.1.2反馈放大器的基本框图 </a:t>
            </a:r>
            <a:endParaRPr lang="zh-CN" altLang="zh-CN">
              <a:latin typeface="Times New Roman" panose="02020603050405020304" pitchFamily="18" charset="0"/>
            </a:endParaRPr>
          </a:p>
        </p:txBody>
      </p:sp>
      <p:sp>
        <p:nvSpPr>
          <p:cNvPr id="8373" name="Rectangle 180"/>
          <p:cNvSpPr>
            <a:spLocks noChangeArrowheads="1"/>
          </p:cNvSpPr>
          <p:nvPr/>
        </p:nvSpPr>
        <p:spPr bwMode="auto">
          <a:xfrm>
            <a:off x="4456113" y="993775"/>
            <a:ext cx="698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74" name="Rectangle 181"/>
          <p:cNvSpPr>
            <a:spLocks noChangeArrowheads="1"/>
          </p:cNvSpPr>
          <p:nvPr/>
        </p:nvSpPr>
        <p:spPr bwMode="auto">
          <a:xfrm>
            <a:off x="4803775" y="2955925"/>
            <a:ext cx="698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8375" name="Rectangle 182"/>
          <p:cNvSpPr>
            <a:spLocks noChangeArrowheads="1"/>
          </p:cNvSpPr>
          <p:nvPr/>
        </p:nvSpPr>
        <p:spPr bwMode="auto">
          <a:xfrm>
            <a:off x="4803775" y="4318000"/>
            <a:ext cx="698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9CE0D00-DD44-4672-8E0A-5606B4B06B68}" type="slidenum">
              <a:rPr lang="zh-CN" altLang="zh-CN" sz="1400" smtClean="0"/>
            </a:fld>
            <a:endParaRPr lang="zh-CN" altLang="zh-CN" sz="1400" smtClean="0"/>
          </a:p>
        </p:txBody>
      </p:sp>
      <p:sp>
        <p:nvSpPr>
          <p:cNvPr id="9219" name="Rectangle 2"/>
          <p:cNvSpPr>
            <a:spLocks noChangeArrowheads="1"/>
          </p:cNvSpPr>
          <p:nvPr/>
        </p:nvSpPr>
        <p:spPr bwMode="auto">
          <a:xfrm>
            <a:off x="762000" y="187325"/>
            <a:ext cx="57658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ClrTx/>
              <a:buSzTx/>
              <a:buFont typeface="Arial" panose="020B0604020202020204" pitchFamily="34" charset="0"/>
              <a:buNone/>
            </a:pPr>
            <a:r>
              <a:rPr lang="zh-CN" altLang="zh-CN">
                <a:latin typeface="Times New Roman" panose="02020603050405020304" pitchFamily="18" charset="0"/>
              </a:rPr>
              <a:t>6.1.3  反馈放大器的基本方程</a:t>
            </a:r>
            <a:endParaRPr lang="zh-CN" altLang="zh-CN">
              <a:latin typeface="Times New Roman" panose="02020603050405020304" pitchFamily="18" charset="0"/>
            </a:endParaRPr>
          </a:p>
        </p:txBody>
      </p:sp>
      <p:sp>
        <p:nvSpPr>
          <p:cNvPr id="9220" name="Rectangle 3"/>
          <p:cNvSpPr>
            <a:spLocks noGrp="1" noChangeArrowheads="1"/>
          </p:cNvSpPr>
          <p:nvPr/>
        </p:nvSpPr>
        <p:spPr bwMode="auto">
          <a:xfrm>
            <a:off x="2447925" y="4294188"/>
            <a:ext cx="58991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0"/>
              </a:spcBef>
              <a:buClrTx/>
              <a:buSzTx/>
              <a:buFont typeface="Arial" panose="020B0604020202020204" pitchFamily="34" charset="0"/>
              <a:buNone/>
            </a:pPr>
            <a:r>
              <a:rPr lang="zh-CN" altLang="zh-CN" sz="2400">
                <a:latin typeface="Times New Roman" panose="02020603050405020304" pitchFamily="18" charset="0"/>
              </a:rPr>
              <a:t>基本放大器的传输增益(也称开环增益或开环放大倍数)</a:t>
            </a:r>
            <a:endParaRPr lang="zh-CN" altLang="zh-CN" sz="2400">
              <a:latin typeface="Times New Roman" panose="02020603050405020304" pitchFamily="18" charset="0"/>
            </a:endParaRPr>
          </a:p>
        </p:txBody>
      </p:sp>
      <p:graphicFrame>
        <p:nvGraphicFramePr>
          <p:cNvPr id="9221" name="Object 4"/>
          <p:cNvGraphicFramePr>
            <a:graphicFrameLocks noChangeAspect="1"/>
          </p:cNvGraphicFramePr>
          <p:nvPr/>
        </p:nvGraphicFramePr>
        <p:xfrm>
          <a:off x="712788" y="4092575"/>
          <a:ext cx="1106487" cy="2260600"/>
        </p:xfrm>
        <a:graphic>
          <a:graphicData uri="http://schemas.openxmlformats.org/presentationml/2006/ole">
            <mc:AlternateContent xmlns:mc="http://schemas.openxmlformats.org/markup-compatibility/2006">
              <mc:Choice xmlns:v="urn:schemas-microsoft-com:vml" Requires="v">
                <p:oleObj spid="_x0000_s9255" name="" r:id="rId1" imgW="559435" imgH="1144270" progId="Equation.3">
                  <p:embed/>
                </p:oleObj>
              </mc:Choice>
              <mc:Fallback>
                <p:oleObj name="" r:id="rId1" imgW="559435" imgH="114427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88" y="4092575"/>
                        <a:ext cx="1106487" cy="226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Text Box 5"/>
          <p:cNvSpPr txBox="1">
            <a:spLocks noChangeArrowheads="1"/>
          </p:cNvSpPr>
          <p:nvPr/>
        </p:nvSpPr>
        <p:spPr bwMode="auto">
          <a:xfrm>
            <a:off x="2379663" y="5616575"/>
            <a:ext cx="501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 typeface="Arial" panose="020B0604020202020204" pitchFamily="34" charset="0"/>
              <a:buNone/>
            </a:pPr>
            <a:r>
              <a:rPr lang="zh-CN" altLang="zh-CN" sz="2400">
                <a:latin typeface="Times New Roman" panose="02020603050405020304" pitchFamily="18" charset="0"/>
              </a:rPr>
              <a:t>反馈网络的传输系数(也称反馈系数)</a:t>
            </a:r>
            <a:endParaRPr lang="zh-CN" altLang="zh-CN" sz="2400">
              <a:latin typeface="Times New Roman" panose="02020603050405020304" pitchFamily="18" charset="0"/>
            </a:endParaRPr>
          </a:p>
        </p:txBody>
      </p:sp>
      <p:pic>
        <p:nvPicPr>
          <p:cNvPr id="92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1013" y="942975"/>
            <a:ext cx="5824537"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B0B736D-959F-4223-A118-78817198E444}" type="slidenum">
              <a:rPr lang="zh-CN" altLang="zh-CN" sz="1400" smtClean="0"/>
            </a:fld>
            <a:endParaRPr lang="zh-CN" altLang="zh-CN" sz="1400" smtClean="0"/>
          </a:p>
        </p:txBody>
      </p:sp>
      <p:graphicFrame>
        <p:nvGraphicFramePr>
          <p:cNvPr id="10243" name="Object 2"/>
          <p:cNvGraphicFramePr>
            <a:graphicFrameLocks noChangeAspect="1"/>
          </p:cNvGraphicFramePr>
          <p:nvPr/>
        </p:nvGraphicFramePr>
        <p:xfrm>
          <a:off x="609600" y="3241675"/>
          <a:ext cx="3114675" cy="2260600"/>
        </p:xfrm>
        <a:graphic>
          <a:graphicData uri="http://schemas.openxmlformats.org/presentationml/2006/ole">
            <mc:AlternateContent xmlns:mc="http://schemas.openxmlformats.org/markup-compatibility/2006">
              <mc:Choice xmlns:v="urn:schemas-microsoft-com:vml" Requires="v">
                <p:oleObj spid="_x0000_s10279" name="" r:id="rId1" imgW="1575435" imgH="1143635" progId="Equation.3">
                  <p:embed/>
                </p:oleObj>
              </mc:Choice>
              <mc:Fallback>
                <p:oleObj name="" r:id="rId1" imgW="1575435" imgH="114363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241675"/>
                        <a:ext cx="3114675" cy="226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4" name="Text Box 3"/>
          <p:cNvSpPr txBox="1">
            <a:spLocks noChangeArrowheads="1"/>
          </p:cNvSpPr>
          <p:nvPr/>
        </p:nvSpPr>
        <p:spPr bwMode="auto">
          <a:xfrm>
            <a:off x="4186238" y="4814888"/>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环路增益(回归比)</a:t>
            </a:r>
            <a:r>
              <a:rPr lang="zh-CN" altLang="zh-CN" sz="2000">
                <a:latin typeface="Times New Roman" panose="02020603050405020304" pitchFamily="18" charset="0"/>
              </a:rPr>
              <a:t> </a:t>
            </a:r>
            <a:endParaRPr lang="zh-CN" altLang="zh-CN" sz="2000">
              <a:latin typeface="Times New Roman" panose="02020603050405020304" pitchFamily="18" charset="0"/>
            </a:endParaRPr>
          </a:p>
        </p:txBody>
      </p:sp>
      <p:sp>
        <p:nvSpPr>
          <p:cNvPr id="10245" name="Rectangle 4"/>
          <p:cNvSpPr>
            <a:spLocks noChangeArrowheads="1"/>
          </p:cNvSpPr>
          <p:nvPr/>
        </p:nvSpPr>
        <p:spPr bwMode="auto">
          <a:xfrm>
            <a:off x="2546350" y="3516313"/>
            <a:ext cx="57213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400">
                <a:latin typeface="Times New Roman" panose="02020603050405020304" pitchFamily="18" charset="0"/>
              </a:rPr>
              <a:t>反馈放大器的传输增益（也称闭环增益）</a:t>
            </a:r>
            <a:endParaRPr lang="zh-CN" altLang="zh-CN" sz="2400">
              <a:latin typeface="Times New Roman" panose="02020603050405020304" pitchFamily="18" charset="0"/>
            </a:endParaRPr>
          </a:p>
        </p:txBody>
      </p:sp>
      <p:sp>
        <p:nvSpPr>
          <p:cNvPr id="10246" name="Text Box 5"/>
          <p:cNvSpPr txBox="1">
            <a:spLocks noChangeArrowheads="1"/>
          </p:cNvSpPr>
          <p:nvPr/>
        </p:nvSpPr>
        <p:spPr bwMode="auto">
          <a:xfrm>
            <a:off x="276225" y="5648325"/>
            <a:ext cx="8645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solidFill>
                  <a:srgbClr val="CC0099"/>
                </a:solidFill>
                <a:latin typeface="Times New Roman" panose="02020603050405020304" pitchFamily="18" charset="0"/>
              </a:rPr>
              <a:t>注意：</a:t>
            </a:r>
            <a:r>
              <a:rPr lang="zh-CN" altLang="zh-CN" sz="2400">
                <a:latin typeface="Times New Roman" panose="02020603050405020304" pitchFamily="18" charset="0"/>
              </a:rPr>
              <a:t>上述X可以指电压也可以指电流，因此A、F既可能是电压增益也可能是电流增益，也可能是互导增益或互阻增益。 </a:t>
            </a:r>
            <a:endParaRPr lang="zh-CN" altLang="zh-CN" sz="2400">
              <a:latin typeface="Times New Roman" panose="02020603050405020304" pitchFamily="18" charset="0"/>
            </a:endParaRPr>
          </a:p>
        </p:txBody>
      </p:sp>
      <p:pic>
        <p:nvPicPr>
          <p:cNvPr id="102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19075"/>
            <a:ext cx="569595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A128427-DBC4-4656-BC6A-2CA51D54669C}" type="slidenum">
              <a:rPr lang="zh-CN" altLang="zh-CN" sz="1400" smtClean="0"/>
            </a:fld>
            <a:endParaRPr lang="zh-CN" altLang="zh-CN" sz="1400" smtClean="0"/>
          </a:p>
        </p:txBody>
      </p:sp>
      <p:sp>
        <p:nvSpPr>
          <p:cNvPr id="11267" name="Rectangle 2"/>
          <p:cNvSpPr>
            <a:spLocks noGrp="1" noChangeArrowheads="1"/>
          </p:cNvSpPr>
          <p:nvPr/>
        </p:nvSpPr>
        <p:spPr bwMode="auto">
          <a:xfrm>
            <a:off x="2551113" y="896938"/>
            <a:ext cx="58991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0"/>
              </a:spcBef>
              <a:buClrTx/>
              <a:buSzTx/>
              <a:buFont typeface="Arial" panose="020B0604020202020204" pitchFamily="34" charset="0"/>
              <a:buNone/>
            </a:pPr>
            <a:r>
              <a:rPr lang="zh-CN" altLang="zh-CN" sz="2400">
                <a:latin typeface="Times New Roman" panose="02020603050405020304" pitchFamily="18" charset="0"/>
              </a:rPr>
              <a:t>基本放大器的传输增益(也称开环增益或开环放大倍数)</a:t>
            </a:r>
            <a:endParaRPr lang="zh-CN" altLang="zh-CN" sz="2400">
              <a:latin typeface="Times New Roman" panose="02020603050405020304" pitchFamily="18" charset="0"/>
            </a:endParaRPr>
          </a:p>
        </p:txBody>
      </p:sp>
      <p:graphicFrame>
        <p:nvGraphicFramePr>
          <p:cNvPr id="11268" name="Object 3"/>
          <p:cNvGraphicFramePr>
            <a:graphicFrameLocks noChangeAspect="1"/>
          </p:cNvGraphicFramePr>
          <p:nvPr/>
        </p:nvGraphicFramePr>
        <p:xfrm>
          <a:off x="842963" y="788988"/>
          <a:ext cx="3114675" cy="4521200"/>
        </p:xfrm>
        <a:graphic>
          <a:graphicData uri="http://schemas.openxmlformats.org/presentationml/2006/ole">
            <mc:AlternateContent xmlns:mc="http://schemas.openxmlformats.org/markup-compatibility/2006">
              <mc:Choice xmlns:v="urn:schemas-microsoft-com:vml" Requires="v">
                <p:oleObj spid="_x0000_s11304" name="" r:id="rId1" imgW="1574800" imgH="2286000" progId="Equation.3">
                  <p:embed/>
                </p:oleObj>
              </mc:Choice>
              <mc:Fallback>
                <p:oleObj name="" r:id="rId1" imgW="1574800" imgH="22860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963" y="788988"/>
                        <a:ext cx="3114675"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9" name="Text Box 4"/>
          <p:cNvSpPr txBox="1">
            <a:spLocks noChangeArrowheads="1"/>
          </p:cNvSpPr>
          <p:nvPr/>
        </p:nvSpPr>
        <p:spPr bwMode="auto">
          <a:xfrm>
            <a:off x="2546350" y="2360613"/>
            <a:ext cx="501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 typeface="Arial" panose="020B0604020202020204" pitchFamily="34" charset="0"/>
              <a:buNone/>
            </a:pPr>
            <a:r>
              <a:rPr lang="zh-CN" altLang="zh-CN" sz="2400">
                <a:latin typeface="Times New Roman" panose="02020603050405020304" pitchFamily="18" charset="0"/>
              </a:rPr>
              <a:t>反馈网络的传输系数(也称反馈系数)</a:t>
            </a:r>
            <a:endParaRPr lang="zh-CN" altLang="zh-CN" sz="2400">
              <a:latin typeface="Times New Roman" panose="02020603050405020304" pitchFamily="18" charset="0"/>
            </a:endParaRPr>
          </a:p>
        </p:txBody>
      </p:sp>
      <p:sp>
        <p:nvSpPr>
          <p:cNvPr id="11270" name="Text Box 5"/>
          <p:cNvSpPr txBox="1">
            <a:spLocks noChangeArrowheads="1"/>
          </p:cNvSpPr>
          <p:nvPr/>
        </p:nvSpPr>
        <p:spPr bwMode="auto">
          <a:xfrm>
            <a:off x="4186238" y="4573588"/>
            <a:ext cx="281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环路增益(回归比)</a:t>
            </a:r>
            <a:r>
              <a:rPr lang="zh-CN" altLang="zh-CN" sz="2000">
                <a:latin typeface="Times New Roman" panose="02020603050405020304" pitchFamily="18" charset="0"/>
              </a:rPr>
              <a:t> </a:t>
            </a:r>
            <a:endParaRPr lang="zh-CN" altLang="zh-CN" sz="2000">
              <a:latin typeface="Times New Roman" panose="02020603050405020304" pitchFamily="18" charset="0"/>
            </a:endParaRPr>
          </a:p>
        </p:txBody>
      </p:sp>
      <p:sp>
        <p:nvSpPr>
          <p:cNvPr id="11271" name="Rectangle 6"/>
          <p:cNvSpPr>
            <a:spLocks noChangeArrowheads="1"/>
          </p:cNvSpPr>
          <p:nvPr/>
        </p:nvSpPr>
        <p:spPr bwMode="auto">
          <a:xfrm>
            <a:off x="2546350" y="3275013"/>
            <a:ext cx="57213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400">
                <a:latin typeface="Times New Roman" panose="02020603050405020304" pitchFamily="18" charset="0"/>
              </a:rPr>
              <a:t>反馈放大器的传输增益（也称闭环增益）</a:t>
            </a:r>
            <a:endParaRPr lang="zh-CN" altLang="zh-CN" sz="2400">
              <a:latin typeface="Times New Roman" panose="02020603050405020304" pitchFamily="18" charset="0"/>
            </a:endParaRPr>
          </a:p>
        </p:txBody>
      </p:sp>
      <p:sp>
        <p:nvSpPr>
          <p:cNvPr id="11272" name="Text Box 7"/>
          <p:cNvSpPr txBox="1">
            <a:spLocks noChangeArrowheads="1"/>
          </p:cNvSpPr>
          <p:nvPr/>
        </p:nvSpPr>
        <p:spPr bwMode="auto">
          <a:xfrm>
            <a:off x="288925" y="5495925"/>
            <a:ext cx="8645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solidFill>
                  <a:srgbClr val="CC0099"/>
                </a:solidFill>
                <a:latin typeface="Times New Roman" panose="02020603050405020304" pitchFamily="18" charset="0"/>
              </a:rPr>
              <a:t>注意：</a:t>
            </a:r>
            <a:r>
              <a:rPr lang="zh-CN" altLang="zh-CN" sz="2400">
                <a:latin typeface="Times New Roman" panose="02020603050405020304" pitchFamily="18" charset="0"/>
              </a:rPr>
              <a:t>上述X可以指电压也可以指电流，因此A、F既可能是电压增益也可能是电流增益，也可能是互导增益或互阻增益。 </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8244A928-FF5A-4705-AC96-8D18C58507EA}" type="slidenum">
              <a:rPr lang="zh-CN" altLang="zh-CN" sz="1400" smtClean="0"/>
            </a:fld>
            <a:endParaRPr lang="zh-CN" altLang="zh-CN" sz="1400" smtClean="0"/>
          </a:p>
        </p:txBody>
      </p:sp>
      <p:graphicFrame>
        <p:nvGraphicFramePr>
          <p:cNvPr id="12291" name="Object 2"/>
          <p:cNvGraphicFramePr>
            <a:graphicFrameLocks noChangeAspect="1"/>
          </p:cNvGraphicFramePr>
          <p:nvPr/>
        </p:nvGraphicFramePr>
        <p:xfrm>
          <a:off x="658813" y="936625"/>
          <a:ext cx="3513137" cy="4883150"/>
        </p:xfrm>
        <a:graphic>
          <a:graphicData uri="http://schemas.openxmlformats.org/presentationml/2006/ole">
            <mc:AlternateContent xmlns:mc="http://schemas.openxmlformats.org/markup-compatibility/2006">
              <mc:Choice xmlns:v="urn:schemas-microsoft-com:vml" Requires="v">
                <p:oleObj spid="_x0000_s12326" name="" r:id="rId1" imgW="1498600" imgH="2082800" progId="Equation.3">
                  <p:embed/>
                </p:oleObj>
              </mc:Choice>
              <mc:Fallback>
                <p:oleObj name="" r:id="rId1" imgW="1498600" imgH="2082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13" y="936625"/>
                        <a:ext cx="3513137" cy="488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 name="Rectangle 3"/>
          <p:cNvSpPr>
            <a:spLocks noChangeArrowheads="1"/>
          </p:cNvSpPr>
          <p:nvPr/>
        </p:nvSpPr>
        <p:spPr bwMode="auto">
          <a:xfrm>
            <a:off x="3852863" y="4891088"/>
            <a:ext cx="33972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400">
                <a:solidFill>
                  <a:srgbClr val="CC0099"/>
                </a:solidFill>
                <a:latin typeface="Times New Roman" panose="02020603050405020304" pitchFamily="18" charset="0"/>
              </a:rPr>
              <a:t>反馈放大器的基本方程</a:t>
            </a:r>
            <a:endParaRPr lang="zh-CN" altLang="zh-CN" sz="2400">
              <a:solidFill>
                <a:srgbClr val="CC0099"/>
              </a:solidFill>
              <a:latin typeface="Times New Roman" panose="02020603050405020304" pitchFamily="18" charset="0"/>
            </a:endParaRPr>
          </a:p>
        </p:txBody>
      </p:sp>
      <p:sp>
        <p:nvSpPr>
          <p:cNvPr id="12293" name="Rectangle 4"/>
          <p:cNvSpPr>
            <a:spLocks noChangeArrowheads="1"/>
          </p:cNvSpPr>
          <p:nvPr/>
        </p:nvSpPr>
        <p:spPr bwMode="auto">
          <a:xfrm>
            <a:off x="342900" y="4513263"/>
            <a:ext cx="3165475" cy="1382712"/>
          </a:xfrm>
          <a:prstGeom prst="rect">
            <a:avLst/>
          </a:prstGeom>
          <a:noFill/>
          <a:ln w="38100">
            <a:solidFill>
              <a:srgbClr val="CC0099"/>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1229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8463" y="1209675"/>
            <a:ext cx="4935537"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D08C2D0-DF09-474E-B983-8896AF421ECA}" type="slidenum">
              <a:rPr lang="zh-CN" altLang="zh-CN" sz="1400" smtClean="0"/>
            </a:fld>
            <a:endParaRPr lang="zh-CN" altLang="zh-CN" sz="1400" smtClean="0"/>
          </a:p>
        </p:txBody>
      </p:sp>
      <p:sp>
        <p:nvSpPr>
          <p:cNvPr id="13315" name="Rectangle 2"/>
          <p:cNvSpPr>
            <a:spLocks noChangeArrowheads="1"/>
          </p:cNvSpPr>
          <p:nvPr/>
        </p:nvSpPr>
        <p:spPr bwMode="auto">
          <a:xfrm>
            <a:off x="3708400" y="777875"/>
            <a:ext cx="19272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3600">
                <a:solidFill>
                  <a:srgbClr val="CC0099"/>
                </a:solidFill>
                <a:latin typeface="Times New Roman" panose="02020603050405020304" pitchFamily="18" charset="0"/>
              </a:rPr>
              <a:t>结      论</a:t>
            </a:r>
            <a:endParaRPr lang="zh-CN" altLang="zh-CN" sz="3600">
              <a:solidFill>
                <a:srgbClr val="CC0099"/>
              </a:solidFill>
              <a:latin typeface="Times New Roman" panose="02020603050405020304" pitchFamily="18" charset="0"/>
            </a:endParaRPr>
          </a:p>
        </p:txBody>
      </p:sp>
      <p:sp>
        <p:nvSpPr>
          <p:cNvPr id="13316" name="Rectangle 3"/>
          <p:cNvSpPr>
            <a:spLocks noChangeArrowheads="1"/>
          </p:cNvSpPr>
          <p:nvPr/>
        </p:nvSpPr>
        <p:spPr bwMode="auto">
          <a:xfrm>
            <a:off x="485775" y="1611313"/>
            <a:ext cx="79708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800">
                <a:latin typeface="Times New Roman" panose="02020603050405020304" pitchFamily="18" charset="0"/>
              </a:rPr>
              <a:t>（1）负反馈使放大器的增益下降了（1+AF）倍；</a:t>
            </a:r>
            <a:endParaRPr lang="zh-CN" altLang="zh-CN" sz="2800">
              <a:latin typeface="Times New Roman" panose="02020603050405020304" pitchFamily="18" charset="0"/>
            </a:endParaRPr>
          </a:p>
        </p:txBody>
      </p:sp>
      <p:sp>
        <p:nvSpPr>
          <p:cNvPr id="13317" name="Rectangle 4"/>
          <p:cNvSpPr>
            <a:spLocks noChangeArrowheads="1"/>
          </p:cNvSpPr>
          <p:nvPr/>
        </p:nvSpPr>
        <p:spPr bwMode="auto">
          <a:xfrm>
            <a:off x="506413" y="2290763"/>
            <a:ext cx="68310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800">
                <a:latin typeface="Times New Roman" panose="02020603050405020304" pitchFamily="18" charset="0"/>
              </a:rPr>
              <a:t>（2）反馈深度D = 1+AF，表征反馈强弱；</a:t>
            </a:r>
            <a:endParaRPr lang="zh-CN" altLang="zh-CN" sz="2800">
              <a:latin typeface="Times New Roman" panose="02020603050405020304" pitchFamily="18" charset="0"/>
            </a:endParaRPr>
          </a:p>
        </p:txBody>
      </p:sp>
      <p:sp>
        <p:nvSpPr>
          <p:cNvPr id="13318" name="Rectangle 5"/>
          <p:cNvSpPr>
            <a:spLocks noChangeArrowheads="1"/>
          </p:cNvSpPr>
          <p:nvPr/>
        </p:nvSpPr>
        <p:spPr bwMode="auto">
          <a:xfrm>
            <a:off x="1377950" y="5376863"/>
            <a:ext cx="4883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800">
                <a:latin typeface="Times New Roman" panose="02020603050405020304" pitchFamily="18" charset="0"/>
              </a:rPr>
              <a:t>D</a:t>
            </a:r>
            <a:r>
              <a:rPr lang="zh-CN" altLang="zh-CN" sz="2800">
                <a:latin typeface="Times New Roman" panose="02020603050405020304" pitchFamily="18" charset="0"/>
                <a:sym typeface="Symbol" panose="05050102010706020507" pitchFamily="18" charset="2"/>
              </a:rPr>
              <a:t>1或</a:t>
            </a:r>
            <a:r>
              <a:rPr lang="zh-CN" altLang="zh-CN" sz="2800">
                <a:latin typeface="Times New Roman" panose="02020603050405020304" pitchFamily="18" charset="0"/>
              </a:rPr>
              <a:t>AF </a:t>
            </a:r>
            <a:r>
              <a:rPr lang="zh-CN" altLang="zh-CN" sz="2800">
                <a:latin typeface="Times New Roman" panose="02020603050405020304" pitchFamily="18" charset="0"/>
                <a:sym typeface="Symbol" panose="05050102010706020507" pitchFamily="18" charset="2"/>
              </a:rPr>
              <a:t>1</a:t>
            </a:r>
            <a:r>
              <a:rPr lang="zh-CN" altLang="zh-CN" sz="2800">
                <a:latin typeface="Times New Roman" panose="02020603050405020304" pitchFamily="18" charset="0"/>
              </a:rPr>
              <a:t> ，深度负反馈</a:t>
            </a:r>
            <a:endParaRPr lang="zh-CN" altLang="zh-CN" sz="2800">
              <a:latin typeface="Times New Roman" panose="02020603050405020304" pitchFamily="18" charset="0"/>
            </a:endParaRPr>
          </a:p>
        </p:txBody>
      </p:sp>
      <p:graphicFrame>
        <p:nvGraphicFramePr>
          <p:cNvPr id="13319" name="Object 6"/>
          <p:cNvGraphicFramePr>
            <a:graphicFrameLocks noChangeAspect="1"/>
          </p:cNvGraphicFramePr>
          <p:nvPr/>
        </p:nvGraphicFramePr>
        <p:xfrm>
          <a:off x="1284288" y="2932113"/>
          <a:ext cx="6249987" cy="1309687"/>
        </p:xfrm>
        <a:graphic>
          <a:graphicData uri="http://schemas.openxmlformats.org/presentationml/2006/ole">
            <mc:AlternateContent xmlns:mc="http://schemas.openxmlformats.org/markup-compatibility/2006">
              <mc:Choice xmlns:v="urn:schemas-microsoft-com:vml" Requires="v">
                <p:oleObj spid="_x0000_s13447" name="" r:id="rId1" imgW="2667000" imgH="558800" progId="Equation.3">
                  <p:embed/>
                </p:oleObj>
              </mc:Choice>
              <mc:Fallback>
                <p:oleObj name="" r:id="rId1" imgW="2667000" imgH="5588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88" y="2932113"/>
                        <a:ext cx="6249987" cy="130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7"/>
          <p:cNvGraphicFramePr>
            <a:graphicFrameLocks noChangeAspect="1"/>
          </p:cNvGraphicFramePr>
          <p:nvPr/>
        </p:nvGraphicFramePr>
        <p:xfrm>
          <a:off x="1309688" y="4243388"/>
          <a:ext cx="1457325" cy="1131887"/>
        </p:xfrm>
        <a:graphic>
          <a:graphicData uri="http://schemas.openxmlformats.org/presentationml/2006/ole">
            <mc:AlternateContent xmlns:mc="http://schemas.openxmlformats.org/markup-compatibility/2006">
              <mc:Choice xmlns:v="urn:schemas-microsoft-com:vml" Requires="v">
                <p:oleObj spid="_x0000_s13448" name="" r:id="rId3" imgW="622935" imgH="483235" progId="Equation.3">
                  <p:embed/>
                </p:oleObj>
              </mc:Choice>
              <mc:Fallback>
                <p:oleObj name="" r:id="rId3" imgW="622935" imgH="48323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4243388"/>
                        <a:ext cx="1457325" cy="1131887"/>
                      </a:xfrm>
                      <a:prstGeom prst="rect">
                        <a:avLst/>
                      </a:prstGeom>
                      <a:solidFill>
                        <a:srgbClr val="FFFF5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1" name="Object 8"/>
          <p:cNvGraphicFramePr>
            <a:graphicFrameLocks noChangeAspect="1"/>
          </p:cNvGraphicFramePr>
          <p:nvPr/>
        </p:nvGraphicFramePr>
        <p:xfrm>
          <a:off x="3044825" y="4451350"/>
          <a:ext cx="4876800" cy="714375"/>
        </p:xfrm>
        <a:graphic>
          <a:graphicData uri="http://schemas.openxmlformats.org/presentationml/2006/ole">
            <mc:AlternateContent xmlns:mc="http://schemas.openxmlformats.org/markup-compatibility/2006">
              <mc:Choice xmlns:v="urn:schemas-microsoft-com:vml" Requires="v">
                <p:oleObj spid="_x0000_s13449" name="Equation" r:id="rId5" imgW="3416300" imgH="457200" progId="Equation.DSMT4">
                  <p:embed/>
                </p:oleObj>
              </mc:Choice>
              <mc:Fallback>
                <p:oleObj name="Equation" r:id="rId5" imgW="3416300" imgH="457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4825" y="4451350"/>
                        <a:ext cx="4876800" cy="714375"/>
                      </a:xfrm>
                      <a:prstGeom prst="rect">
                        <a:avLst/>
                      </a:prstGeom>
                      <a:solidFill>
                        <a:srgbClr val="FFFF5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2" name="Object 9"/>
          <p:cNvGraphicFramePr>
            <a:graphicFrameLocks noChangeAspect="1"/>
          </p:cNvGraphicFramePr>
          <p:nvPr/>
        </p:nvGraphicFramePr>
        <p:xfrm>
          <a:off x="407988" y="173038"/>
          <a:ext cx="2828925" cy="1311275"/>
        </p:xfrm>
        <a:graphic>
          <a:graphicData uri="http://schemas.openxmlformats.org/presentationml/2006/ole">
            <mc:AlternateContent xmlns:mc="http://schemas.openxmlformats.org/markup-compatibility/2006">
              <mc:Choice xmlns:v="urn:schemas-microsoft-com:vml" Requires="v">
                <p:oleObj spid="_x0000_s13450" name="" r:id="rId7" imgW="1207770" imgH="559435" progId="Equation.3">
                  <p:embed/>
                </p:oleObj>
              </mc:Choice>
              <mc:Fallback>
                <p:oleObj name="" r:id="rId7" imgW="1207770" imgH="55943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988" y="173038"/>
                        <a:ext cx="2828925"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3339AD6-B3C7-4C2B-8F3D-D97F88E68E5F}" type="slidenum">
              <a:rPr lang="zh-CN" altLang="zh-CN" sz="1400" smtClean="0"/>
            </a:fld>
            <a:endParaRPr lang="zh-CN" altLang="zh-CN" sz="1400" smtClean="0"/>
          </a:p>
        </p:txBody>
      </p:sp>
      <p:sp>
        <p:nvSpPr>
          <p:cNvPr id="14339" name="Rectangle 2"/>
          <p:cNvSpPr>
            <a:spLocks noChangeArrowheads="1"/>
          </p:cNvSpPr>
          <p:nvPr/>
        </p:nvSpPr>
        <p:spPr bwMode="auto">
          <a:xfrm>
            <a:off x="852488" y="1231900"/>
            <a:ext cx="35591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800">
                <a:latin typeface="Times New Roman" panose="02020603050405020304" pitchFamily="18" charset="0"/>
              </a:rPr>
              <a:t>（3）深负反馈条件下</a:t>
            </a:r>
            <a:endParaRPr lang="zh-CN" altLang="zh-CN" sz="2800">
              <a:latin typeface="Times New Roman" panose="02020603050405020304" pitchFamily="18" charset="0"/>
            </a:endParaRPr>
          </a:p>
        </p:txBody>
      </p:sp>
      <p:graphicFrame>
        <p:nvGraphicFramePr>
          <p:cNvPr id="14340" name="Object 3"/>
          <p:cNvGraphicFramePr>
            <a:graphicFrameLocks noChangeAspect="1"/>
          </p:cNvGraphicFramePr>
          <p:nvPr/>
        </p:nvGraphicFramePr>
        <p:xfrm>
          <a:off x="2103438" y="2090738"/>
          <a:ext cx="2562225" cy="922337"/>
        </p:xfrm>
        <a:graphic>
          <a:graphicData uri="http://schemas.openxmlformats.org/presentationml/2006/ole">
            <mc:AlternateContent xmlns:mc="http://schemas.openxmlformats.org/markup-compatibility/2006">
              <mc:Choice xmlns:v="urn:schemas-microsoft-com:vml" Requires="v">
                <p:oleObj spid="_x0000_s14438" name="" r:id="rId1" imgW="1092835" imgH="394335" progId="Equation.3">
                  <p:embed/>
                </p:oleObj>
              </mc:Choice>
              <mc:Fallback>
                <p:oleObj name="" r:id="rId1" imgW="1092835" imgH="39433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438" y="2090738"/>
                        <a:ext cx="2562225"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4"/>
          <p:cNvGraphicFramePr>
            <a:graphicFrameLocks noChangeAspect="1"/>
          </p:cNvGraphicFramePr>
          <p:nvPr/>
        </p:nvGraphicFramePr>
        <p:xfrm>
          <a:off x="1836738" y="4268788"/>
          <a:ext cx="2112962" cy="714375"/>
        </p:xfrm>
        <a:graphic>
          <a:graphicData uri="http://schemas.openxmlformats.org/presentationml/2006/ole">
            <mc:AlternateContent xmlns:mc="http://schemas.openxmlformats.org/markup-compatibility/2006">
              <mc:Choice xmlns:v="urn:schemas-microsoft-com:vml" Requires="v">
                <p:oleObj spid="_x0000_s14439" name="" r:id="rId3" imgW="902335" imgH="304800" progId="Equation.3">
                  <p:embed/>
                </p:oleObj>
              </mc:Choice>
              <mc:Fallback>
                <p:oleObj name="" r:id="rId3" imgW="902335" imgH="304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4268788"/>
                        <a:ext cx="2112962"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2" name="Rectangle 5"/>
          <p:cNvSpPr>
            <a:spLocks noChangeArrowheads="1"/>
          </p:cNvSpPr>
          <p:nvPr/>
        </p:nvSpPr>
        <p:spPr bwMode="auto">
          <a:xfrm>
            <a:off x="865188" y="3382963"/>
            <a:ext cx="3203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sz="2800">
                <a:latin typeface="Times New Roman" panose="02020603050405020304" pitchFamily="18" charset="0"/>
              </a:rPr>
              <a:t>（4）若正反馈，则</a:t>
            </a:r>
            <a:endParaRPr lang="zh-CN" altLang="zh-CN" sz="2800">
              <a:latin typeface="Times New Roman" panose="02020603050405020304" pitchFamily="18" charset="0"/>
            </a:endParaRPr>
          </a:p>
        </p:txBody>
      </p:sp>
      <p:graphicFrame>
        <p:nvGraphicFramePr>
          <p:cNvPr id="14343" name="Object 6"/>
          <p:cNvGraphicFramePr>
            <a:graphicFrameLocks noChangeAspect="1"/>
          </p:cNvGraphicFramePr>
          <p:nvPr/>
        </p:nvGraphicFramePr>
        <p:xfrm>
          <a:off x="4660900" y="4240213"/>
          <a:ext cx="1878013" cy="922337"/>
        </p:xfrm>
        <a:graphic>
          <a:graphicData uri="http://schemas.openxmlformats.org/presentationml/2006/ole">
            <mc:AlternateContent xmlns:mc="http://schemas.openxmlformats.org/markup-compatibility/2006">
              <mc:Choice xmlns:v="urn:schemas-microsoft-com:vml" Requires="v">
                <p:oleObj spid="_x0000_s14440" name="" r:id="rId5" imgW="800735" imgH="394335" progId="Equation.3">
                  <p:embed/>
                </p:oleObj>
              </mc:Choice>
              <mc:Fallback>
                <p:oleObj name="" r:id="rId5" imgW="800735" imgH="39433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0900" y="4240213"/>
                        <a:ext cx="1878013"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4560888" y="2874963"/>
            <a:ext cx="3956050" cy="646112"/>
          </a:xfrm>
          <a:prstGeom prst="rect">
            <a:avLst/>
          </a:prstGeom>
          <a:solidFill>
            <a:schemeClr val="bg1">
              <a:lumMod val="75000"/>
            </a:schemeClr>
          </a:solidFill>
        </p:spPr>
        <p:txBody>
          <a:bodyPr>
            <a:spAutoFit/>
          </a:bodyPr>
          <a:lstStyle/>
          <a:p>
            <a:pPr>
              <a:buFont typeface="Arial" panose="020B0604020202020204" pitchFamily="34" charset="0"/>
              <a:buNone/>
              <a:defRPr/>
            </a:pPr>
            <a:r>
              <a:rPr lang="zh-CN" altLang="en-US" sz="1800" dirty="0"/>
              <a:t>增益只与反馈网络有关，反馈网络通常是无源网络，增加了电路的稳定性</a:t>
            </a:r>
            <a:endParaRPr lang="zh-CN" altLang="en-US"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E3AD015-75BE-412C-818F-77620991D178}" type="slidenum">
              <a:rPr lang="zh-CN" altLang="zh-CN" sz="1400" smtClean="0"/>
            </a:fld>
            <a:endParaRPr lang="zh-CN" altLang="zh-CN" sz="1400" smtClean="0"/>
          </a:p>
        </p:txBody>
      </p:sp>
      <p:sp>
        <p:nvSpPr>
          <p:cNvPr id="15363" name="Rectangle 2"/>
          <p:cNvSpPr>
            <a:spLocks noChangeArrowheads="1"/>
          </p:cNvSpPr>
          <p:nvPr/>
        </p:nvSpPr>
        <p:spPr bwMode="auto">
          <a:xfrm>
            <a:off x="523875" y="698500"/>
            <a:ext cx="768508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0"/>
              </a:spcBef>
              <a:buClrTx/>
              <a:buSzTx/>
              <a:buFont typeface="Arial" panose="020B0604020202020204" pitchFamily="34" charset="0"/>
              <a:buNone/>
            </a:pPr>
            <a:r>
              <a:rPr lang="zh-CN" altLang="zh-CN">
                <a:latin typeface="Times New Roman" panose="02020603050405020304" pitchFamily="18" charset="0"/>
              </a:rPr>
              <a:t>6.1.4 反馈放大电路的组态和四种基本类型 </a:t>
            </a:r>
            <a:endParaRPr lang="zh-CN" altLang="zh-CN" b="0">
              <a:latin typeface="Times New Roman" panose="02020603050405020304" pitchFamily="18" charset="0"/>
            </a:endParaRPr>
          </a:p>
        </p:txBody>
      </p:sp>
      <p:sp>
        <p:nvSpPr>
          <p:cNvPr id="15364" name="Rectangle 3"/>
          <p:cNvSpPr>
            <a:spLocks noChangeArrowheads="1"/>
          </p:cNvSpPr>
          <p:nvPr/>
        </p:nvSpPr>
        <p:spPr bwMode="auto">
          <a:xfrm>
            <a:off x="633413" y="1579563"/>
            <a:ext cx="4865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一、电压反馈与电流反馈</a:t>
            </a:r>
            <a:endParaRPr lang="zh-CN" altLang="zh-CN" b="0">
              <a:latin typeface="Times New Roman" panose="02020603050405020304" pitchFamily="18" charset="0"/>
            </a:endParaRPr>
          </a:p>
        </p:txBody>
      </p:sp>
      <p:sp>
        <p:nvSpPr>
          <p:cNvPr id="15365" name="Rectangle 4"/>
          <p:cNvSpPr>
            <a:spLocks noChangeArrowheads="1"/>
          </p:cNvSpPr>
          <p:nvPr/>
        </p:nvSpPr>
        <p:spPr bwMode="auto">
          <a:xfrm>
            <a:off x="538163" y="2354263"/>
            <a:ext cx="7780337"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        根据反馈网络与基本放大器</a:t>
            </a:r>
            <a:r>
              <a:rPr lang="zh-CN" altLang="zh-CN" sz="2800">
                <a:solidFill>
                  <a:srgbClr val="0000CC"/>
                </a:solidFill>
                <a:latin typeface="Times New Roman" panose="02020603050405020304" pitchFamily="18" charset="0"/>
              </a:rPr>
              <a:t>输出端的</a:t>
            </a:r>
            <a:r>
              <a:rPr lang="zh-CN" altLang="zh-CN" sz="2800">
                <a:latin typeface="Times New Roman" panose="02020603050405020304" pitchFamily="18" charset="0"/>
              </a:rPr>
              <a:t>连接方式不同，反馈可分为：</a:t>
            </a:r>
            <a:endParaRPr lang="zh-CN" altLang="zh-CN" sz="280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电压反馈：</a:t>
            </a:r>
            <a:r>
              <a:rPr lang="zh-CN" altLang="zh-CN" sz="2800">
                <a:latin typeface="Times New Roman" panose="02020603050405020304" pitchFamily="18" charset="0"/>
              </a:rPr>
              <a:t>反馈网络与基本放大器输出端</a:t>
            </a:r>
            <a:r>
              <a:rPr lang="zh-CN" altLang="zh-CN" sz="2800">
                <a:solidFill>
                  <a:srgbClr val="CC0099"/>
                </a:solidFill>
                <a:latin typeface="Times New Roman" panose="02020603050405020304" pitchFamily="18" charset="0"/>
              </a:rPr>
              <a:t>并联</a:t>
            </a:r>
            <a:r>
              <a:rPr lang="zh-CN" altLang="zh-CN" sz="2800">
                <a:latin typeface="Times New Roman" panose="02020603050405020304" pitchFamily="18" charset="0"/>
              </a:rPr>
              <a:t>连接，反馈信号直接取自于输出电压。</a:t>
            </a:r>
            <a:endParaRPr lang="zh-CN" altLang="zh-CN" sz="280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电流反馈：</a:t>
            </a:r>
            <a:r>
              <a:rPr lang="zh-CN" altLang="zh-CN" sz="2800">
                <a:latin typeface="Times New Roman" panose="02020603050405020304" pitchFamily="18" charset="0"/>
              </a:rPr>
              <a:t>反馈网络与基本放大器输出端</a:t>
            </a:r>
            <a:r>
              <a:rPr lang="zh-CN" altLang="zh-CN" sz="2800">
                <a:solidFill>
                  <a:srgbClr val="CC0099"/>
                </a:solidFill>
                <a:latin typeface="Times New Roman" panose="02020603050405020304" pitchFamily="18" charset="0"/>
              </a:rPr>
              <a:t>串联</a:t>
            </a:r>
            <a:r>
              <a:rPr lang="zh-CN" altLang="zh-CN" sz="2800">
                <a:latin typeface="Times New Roman" panose="02020603050405020304" pitchFamily="18" charset="0"/>
              </a:rPr>
              <a:t>连接，反馈信号直接取自于输出电流。</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E23AFF0-BD9C-4B0C-AF6B-C93D2398B56D}" type="slidenum">
              <a:rPr lang="zh-CN" altLang="zh-CN" sz="1400" smtClean="0"/>
            </a:fld>
            <a:endParaRPr lang="zh-CN" altLang="zh-CN" sz="1400" smtClean="0"/>
          </a:p>
        </p:txBody>
      </p:sp>
      <p:sp>
        <p:nvSpPr>
          <p:cNvPr id="16387" name="Rectangle 2"/>
          <p:cNvSpPr>
            <a:spLocks noChangeArrowheads="1"/>
          </p:cNvSpPr>
          <p:nvPr/>
        </p:nvSpPr>
        <p:spPr bwMode="auto">
          <a:xfrm>
            <a:off x="900113" y="2873375"/>
            <a:ext cx="7143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88" name="Rectangle 3"/>
          <p:cNvSpPr>
            <a:spLocks noChangeArrowheads="1"/>
          </p:cNvSpPr>
          <p:nvPr/>
        </p:nvSpPr>
        <p:spPr bwMode="auto">
          <a:xfrm>
            <a:off x="971550" y="2873375"/>
            <a:ext cx="1079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16389" name="Rectangle 4"/>
          <p:cNvSpPr>
            <a:spLocks noChangeArrowheads="1"/>
          </p:cNvSpPr>
          <p:nvPr/>
        </p:nvSpPr>
        <p:spPr bwMode="auto">
          <a:xfrm>
            <a:off x="1077913" y="2873375"/>
            <a:ext cx="7143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90" name="Rectangle 5"/>
          <p:cNvSpPr>
            <a:spLocks noChangeArrowheads="1"/>
          </p:cNvSpPr>
          <p:nvPr/>
        </p:nvSpPr>
        <p:spPr bwMode="auto">
          <a:xfrm>
            <a:off x="7875588" y="2555875"/>
            <a:ext cx="7143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91" name="Rectangle 6"/>
          <p:cNvSpPr>
            <a:spLocks noChangeArrowheads="1"/>
          </p:cNvSpPr>
          <p:nvPr/>
        </p:nvSpPr>
        <p:spPr bwMode="auto">
          <a:xfrm>
            <a:off x="7945438" y="2555875"/>
            <a:ext cx="1079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b</a:t>
            </a:r>
            <a:endParaRPr lang="zh-CN" altLang="zh-CN" sz="2800">
              <a:latin typeface="Times New Roman" panose="02020603050405020304" pitchFamily="18" charset="0"/>
            </a:endParaRPr>
          </a:p>
        </p:txBody>
      </p:sp>
      <p:sp>
        <p:nvSpPr>
          <p:cNvPr id="16392" name="Rectangle 7"/>
          <p:cNvSpPr>
            <a:spLocks noChangeArrowheads="1"/>
          </p:cNvSpPr>
          <p:nvPr/>
        </p:nvSpPr>
        <p:spPr bwMode="auto">
          <a:xfrm>
            <a:off x="8051800" y="2555875"/>
            <a:ext cx="7143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nvGrpSpPr>
          <p:cNvPr id="16393" name="Group 8"/>
          <p:cNvGrpSpPr/>
          <p:nvPr/>
        </p:nvGrpSpPr>
        <p:grpSpPr bwMode="auto">
          <a:xfrm>
            <a:off x="4621213" y="465138"/>
            <a:ext cx="3773487" cy="2289175"/>
            <a:chOff x="0" y="0"/>
            <a:chExt cx="2377" cy="1442"/>
          </a:xfrm>
        </p:grpSpPr>
        <p:sp>
          <p:nvSpPr>
            <p:cNvPr id="16520" name="Line 9"/>
            <p:cNvSpPr>
              <a:spLocks noChangeShapeType="1"/>
            </p:cNvSpPr>
            <p:nvPr/>
          </p:nvSpPr>
          <p:spPr bwMode="auto">
            <a:xfrm flipH="1">
              <a:off x="1828" y="863"/>
              <a:ext cx="28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21" name="Rectangle 10"/>
            <p:cNvSpPr>
              <a:spLocks noChangeArrowheads="1"/>
            </p:cNvSpPr>
            <p:nvPr/>
          </p:nvSpPr>
          <p:spPr bwMode="auto">
            <a:xfrm>
              <a:off x="386" y="386"/>
              <a:ext cx="955" cy="57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522" name="Line 11"/>
            <p:cNvSpPr>
              <a:spLocks noChangeShapeType="1"/>
            </p:cNvSpPr>
            <p:nvPr/>
          </p:nvSpPr>
          <p:spPr bwMode="auto">
            <a:xfrm>
              <a:off x="670" y="538"/>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23" name="Freeform 12"/>
            <p:cNvSpPr/>
            <p:nvPr/>
          </p:nvSpPr>
          <p:spPr bwMode="auto">
            <a:xfrm>
              <a:off x="934" y="518"/>
              <a:ext cx="122" cy="50"/>
            </a:xfrm>
            <a:custGeom>
              <a:avLst/>
              <a:gdLst>
                <a:gd name="T0" fmla="*/ 0 w 122"/>
                <a:gd name="T1" fmla="*/ 0 h 50"/>
                <a:gd name="T2" fmla="*/ 21 w 122"/>
                <a:gd name="T3" fmla="*/ 20 h 50"/>
                <a:gd name="T4" fmla="*/ 0 w 122"/>
                <a:gd name="T5" fmla="*/ 50 h 50"/>
                <a:gd name="T6" fmla="*/ 122 w 122"/>
                <a:gd name="T7" fmla="*/ 20 h 50"/>
                <a:gd name="T8" fmla="*/ 0 w 122"/>
                <a:gd name="T9" fmla="*/ 0 h 50"/>
                <a:gd name="T10" fmla="*/ 0 60000 65536"/>
                <a:gd name="T11" fmla="*/ 0 60000 65536"/>
                <a:gd name="T12" fmla="*/ 0 60000 65536"/>
                <a:gd name="T13" fmla="*/ 0 60000 65536"/>
                <a:gd name="T14" fmla="*/ 0 60000 65536"/>
                <a:gd name="T15" fmla="*/ 0 w 122"/>
                <a:gd name="T16" fmla="*/ 0 h 50"/>
                <a:gd name="T17" fmla="*/ 122 w 122"/>
                <a:gd name="T18" fmla="*/ 50 h 50"/>
              </a:gdLst>
              <a:ahLst/>
              <a:cxnLst>
                <a:cxn ang="T10">
                  <a:pos x="T0" y="T1"/>
                </a:cxn>
                <a:cxn ang="T11">
                  <a:pos x="T2" y="T3"/>
                </a:cxn>
                <a:cxn ang="T12">
                  <a:pos x="T4" y="T5"/>
                </a:cxn>
                <a:cxn ang="T13">
                  <a:pos x="T6" y="T7"/>
                </a:cxn>
                <a:cxn ang="T14">
                  <a:pos x="T8" y="T9"/>
                </a:cxn>
              </a:cxnLst>
              <a:rect l="T15" t="T16" r="T17" b="T18"/>
              <a:pathLst>
                <a:path w="122" h="50">
                  <a:moveTo>
                    <a:pt x="0" y="0"/>
                  </a:moveTo>
                  <a:lnTo>
                    <a:pt x="21" y="20"/>
                  </a:lnTo>
                  <a:lnTo>
                    <a:pt x="0" y="50"/>
                  </a:lnTo>
                  <a:lnTo>
                    <a:pt x="122" y="20"/>
                  </a:lnTo>
                  <a:lnTo>
                    <a:pt x="0" y="0"/>
                  </a:lnTo>
                  <a:close/>
                </a:path>
              </a:pathLst>
            </a:custGeom>
            <a:solidFill>
              <a:srgbClr val="000000"/>
            </a:solidFill>
            <a:ln w="15875">
              <a:solidFill>
                <a:srgbClr val="000000"/>
              </a:solidFill>
              <a:round/>
            </a:ln>
          </p:spPr>
          <p:txBody>
            <a:bodyPr/>
            <a:lstStyle/>
            <a:p>
              <a:endParaRPr lang="zh-CN" altLang="en-US"/>
            </a:p>
          </p:txBody>
        </p:sp>
        <p:sp>
          <p:nvSpPr>
            <p:cNvPr id="16524" name="Rectangle 13"/>
            <p:cNvSpPr>
              <a:spLocks noChangeArrowheads="1"/>
            </p:cNvSpPr>
            <p:nvPr/>
          </p:nvSpPr>
          <p:spPr bwMode="auto">
            <a:xfrm>
              <a:off x="843" y="60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16525" name="Rectangle 14"/>
            <p:cNvSpPr>
              <a:spLocks noChangeArrowheads="1"/>
            </p:cNvSpPr>
            <p:nvPr/>
          </p:nvSpPr>
          <p:spPr bwMode="auto">
            <a:xfrm>
              <a:off x="579" y="1056"/>
              <a:ext cx="569" cy="386"/>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526" name="Line 15"/>
            <p:cNvSpPr>
              <a:spLocks noChangeShapeType="1"/>
            </p:cNvSpPr>
            <p:nvPr/>
          </p:nvSpPr>
          <p:spPr bwMode="auto">
            <a:xfrm>
              <a:off x="670" y="1178"/>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27" name="Freeform 16"/>
            <p:cNvSpPr/>
            <p:nvPr/>
          </p:nvSpPr>
          <p:spPr bwMode="auto">
            <a:xfrm>
              <a:off x="670" y="1157"/>
              <a:ext cx="122" cy="41"/>
            </a:xfrm>
            <a:custGeom>
              <a:avLst/>
              <a:gdLst>
                <a:gd name="T0" fmla="*/ 122 w 122"/>
                <a:gd name="T1" fmla="*/ 0 h 41"/>
                <a:gd name="T2" fmla="*/ 102 w 122"/>
                <a:gd name="T3" fmla="*/ 21 h 41"/>
                <a:gd name="T4" fmla="*/ 122 w 122"/>
                <a:gd name="T5" fmla="*/ 41 h 41"/>
                <a:gd name="T6" fmla="*/ 0 w 122"/>
                <a:gd name="T7" fmla="*/ 21 h 41"/>
                <a:gd name="T8" fmla="*/ 122 w 122"/>
                <a:gd name="T9" fmla="*/ 0 h 41"/>
                <a:gd name="T10" fmla="*/ 0 60000 65536"/>
                <a:gd name="T11" fmla="*/ 0 60000 65536"/>
                <a:gd name="T12" fmla="*/ 0 60000 65536"/>
                <a:gd name="T13" fmla="*/ 0 60000 65536"/>
                <a:gd name="T14" fmla="*/ 0 60000 65536"/>
                <a:gd name="T15" fmla="*/ 0 w 122"/>
                <a:gd name="T16" fmla="*/ 0 h 41"/>
                <a:gd name="T17" fmla="*/ 122 w 122"/>
                <a:gd name="T18" fmla="*/ 41 h 41"/>
              </a:gdLst>
              <a:ahLst/>
              <a:cxnLst>
                <a:cxn ang="T10">
                  <a:pos x="T0" y="T1"/>
                </a:cxn>
                <a:cxn ang="T11">
                  <a:pos x="T2" y="T3"/>
                </a:cxn>
                <a:cxn ang="T12">
                  <a:pos x="T4" y="T5"/>
                </a:cxn>
                <a:cxn ang="T13">
                  <a:pos x="T6" y="T7"/>
                </a:cxn>
                <a:cxn ang="T14">
                  <a:pos x="T8" y="T9"/>
                </a:cxn>
              </a:cxnLst>
              <a:rect l="T15" t="T16" r="T17" b="T18"/>
              <a:pathLst>
                <a:path w="122" h="41">
                  <a:moveTo>
                    <a:pt x="122" y="0"/>
                  </a:moveTo>
                  <a:lnTo>
                    <a:pt x="102" y="21"/>
                  </a:lnTo>
                  <a:lnTo>
                    <a:pt x="122" y="41"/>
                  </a:lnTo>
                  <a:lnTo>
                    <a:pt x="0" y="21"/>
                  </a:lnTo>
                  <a:lnTo>
                    <a:pt x="122" y="0"/>
                  </a:lnTo>
                  <a:close/>
                </a:path>
              </a:pathLst>
            </a:custGeom>
            <a:solidFill>
              <a:srgbClr val="000000"/>
            </a:solidFill>
            <a:ln w="15875">
              <a:solidFill>
                <a:srgbClr val="000000"/>
              </a:solidFill>
              <a:round/>
            </a:ln>
          </p:spPr>
          <p:txBody>
            <a:bodyPr/>
            <a:lstStyle/>
            <a:p>
              <a:endParaRPr lang="zh-CN" altLang="en-US"/>
            </a:p>
          </p:txBody>
        </p:sp>
        <p:sp>
          <p:nvSpPr>
            <p:cNvPr id="16528" name="Rectangle 17"/>
            <p:cNvSpPr>
              <a:spLocks noChangeArrowheads="1"/>
            </p:cNvSpPr>
            <p:nvPr/>
          </p:nvSpPr>
          <p:spPr bwMode="auto">
            <a:xfrm>
              <a:off x="843" y="117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529" name="Line 18"/>
            <p:cNvSpPr>
              <a:spLocks noChangeShapeType="1"/>
            </p:cNvSpPr>
            <p:nvPr/>
          </p:nvSpPr>
          <p:spPr bwMode="auto">
            <a:xfrm flipH="1">
              <a:off x="1341" y="487"/>
              <a:ext cx="772"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0" name="Line 19"/>
            <p:cNvSpPr>
              <a:spLocks noChangeShapeType="1"/>
            </p:cNvSpPr>
            <p:nvPr/>
          </p:nvSpPr>
          <p:spPr bwMode="auto">
            <a:xfrm flipH="1">
              <a:off x="1341" y="863"/>
              <a:ext cx="193"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1" name="Freeform 20"/>
            <p:cNvSpPr/>
            <p:nvPr/>
          </p:nvSpPr>
          <p:spPr bwMode="auto">
            <a:xfrm>
              <a:off x="2092" y="457"/>
              <a:ext cx="51" cy="50"/>
            </a:xfrm>
            <a:custGeom>
              <a:avLst/>
              <a:gdLst>
                <a:gd name="T0" fmla="*/ 0 w 51"/>
                <a:gd name="T1" fmla="*/ 30 h 50"/>
                <a:gd name="T2" fmla="*/ 11 w 51"/>
                <a:gd name="T3" fmla="*/ 0 h 50"/>
                <a:gd name="T4" fmla="*/ 41 w 51"/>
                <a:gd name="T5" fmla="*/ 0 h 50"/>
                <a:gd name="T6" fmla="*/ 51 w 51"/>
                <a:gd name="T7" fmla="*/ 30 h 50"/>
                <a:gd name="T8" fmla="*/ 41 w 51"/>
                <a:gd name="T9" fmla="*/ 50 h 50"/>
                <a:gd name="T10" fmla="*/ 11 w 51"/>
                <a:gd name="T11" fmla="*/ 50 h 50"/>
                <a:gd name="T12" fmla="*/ 0 w 51"/>
                <a:gd name="T13" fmla="*/ 30 h 50"/>
                <a:gd name="T14" fmla="*/ 0 60000 65536"/>
                <a:gd name="T15" fmla="*/ 0 60000 65536"/>
                <a:gd name="T16" fmla="*/ 0 60000 65536"/>
                <a:gd name="T17" fmla="*/ 0 60000 65536"/>
                <a:gd name="T18" fmla="*/ 0 60000 65536"/>
                <a:gd name="T19" fmla="*/ 0 60000 65536"/>
                <a:gd name="T20" fmla="*/ 0 60000 65536"/>
                <a:gd name="T21" fmla="*/ 0 w 51"/>
                <a:gd name="T22" fmla="*/ 0 h 50"/>
                <a:gd name="T23" fmla="*/ 51 w 5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50">
                  <a:moveTo>
                    <a:pt x="0" y="30"/>
                  </a:moveTo>
                  <a:lnTo>
                    <a:pt x="11" y="0"/>
                  </a:lnTo>
                  <a:lnTo>
                    <a:pt x="41" y="0"/>
                  </a:lnTo>
                  <a:lnTo>
                    <a:pt x="51" y="30"/>
                  </a:lnTo>
                  <a:lnTo>
                    <a:pt x="41" y="50"/>
                  </a:lnTo>
                  <a:lnTo>
                    <a:pt x="11" y="50"/>
                  </a:lnTo>
                  <a:lnTo>
                    <a:pt x="0" y="30"/>
                  </a:lnTo>
                  <a:close/>
                </a:path>
              </a:pathLst>
            </a:custGeom>
            <a:solidFill>
              <a:srgbClr val="FFFFFF"/>
            </a:solidFill>
            <a:ln w="15875">
              <a:solidFill>
                <a:srgbClr val="000000"/>
              </a:solidFill>
              <a:round/>
            </a:ln>
          </p:spPr>
          <p:txBody>
            <a:bodyPr/>
            <a:lstStyle/>
            <a:p>
              <a:endParaRPr lang="zh-CN" altLang="en-US"/>
            </a:p>
          </p:txBody>
        </p:sp>
        <p:sp>
          <p:nvSpPr>
            <p:cNvPr id="16532" name="Freeform 21"/>
            <p:cNvSpPr/>
            <p:nvPr/>
          </p:nvSpPr>
          <p:spPr bwMode="auto">
            <a:xfrm>
              <a:off x="2092" y="843"/>
              <a:ext cx="51" cy="40"/>
            </a:xfrm>
            <a:custGeom>
              <a:avLst/>
              <a:gdLst>
                <a:gd name="T0" fmla="*/ 0 w 51"/>
                <a:gd name="T1" fmla="*/ 20 h 40"/>
                <a:gd name="T2" fmla="*/ 11 w 51"/>
                <a:gd name="T3" fmla="*/ 0 h 40"/>
                <a:gd name="T4" fmla="*/ 41 w 51"/>
                <a:gd name="T5" fmla="*/ 0 h 40"/>
                <a:gd name="T6" fmla="*/ 51 w 51"/>
                <a:gd name="T7" fmla="*/ 20 h 40"/>
                <a:gd name="T8" fmla="*/ 41 w 51"/>
                <a:gd name="T9" fmla="*/ 40 h 40"/>
                <a:gd name="T10" fmla="*/ 11 w 51"/>
                <a:gd name="T11" fmla="*/ 40 h 40"/>
                <a:gd name="T12" fmla="*/ 0 w 51"/>
                <a:gd name="T13" fmla="*/ 20 h 40"/>
                <a:gd name="T14" fmla="*/ 0 60000 65536"/>
                <a:gd name="T15" fmla="*/ 0 60000 65536"/>
                <a:gd name="T16" fmla="*/ 0 60000 65536"/>
                <a:gd name="T17" fmla="*/ 0 60000 65536"/>
                <a:gd name="T18" fmla="*/ 0 60000 65536"/>
                <a:gd name="T19" fmla="*/ 0 60000 65536"/>
                <a:gd name="T20" fmla="*/ 0 60000 65536"/>
                <a:gd name="T21" fmla="*/ 0 w 51"/>
                <a:gd name="T22" fmla="*/ 0 h 40"/>
                <a:gd name="T23" fmla="*/ 51 w 5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0">
                  <a:moveTo>
                    <a:pt x="0" y="20"/>
                  </a:moveTo>
                  <a:lnTo>
                    <a:pt x="11" y="0"/>
                  </a:lnTo>
                  <a:lnTo>
                    <a:pt x="41" y="0"/>
                  </a:lnTo>
                  <a:lnTo>
                    <a:pt x="51" y="20"/>
                  </a:lnTo>
                  <a:lnTo>
                    <a:pt x="41" y="40"/>
                  </a:lnTo>
                  <a:lnTo>
                    <a:pt x="11" y="40"/>
                  </a:lnTo>
                  <a:lnTo>
                    <a:pt x="0" y="20"/>
                  </a:lnTo>
                  <a:close/>
                </a:path>
              </a:pathLst>
            </a:custGeom>
            <a:solidFill>
              <a:srgbClr val="FFFFFF"/>
            </a:solidFill>
            <a:ln w="15875">
              <a:solidFill>
                <a:srgbClr val="000000"/>
              </a:solidFill>
              <a:round/>
            </a:ln>
          </p:spPr>
          <p:txBody>
            <a:bodyPr/>
            <a:lstStyle/>
            <a:p>
              <a:endParaRPr lang="zh-CN" altLang="en-US"/>
            </a:p>
          </p:txBody>
        </p:sp>
        <p:sp>
          <p:nvSpPr>
            <p:cNvPr id="16533" name="Line 22"/>
            <p:cNvSpPr>
              <a:spLocks noChangeShapeType="1"/>
            </p:cNvSpPr>
            <p:nvPr/>
          </p:nvSpPr>
          <p:spPr bwMode="auto">
            <a:xfrm flipH="1">
              <a:off x="1148" y="115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4" name="Line 23"/>
            <p:cNvSpPr>
              <a:spLocks noChangeShapeType="1"/>
            </p:cNvSpPr>
            <p:nvPr/>
          </p:nvSpPr>
          <p:spPr bwMode="auto">
            <a:xfrm flipV="1">
              <a:off x="1534" y="863"/>
              <a:ext cx="1" cy="294"/>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5" name="Line 24"/>
            <p:cNvSpPr>
              <a:spLocks noChangeShapeType="1"/>
            </p:cNvSpPr>
            <p:nvPr/>
          </p:nvSpPr>
          <p:spPr bwMode="auto">
            <a:xfrm flipH="1">
              <a:off x="1148" y="1350"/>
              <a:ext cx="680"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6" name="Line 25"/>
            <p:cNvSpPr>
              <a:spLocks noChangeShapeType="1"/>
            </p:cNvSpPr>
            <p:nvPr/>
          </p:nvSpPr>
          <p:spPr bwMode="auto">
            <a:xfrm flipV="1">
              <a:off x="1828" y="863"/>
              <a:ext cx="1" cy="4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7" name="Line 26"/>
            <p:cNvSpPr>
              <a:spLocks noChangeShapeType="1"/>
            </p:cNvSpPr>
            <p:nvPr/>
          </p:nvSpPr>
          <p:spPr bwMode="auto">
            <a:xfrm flipH="1">
              <a:off x="0" y="48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8" name="Line 27"/>
            <p:cNvSpPr>
              <a:spLocks noChangeShapeType="1"/>
            </p:cNvSpPr>
            <p:nvPr/>
          </p:nvSpPr>
          <p:spPr bwMode="auto">
            <a:xfrm flipH="1">
              <a:off x="0" y="863"/>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39" name="Line 28"/>
            <p:cNvSpPr>
              <a:spLocks noChangeShapeType="1"/>
            </p:cNvSpPr>
            <p:nvPr/>
          </p:nvSpPr>
          <p:spPr bwMode="auto">
            <a:xfrm flipH="1">
              <a:off x="193" y="115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40" name="Line 29"/>
            <p:cNvSpPr>
              <a:spLocks noChangeShapeType="1"/>
            </p:cNvSpPr>
            <p:nvPr/>
          </p:nvSpPr>
          <p:spPr bwMode="auto">
            <a:xfrm flipH="1">
              <a:off x="193" y="1350"/>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41" name="Line 30"/>
            <p:cNvSpPr>
              <a:spLocks noChangeShapeType="1"/>
            </p:cNvSpPr>
            <p:nvPr/>
          </p:nvSpPr>
          <p:spPr bwMode="auto">
            <a:xfrm flipV="1">
              <a:off x="1727" y="294"/>
              <a:ext cx="1" cy="193"/>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42" name="Freeform 31"/>
            <p:cNvSpPr/>
            <p:nvPr/>
          </p:nvSpPr>
          <p:spPr bwMode="auto">
            <a:xfrm>
              <a:off x="1706" y="355"/>
              <a:ext cx="41" cy="132"/>
            </a:xfrm>
            <a:custGeom>
              <a:avLst/>
              <a:gdLst>
                <a:gd name="T0" fmla="*/ 41 w 41"/>
                <a:gd name="T1" fmla="*/ 0 h 132"/>
                <a:gd name="T2" fmla="*/ 21 w 41"/>
                <a:gd name="T3" fmla="*/ 20 h 132"/>
                <a:gd name="T4" fmla="*/ 0 w 41"/>
                <a:gd name="T5" fmla="*/ 0 h 132"/>
                <a:gd name="T6" fmla="*/ 21 w 41"/>
                <a:gd name="T7" fmla="*/ 132 h 132"/>
                <a:gd name="T8" fmla="*/ 41 w 41"/>
                <a:gd name="T9" fmla="*/ 0 h 132"/>
                <a:gd name="T10" fmla="*/ 0 60000 65536"/>
                <a:gd name="T11" fmla="*/ 0 60000 65536"/>
                <a:gd name="T12" fmla="*/ 0 60000 65536"/>
                <a:gd name="T13" fmla="*/ 0 60000 65536"/>
                <a:gd name="T14" fmla="*/ 0 60000 65536"/>
                <a:gd name="T15" fmla="*/ 0 w 41"/>
                <a:gd name="T16" fmla="*/ 0 h 132"/>
                <a:gd name="T17" fmla="*/ 41 w 41"/>
                <a:gd name="T18" fmla="*/ 132 h 132"/>
              </a:gdLst>
              <a:ahLst/>
              <a:cxnLst>
                <a:cxn ang="T10">
                  <a:pos x="T0" y="T1"/>
                </a:cxn>
                <a:cxn ang="T11">
                  <a:pos x="T2" y="T3"/>
                </a:cxn>
                <a:cxn ang="T12">
                  <a:pos x="T4" y="T5"/>
                </a:cxn>
                <a:cxn ang="T13">
                  <a:pos x="T6" y="T7"/>
                </a:cxn>
                <a:cxn ang="T14">
                  <a:pos x="T8" y="T9"/>
                </a:cxn>
              </a:cxnLst>
              <a:rect l="T15" t="T16" r="T17" b="T18"/>
              <a:pathLst>
                <a:path w="41" h="132">
                  <a:moveTo>
                    <a:pt x="41" y="0"/>
                  </a:moveTo>
                  <a:lnTo>
                    <a:pt x="21" y="20"/>
                  </a:lnTo>
                  <a:lnTo>
                    <a:pt x="0" y="0"/>
                  </a:lnTo>
                  <a:lnTo>
                    <a:pt x="21" y="132"/>
                  </a:lnTo>
                  <a:lnTo>
                    <a:pt x="41" y="0"/>
                  </a:lnTo>
                  <a:close/>
                </a:path>
              </a:pathLst>
            </a:custGeom>
            <a:solidFill>
              <a:srgbClr val="000000"/>
            </a:solidFill>
            <a:ln w="15875">
              <a:solidFill>
                <a:srgbClr val="000000"/>
              </a:solidFill>
              <a:round/>
            </a:ln>
          </p:spPr>
          <p:txBody>
            <a:bodyPr/>
            <a:lstStyle/>
            <a:p>
              <a:endParaRPr lang="zh-CN" altLang="en-US"/>
            </a:p>
          </p:txBody>
        </p:sp>
        <p:sp>
          <p:nvSpPr>
            <p:cNvPr id="16543" name="Rectangle 32"/>
            <p:cNvSpPr>
              <a:spLocks noChangeArrowheads="1"/>
            </p:cNvSpPr>
            <p:nvPr/>
          </p:nvSpPr>
          <p:spPr bwMode="auto">
            <a:xfrm>
              <a:off x="1391" y="0"/>
              <a:ext cx="671" cy="294"/>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544" name="Rectangle 33"/>
            <p:cNvSpPr>
              <a:spLocks noChangeArrowheads="1"/>
            </p:cNvSpPr>
            <p:nvPr/>
          </p:nvSpPr>
          <p:spPr bwMode="auto">
            <a:xfrm>
              <a:off x="1491" y="70"/>
              <a:ext cx="54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电流取样</a:t>
              </a:r>
              <a:endParaRPr lang="zh-CN" altLang="zh-CN" sz="2800">
                <a:latin typeface="Times New Roman" panose="02020603050405020304" pitchFamily="18" charset="0"/>
              </a:endParaRPr>
            </a:p>
          </p:txBody>
        </p:sp>
        <p:sp>
          <p:nvSpPr>
            <p:cNvPr id="16545" name="Line 34"/>
            <p:cNvSpPr>
              <a:spLocks noChangeShapeType="1"/>
            </p:cNvSpPr>
            <p:nvPr/>
          </p:nvSpPr>
          <p:spPr bwMode="auto">
            <a:xfrm flipV="1">
              <a:off x="2113" y="507"/>
              <a:ext cx="1" cy="33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46" name="Rectangle 35"/>
            <p:cNvSpPr>
              <a:spLocks noChangeArrowheads="1"/>
            </p:cNvSpPr>
            <p:nvPr/>
          </p:nvSpPr>
          <p:spPr bwMode="auto">
            <a:xfrm>
              <a:off x="2082" y="579"/>
              <a:ext cx="71" cy="193"/>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547" name="Rectangle 36"/>
            <p:cNvSpPr>
              <a:spLocks noChangeArrowheads="1"/>
            </p:cNvSpPr>
            <p:nvPr/>
          </p:nvSpPr>
          <p:spPr bwMode="auto">
            <a:xfrm>
              <a:off x="2234" y="58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548" name="Rectangle 37"/>
            <p:cNvSpPr>
              <a:spLocks noChangeArrowheads="1"/>
            </p:cNvSpPr>
            <p:nvPr/>
          </p:nvSpPr>
          <p:spPr bwMode="auto">
            <a:xfrm>
              <a:off x="2318" y="659"/>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L</a:t>
              </a:r>
              <a:endParaRPr lang="zh-CN" altLang="zh-CN" sz="2800">
                <a:latin typeface="Times New Roman" panose="02020603050405020304" pitchFamily="18" charset="0"/>
              </a:endParaRPr>
            </a:p>
          </p:txBody>
        </p:sp>
        <p:sp>
          <p:nvSpPr>
            <p:cNvPr id="16549" name="Rectangle 38"/>
            <p:cNvSpPr>
              <a:spLocks noChangeArrowheads="1"/>
            </p:cNvSpPr>
            <p:nvPr/>
          </p:nvSpPr>
          <p:spPr bwMode="auto">
            <a:xfrm>
              <a:off x="2216" y="355"/>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550" name="Rectangle 39"/>
            <p:cNvSpPr>
              <a:spLocks noChangeArrowheads="1"/>
            </p:cNvSpPr>
            <p:nvPr/>
          </p:nvSpPr>
          <p:spPr bwMode="auto">
            <a:xfrm>
              <a:off x="2308" y="416"/>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16551" name="Rectangle 40"/>
            <p:cNvSpPr>
              <a:spLocks noChangeArrowheads="1"/>
            </p:cNvSpPr>
            <p:nvPr/>
          </p:nvSpPr>
          <p:spPr bwMode="auto">
            <a:xfrm>
              <a:off x="2278" y="233"/>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552" name="Rectangle 41"/>
            <p:cNvSpPr>
              <a:spLocks noChangeArrowheads="1"/>
            </p:cNvSpPr>
            <p:nvPr/>
          </p:nvSpPr>
          <p:spPr bwMode="auto">
            <a:xfrm>
              <a:off x="111" y="1147"/>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16553" name="Rectangle 42"/>
            <p:cNvSpPr>
              <a:spLocks noChangeArrowheads="1"/>
            </p:cNvSpPr>
            <p:nvPr/>
          </p:nvSpPr>
          <p:spPr bwMode="auto">
            <a:xfrm>
              <a:off x="188" y="1208"/>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554" name="Rectangle 43"/>
            <p:cNvSpPr>
              <a:spLocks noChangeArrowheads="1"/>
            </p:cNvSpPr>
            <p:nvPr/>
          </p:nvSpPr>
          <p:spPr bwMode="auto">
            <a:xfrm>
              <a:off x="145" y="1025"/>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555" name="Freeform 44"/>
            <p:cNvSpPr/>
            <p:nvPr/>
          </p:nvSpPr>
          <p:spPr bwMode="auto">
            <a:xfrm>
              <a:off x="1676" y="589"/>
              <a:ext cx="193" cy="223"/>
            </a:xfrm>
            <a:custGeom>
              <a:avLst/>
              <a:gdLst>
                <a:gd name="T0" fmla="*/ 0 w 193"/>
                <a:gd name="T1" fmla="*/ 183 h 223"/>
                <a:gd name="T2" fmla="*/ 51 w 193"/>
                <a:gd name="T3" fmla="*/ 213 h 223"/>
                <a:gd name="T4" fmla="*/ 112 w 193"/>
                <a:gd name="T5" fmla="*/ 223 h 223"/>
                <a:gd name="T6" fmla="*/ 162 w 193"/>
                <a:gd name="T7" fmla="*/ 193 h 223"/>
                <a:gd name="T8" fmla="*/ 193 w 193"/>
                <a:gd name="T9" fmla="*/ 142 h 223"/>
                <a:gd name="T10" fmla="*/ 193 w 193"/>
                <a:gd name="T11" fmla="*/ 81 h 223"/>
                <a:gd name="T12" fmla="*/ 162 w 193"/>
                <a:gd name="T13" fmla="*/ 30 h 223"/>
                <a:gd name="T14" fmla="*/ 112 w 193"/>
                <a:gd name="T15" fmla="*/ 0 h 223"/>
                <a:gd name="T16" fmla="*/ 51 w 193"/>
                <a:gd name="T17" fmla="*/ 0 h 223"/>
                <a:gd name="T18" fmla="*/ 0 w 193"/>
                <a:gd name="T19" fmla="*/ 40 h 2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3"/>
                <a:gd name="T31" fmla="*/ 0 h 223"/>
                <a:gd name="T32" fmla="*/ 193 w 193"/>
                <a:gd name="T33" fmla="*/ 223 h 2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3" h="223">
                  <a:moveTo>
                    <a:pt x="0" y="183"/>
                  </a:moveTo>
                  <a:lnTo>
                    <a:pt x="51" y="213"/>
                  </a:lnTo>
                  <a:lnTo>
                    <a:pt x="112" y="223"/>
                  </a:lnTo>
                  <a:lnTo>
                    <a:pt x="162" y="193"/>
                  </a:lnTo>
                  <a:lnTo>
                    <a:pt x="193" y="142"/>
                  </a:lnTo>
                  <a:lnTo>
                    <a:pt x="193" y="81"/>
                  </a:lnTo>
                  <a:lnTo>
                    <a:pt x="162" y="30"/>
                  </a:lnTo>
                  <a:lnTo>
                    <a:pt x="112" y="0"/>
                  </a:lnTo>
                  <a:lnTo>
                    <a:pt x="51" y="0"/>
                  </a:lnTo>
                  <a:lnTo>
                    <a:pt x="0" y="40"/>
                  </a:ln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556" name="Freeform 45"/>
            <p:cNvSpPr/>
            <p:nvPr/>
          </p:nvSpPr>
          <p:spPr bwMode="auto">
            <a:xfrm>
              <a:off x="1645" y="741"/>
              <a:ext cx="112" cy="91"/>
            </a:xfrm>
            <a:custGeom>
              <a:avLst/>
              <a:gdLst>
                <a:gd name="T0" fmla="*/ 92 w 112"/>
                <a:gd name="T1" fmla="*/ 91 h 91"/>
                <a:gd name="T2" fmla="*/ 82 w 112"/>
                <a:gd name="T3" fmla="*/ 51 h 91"/>
                <a:gd name="T4" fmla="*/ 112 w 112"/>
                <a:gd name="T5" fmla="*/ 41 h 91"/>
                <a:gd name="T6" fmla="*/ 0 w 112"/>
                <a:gd name="T7" fmla="*/ 0 h 91"/>
                <a:gd name="T8" fmla="*/ 92 w 112"/>
                <a:gd name="T9" fmla="*/ 91 h 91"/>
                <a:gd name="T10" fmla="*/ 0 60000 65536"/>
                <a:gd name="T11" fmla="*/ 0 60000 65536"/>
                <a:gd name="T12" fmla="*/ 0 60000 65536"/>
                <a:gd name="T13" fmla="*/ 0 60000 65536"/>
                <a:gd name="T14" fmla="*/ 0 60000 65536"/>
                <a:gd name="T15" fmla="*/ 0 w 112"/>
                <a:gd name="T16" fmla="*/ 0 h 91"/>
                <a:gd name="T17" fmla="*/ 112 w 112"/>
                <a:gd name="T18" fmla="*/ 91 h 91"/>
              </a:gdLst>
              <a:ahLst/>
              <a:cxnLst>
                <a:cxn ang="T10">
                  <a:pos x="T0" y="T1"/>
                </a:cxn>
                <a:cxn ang="T11">
                  <a:pos x="T2" y="T3"/>
                </a:cxn>
                <a:cxn ang="T12">
                  <a:pos x="T4" y="T5"/>
                </a:cxn>
                <a:cxn ang="T13">
                  <a:pos x="T6" y="T7"/>
                </a:cxn>
                <a:cxn ang="T14">
                  <a:pos x="T8" y="T9"/>
                </a:cxn>
              </a:cxnLst>
              <a:rect l="T15" t="T16" r="T17" b="T18"/>
              <a:pathLst>
                <a:path w="112" h="91">
                  <a:moveTo>
                    <a:pt x="92" y="91"/>
                  </a:moveTo>
                  <a:lnTo>
                    <a:pt x="82" y="51"/>
                  </a:lnTo>
                  <a:lnTo>
                    <a:pt x="112" y="41"/>
                  </a:lnTo>
                  <a:lnTo>
                    <a:pt x="0" y="0"/>
                  </a:lnTo>
                  <a:lnTo>
                    <a:pt x="92" y="91"/>
                  </a:lnTo>
                  <a:close/>
                </a:path>
              </a:pathLst>
            </a:custGeom>
            <a:solidFill>
              <a:srgbClr val="000000"/>
            </a:solidFill>
            <a:ln w="15875">
              <a:solidFill>
                <a:srgbClr val="000000"/>
              </a:solidFill>
              <a:round/>
            </a:ln>
          </p:spPr>
          <p:txBody>
            <a:bodyPr/>
            <a:lstStyle/>
            <a:p>
              <a:endParaRPr lang="zh-CN" altLang="en-US"/>
            </a:p>
          </p:txBody>
        </p:sp>
        <p:sp>
          <p:nvSpPr>
            <p:cNvPr id="16557" name="Rectangle 46"/>
            <p:cNvSpPr>
              <a:spLocks noChangeArrowheads="1"/>
            </p:cNvSpPr>
            <p:nvPr/>
          </p:nvSpPr>
          <p:spPr bwMode="auto">
            <a:xfrm>
              <a:off x="1553" y="619"/>
              <a:ext cx="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16558" name="Rectangle 47"/>
            <p:cNvSpPr>
              <a:spLocks noChangeArrowheads="1"/>
            </p:cNvSpPr>
            <p:nvPr/>
          </p:nvSpPr>
          <p:spPr bwMode="auto">
            <a:xfrm>
              <a:off x="1597" y="68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16559" name="Rectangle 48"/>
            <p:cNvSpPr>
              <a:spLocks noChangeArrowheads="1"/>
            </p:cNvSpPr>
            <p:nvPr/>
          </p:nvSpPr>
          <p:spPr bwMode="auto">
            <a:xfrm>
              <a:off x="1587" y="497"/>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grpSp>
        <p:nvGrpSpPr>
          <p:cNvPr id="16394" name="Group 49"/>
          <p:cNvGrpSpPr/>
          <p:nvPr/>
        </p:nvGrpSpPr>
        <p:grpSpPr bwMode="auto">
          <a:xfrm>
            <a:off x="984250" y="3081338"/>
            <a:ext cx="2332038" cy="2517775"/>
            <a:chOff x="0" y="0"/>
            <a:chExt cx="1469" cy="1586"/>
          </a:xfrm>
        </p:grpSpPr>
        <p:sp>
          <p:nvSpPr>
            <p:cNvPr id="16483" name="Line 50"/>
            <p:cNvSpPr>
              <a:spLocks noChangeShapeType="1"/>
            </p:cNvSpPr>
            <p:nvPr/>
          </p:nvSpPr>
          <p:spPr bwMode="auto">
            <a:xfrm flipV="1">
              <a:off x="863" y="1057"/>
              <a:ext cx="1" cy="52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84" name="Line 51"/>
            <p:cNvSpPr>
              <a:spLocks noChangeShapeType="1"/>
            </p:cNvSpPr>
            <p:nvPr/>
          </p:nvSpPr>
          <p:spPr bwMode="auto">
            <a:xfrm flipH="1">
              <a:off x="0" y="630"/>
              <a:ext cx="1351"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85" name="Freeform 52"/>
            <p:cNvSpPr/>
            <p:nvPr/>
          </p:nvSpPr>
          <p:spPr bwMode="auto">
            <a:xfrm>
              <a:off x="0" y="610"/>
              <a:ext cx="132" cy="40"/>
            </a:xfrm>
            <a:custGeom>
              <a:avLst/>
              <a:gdLst>
                <a:gd name="T0" fmla="*/ 132 w 132"/>
                <a:gd name="T1" fmla="*/ 0 h 40"/>
                <a:gd name="T2" fmla="*/ 101 w 132"/>
                <a:gd name="T3" fmla="*/ 20 h 40"/>
                <a:gd name="T4" fmla="*/ 132 w 132"/>
                <a:gd name="T5" fmla="*/ 40 h 40"/>
                <a:gd name="T6" fmla="*/ 0 w 132"/>
                <a:gd name="T7" fmla="*/ 20 h 40"/>
                <a:gd name="T8" fmla="*/ 132 w 132"/>
                <a:gd name="T9" fmla="*/ 0 h 40"/>
                <a:gd name="T10" fmla="*/ 0 60000 65536"/>
                <a:gd name="T11" fmla="*/ 0 60000 65536"/>
                <a:gd name="T12" fmla="*/ 0 60000 65536"/>
                <a:gd name="T13" fmla="*/ 0 60000 65536"/>
                <a:gd name="T14" fmla="*/ 0 60000 65536"/>
                <a:gd name="T15" fmla="*/ 0 w 132"/>
                <a:gd name="T16" fmla="*/ 0 h 40"/>
                <a:gd name="T17" fmla="*/ 132 w 132"/>
                <a:gd name="T18" fmla="*/ 40 h 40"/>
              </a:gdLst>
              <a:ahLst/>
              <a:cxnLst>
                <a:cxn ang="T10">
                  <a:pos x="T0" y="T1"/>
                </a:cxn>
                <a:cxn ang="T11">
                  <a:pos x="T2" y="T3"/>
                </a:cxn>
                <a:cxn ang="T12">
                  <a:pos x="T4" y="T5"/>
                </a:cxn>
                <a:cxn ang="T13">
                  <a:pos x="T6" y="T7"/>
                </a:cxn>
                <a:cxn ang="T14">
                  <a:pos x="T8" y="T9"/>
                </a:cxn>
              </a:cxnLst>
              <a:rect l="T15" t="T16" r="T17" b="T18"/>
              <a:pathLst>
                <a:path w="132" h="40">
                  <a:moveTo>
                    <a:pt x="132" y="0"/>
                  </a:moveTo>
                  <a:lnTo>
                    <a:pt x="101" y="20"/>
                  </a:lnTo>
                  <a:lnTo>
                    <a:pt x="132" y="40"/>
                  </a:lnTo>
                  <a:lnTo>
                    <a:pt x="0" y="20"/>
                  </a:lnTo>
                  <a:lnTo>
                    <a:pt x="132" y="0"/>
                  </a:lnTo>
                  <a:close/>
                </a:path>
              </a:pathLst>
            </a:custGeom>
            <a:solidFill>
              <a:srgbClr val="000000"/>
            </a:solidFill>
            <a:ln w="15875">
              <a:solidFill>
                <a:srgbClr val="000000"/>
              </a:solidFill>
              <a:round/>
            </a:ln>
          </p:spPr>
          <p:txBody>
            <a:bodyPr/>
            <a:lstStyle/>
            <a:p>
              <a:endParaRPr lang="zh-CN" altLang="en-US"/>
            </a:p>
          </p:txBody>
        </p:sp>
        <p:sp>
          <p:nvSpPr>
            <p:cNvPr id="16486" name="Line 53"/>
            <p:cNvSpPr>
              <a:spLocks noChangeShapeType="1"/>
            </p:cNvSpPr>
            <p:nvPr/>
          </p:nvSpPr>
          <p:spPr bwMode="auto">
            <a:xfrm>
              <a:off x="294" y="630"/>
              <a:ext cx="234" cy="1"/>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87" name="Rectangle 54"/>
            <p:cNvSpPr>
              <a:spLocks noChangeArrowheads="1"/>
            </p:cNvSpPr>
            <p:nvPr/>
          </p:nvSpPr>
          <p:spPr bwMode="auto">
            <a:xfrm>
              <a:off x="294" y="579"/>
              <a:ext cx="234" cy="102"/>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88" name="Rectangle 55"/>
            <p:cNvSpPr>
              <a:spLocks noChangeArrowheads="1"/>
            </p:cNvSpPr>
            <p:nvPr/>
          </p:nvSpPr>
          <p:spPr bwMode="auto">
            <a:xfrm>
              <a:off x="150" y="366"/>
              <a:ext cx="54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反馈支路</a:t>
              </a:r>
              <a:endParaRPr lang="zh-CN" altLang="zh-CN" sz="2800">
                <a:latin typeface="Times New Roman" panose="02020603050405020304" pitchFamily="18" charset="0"/>
              </a:endParaRPr>
            </a:p>
          </p:txBody>
        </p:sp>
        <p:sp>
          <p:nvSpPr>
            <p:cNvPr id="16489" name="Line 56"/>
            <p:cNvSpPr>
              <a:spLocks noChangeShapeType="1"/>
            </p:cNvSpPr>
            <p:nvPr/>
          </p:nvSpPr>
          <p:spPr bwMode="auto">
            <a:xfrm flipV="1">
              <a:off x="863" y="51"/>
              <a:ext cx="1" cy="77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90" name="Line 57"/>
            <p:cNvSpPr>
              <a:spLocks noChangeShapeType="1"/>
            </p:cNvSpPr>
            <p:nvPr/>
          </p:nvSpPr>
          <p:spPr bwMode="auto">
            <a:xfrm flipV="1">
              <a:off x="863" y="244"/>
              <a:ext cx="1" cy="244"/>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91" name="Rectangle 58"/>
            <p:cNvSpPr>
              <a:spLocks noChangeArrowheads="1"/>
            </p:cNvSpPr>
            <p:nvPr/>
          </p:nvSpPr>
          <p:spPr bwMode="auto">
            <a:xfrm>
              <a:off x="823" y="244"/>
              <a:ext cx="91" cy="244"/>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92" name="Freeform 59"/>
            <p:cNvSpPr/>
            <p:nvPr/>
          </p:nvSpPr>
          <p:spPr bwMode="auto">
            <a:xfrm>
              <a:off x="843" y="610"/>
              <a:ext cx="51" cy="40"/>
            </a:xfrm>
            <a:custGeom>
              <a:avLst/>
              <a:gdLst>
                <a:gd name="T0" fmla="*/ 0 w 51"/>
                <a:gd name="T1" fmla="*/ 20 h 40"/>
                <a:gd name="T2" fmla="*/ 10 w 51"/>
                <a:gd name="T3" fmla="*/ 0 h 40"/>
                <a:gd name="T4" fmla="*/ 40 w 51"/>
                <a:gd name="T5" fmla="*/ 0 h 40"/>
                <a:gd name="T6" fmla="*/ 51 w 51"/>
                <a:gd name="T7" fmla="*/ 20 h 40"/>
                <a:gd name="T8" fmla="*/ 40 w 51"/>
                <a:gd name="T9" fmla="*/ 40 h 40"/>
                <a:gd name="T10" fmla="*/ 10 w 51"/>
                <a:gd name="T11" fmla="*/ 40 h 40"/>
                <a:gd name="T12" fmla="*/ 0 w 51"/>
                <a:gd name="T13" fmla="*/ 20 h 40"/>
                <a:gd name="T14" fmla="*/ 0 60000 65536"/>
                <a:gd name="T15" fmla="*/ 0 60000 65536"/>
                <a:gd name="T16" fmla="*/ 0 60000 65536"/>
                <a:gd name="T17" fmla="*/ 0 60000 65536"/>
                <a:gd name="T18" fmla="*/ 0 60000 65536"/>
                <a:gd name="T19" fmla="*/ 0 60000 65536"/>
                <a:gd name="T20" fmla="*/ 0 60000 65536"/>
                <a:gd name="T21" fmla="*/ 0 w 51"/>
                <a:gd name="T22" fmla="*/ 0 h 40"/>
                <a:gd name="T23" fmla="*/ 51 w 5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0">
                  <a:moveTo>
                    <a:pt x="0" y="20"/>
                  </a:moveTo>
                  <a:lnTo>
                    <a:pt x="10" y="0"/>
                  </a:lnTo>
                  <a:lnTo>
                    <a:pt x="40" y="0"/>
                  </a:lnTo>
                  <a:lnTo>
                    <a:pt x="51" y="20"/>
                  </a:lnTo>
                  <a:lnTo>
                    <a:pt x="40" y="40"/>
                  </a:lnTo>
                  <a:lnTo>
                    <a:pt x="10" y="40"/>
                  </a:lnTo>
                  <a:lnTo>
                    <a:pt x="0" y="20"/>
                  </a:lnTo>
                  <a:close/>
                </a:path>
              </a:pathLst>
            </a:custGeom>
            <a:solidFill>
              <a:srgbClr val="000000"/>
            </a:solidFill>
            <a:ln w="15875">
              <a:solidFill>
                <a:srgbClr val="000000"/>
              </a:solidFill>
              <a:round/>
            </a:ln>
          </p:spPr>
          <p:txBody>
            <a:bodyPr/>
            <a:lstStyle/>
            <a:p>
              <a:endParaRPr lang="zh-CN" altLang="en-US"/>
            </a:p>
          </p:txBody>
        </p:sp>
        <p:sp>
          <p:nvSpPr>
            <p:cNvPr id="16493" name="Freeform 60"/>
            <p:cNvSpPr/>
            <p:nvPr/>
          </p:nvSpPr>
          <p:spPr bwMode="auto">
            <a:xfrm>
              <a:off x="843" y="61"/>
              <a:ext cx="51" cy="41"/>
            </a:xfrm>
            <a:custGeom>
              <a:avLst/>
              <a:gdLst>
                <a:gd name="T0" fmla="*/ 0 w 51"/>
                <a:gd name="T1" fmla="*/ 21 h 41"/>
                <a:gd name="T2" fmla="*/ 10 w 51"/>
                <a:gd name="T3" fmla="*/ 0 h 41"/>
                <a:gd name="T4" fmla="*/ 40 w 51"/>
                <a:gd name="T5" fmla="*/ 0 h 41"/>
                <a:gd name="T6" fmla="*/ 51 w 51"/>
                <a:gd name="T7" fmla="*/ 21 h 41"/>
                <a:gd name="T8" fmla="*/ 40 w 51"/>
                <a:gd name="T9" fmla="*/ 41 h 41"/>
                <a:gd name="T10" fmla="*/ 10 w 51"/>
                <a:gd name="T11" fmla="*/ 41 h 41"/>
                <a:gd name="T12" fmla="*/ 0 w 51"/>
                <a:gd name="T13" fmla="*/ 21 h 41"/>
                <a:gd name="T14" fmla="*/ 0 60000 65536"/>
                <a:gd name="T15" fmla="*/ 0 60000 65536"/>
                <a:gd name="T16" fmla="*/ 0 60000 65536"/>
                <a:gd name="T17" fmla="*/ 0 60000 65536"/>
                <a:gd name="T18" fmla="*/ 0 60000 65536"/>
                <a:gd name="T19" fmla="*/ 0 60000 65536"/>
                <a:gd name="T20" fmla="*/ 0 60000 65536"/>
                <a:gd name="T21" fmla="*/ 0 w 51"/>
                <a:gd name="T22" fmla="*/ 0 h 41"/>
                <a:gd name="T23" fmla="*/ 51 w 51"/>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1">
                  <a:moveTo>
                    <a:pt x="0" y="21"/>
                  </a:moveTo>
                  <a:lnTo>
                    <a:pt x="10" y="0"/>
                  </a:lnTo>
                  <a:lnTo>
                    <a:pt x="40" y="0"/>
                  </a:lnTo>
                  <a:lnTo>
                    <a:pt x="51" y="21"/>
                  </a:lnTo>
                  <a:lnTo>
                    <a:pt x="40" y="41"/>
                  </a:lnTo>
                  <a:lnTo>
                    <a:pt x="10" y="41"/>
                  </a:lnTo>
                  <a:lnTo>
                    <a:pt x="0" y="21"/>
                  </a:lnTo>
                  <a:close/>
                </a:path>
              </a:pathLst>
            </a:custGeom>
            <a:solidFill>
              <a:srgbClr val="FFFFFF"/>
            </a:solidFill>
            <a:ln w="15875">
              <a:solidFill>
                <a:srgbClr val="000000"/>
              </a:solidFill>
              <a:round/>
            </a:ln>
          </p:spPr>
          <p:txBody>
            <a:bodyPr/>
            <a:lstStyle/>
            <a:p>
              <a:endParaRPr lang="zh-CN" altLang="en-US"/>
            </a:p>
          </p:txBody>
        </p:sp>
        <p:sp>
          <p:nvSpPr>
            <p:cNvPr id="16494" name="Rectangle 61"/>
            <p:cNvSpPr>
              <a:spLocks noChangeArrowheads="1"/>
            </p:cNvSpPr>
            <p:nvPr/>
          </p:nvSpPr>
          <p:spPr bwMode="auto">
            <a:xfrm>
              <a:off x="977" y="0"/>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495" name="Rectangle 62"/>
            <p:cNvSpPr>
              <a:spLocks noChangeArrowheads="1"/>
            </p:cNvSpPr>
            <p:nvPr/>
          </p:nvSpPr>
          <p:spPr bwMode="auto">
            <a:xfrm>
              <a:off x="1063" y="61"/>
              <a:ext cx="12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CC</a:t>
              </a:r>
              <a:endParaRPr lang="zh-CN" altLang="zh-CN" sz="2800">
                <a:latin typeface="Times New Roman" panose="02020603050405020304" pitchFamily="18" charset="0"/>
              </a:endParaRPr>
            </a:p>
          </p:txBody>
        </p:sp>
        <p:sp>
          <p:nvSpPr>
            <p:cNvPr id="16496" name="Rectangle 63"/>
            <p:cNvSpPr>
              <a:spLocks noChangeArrowheads="1"/>
            </p:cNvSpPr>
            <p:nvPr/>
          </p:nvSpPr>
          <p:spPr bwMode="auto">
            <a:xfrm>
              <a:off x="1005" y="305"/>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497" name="Rectangle 64"/>
            <p:cNvSpPr>
              <a:spLocks noChangeArrowheads="1"/>
            </p:cNvSpPr>
            <p:nvPr/>
          </p:nvSpPr>
          <p:spPr bwMode="auto">
            <a:xfrm>
              <a:off x="1085" y="376"/>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C</a:t>
              </a:r>
              <a:endParaRPr lang="zh-CN" altLang="zh-CN" sz="2800">
                <a:latin typeface="Times New Roman" panose="02020603050405020304" pitchFamily="18" charset="0"/>
              </a:endParaRPr>
            </a:p>
          </p:txBody>
        </p:sp>
        <p:sp>
          <p:nvSpPr>
            <p:cNvPr id="16498" name="Freeform 65"/>
            <p:cNvSpPr/>
            <p:nvPr/>
          </p:nvSpPr>
          <p:spPr bwMode="auto">
            <a:xfrm>
              <a:off x="1351" y="610"/>
              <a:ext cx="40" cy="40"/>
            </a:xfrm>
            <a:custGeom>
              <a:avLst/>
              <a:gdLst>
                <a:gd name="T0" fmla="*/ 0 w 40"/>
                <a:gd name="T1" fmla="*/ 20 h 40"/>
                <a:gd name="T2" fmla="*/ 10 w 40"/>
                <a:gd name="T3" fmla="*/ 0 h 40"/>
                <a:gd name="T4" fmla="*/ 30 w 40"/>
                <a:gd name="T5" fmla="*/ 0 h 40"/>
                <a:gd name="T6" fmla="*/ 40 w 40"/>
                <a:gd name="T7" fmla="*/ 20 h 40"/>
                <a:gd name="T8" fmla="*/ 30 w 40"/>
                <a:gd name="T9" fmla="*/ 40 h 40"/>
                <a:gd name="T10" fmla="*/ 10 w 40"/>
                <a:gd name="T11" fmla="*/ 40 h 40"/>
                <a:gd name="T12" fmla="*/ 0 w 40"/>
                <a:gd name="T13" fmla="*/ 20 h 40"/>
                <a:gd name="T14" fmla="*/ 0 60000 65536"/>
                <a:gd name="T15" fmla="*/ 0 60000 65536"/>
                <a:gd name="T16" fmla="*/ 0 60000 65536"/>
                <a:gd name="T17" fmla="*/ 0 60000 65536"/>
                <a:gd name="T18" fmla="*/ 0 60000 65536"/>
                <a:gd name="T19" fmla="*/ 0 60000 65536"/>
                <a:gd name="T20" fmla="*/ 0 60000 65536"/>
                <a:gd name="T21" fmla="*/ 0 w 40"/>
                <a:gd name="T22" fmla="*/ 0 h 40"/>
                <a:gd name="T23" fmla="*/ 40 w 40"/>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0">
                  <a:moveTo>
                    <a:pt x="0" y="20"/>
                  </a:moveTo>
                  <a:lnTo>
                    <a:pt x="10" y="0"/>
                  </a:lnTo>
                  <a:lnTo>
                    <a:pt x="30" y="0"/>
                  </a:lnTo>
                  <a:lnTo>
                    <a:pt x="40" y="20"/>
                  </a:lnTo>
                  <a:lnTo>
                    <a:pt x="30"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499" name="Rectangle 66"/>
            <p:cNvSpPr>
              <a:spLocks noChangeArrowheads="1"/>
            </p:cNvSpPr>
            <p:nvPr/>
          </p:nvSpPr>
          <p:spPr bwMode="auto">
            <a:xfrm>
              <a:off x="1353" y="691"/>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500" name="Rectangle 67"/>
            <p:cNvSpPr>
              <a:spLocks noChangeArrowheads="1"/>
            </p:cNvSpPr>
            <p:nvPr/>
          </p:nvSpPr>
          <p:spPr bwMode="auto">
            <a:xfrm>
              <a:off x="1425" y="762"/>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16501" name="Line 68"/>
            <p:cNvSpPr>
              <a:spLocks noChangeShapeType="1"/>
            </p:cNvSpPr>
            <p:nvPr/>
          </p:nvSpPr>
          <p:spPr bwMode="auto">
            <a:xfrm>
              <a:off x="670" y="823"/>
              <a:ext cx="1" cy="234"/>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2" name="Line 69"/>
            <p:cNvSpPr>
              <a:spLocks noChangeShapeType="1"/>
            </p:cNvSpPr>
            <p:nvPr/>
          </p:nvSpPr>
          <p:spPr bwMode="auto">
            <a:xfrm flipV="1">
              <a:off x="670" y="823"/>
              <a:ext cx="193" cy="7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3" name="Line 70"/>
            <p:cNvSpPr>
              <a:spLocks noChangeShapeType="1"/>
            </p:cNvSpPr>
            <p:nvPr/>
          </p:nvSpPr>
          <p:spPr bwMode="auto">
            <a:xfrm>
              <a:off x="670" y="986"/>
              <a:ext cx="193" cy="7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4" name="Freeform 71"/>
            <p:cNvSpPr/>
            <p:nvPr/>
          </p:nvSpPr>
          <p:spPr bwMode="auto">
            <a:xfrm>
              <a:off x="762" y="1006"/>
              <a:ext cx="101" cy="61"/>
            </a:xfrm>
            <a:custGeom>
              <a:avLst/>
              <a:gdLst>
                <a:gd name="T0" fmla="*/ 0 w 101"/>
                <a:gd name="T1" fmla="*/ 41 h 61"/>
                <a:gd name="T2" fmla="*/ 30 w 101"/>
                <a:gd name="T3" fmla="*/ 30 h 61"/>
                <a:gd name="T4" fmla="*/ 20 w 101"/>
                <a:gd name="T5" fmla="*/ 0 h 61"/>
                <a:gd name="T6" fmla="*/ 101 w 101"/>
                <a:gd name="T7" fmla="*/ 61 h 61"/>
                <a:gd name="T8" fmla="*/ 0 w 101"/>
                <a:gd name="T9" fmla="*/ 41 h 61"/>
                <a:gd name="T10" fmla="*/ 0 60000 65536"/>
                <a:gd name="T11" fmla="*/ 0 60000 65536"/>
                <a:gd name="T12" fmla="*/ 0 60000 65536"/>
                <a:gd name="T13" fmla="*/ 0 60000 65536"/>
                <a:gd name="T14" fmla="*/ 0 60000 65536"/>
                <a:gd name="T15" fmla="*/ 0 w 101"/>
                <a:gd name="T16" fmla="*/ 0 h 61"/>
                <a:gd name="T17" fmla="*/ 101 w 101"/>
                <a:gd name="T18" fmla="*/ 61 h 61"/>
              </a:gdLst>
              <a:ahLst/>
              <a:cxnLst>
                <a:cxn ang="T10">
                  <a:pos x="T0" y="T1"/>
                </a:cxn>
                <a:cxn ang="T11">
                  <a:pos x="T2" y="T3"/>
                </a:cxn>
                <a:cxn ang="T12">
                  <a:pos x="T4" y="T5"/>
                </a:cxn>
                <a:cxn ang="T13">
                  <a:pos x="T6" y="T7"/>
                </a:cxn>
                <a:cxn ang="T14">
                  <a:pos x="T8" y="T9"/>
                </a:cxn>
              </a:cxnLst>
              <a:rect l="T15" t="T16" r="T17" b="T18"/>
              <a:pathLst>
                <a:path w="101" h="61">
                  <a:moveTo>
                    <a:pt x="0" y="41"/>
                  </a:moveTo>
                  <a:lnTo>
                    <a:pt x="30" y="30"/>
                  </a:lnTo>
                  <a:lnTo>
                    <a:pt x="20" y="0"/>
                  </a:lnTo>
                  <a:lnTo>
                    <a:pt x="101" y="61"/>
                  </a:lnTo>
                  <a:lnTo>
                    <a:pt x="0" y="41"/>
                  </a:lnTo>
                  <a:close/>
                </a:path>
              </a:pathLst>
            </a:custGeom>
            <a:solidFill>
              <a:srgbClr val="000000"/>
            </a:solidFill>
            <a:ln w="15875">
              <a:solidFill>
                <a:srgbClr val="000000"/>
              </a:solidFill>
              <a:round/>
            </a:ln>
          </p:spPr>
          <p:txBody>
            <a:bodyPr/>
            <a:lstStyle/>
            <a:p>
              <a:endParaRPr lang="zh-CN" altLang="en-US"/>
            </a:p>
          </p:txBody>
        </p:sp>
        <p:sp>
          <p:nvSpPr>
            <p:cNvPr id="16505" name="Line 72"/>
            <p:cNvSpPr>
              <a:spLocks noChangeShapeType="1"/>
            </p:cNvSpPr>
            <p:nvPr/>
          </p:nvSpPr>
          <p:spPr bwMode="auto">
            <a:xfrm flipV="1">
              <a:off x="1371" y="1036"/>
              <a:ext cx="1" cy="143"/>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6" name="Line 73"/>
            <p:cNvSpPr>
              <a:spLocks noChangeShapeType="1"/>
            </p:cNvSpPr>
            <p:nvPr/>
          </p:nvSpPr>
          <p:spPr bwMode="auto">
            <a:xfrm flipV="1">
              <a:off x="863" y="1209"/>
              <a:ext cx="1" cy="234"/>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7" name="Rectangle 74"/>
            <p:cNvSpPr>
              <a:spLocks noChangeArrowheads="1"/>
            </p:cNvSpPr>
            <p:nvPr/>
          </p:nvSpPr>
          <p:spPr bwMode="auto">
            <a:xfrm>
              <a:off x="823" y="1209"/>
              <a:ext cx="91" cy="234"/>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508" name="Line 75"/>
            <p:cNvSpPr>
              <a:spLocks noChangeShapeType="1"/>
            </p:cNvSpPr>
            <p:nvPr/>
          </p:nvSpPr>
          <p:spPr bwMode="auto">
            <a:xfrm flipH="1">
              <a:off x="792" y="1585"/>
              <a:ext cx="142"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09" name="Freeform 76"/>
            <p:cNvSpPr/>
            <p:nvPr/>
          </p:nvSpPr>
          <p:spPr bwMode="auto">
            <a:xfrm>
              <a:off x="1351" y="996"/>
              <a:ext cx="40" cy="40"/>
            </a:xfrm>
            <a:custGeom>
              <a:avLst/>
              <a:gdLst>
                <a:gd name="T0" fmla="*/ 0 w 40"/>
                <a:gd name="T1" fmla="*/ 20 h 40"/>
                <a:gd name="T2" fmla="*/ 10 w 40"/>
                <a:gd name="T3" fmla="*/ 0 h 40"/>
                <a:gd name="T4" fmla="*/ 30 w 40"/>
                <a:gd name="T5" fmla="*/ 0 h 40"/>
                <a:gd name="T6" fmla="*/ 40 w 40"/>
                <a:gd name="T7" fmla="*/ 20 h 40"/>
                <a:gd name="T8" fmla="*/ 30 w 40"/>
                <a:gd name="T9" fmla="*/ 40 h 40"/>
                <a:gd name="T10" fmla="*/ 10 w 40"/>
                <a:gd name="T11" fmla="*/ 40 h 40"/>
                <a:gd name="T12" fmla="*/ 0 w 40"/>
                <a:gd name="T13" fmla="*/ 20 h 40"/>
                <a:gd name="T14" fmla="*/ 0 60000 65536"/>
                <a:gd name="T15" fmla="*/ 0 60000 65536"/>
                <a:gd name="T16" fmla="*/ 0 60000 65536"/>
                <a:gd name="T17" fmla="*/ 0 60000 65536"/>
                <a:gd name="T18" fmla="*/ 0 60000 65536"/>
                <a:gd name="T19" fmla="*/ 0 60000 65536"/>
                <a:gd name="T20" fmla="*/ 0 60000 65536"/>
                <a:gd name="T21" fmla="*/ 0 w 40"/>
                <a:gd name="T22" fmla="*/ 0 h 40"/>
                <a:gd name="T23" fmla="*/ 40 w 40"/>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0">
                  <a:moveTo>
                    <a:pt x="0" y="20"/>
                  </a:moveTo>
                  <a:lnTo>
                    <a:pt x="10" y="0"/>
                  </a:lnTo>
                  <a:lnTo>
                    <a:pt x="30" y="0"/>
                  </a:lnTo>
                  <a:lnTo>
                    <a:pt x="40" y="20"/>
                  </a:lnTo>
                  <a:lnTo>
                    <a:pt x="30"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510" name="Line 77"/>
            <p:cNvSpPr>
              <a:spLocks noChangeShapeType="1"/>
            </p:cNvSpPr>
            <p:nvPr/>
          </p:nvSpPr>
          <p:spPr bwMode="auto">
            <a:xfrm flipH="1">
              <a:off x="1300" y="1179"/>
              <a:ext cx="142"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11" name="Rectangle 78"/>
            <p:cNvSpPr>
              <a:spLocks noChangeArrowheads="1"/>
            </p:cNvSpPr>
            <p:nvPr/>
          </p:nvSpPr>
          <p:spPr bwMode="auto">
            <a:xfrm>
              <a:off x="941" y="884"/>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V</a:t>
              </a:r>
              <a:endParaRPr lang="zh-CN" altLang="zh-CN" sz="2800">
                <a:latin typeface="Times New Roman" panose="02020603050405020304" pitchFamily="18" charset="0"/>
              </a:endParaRPr>
            </a:p>
          </p:txBody>
        </p:sp>
        <p:sp>
          <p:nvSpPr>
            <p:cNvPr id="16512" name="Rectangle 79"/>
            <p:cNvSpPr>
              <a:spLocks noChangeArrowheads="1"/>
            </p:cNvSpPr>
            <p:nvPr/>
          </p:nvSpPr>
          <p:spPr bwMode="auto">
            <a:xfrm>
              <a:off x="1005" y="1270"/>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513" name="Rectangle 80"/>
            <p:cNvSpPr>
              <a:spLocks noChangeArrowheads="1"/>
            </p:cNvSpPr>
            <p:nvPr/>
          </p:nvSpPr>
          <p:spPr bwMode="auto">
            <a:xfrm>
              <a:off x="1088" y="1330"/>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E</a:t>
              </a:r>
              <a:endParaRPr lang="zh-CN" altLang="zh-CN" sz="2800">
                <a:latin typeface="Times New Roman" panose="02020603050405020304" pitchFamily="18" charset="0"/>
              </a:endParaRPr>
            </a:p>
          </p:txBody>
        </p:sp>
        <p:sp>
          <p:nvSpPr>
            <p:cNvPr id="16514" name="Line 81"/>
            <p:cNvSpPr>
              <a:spLocks noChangeShapeType="1"/>
            </p:cNvSpPr>
            <p:nvPr/>
          </p:nvSpPr>
          <p:spPr bwMode="auto">
            <a:xfrm flipH="1">
              <a:off x="335" y="945"/>
              <a:ext cx="335"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515" name="Freeform 82"/>
            <p:cNvSpPr/>
            <p:nvPr/>
          </p:nvSpPr>
          <p:spPr bwMode="auto">
            <a:xfrm>
              <a:off x="294" y="925"/>
              <a:ext cx="41" cy="40"/>
            </a:xfrm>
            <a:custGeom>
              <a:avLst/>
              <a:gdLst>
                <a:gd name="T0" fmla="*/ 0 w 41"/>
                <a:gd name="T1" fmla="*/ 20 h 40"/>
                <a:gd name="T2" fmla="*/ 10 w 41"/>
                <a:gd name="T3" fmla="*/ 0 h 40"/>
                <a:gd name="T4" fmla="*/ 31 w 41"/>
                <a:gd name="T5" fmla="*/ 0 h 40"/>
                <a:gd name="T6" fmla="*/ 41 w 41"/>
                <a:gd name="T7" fmla="*/ 20 h 40"/>
                <a:gd name="T8" fmla="*/ 31 w 41"/>
                <a:gd name="T9" fmla="*/ 40 h 40"/>
                <a:gd name="T10" fmla="*/ 10 w 41"/>
                <a:gd name="T11" fmla="*/ 40 h 40"/>
                <a:gd name="T12" fmla="*/ 0 w 41"/>
                <a:gd name="T13" fmla="*/ 20 h 40"/>
                <a:gd name="T14" fmla="*/ 0 60000 65536"/>
                <a:gd name="T15" fmla="*/ 0 60000 65536"/>
                <a:gd name="T16" fmla="*/ 0 60000 65536"/>
                <a:gd name="T17" fmla="*/ 0 60000 65536"/>
                <a:gd name="T18" fmla="*/ 0 60000 65536"/>
                <a:gd name="T19" fmla="*/ 0 60000 65536"/>
                <a:gd name="T20" fmla="*/ 0 60000 65536"/>
                <a:gd name="T21" fmla="*/ 0 w 41"/>
                <a:gd name="T22" fmla="*/ 0 h 40"/>
                <a:gd name="T23" fmla="*/ 41 w 4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0">
                  <a:moveTo>
                    <a:pt x="0" y="20"/>
                  </a:moveTo>
                  <a:lnTo>
                    <a:pt x="10" y="0"/>
                  </a:lnTo>
                  <a:lnTo>
                    <a:pt x="31" y="0"/>
                  </a:lnTo>
                  <a:lnTo>
                    <a:pt x="41" y="20"/>
                  </a:lnTo>
                  <a:lnTo>
                    <a:pt x="31"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516" name="Rectangle 83"/>
            <p:cNvSpPr>
              <a:spLocks noChangeArrowheads="1"/>
            </p:cNvSpPr>
            <p:nvPr/>
          </p:nvSpPr>
          <p:spPr bwMode="auto">
            <a:xfrm>
              <a:off x="497" y="691"/>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517" name="Rectangle 84"/>
            <p:cNvSpPr>
              <a:spLocks noChangeArrowheads="1"/>
            </p:cNvSpPr>
            <p:nvPr/>
          </p:nvSpPr>
          <p:spPr bwMode="auto">
            <a:xfrm>
              <a:off x="574" y="762"/>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518" name="Rectangle 85"/>
            <p:cNvSpPr>
              <a:spLocks noChangeArrowheads="1"/>
            </p:cNvSpPr>
            <p:nvPr/>
          </p:nvSpPr>
          <p:spPr bwMode="auto">
            <a:xfrm>
              <a:off x="216" y="935"/>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519" name="Rectangle 86"/>
            <p:cNvSpPr>
              <a:spLocks noChangeArrowheads="1"/>
            </p:cNvSpPr>
            <p:nvPr/>
          </p:nvSpPr>
          <p:spPr bwMode="auto">
            <a:xfrm>
              <a:off x="287" y="995"/>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grpSp>
      <p:sp>
        <p:nvSpPr>
          <p:cNvPr id="16395" name="Rectangle 87"/>
          <p:cNvSpPr>
            <a:spLocks noChangeArrowheads="1"/>
          </p:cNvSpPr>
          <p:nvPr/>
        </p:nvSpPr>
        <p:spPr bwMode="auto">
          <a:xfrm>
            <a:off x="922338" y="5380038"/>
            <a:ext cx="714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96" name="Rectangle 88"/>
          <p:cNvSpPr>
            <a:spLocks noChangeArrowheads="1"/>
          </p:cNvSpPr>
          <p:nvPr/>
        </p:nvSpPr>
        <p:spPr bwMode="auto">
          <a:xfrm>
            <a:off x="992188" y="5380038"/>
            <a:ext cx="952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c</a:t>
            </a:r>
            <a:endParaRPr lang="zh-CN" altLang="zh-CN" sz="2800">
              <a:latin typeface="Times New Roman" panose="02020603050405020304" pitchFamily="18" charset="0"/>
            </a:endParaRPr>
          </a:p>
        </p:txBody>
      </p:sp>
      <p:sp>
        <p:nvSpPr>
          <p:cNvPr id="16397" name="Rectangle 89"/>
          <p:cNvSpPr>
            <a:spLocks noChangeArrowheads="1"/>
          </p:cNvSpPr>
          <p:nvPr/>
        </p:nvSpPr>
        <p:spPr bwMode="auto">
          <a:xfrm>
            <a:off x="1084263" y="5380038"/>
            <a:ext cx="714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98" name="Rectangle 90"/>
          <p:cNvSpPr>
            <a:spLocks noChangeArrowheads="1"/>
          </p:cNvSpPr>
          <p:nvPr/>
        </p:nvSpPr>
        <p:spPr bwMode="auto">
          <a:xfrm>
            <a:off x="7875588" y="5173663"/>
            <a:ext cx="714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399" name="Rectangle 91"/>
          <p:cNvSpPr>
            <a:spLocks noChangeArrowheads="1"/>
          </p:cNvSpPr>
          <p:nvPr/>
        </p:nvSpPr>
        <p:spPr bwMode="auto">
          <a:xfrm>
            <a:off x="7945438" y="5173663"/>
            <a:ext cx="1079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d</a:t>
            </a:r>
            <a:endParaRPr lang="zh-CN" altLang="zh-CN" sz="2800">
              <a:latin typeface="Times New Roman" panose="02020603050405020304" pitchFamily="18" charset="0"/>
            </a:endParaRPr>
          </a:p>
        </p:txBody>
      </p:sp>
      <p:sp>
        <p:nvSpPr>
          <p:cNvPr id="16400" name="Rectangle 92"/>
          <p:cNvSpPr>
            <a:spLocks noChangeArrowheads="1"/>
          </p:cNvSpPr>
          <p:nvPr/>
        </p:nvSpPr>
        <p:spPr bwMode="auto">
          <a:xfrm>
            <a:off x="8051800" y="5173663"/>
            <a:ext cx="7143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nvGrpSpPr>
          <p:cNvPr id="16401" name="Group 93"/>
          <p:cNvGrpSpPr/>
          <p:nvPr/>
        </p:nvGrpSpPr>
        <p:grpSpPr bwMode="auto">
          <a:xfrm>
            <a:off x="4802188" y="3036888"/>
            <a:ext cx="2932112" cy="2517775"/>
            <a:chOff x="0" y="0"/>
            <a:chExt cx="1847" cy="1586"/>
          </a:xfrm>
        </p:grpSpPr>
        <p:sp>
          <p:nvSpPr>
            <p:cNvPr id="16440" name="Line 94"/>
            <p:cNvSpPr>
              <a:spLocks noChangeShapeType="1"/>
            </p:cNvSpPr>
            <p:nvPr/>
          </p:nvSpPr>
          <p:spPr bwMode="auto">
            <a:xfrm flipH="1">
              <a:off x="236" y="1057"/>
              <a:ext cx="100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1" name="Line 95"/>
            <p:cNvSpPr>
              <a:spLocks noChangeShapeType="1"/>
            </p:cNvSpPr>
            <p:nvPr/>
          </p:nvSpPr>
          <p:spPr bwMode="auto">
            <a:xfrm flipV="1">
              <a:off x="1242" y="874"/>
              <a:ext cx="1" cy="71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2" name="Line 96"/>
            <p:cNvSpPr>
              <a:spLocks noChangeShapeType="1"/>
            </p:cNvSpPr>
            <p:nvPr/>
          </p:nvSpPr>
          <p:spPr bwMode="auto">
            <a:xfrm flipH="1">
              <a:off x="1242" y="529"/>
              <a:ext cx="487"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3" name="Freeform 97"/>
            <p:cNvSpPr/>
            <p:nvPr/>
          </p:nvSpPr>
          <p:spPr bwMode="auto">
            <a:xfrm>
              <a:off x="165" y="1036"/>
              <a:ext cx="122" cy="51"/>
            </a:xfrm>
            <a:custGeom>
              <a:avLst/>
              <a:gdLst>
                <a:gd name="T0" fmla="*/ 122 w 122"/>
                <a:gd name="T1" fmla="*/ 0 h 51"/>
                <a:gd name="T2" fmla="*/ 101 w 122"/>
                <a:gd name="T3" fmla="*/ 21 h 51"/>
                <a:gd name="T4" fmla="*/ 122 w 122"/>
                <a:gd name="T5" fmla="*/ 51 h 51"/>
                <a:gd name="T6" fmla="*/ 0 w 122"/>
                <a:gd name="T7" fmla="*/ 21 h 51"/>
                <a:gd name="T8" fmla="*/ 122 w 122"/>
                <a:gd name="T9" fmla="*/ 0 h 51"/>
                <a:gd name="T10" fmla="*/ 0 60000 65536"/>
                <a:gd name="T11" fmla="*/ 0 60000 65536"/>
                <a:gd name="T12" fmla="*/ 0 60000 65536"/>
                <a:gd name="T13" fmla="*/ 0 60000 65536"/>
                <a:gd name="T14" fmla="*/ 0 60000 65536"/>
                <a:gd name="T15" fmla="*/ 0 w 122"/>
                <a:gd name="T16" fmla="*/ 0 h 51"/>
                <a:gd name="T17" fmla="*/ 122 w 122"/>
                <a:gd name="T18" fmla="*/ 51 h 51"/>
              </a:gdLst>
              <a:ahLst/>
              <a:cxnLst>
                <a:cxn ang="T10">
                  <a:pos x="T0" y="T1"/>
                </a:cxn>
                <a:cxn ang="T11">
                  <a:pos x="T2" y="T3"/>
                </a:cxn>
                <a:cxn ang="T12">
                  <a:pos x="T4" y="T5"/>
                </a:cxn>
                <a:cxn ang="T13">
                  <a:pos x="T6" y="T7"/>
                </a:cxn>
                <a:cxn ang="T14">
                  <a:pos x="T8" y="T9"/>
                </a:cxn>
              </a:cxnLst>
              <a:rect l="T15" t="T16" r="T17" b="T18"/>
              <a:pathLst>
                <a:path w="122" h="51">
                  <a:moveTo>
                    <a:pt x="122" y="0"/>
                  </a:moveTo>
                  <a:lnTo>
                    <a:pt x="101" y="21"/>
                  </a:lnTo>
                  <a:lnTo>
                    <a:pt x="122" y="51"/>
                  </a:lnTo>
                  <a:lnTo>
                    <a:pt x="0" y="21"/>
                  </a:lnTo>
                  <a:lnTo>
                    <a:pt x="122" y="0"/>
                  </a:lnTo>
                  <a:close/>
                </a:path>
              </a:pathLst>
            </a:custGeom>
            <a:solidFill>
              <a:srgbClr val="000000"/>
            </a:solidFill>
            <a:ln w="15875">
              <a:solidFill>
                <a:srgbClr val="000000"/>
              </a:solidFill>
              <a:round/>
            </a:ln>
          </p:spPr>
          <p:txBody>
            <a:bodyPr/>
            <a:lstStyle/>
            <a:p>
              <a:endParaRPr lang="zh-CN" altLang="en-US"/>
            </a:p>
          </p:txBody>
        </p:sp>
        <p:sp>
          <p:nvSpPr>
            <p:cNvPr id="16444" name="Line 98"/>
            <p:cNvSpPr>
              <a:spLocks noChangeShapeType="1"/>
            </p:cNvSpPr>
            <p:nvPr/>
          </p:nvSpPr>
          <p:spPr bwMode="auto">
            <a:xfrm>
              <a:off x="449" y="1057"/>
              <a:ext cx="244" cy="1"/>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5" name="Rectangle 99"/>
            <p:cNvSpPr>
              <a:spLocks noChangeArrowheads="1"/>
            </p:cNvSpPr>
            <p:nvPr/>
          </p:nvSpPr>
          <p:spPr bwMode="auto">
            <a:xfrm>
              <a:off x="449" y="1016"/>
              <a:ext cx="244" cy="91"/>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46" name="Rectangle 100"/>
            <p:cNvSpPr>
              <a:spLocks noChangeArrowheads="1"/>
            </p:cNvSpPr>
            <p:nvPr/>
          </p:nvSpPr>
          <p:spPr bwMode="auto">
            <a:xfrm>
              <a:off x="0" y="843"/>
              <a:ext cx="54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反馈支路</a:t>
              </a:r>
              <a:endParaRPr lang="zh-CN" altLang="zh-CN" sz="2800">
                <a:latin typeface="Times New Roman" panose="02020603050405020304" pitchFamily="18" charset="0"/>
              </a:endParaRPr>
            </a:p>
          </p:txBody>
        </p:sp>
        <p:sp>
          <p:nvSpPr>
            <p:cNvPr id="16447" name="Line 101"/>
            <p:cNvSpPr>
              <a:spLocks noChangeShapeType="1"/>
            </p:cNvSpPr>
            <p:nvPr/>
          </p:nvSpPr>
          <p:spPr bwMode="auto">
            <a:xfrm flipV="1">
              <a:off x="1242" y="51"/>
              <a:ext cx="1" cy="579"/>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8" name="Line 102"/>
            <p:cNvSpPr>
              <a:spLocks noChangeShapeType="1"/>
            </p:cNvSpPr>
            <p:nvPr/>
          </p:nvSpPr>
          <p:spPr bwMode="auto">
            <a:xfrm flipV="1">
              <a:off x="1242" y="193"/>
              <a:ext cx="1" cy="244"/>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49" name="Rectangle 103"/>
            <p:cNvSpPr>
              <a:spLocks noChangeArrowheads="1"/>
            </p:cNvSpPr>
            <p:nvPr/>
          </p:nvSpPr>
          <p:spPr bwMode="auto">
            <a:xfrm>
              <a:off x="1201" y="193"/>
              <a:ext cx="91" cy="244"/>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50" name="Freeform 104"/>
            <p:cNvSpPr/>
            <p:nvPr/>
          </p:nvSpPr>
          <p:spPr bwMode="auto">
            <a:xfrm>
              <a:off x="1221" y="508"/>
              <a:ext cx="51" cy="51"/>
            </a:xfrm>
            <a:custGeom>
              <a:avLst/>
              <a:gdLst>
                <a:gd name="T0" fmla="*/ 0 w 51"/>
                <a:gd name="T1" fmla="*/ 21 h 51"/>
                <a:gd name="T2" fmla="*/ 11 w 51"/>
                <a:gd name="T3" fmla="*/ 0 h 51"/>
                <a:gd name="T4" fmla="*/ 41 w 51"/>
                <a:gd name="T5" fmla="*/ 0 h 51"/>
                <a:gd name="T6" fmla="*/ 51 w 51"/>
                <a:gd name="T7" fmla="*/ 21 h 51"/>
                <a:gd name="T8" fmla="*/ 41 w 51"/>
                <a:gd name="T9" fmla="*/ 51 h 51"/>
                <a:gd name="T10" fmla="*/ 11 w 51"/>
                <a:gd name="T11" fmla="*/ 51 h 51"/>
                <a:gd name="T12" fmla="*/ 0 w 51"/>
                <a:gd name="T13" fmla="*/ 21 h 51"/>
                <a:gd name="T14" fmla="*/ 0 60000 65536"/>
                <a:gd name="T15" fmla="*/ 0 60000 65536"/>
                <a:gd name="T16" fmla="*/ 0 60000 65536"/>
                <a:gd name="T17" fmla="*/ 0 60000 65536"/>
                <a:gd name="T18" fmla="*/ 0 60000 65536"/>
                <a:gd name="T19" fmla="*/ 0 60000 65536"/>
                <a:gd name="T20" fmla="*/ 0 60000 65536"/>
                <a:gd name="T21" fmla="*/ 0 w 51"/>
                <a:gd name="T22" fmla="*/ 0 h 51"/>
                <a:gd name="T23" fmla="*/ 51 w 5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51">
                  <a:moveTo>
                    <a:pt x="0" y="21"/>
                  </a:moveTo>
                  <a:lnTo>
                    <a:pt x="11" y="0"/>
                  </a:lnTo>
                  <a:lnTo>
                    <a:pt x="41" y="0"/>
                  </a:lnTo>
                  <a:lnTo>
                    <a:pt x="51" y="21"/>
                  </a:lnTo>
                  <a:lnTo>
                    <a:pt x="41" y="51"/>
                  </a:lnTo>
                  <a:lnTo>
                    <a:pt x="11" y="51"/>
                  </a:lnTo>
                  <a:lnTo>
                    <a:pt x="0" y="21"/>
                  </a:lnTo>
                  <a:close/>
                </a:path>
              </a:pathLst>
            </a:custGeom>
            <a:solidFill>
              <a:srgbClr val="000000"/>
            </a:solidFill>
            <a:ln w="15875">
              <a:solidFill>
                <a:srgbClr val="000000"/>
              </a:solidFill>
              <a:round/>
            </a:ln>
          </p:spPr>
          <p:txBody>
            <a:bodyPr/>
            <a:lstStyle/>
            <a:p>
              <a:endParaRPr lang="zh-CN" altLang="en-US"/>
            </a:p>
          </p:txBody>
        </p:sp>
        <p:sp>
          <p:nvSpPr>
            <p:cNvPr id="16451" name="Freeform 105"/>
            <p:cNvSpPr/>
            <p:nvPr/>
          </p:nvSpPr>
          <p:spPr bwMode="auto">
            <a:xfrm>
              <a:off x="1221" y="61"/>
              <a:ext cx="51" cy="41"/>
            </a:xfrm>
            <a:custGeom>
              <a:avLst/>
              <a:gdLst>
                <a:gd name="T0" fmla="*/ 0 w 51"/>
                <a:gd name="T1" fmla="*/ 21 h 41"/>
                <a:gd name="T2" fmla="*/ 11 w 51"/>
                <a:gd name="T3" fmla="*/ 0 h 41"/>
                <a:gd name="T4" fmla="*/ 41 w 51"/>
                <a:gd name="T5" fmla="*/ 0 h 41"/>
                <a:gd name="T6" fmla="*/ 51 w 51"/>
                <a:gd name="T7" fmla="*/ 21 h 41"/>
                <a:gd name="T8" fmla="*/ 41 w 51"/>
                <a:gd name="T9" fmla="*/ 41 h 41"/>
                <a:gd name="T10" fmla="*/ 11 w 51"/>
                <a:gd name="T11" fmla="*/ 41 h 41"/>
                <a:gd name="T12" fmla="*/ 0 w 51"/>
                <a:gd name="T13" fmla="*/ 21 h 41"/>
                <a:gd name="T14" fmla="*/ 0 60000 65536"/>
                <a:gd name="T15" fmla="*/ 0 60000 65536"/>
                <a:gd name="T16" fmla="*/ 0 60000 65536"/>
                <a:gd name="T17" fmla="*/ 0 60000 65536"/>
                <a:gd name="T18" fmla="*/ 0 60000 65536"/>
                <a:gd name="T19" fmla="*/ 0 60000 65536"/>
                <a:gd name="T20" fmla="*/ 0 60000 65536"/>
                <a:gd name="T21" fmla="*/ 0 w 51"/>
                <a:gd name="T22" fmla="*/ 0 h 41"/>
                <a:gd name="T23" fmla="*/ 51 w 51"/>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1">
                  <a:moveTo>
                    <a:pt x="0" y="21"/>
                  </a:moveTo>
                  <a:lnTo>
                    <a:pt x="11" y="0"/>
                  </a:lnTo>
                  <a:lnTo>
                    <a:pt x="41" y="0"/>
                  </a:lnTo>
                  <a:lnTo>
                    <a:pt x="51" y="21"/>
                  </a:lnTo>
                  <a:lnTo>
                    <a:pt x="41" y="41"/>
                  </a:lnTo>
                  <a:lnTo>
                    <a:pt x="11" y="41"/>
                  </a:lnTo>
                  <a:lnTo>
                    <a:pt x="0" y="21"/>
                  </a:lnTo>
                  <a:close/>
                </a:path>
              </a:pathLst>
            </a:custGeom>
            <a:solidFill>
              <a:srgbClr val="FFFFFF"/>
            </a:solidFill>
            <a:ln w="15875">
              <a:solidFill>
                <a:srgbClr val="000000"/>
              </a:solidFill>
              <a:round/>
            </a:ln>
          </p:spPr>
          <p:txBody>
            <a:bodyPr/>
            <a:lstStyle/>
            <a:p>
              <a:endParaRPr lang="zh-CN" altLang="en-US"/>
            </a:p>
          </p:txBody>
        </p:sp>
        <p:sp>
          <p:nvSpPr>
            <p:cNvPr id="16452" name="Rectangle 106"/>
            <p:cNvSpPr>
              <a:spLocks noChangeArrowheads="1"/>
            </p:cNvSpPr>
            <p:nvPr/>
          </p:nvSpPr>
          <p:spPr bwMode="auto">
            <a:xfrm>
              <a:off x="1355" y="0"/>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453" name="Rectangle 107"/>
            <p:cNvSpPr>
              <a:spLocks noChangeArrowheads="1"/>
            </p:cNvSpPr>
            <p:nvPr/>
          </p:nvSpPr>
          <p:spPr bwMode="auto">
            <a:xfrm>
              <a:off x="1442" y="61"/>
              <a:ext cx="12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CC</a:t>
              </a:r>
              <a:endParaRPr lang="zh-CN" altLang="zh-CN" sz="2800">
                <a:latin typeface="Times New Roman" panose="02020603050405020304" pitchFamily="18" charset="0"/>
              </a:endParaRPr>
            </a:p>
          </p:txBody>
        </p:sp>
        <p:sp>
          <p:nvSpPr>
            <p:cNvPr id="16454" name="Rectangle 108"/>
            <p:cNvSpPr>
              <a:spLocks noChangeArrowheads="1"/>
            </p:cNvSpPr>
            <p:nvPr/>
          </p:nvSpPr>
          <p:spPr bwMode="auto">
            <a:xfrm>
              <a:off x="1384" y="214"/>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455" name="Rectangle 109"/>
            <p:cNvSpPr>
              <a:spLocks noChangeArrowheads="1"/>
            </p:cNvSpPr>
            <p:nvPr/>
          </p:nvSpPr>
          <p:spPr bwMode="auto">
            <a:xfrm>
              <a:off x="1464" y="274"/>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C</a:t>
              </a:r>
              <a:endParaRPr lang="zh-CN" altLang="zh-CN" sz="2800">
                <a:latin typeface="Times New Roman" panose="02020603050405020304" pitchFamily="18" charset="0"/>
              </a:endParaRPr>
            </a:p>
          </p:txBody>
        </p:sp>
        <p:sp>
          <p:nvSpPr>
            <p:cNvPr id="16456" name="Freeform 110"/>
            <p:cNvSpPr/>
            <p:nvPr/>
          </p:nvSpPr>
          <p:spPr bwMode="auto">
            <a:xfrm>
              <a:off x="1729" y="508"/>
              <a:ext cx="41" cy="51"/>
            </a:xfrm>
            <a:custGeom>
              <a:avLst/>
              <a:gdLst>
                <a:gd name="T0" fmla="*/ 0 w 41"/>
                <a:gd name="T1" fmla="*/ 21 h 51"/>
                <a:gd name="T2" fmla="*/ 10 w 41"/>
                <a:gd name="T3" fmla="*/ 0 h 51"/>
                <a:gd name="T4" fmla="*/ 31 w 41"/>
                <a:gd name="T5" fmla="*/ 0 h 51"/>
                <a:gd name="T6" fmla="*/ 41 w 41"/>
                <a:gd name="T7" fmla="*/ 21 h 51"/>
                <a:gd name="T8" fmla="*/ 31 w 41"/>
                <a:gd name="T9" fmla="*/ 51 h 51"/>
                <a:gd name="T10" fmla="*/ 10 w 41"/>
                <a:gd name="T11" fmla="*/ 51 h 51"/>
                <a:gd name="T12" fmla="*/ 0 w 41"/>
                <a:gd name="T13" fmla="*/ 21 h 51"/>
                <a:gd name="T14" fmla="*/ 0 60000 65536"/>
                <a:gd name="T15" fmla="*/ 0 60000 65536"/>
                <a:gd name="T16" fmla="*/ 0 60000 65536"/>
                <a:gd name="T17" fmla="*/ 0 60000 65536"/>
                <a:gd name="T18" fmla="*/ 0 60000 65536"/>
                <a:gd name="T19" fmla="*/ 0 60000 65536"/>
                <a:gd name="T20" fmla="*/ 0 60000 65536"/>
                <a:gd name="T21" fmla="*/ 0 w 41"/>
                <a:gd name="T22" fmla="*/ 0 h 51"/>
                <a:gd name="T23" fmla="*/ 41 w 4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51">
                  <a:moveTo>
                    <a:pt x="0" y="21"/>
                  </a:moveTo>
                  <a:lnTo>
                    <a:pt x="10" y="0"/>
                  </a:lnTo>
                  <a:lnTo>
                    <a:pt x="31" y="0"/>
                  </a:lnTo>
                  <a:lnTo>
                    <a:pt x="41" y="21"/>
                  </a:lnTo>
                  <a:lnTo>
                    <a:pt x="31" y="51"/>
                  </a:lnTo>
                  <a:lnTo>
                    <a:pt x="10" y="51"/>
                  </a:lnTo>
                  <a:lnTo>
                    <a:pt x="0" y="21"/>
                  </a:lnTo>
                  <a:close/>
                </a:path>
              </a:pathLst>
            </a:custGeom>
            <a:solidFill>
              <a:srgbClr val="FFFFFF"/>
            </a:solidFill>
            <a:ln w="15875">
              <a:solidFill>
                <a:srgbClr val="000000"/>
              </a:solidFill>
              <a:round/>
            </a:ln>
          </p:spPr>
          <p:txBody>
            <a:bodyPr/>
            <a:lstStyle/>
            <a:p>
              <a:endParaRPr lang="zh-CN" altLang="en-US"/>
            </a:p>
          </p:txBody>
        </p:sp>
        <p:sp>
          <p:nvSpPr>
            <p:cNvPr id="16457" name="Rectangle 111"/>
            <p:cNvSpPr>
              <a:spLocks noChangeArrowheads="1"/>
            </p:cNvSpPr>
            <p:nvPr/>
          </p:nvSpPr>
          <p:spPr bwMode="auto">
            <a:xfrm>
              <a:off x="1732" y="528"/>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458" name="Rectangle 112"/>
            <p:cNvSpPr>
              <a:spLocks noChangeArrowheads="1"/>
            </p:cNvSpPr>
            <p:nvPr/>
          </p:nvSpPr>
          <p:spPr bwMode="auto">
            <a:xfrm>
              <a:off x="1803" y="589"/>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16459" name="Line 113"/>
            <p:cNvSpPr>
              <a:spLocks noChangeShapeType="1"/>
            </p:cNvSpPr>
            <p:nvPr/>
          </p:nvSpPr>
          <p:spPr bwMode="auto">
            <a:xfrm>
              <a:off x="1049" y="630"/>
              <a:ext cx="1" cy="244"/>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0" name="Line 114"/>
            <p:cNvSpPr>
              <a:spLocks noChangeShapeType="1"/>
            </p:cNvSpPr>
            <p:nvPr/>
          </p:nvSpPr>
          <p:spPr bwMode="auto">
            <a:xfrm flipV="1">
              <a:off x="1049" y="630"/>
              <a:ext cx="193" cy="7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1" name="Line 115"/>
            <p:cNvSpPr>
              <a:spLocks noChangeShapeType="1"/>
            </p:cNvSpPr>
            <p:nvPr/>
          </p:nvSpPr>
          <p:spPr bwMode="auto">
            <a:xfrm>
              <a:off x="1049" y="793"/>
              <a:ext cx="193" cy="7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2" name="Freeform 116"/>
            <p:cNvSpPr/>
            <p:nvPr/>
          </p:nvSpPr>
          <p:spPr bwMode="auto">
            <a:xfrm>
              <a:off x="1140" y="813"/>
              <a:ext cx="102" cy="61"/>
            </a:xfrm>
            <a:custGeom>
              <a:avLst/>
              <a:gdLst>
                <a:gd name="T0" fmla="*/ 0 w 102"/>
                <a:gd name="T1" fmla="*/ 41 h 61"/>
                <a:gd name="T2" fmla="*/ 31 w 102"/>
                <a:gd name="T3" fmla="*/ 30 h 61"/>
                <a:gd name="T4" fmla="*/ 20 w 102"/>
                <a:gd name="T5" fmla="*/ 0 h 61"/>
                <a:gd name="T6" fmla="*/ 102 w 102"/>
                <a:gd name="T7" fmla="*/ 61 h 61"/>
                <a:gd name="T8" fmla="*/ 0 w 102"/>
                <a:gd name="T9" fmla="*/ 41 h 61"/>
                <a:gd name="T10" fmla="*/ 0 60000 65536"/>
                <a:gd name="T11" fmla="*/ 0 60000 65536"/>
                <a:gd name="T12" fmla="*/ 0 60000 65536"/>
                <a:gd name="T13" fmla="*/ 0 60000 65536"/>
                <a:gd name="T14" fmla="*/ 0 60000 65536"/>
                <a:gd name="T15" fmla="*/ 0 w 102"/>
                <a:gd name="T16" fmla="*/ 0 h 61"/>
                <a:gd name="T17" fmla="*/ 102 w 102"/>
                <a:gd name="T18" fmla="*/ 61 h 61"/>
              </a:gdLst>
              <a:ahLst/>
              <a:cxnLst>
                <a:cxn ang="T10">
                  <a:pos x="T0" y="T1"/>
                </a:cxn>
                <a:cxn ang="T11">
                  <a:pos x="T2" y="T3"/>
                </a:cxn>
                <a:cxn ang="T12">
                  <a:pos x="T4" y="T5"/>
                </a:cxn>
                <a:cxn ang="T13">
                  <a:pos x="T6" y="T7"/>
                </a:cxn>
                <a:cxn ang="T14">
                  <a:pos x="T8" y="T9"/>
                </a:cxn>
              </a:cxnLst>
              <a:rect l="T15" t="T16" r="T17" b="T18"/>
              <a:pathLst>
                <a:path w="102" h="61">
                  <a:moveTo>
                    <a:pt x="0" y="41"/>
                  </a:moveTo>
                  <a:lnTo>
                    <a:pt x="31" y="30"/>
                  </a:lnTo>
                  <a:lnTo>
                    <a:pt x="20" y="0"/>
                  </a:lnTo>
                  <a:lnTo>
                    <a:pt x="102" y="61"/>
                  </a:lnTo>
                  <a:lnTo>
                    <a:pt x="0" y="41"/>
                  </a:lnTo>
                  <a:close/>
                </a:path>
              </a:pathLst>
            </a:custGeom>
            <a:solidFill>
              <a:srgbClr val="000000"/>
            </a:solidFill>
            <a:ln w="15875">
              <a:solidFill>
                <a:srgbClr val="000000"/>
              </a:solidFill>
              <a:round/>
            </a:ln>
          </p:spPr>
          <p:txBody>
            <a:bodyPr/>
            <a:lstStyle/>
            <a:p>
              <a:endParaRPr lang="zh-CN" altLang="en-US"/>
            </a:p>
          </p:txBody>
        </p:sp>
        <p:sp>
          <p:nvSpPr>
            <p:cNvPr id="16463" name="Line 117"/>
            <p:cNvSpPr>
              <a:spLocks noChangeShapeType="1"/>
            </p:cNvSpPr>
            <p:nvPr/>
          </p:nvSpPr>
          <p:spPr bwMode="auto">
            <a:xfrm flipV="1">
              <a:off x="1750" y="772"/>
              <a:ext cx="1" cy="143"/>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4" name="Line 118"/>
            <p:cNvSpPr>
              <a:spLocks noChangeShapeType="1"/>
            </p:cNvSpPr>
            <p:nvPr/>
          </p:nvSpPr>
          <p:spPr bwMode="auto">
            <a:xfrm flipV="1">
              <a:off x="1242" y="1209"/>
              <a:ext cx="1" cy="234"/>
            </a:xfrm>
            <a:prstGeom prst="line">
              <a:avLst/>
            </a:prstGeom>
            <a:noFill/>
            <a:ln w="15875">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5" name="Rectangle 119"/>
            <p:cNvSpPr>
              <a:spLocks noChangeArrowheads="1"/>
            </p:cNvSpPr>
            <p:nvPr/>
          </p:nvSpPr>
          <p:spPr bwMode="auto">
            <a:xfrm>
              <a:off x="1201" y="1209"/>
              <a:ext cx="91" cy="234"/>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66" name="Line 120"/>
            <p:cNvSpPr>
              <a:spLocks noChangeShapeType="1"/>
            </p:cNvSpPr>
            <p:nvPr/>
          </p:nvSpPr>
          <p:spPr bwMode="auto">
            <a:xfrm flipH="1">
              <a:off x="1171" y="1585"/>
              <a:ext cx="142"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7" name="Freeform 121"/>
            <p:cNvSpPr/>
            <p:nvPr/>
          </p:nvSpPr>
          <p:spPr bwMode="auto">
            <a:xfrm>
              <a:off x="1729" y="732"/>
              <a:ext cx="41" cy="40"/>
            </a:xfrm>
            <a:custGeom>
              <a:avLst/>
              <a:gdLst>
                <a:gd name="T0" fmla="*/ 0 w 41"/>
                <a:gd name="T1" fmla="*/ 20 h 40"/>
                <a:gd name="T2" fmla="*/ 10 w 41"/>
                <a:gd name="T3" fmla="*/ 0 h 40"/>
                <a:gd name="T4" fmla="*/ 31 w 41"/>
                <a:gd name="T5" fmla="*/ 0 h 40"/>
                <a:gd name="T6" fmla="*/ 41 w 41"/>
                <a:gd name="T7" fmla="*/ 20 h 40"/>
                <a:gd name="T8" fmla="*/ 31 w 41"/>
                <a:gd name="T9" fmla="*/ 40 h 40"/>
                <a:gd name="T10" fmla="*/ 10 w 41"/>
                <a:gd name="T11" fmla="*/ 40 h 40"/>
                <a:gd name="T12" fmla="*/ 0 w 41"/>
                <a:gd name="T13" fmla="*/ 20 h 40"/>
                <a:gd name="T14" fmla="*/ 0 60000 65536"/>
                <a:gd name="T15" fmla="*/ 0 60000 65536"/>
                <a:gd name="T16" fmla="*/ 0 60000 65536"/>
                <a:gd name="T17" fmla="*/ 0 60000 65536"/>
                <a:gd name="T18" fmla="*/ 0 60000 65536"/>
                <a:gd name="T19" fmla="*/ 0 60000 65536"/>
                <a:gd name="T20" fmla="*/ 0 60000 65536"/>
                <a:gd name="T21" fmla="*/ 0 w 41"/>
                <a:gd name="T22" fmla="*/ 0 h 40"/>
                <a:gd name="T23" fmla="*/ 41 w 4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0">
                  <a:moveTo>
                    <a:pt x="0" y="20"/>
                  </a:moveTo>
                  <a:lnTo>
                    <a:pt x="10" y="0"/>
                  </a:lnTo>
                  <a:lnTo>
                    <a:pt x="31" y="0"/>
                  </a:lnTo>
                  <a:lnTo>
                    <a:pt x="41" y="20"/>
                  </a:lnTo>
                  <a:lnTo>
                    <a:pt x="31"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468" name="Line 122"/>
            <p:cNvSpPr>
              <a:spLocks noChangeShapeType="1"/>
            </p:cNvSpPr>
            <p:nvPr/>
          </p:nvSpPr>
          <p:spPr bwMode="auto">
            <a:xfrm flipH="1">
              <a:off x="1678" y="915"/>
              <a:ext cx="143"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69" name="Rectangle 123"/>
            <p:cNvSpPr>
              <a:spLocks noChangeArrowheads="1"/>
            </p:cNvSpPr>
            <p:nvPr/>
          </p:nvSpPr>
          <p:spPr bwMode="auto">
            <a:xfrm>
              <a:off x="1384" y="1270"/>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470" name="Rectangle 124"/>
            <p:cNvSpPr>
              <a:spLocks noChangeArrowheads="1"/>
            </p:cNvSpPr>
            <p:nvPr/>
          </p:nvSpPr>
          <p:spPr bwMode="auto">
            <a:xfrm>
              <a:off x="1467" y="1330"/>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E</a:t>
              </a:r>
              <a:endParaRPr lang="zh-CN" altLang="zh-CN" sz="2800">
                <a:latin typeface="Times New Roman" panose="02020603050405020304" pitchFamily="18" charset="0"/>
              </a:endParaRPr>
            </a:p>
          </p:txBody>
        </p:sp>
        <p:sp>
          <p:nvSpPr>
            <p:cNvPr id="16471" name="Line 125"/>
            <p:cNvSpPr>
              <a:spLocks noChangeShapeType="1"/>
            </p:cNvSpPr>
            <p:nvPr/>
          </p:nvSpPr>
          <p:spPr bwMode="auto">
            <a:xfrm flipH="1">
              <a:off x="713" y="752"/>
              <a:ext cx="33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72" name="Freeform 126"/>
            <p:cNvSpPr/>
            <p:nvPr/>
          </p:nvSpPr>
          <p:spPr bwMode="auto">
            <a:xfrm>
              <a:off x="673" y="732"/>
              <a:ext cx="40" cy="40"/>
            </a:xfrm>
            <a:custGeom>
              <a:avLst/>
              <a:gdLst>
                <a:gd name="T0" fmla="*/ 0 w 40"/>
                <a:gd name="T1" fmla="*/ 20 h 40"/>
                <a:gd name="T2" fmla="*/ 10 w 40"/>
                <a:gd name="T3" fmla="*/ 0 h 40"/>
                <a:gd name="T4" fmla="*/ 30 w 40"/>
                <a:gd name="T5" fmla="*/ 0 h 40"/>
                <a:gd name="T6" fmla="*/ 40 w 40"/>
                <a:gd name="T7" fmla="*/ 20 h 40"/>
                <a:gd name="T8" fmla="*/ 30 w 40"/>
                <a:gd name="T9" fmla="*/ 40 h 40"/>
                <a:gd name="T10" fmla="*/ 10 w 40"/>
                <a:gd name="T11" fmla="*/ 40 h 40"/>
                <a:gd name="T12" fmla="*/ 0 w 40"/>
                <a:gd name="T13" fmla="*/ 20 h 40"/>
                <a:gd name="T14" fmla="*/ 0 60000 65536"/>
                <a:gd name="T15" fmla="*/ 0 60000 65536"/>
                <a:gd name="T16" fmla="*/ 0 60000 65536"/>
                <a:gd name="T17" fmla="*/ 0 60000 65536"/>
                <a:gd name="T18" fmla="*/ 0 60000 65536"/>
                <a:gd name="T19" fmla="*/ 0 60000 65536"/>
                <a:gd name="T20" fmla="*/ 0 60000 65536"/>
                <a:gd name="T21" fmla="*/ 0 w 40"/>
                <a:gd name="T22" fmla="*/ 0 h 40"/>
                <a:gd name="T23" fmla="*/ 40 w 40"/>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40">
                  <a:moveTo>
                    <a:pt x="0" y="20"/>
                  </a:moveTo>
                  <a:lnTo>
                    <a:pt x="10" y="0"/>
                  </a:lnTo>
                  <a:lnTo>
                    <a:pt x="30" y="0"/>
                  </a:lnTo>
                  <a:lnTo>
                    <a:pt x="40" y="20"/>
                  </a:lnTo>
                  <a:lnTo>
                    <a:pt x="30"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473" name="Rectangle 127"/>
            <p:cNvSpPr>
              <a:spLocks noChangeArrowheads="1"/>
            </p:cNvSpPr>
            <p:nvPr/>
          </p:nvSpPr>
          <p:spPr bwMode="auto">
            <a:xfrm>
              <a:off x="540" y="112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474" name="Rectangle 128"/>
            <p:cNvSpPr>
              <a:spLocks noChangeArrowheads="1"/>
            </p:cNvSpPr>
            <p:nvPr/>
          </p:nvSpPr>
          <p:spPr bwMode="auto">
            <a:xfrm>
              <a:off x="618" y="1188"/>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475" name="Rectangle 129"/>
            <p:cNvSpPr>
              <a:spLocks noChangeArrowheads="1"/>
            </p:cNvSpPr>
            <p:nvPr/>
          </p:nvSpPr>
          <p:spPr bwMode="auto">
            <a:xfrm>
              <a:off x="686" y="549"/>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476" name="Rectangle 130"/>
            <p:cNvSpPr>
              <a:spLocks noChangeArrowheads="1"/>
            </p:cNvSpPr>
            <p:nvPr/>
          </p:nvSpPr>
          <p:spPr bwMode="auto">
            <a:xfrm>
              <a:off x="757" y="609"/>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16477" name="Freeform 131"/>
            <p:cNvSpPr/>
            <p:nvPr/>
          </p:nvSpPr>
          <p:spPr bwMode="auto">
            <a:xfrm>
              <a:off x="1221" y="1036"/>
              <a:ext cx="51" cy="51"/>
            </a:xfrm>
            <a:custGeom>
              <a:avLst/>
              <a:gdLst>
                <a:gd name="T0" fmla="*/ 0 w 51"/>
                <a:gd name="T1" fmla="*/ 21 h 51"/>
                <a:gd name="T2" fmla="*/ 11 w 51"/>
                <a:gd name="T3" fmla="*/ 0 h 51"/>
                <a:gd name="T4" fmla="*/ 41 w 51"/>
                <a:gd name="T5" fmla="*/ 0 h 51"/>
                <a:gd name="T6" fmla="*/ 51 w 51"/>
                <a:gd name="T7" fmla="*/ 21 h 51"/>
                <a:gd name="T8" fmla="*/ 41 w 51"/>
                <a:gd name="T9" fmla="*/ 51 h 51"/>
                <a:gd name="T10" fmla="*/ 11 w 51"/>
                <a:gd name="T11" fmla="*/ 51 h 51"/>
                <a:gd name="T12" fmla="*/ 0 w 51"/>
                <a:gd name="T13" fmla="*/ 21 h 51"/>
                <a:gd name="T14" fmla="*/ 0 60000 65536"/>
                <a:gd name="T15" fmla="*/ 0 60000 65536"/>
                <a:gd name="T16" fmla="*/ 0 60000 65536"/>
                <a:gd name="T17" fmla="*/ 0 60000 65536"/>
                <a:gd name="T18" fmla="*/ 0 60000 65536"/>
                <a:gd name="T19" fmla="*/ 0 60000 65536"/>
                <a:gd name="T20" fmla="*/ 0 60000 65536"/>
                <a:gd name="T21" fmla="*/ 0 w 51"/>
                <a:gd name="T22" fmla="*/ 0 h 51"/>
                <a:gd name="T23" fmla="*/ 51 w 5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51">
                  <a:moveTo>
                    <a:pt x="0" y="21"/>
                  </a:moveTo>
                  <a:lnTo>
                    <a:pt x="11" y="0"/>
                  </a:lnTo>
                  <a:lnTo>
                    <a:pt x="41" y="0"/>
                  </a:lnTo>
                  <a:lnTo>
                    <a:pt x="51" y="21"/>
                  </a:lnTo>
                  <a:lnTo>
                    <a:pt x="41" y="51"/>
                  </a:lnTo>
                  <a:lnTo>
                    <a:pt x="11" y="51"/>
                  </a:lnTo>
                  <a:lnTo>
                    <a:pt x="0" y="21"/>
                  </a:lnTo>
                  <a:close/>
                </a:path>
              </a:pathLst>
            </a:custGeom>
            <a:solidFill>
              <a:srgbClr val="000000"/>
            </a:solidFill>
            <a:ln w="15875">
              <a:solidFill>
                <a:srgbClr val="000000"/>
              </a:solidFill>
              <a:round/>
            </a:ln>
          </p:spPr>
          <p:txBody>
            <a:bodyPr/>
            <a:lstStyle/>
            <a:p>
              <a:endParaRPr lang="zh-CN" altLang="en-US"/>
            </a:p>
          </p:txBody>
        </p:sp>
        <p:sp>
          <p:nvSpPr>
            <p:cNvPr id="16478" name="Line 132"/>
            <p:cNvSpPr>
              <a:spLocks noChangeShapeType="1"/>
            </p:cNvSpPr>
            <p:nvPr/>
          </p:nvSpPr>
          <p:spPr bwMode="auto">
            <a:xfrm>
              <a:off x="1343" y="874"/>
              <a:ext cx="1" cy="233"/>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79" name="Freeform 133"/>
            <p:cNvSpPr/>
            <p:nvPr/>
          </p:nvSpPr>
          <p:spPr bwMode="auto">
            <a:xfrm>
              <a:off x="1313" y="996"/>
              <a:ext cx="51" cy="132"/>
            </a:xfrm>
            <a:custGeom>
              <a:avLst/>
              <a:gdLst>
                <a:gd name="T0" fmla="*/ 0 w 51"/>
                <a:gd name="T1" fmla="*/ 0 h 132"/>
                <a:gd name="T2" fmla="*/ 30 w 51"/>
                <a:gd name="T3" fmla="*/ 30 h 132"/>
                <a:gd name="T4" fmla="*/ 51 w 51"/>
                <a:gd name="T5" fmla="*/ 0 h 132"/>
                <a:gd name="T6" fmla="*/ 30 w 51"/>
                <a:gd name="T7" fmla="*/ 132 h 132"/>
                <a:gd name="T8" fmla="*/ 0 w 51"/>
                <a:gd name="T9" fmla="*/ 0 h 132"/>
                <a:gd name="T10" fmla="*/ 0 60000 65536"/>
                <a:gd name="T11" fmla="*/ 0 60000 65536"/>
                <a:gd name="T12" fmla="*/ 0 60000 65536"/>
                <a:gd name="T13" fmla="*/ 0 60000 65536"/>
                <a:gd name="T14" fmla="*/ 0 60000 65536"/>
                <a:gd name="T15" fmla="*/ 0 w 51"/>
                <a:gd name="T16" fmla="*/ 0 h 132"/>
                <a:gd name="T17" fmla="*/ 51 w 51"/>
                <a:gd name="T18" fmla="*/ 132 h 132"/>
              </a:gdLst>
              <a:ahLst/>
              <a:cxnLst>
                <a:cxn ang="T10">
                  <a:pos x="T0" y="T1"/>
                </a:cxn>
                <a:cxn ang="T11">
                  <a:pos x="T2" y="T3"/>
                </a:cxn>
                <a:cxn ang="T12">
                  <a:pos x="T4" y="T5"/>
                </a:cxn>
                <a:cxn ang="T13">
                  <a:pos x="T6" y="T7"/>
                </a:cxn>
                <a:cxn ang="T14">
                  <a:pos x="T8" y="T9"/>
                </a:cxn>
              </a:cxnLst>
              <a:rect l="T15" t="T16" r="T17" b="T18"/>
              <a:pathLst>
                <a:path w="51" h="132">
                  <a:moveTo>
                    <a:pt x="0" y="0"/>
                  </a:moveTo>
                  <a:lnTo>
                    <a:pt x="30" y="30"/>
                  </a:lnTo>
                  <a:lnTo>
                    <a:pt x="51" y="0"/>
                  </a:lnTo>
                  <a:lnTo>
                    <a:pt x="30" y="132"/>
                  </a:lnTo>
                  <a:lnTo>
                    <a:pt x="0" y="0"/>
                  </a:lnTo>
                  <a:close/>
                </a:path>
              </a:pathLst>
            </a:custGeom>
            <a:solidFill>
              <a:srgbClr val="000000"/>
            </a:solidFill>
            <a:ln w="15875">
              <a:solidFill>
                <a:srgbClr val="000000"/>
              </a:solidFill>
              <a:round/>
            </a:ln>
          </p:spPr>
          <p:txBody>
            <a:bodyPr/>
            <a:lstStyle/>
            <a:p>
              <a:endParaRPr lang="zh-CN" altLang="en-US"/>
            </a:p>
          </p:txBody>
        </p:sp>
        <p:sp>
          <p:nvSpPr>
            <p:cNvPr id="16480" name="Rectangle 134"/>
            <p:cNvSpPr>
              <a:spLocks noChangeArrowheads="1"/>
            </p:cNvSpPr>
            <p:nvPr/>
          </p:nvSpPr>
          <p:spPr bwMode="auto">
            <a:xfrm>
              <a:off x="1433" y="935"/>
              <a:ext cx="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16481" name="Rectangle 135"/>
            <p:cNvSpPr>
              <a:spLocks noChangeArrowheads="1"/>
            </p:cNvSpPr>
            <p:nvPr/>
          </p:nvSpPr>
          <p:spPr bwMode="auto">
            <a:xfrm>
              <a:off x="1476" y="99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e</a:t>
              </a:r>
              <a:endParaRPr lang="zh-CN" altLang="zh-CN" sz="2800">
                <a:latin typeface="Times New Roman" panose="02020603050405020304" pitchFamily="18" charset="0"/>
              </a:endParaRPr>
            </a:p>
          </p:txBody>
        </p:sp>
        <p:sp>
          <p:nvSpPr>
            <p:cNvPr id="16482" name="Rectangle 136"/>
            <p:cNvSpPr>
              <a:spLocks noChangeArrowheads="1"/>
            </p:cNvSpPr>
            <p:nvPr/>
          </p:nvSpPr>
          <p:spPr bwMode="auto">
            <a:xfrm>
              <a:off x="1468" y="813"/>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grpSp>
        <p:nvGrpSpPr>
          <p:cNvPr id="16402" name="Group 137"/>
          <p:cNvGrpSpPr/>
          <p:nvPr/>
        </p:nvGrpSpPr>
        <p:grpSpPr bwMode="auto">
          <a:xfrm>
            <a:off x="731838" y="427038"/>
            <a:ext cx="3498850" cy="2289175"/>
            <a:chOff x="0" y="0"/>
            <a:chExt cx="2204" cy="1442"/>
          </a:xfrm>
        </p:grpSpPr>
        <p:sp>
          <p:nvSpPr>
            <p:cNvPr id="16404" name="Rectangle 138"/>
            <p:cNvSpPr>
              <a:spLocks noChangeArrowheads="1"/>
            </p:cNvSpPr>
            <p:nvPr/>
          </p:nvSpPr>
          <p:spPr bwMode="auto">
            <a:xfrm>
              <a:off x="386" y="386"/>
              <a:ext cx="955" cy="578"/>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05" name="Line 139"/>
            <p:cNvSpPr>
              <a:spLocks noChangeShapeType="1"/>
            </p:cNvSpPr>
            <p:nvPr/>
          </p:nvSpPr>
          <p:spPr bwMode="auto">
            <a:xfrm>
              <a:off x="671" y="538"/>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06" name="Freeform 140"/>
            <p:cNvSpPr/>
            <p:nvPr/>
          </p:nvSpPr>
          <p:spPr bwMode="auto">
            <a:xfrm>
              <a:off x="935" y="518"/>
              <a:ext cx="122" cy="50"/>
            </a:xfrm>
            <a:custGeom>
              <a:avLst/>
              <a:gdLst>
                <a:gd name="T0" fmla="*/ 0 w 122"/>
                <a:gd name="T1" fmla="*/ 0 h 50"/>
                <a:gd name="T2" fmla="*/ 20 w 122"/>
                <a:gd name="T3" fmla="*/ 20 h 50"/>
                <a:gd name="T4" fmla="*/ 0 w 122"/>
                <a:gd name="T5" fmla="*/ 50 h 50"/>
                <a:gd name="T6" fmla="*/ 122 w 122"/>
                <a:gd name="T7" fmla="*/ 20 h 50"/>
                <a:gd name="T8" fmla="*/ 0 w 122"/>
                <a:gd name="T9" fmla="*/ 0 h 50"/>
                <a:gd name="T10" fmla="*/ 0 60000 65536"/>
                <a:gd name="T11" fmla="*/ 0 60000 65536"/>
                <a:gd name="T12" fmla="*/ 0 60000 65536"/>
                <a:gd name="T13" fmla="*/ 0 60000 65536"/>
                <a:gd name="T14" fmla="*/ 0 60000 65536"/>
                <a:gd name="T15" fmla="*/ 0 w 122"/>
                <a:gd name="T16" fmla="*/ 0 h 50"/>
                <a:gd name="T17" fmla="*/ 122 w 122"/>
                <a:gd name="T18" fmla="*/ 50 h 50"/>
              </a:gdLst>
              <a:ahLst/>
              <a:cxnLst>
                <a:cxn ang="T10">
                  <a:pos x="T0" y="T1"/>
                </a:cxn>
                <a:cxn ang="T11">
                  <a:pos x="T2" y="T3"/>
                </a:cxn>
                <a:cxn ang="T12">
                  <a:pos x="T4" y="T5"/>
                </a:cxn>
                <a:cxn ang="T13">
                  <a:pos x="T6" y="T7"/>
                </a:cxn>
                <a:cxn ang="T14">
                  <a:pos x="T8" y="T9"/>
                </a:cxn>
              </a:cxnLst>
              <a:rect l="T15" t="T16" r="T17" b="T18"/>
              <a:pathLst>
                <a:path w="122" h="50">
                  <a:moveTo>
                    <a:pt x="0" y="0"/>
                  </a:moveTo>
                  <a:lnTo>
                    <a:pt x="20" y="20"/>
                  </a:lnTo>
                  <a:lnTo>
                    <a:pt x="0" y="50"/>
                  </a:lnTo>
                  <a:lnTo>
                    <a:pt x="122" y="20"/>
                  </a:lnTo>
                  <a:lnTo>
                    <a:pt x="0" y="0"/>
                  </a:lnTo>
                  <a:close/>
                </a:path>
              </a:pathLst>
            </a:custGeom>
            <a:solidFill>
              <a:srgbClr val="000000"/>
            </a:solidFill>
            <a:ln w="15875">
              <a:solidFill>
                <a:srgbClr val="000000"/>
              </a:solidFill>
              <a:round/>
            </a:ln>
          </p:spPr>
          <p:txBody>
            <a:bodyPr/>
            <a:lstStyle/>
            <a:p>
              <a:endParaRPr lang="zh-CN" altLang="en-US"/>
            </a:p>
          </p:txBody>
        </p:sp>
        <p:sp>
          <p:nvSpPr>
            <p:cNvPr id="16407" name="Rectangle 141"/>
            <p:cNvSpPr>
              <a:spLocks noChangeArrowheads="1"/>
            </p:cNvSpPr>
            <p:nvPr/>
          </p:nvSpPr>
          <p:spPr bwMode="auto">
            <a:xfrm>
              <a:off x="843" y="60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16408" name="Rectangle 142"/>
            <p:cNvSpPr>
              <a:spLocks noChangeArrowheads="1"/>
            </p:cNvSpPr>
            <p:nvPr/>
          </p:nvSpPr>
          <p:spPr bwMode="auto">
            <a:xfrm>
              <a:off x="579" y="1056"/>
              <a:ext cx="569" cy="386"/>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09" name="Line 143"/>
            <p:cNvSpPr>
              <a:spLocks noChangeShapeType="1"/>
            </p:cNvSpPr>
            <p:nvPr/>
          </p:nvSpPr>
          <p:spPr bwMode="auto">
            <a:xfrm>
              <a:off x="671" y="1178"/>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10" name="Freeform 144"/>
            <p:cNvSpPr/>
            <p:nvPr/>
          </p:nvSpPr>
          <p:spPr bwMode="auto">
            <a:xfrm>
              <a:off x="671" y="1157"/>
              <a:ext cx="122" cy="41"/>
            </a:xfrm>
            <a:custGeom>
              <a:avLst/>
              <a:gdLst>
                <a:gd name="T0" fmla="*/ 122 w 122"/>
                <a:gd name="T1" fmla="*/ 0 h 41"/>
                <a:gd name="T2" fmla="*/ 101 w 122"/>
                <a:gd name="T3" fmla="*/ 21 h 41"/>
                <a:gd name="T4" fmla="*/ 122 w 122"/>
                <a:gd name="T5" fmla="*/ 41 h 41"/>
                <a:gd name="T6" fmla="*/ 0 w 122"/>
                <a:gd name="T7" fmla="*/ 21 h 41"/>
                <a:gd name="T8" fmla="*/ 122 w 122"/>
                <a:gd name="T9" fmla="*/ 0 h 41"/>
                <a:gd name="T10" fmla="*/ 0 60000 65536"/>
                <a:gd name="T11" fmla="*/ 0 60000 65536"/>
                <a:gd name="T12" fmla="*/ 0 60000 65536"/>
                <a:gd name="T13" fmla="*/ 0 60000 65536"/>
                <a:gd name="T14" fmla="*/ 0 60000 65536"/>
                <a:gd name="T15" fmla="*/ 0 w 122"/>
                <a:gd name="T16" fmla="*/ 0 h 41"/>
                <a:gd name="T17" fmla="*/ 122 w 122"/>
                <a:gd name="T18" fmla="*/ 41 h 41"/>
              </a:gdLst>
              <a:ahLst/>
              <a:cxnLst>
                <a:cxn ang="T10">
                  <a:pos x="T0" y="T1"/>
                </a:cxn>
                <a:cxn ang="T11">
                  <a:pos x="T2" y="T3"/>
                </a:cxn>
                <a:cxn ang="T12">
                  <a:pos x="T4" y="T5"/>
                </a:cxn>
                <a:cxn ang="T13">
                  <a:pos x="T6" y="T7"/>
                </a:cxn>
                <a:cxn ang="T14">
                  <a:pos x="T8" y="T9"/>
                </a:cxn>
              </a:cxnLst>
              <a:rect l="T15" t="T16" r="T17" b="T18"/>
              <a:pathLst>
                <a:path w="122" h="41">
                  <a:moveTo>
                    <a:pt x="122" y="0"/>
                  </a:moveTo>
                  <a:lnTo>
                    <a:pt x="101" y="21"/>
                  </a:lnTo>
                  <a:lnTo>
                    <a:pt x="122" y="41"/>
                  </a:lnTo>
                  <a:lnTo>
                    <a:pt x="0" y="21"/>
                  </a:lnTo>
                  <a:lnTo>
                    <a:pt x="122" y="0"/>
                  </a:lnTo>
                  <a:close/>
                </a:path>
              </a:pathLst>
            </a:custGeom>
            <a:solidFill>
              <a:srgbClr val="000000"/>
            </a:solidFill>
            <a:ln w="15875">
              <a:solidFill>
                <a:srgbClr val="000000"/>
              </a:solidFill>
              <a:round/>
            </a:ln>
          </p:spPr>
          <p:txBody>
            <a:bodyPr/>
            <a:lstStyle/>
            <a:p>
              <a:endParaRPr lang="zh-CN" altLang="en-US"/>
            </a:p>
          </p:txBody>
        </p:sp>
        <p:sp>
          <p:nvSpPr>
            <p:cNvPr id="16411" name="Rectangle 145"/>
            <p:cNvSpPr>
              <a:spLocks noChangeArrowheads="1"/>
            </p:cNvSpPr>
            <p:nvPr/>
          </p:nvSpPr>
          <p:spPr bwMode="auto">
            <a:xfrm>
              <a:off x="843" y="1178"/>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412" name="Line 146"/>
            <p:cNvSpPr>
              <a:spLocks noChangeShapeType="1"/>
            </p:cNvSpPr>
            <p:nvPr/>
          </p:nvSpPr>
          <p:spPr bwMode="auto">
            <a:xfrm flipH="1">
              <a:off x="1341" y="487"/>
              <a:ext cx="579"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13" name="Line 147"/>
            <p:cNvSpPr>
              <a:spLocks noChangeShapeType="1"/>
            </p:cNvSpPr>
            <p:nvPr/>
          </p:nvSpPr>
          <p:spPr bwMode="auto">
            <a:xfrm flipH="1">
              <a:off x="1341" y="863"/>
              <a:ext cx="579"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14" name="Freeform 148"/>
            <p:cNvSpPr/>
            <p:nvPr/>
          </p:nvSpPr>
          <p:spPr bwMode="auto">
            <a:xfrm>
              <a:off x="1920" y="457"/>
              <a:ext cx="51" cy="50"/>
            </a:xfrm>
            <a:custGeom>
              <a:avLst/>
              <a:gdLst>
                <a:gd name="T0" fmla="*/ 0 w 51"/>
                <a:gd name="T1" fmla="*/ 30 h 50"/>
                <a:gd name="T2" fmla="*/ 10 w 51"/>
                <a:gd name="T3" fmla="*/ 0 h 50"/>
                <a:gd name="T4" fmla="*/ 31 w 51"/>
                <a:gd name="T5" fmla="*/ 0 h 50"/>
                <a:gd name="T6" fmla="*/ 51 w 51"/>
                <a:gd name="T7" fmla="*/ 30 h 50"/>
                <a:gd name="T8" fmla="*/ 31 w 51"/>
                <a:gd name="T9" fmla="*/ 50 h 50"/>
                <a:gd name="T10" fmla="*/ 10 w 51"/>
                <a:gd name="T11" fmla="*/ 50 h 50"/>
                <a:gd name="T12" fmla="*/ 0 w 51"/>
                <a:gd name="T13" fmla="*/ 30 h 50"/>
                <a:gd name="T14" fmla="*/ 0 60000 65536"/>
                <a:gd name="T15" fmla="*/ 0 60000 65536"/>
                <a:gd name="T16" fmla="*/ 0 60000 65536"/>
                <a:gd name="T17" fmla="*/ 0 60000 65536"/>
                <a:gd name="T18" fmla="*/ 0 60000 65536"/>
                <a:gd name="T19" fmla="*/ 0 60000 65536"/>
                <a:gd name="T20" fmla="*/ 0 60000 65536"/>
                <a:gd name="T21" fmla="*/ 0 w 51"/>
                <a:gd name="T22" fmla="*/ 0 h 50"/>
                <a:gd name="T23" fmla="*/ 51 w 5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50">
                  <a:moveTo>
                    <a:pt x="0" y="30"/>
                  </a:moveTo>
                  <a:lnTo>
                    <a:pt x="10" y="0"/>
                  </a:lnTo>
                  <a:lnTo>
                    <a:pt x="31" y="0"/>
                  </a:lnTo>
                  <a:lnTo>
                    <a:pt x="51" y="30"/>
                  </a:lnTo>
                  <a:lnTo>
                    <a:pt x="31" y="50"/>
                  </a:lnTo>
                  <a:lnTo>
                    <a:pt x="10" y="50"/>
                  </a:lnTo>
                  <a:lnTo>
                    <a:pt x="0" y="30"/>
                  </a:lnTo>
                  <a:close/>
                </a:path>
              </a:pathLst>
            </a:custGeom>
            <a:solidFill>
              <a:srgbClr val="FFFFFF"/>
            </a:solidFill>
            <a:ln w="15875">
              <a:solidFill>
                <a:srgbClr val="000000"/>
              </a:solidFill>
              <a:round/>
            </a:ln>
          </p:spPr>
          <p:txBody>
            <a:bodyPr/>
            <a:lstStyle/>
            <a:p>
              <a:endParaRPr lang="zh-CN" altLang="en-US"/>
            </a:p>
          </p:txBody>
        </p:sp>
        <p:sp>
          <p:nvSpPr>
            <p:cNvPr id="16415" name="Freeform 149"/>
            <p:cNvSpPr/>
            <p:nvPr/>
          </p:nvSpPr>
          <p:spPr bwMode="auto">
            <a:xfrm>
              <a:off x="1920" y="843"/>
              <a:ext cx="51" cy="40"/>
            </a:xfrm>
            <a:custGeom>
              <a:avLst/>
              <a:gdLst>
                <a:gd name="T0" fmla="*/ 0 w 51"/>
                <a:gd name="T1" fmla="*/ 20 h 40"/>
                <a:gd name="T2" fmla="*/ 10 w 51"/>
                <a:gd name="T3" fmla="*/ 0 h 40"/>
                <a:gd name="T4" fmla="*/ 31 w 51"/>
                <a:gd name="T5" fmla="*/ 0 h 40"/>
                <a:gd name="T6" fmla="*/ 51 w 51"/>
                <a:gd name="T7" fmla="*/ 20 h 40"/>
                <a:gd name="T8" fmla="*/ 31 w 51"/>
                <a:gd name="T9" fmla="*/ 40 h 40"/>
                <a:gd name="T10" fmla="*/ 10 w 51"/>
                <a:gd name="T11" fmla="*/ 40 h 40"/>
                <a:gd name="T12" fmla="*/ 0 w 51"/>
                <a:gd name="T13" fmla="*/ 20 h 40"/>
                <a:gd name="T14" fmla="*/ 0 60000 65536"/>
                <a:gd name="T15" fmla="*/ 0 60000 65536"/>
                <a:gd name="T16" fmla="*/ 0 60000 65536"/>
                <a:gd name="T17" fmla="*/ 0 60000 65536"/>
                <a:gd name="T18" fmla="*/ 0 60000 65536"/>
                <a:gd name="T19" fmla="*/ 0 60000 65536"/>
                <a:gd name="T20" fmla="*/ 0 60000 65536"/>
                <a:gd name="T21" fmla="*/ 0 w 51"/>
                <a:gd name="T22" fmla="*/ 0 h 40"/>
                <a:gd name="T23" fmla="*/ 51 w 5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40">
                  <a:moveTo>
                    <a:pt x="0" y="20"/>
                  </a:moveTo>
                  <a:lnTo>
                    <a:pt x="10" y="0"/>
                  </a:lnTo>
                  <a:lnTo>
                    <a:pt x="31" y="0"/>
                  </a:lnTo>
                  <a:lnTo>
                    <a:pt x="51" y="20"/>
                  </a:lnTo>
                  <a:lnTo>
                    <a:pt x="31" y="40"/>
                  </a:lnTo>
                  <a:lnTo>
                    <a:pt x="10" y="40"/>
                  </a:lnTo>
                  <a:lnTo>
                    <a:pt x="0" y="20"/>
                  </a:lnTo>
                  <a:close/>
                </a:path>
              </a:pathLst>
            </a:custGeom>
            <a:solidFill>
              <a:srgbClr val="FFFFFF"/>
            </a:solidFill>
            <a:ln w="15875">
              <a:solidFill>
                <a:srgbClr val="000000"/>
              </a:solidFill>
              <a:round/>
            </a:ln>
          </p:spPr>
          <p:txBody>
            <a:bodyPr/>
            <a:lstStyle/>
            <a:p>
              <a:endParaRPr lang="zh-CN" altLang="en-US"/>
            </a:p>
          </p:txBody>
        </p:sp>
        <p:sp>
          <p:nvSpPr>
            <p:cNvPr id="16416" name="Line 150"/>
            <p:cNvSpPr>
              <a:spLocks noChangeShapeType="1"/>
            </p:cNvSpPr>
            <p:nvPr/>
          </p:nvSpPr>
          <p:spPr bwMode="auto">
            <a:xfrm flipH="1">
              <a:off x="1148" y="115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17" name="Line 151"/>
            <p:cNvSpPr>
              <a:spLocks noChangeShapeType="1"/>
            </p:cNvSpPr>
            <p:nvPr/>
          </p:nvSpPr>
          <p:spPr bwMode="auto">
            <a:xfrm flipV="1">
              <a:off x="1534" y="487"/>
              <a:ext cx="1" cy="67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18" name="Freeform 152"/>
            <p:cNvSpPr/>
            <p:nvPr/>
          </p:nvSpPr>
          <p:spPr bwMode="auto">
            <a:xfrm>
              <a:off x="1514" y="457"/>
              <a:ext cx="51" cy="50"/>
            </a:xfrm>
            <a:custGeom>
              <a:avLst/>
              <a:gdLst>
                <a:gd name="T0" fmla="*/ 0 w 51"/>
                <a:gd name="T1" fmla="*/ 30 h 50"/>
                <a:gd name="T2" fmla="*/ 10 w 51"/>
                <a:gd name="T3" fmla="*/ 0 h 50"/>
                <a:gd name="T4" fmla="*/ 30 w 51"/>
                <a:gd name="T5" fmla="*/ 0 h 50"/>
                <a:gd name="T6" fmla="*/ 51 w 51"/>
                <a:gd name="T7" fmla="*/ 30 h 50"/>
                <a:gd name="T8" fmla="*/ 30 w 51"/>
                <a:gd name="T9" fmla="*/ 50 h 50"/>
                <a:gd name="T10" fmla="*/ 10 w 51"/>
                <a:gd name="T11" fmla="*/ 50 h 50"/>
                <a:gd name="T12" fmla="*/ 0 w 51"/>
                <a:gd name="T13" fmla="*/ 30 h 50"/>
                <a:gd name="T14" fmla="*/ 0 60000 65536"/>
                <a:gd name="T15" fmla="*/ 0 60000 65536"/>
                <a:gd name="T16" fmla="*/ 0 60000 65536"/>
                <a:gd name="T17" fmla="*/ 0 60000 65536"/>
                <a:gd name="T18" fmla="*/ 0 60000 65536"/>
                <a:gd name="T19" fmla="*/ 0 60000 65536"/>
                <a:gd name="T20" fmla="*/ 0 60000 65536"/>
                <a:gd name="T21" fmla="*/ 0 w 51"/>
                <a:gd name="T22" fmla="*/ 0 h 50"/>
                <a:gd name="T23" fmla="*/ 51 w 51"/>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50">
                  <a:moveTo>
                    <a:pt x="0" y="30"/>
                  </a:moveTo>
                  <a:lnTo>
                    <a:pt x="10" y="0"/>
                  </a:lnTo>
                  <a:lnTo>
                    <a:pt x="30" y="0"/>
                  </a:lnTo>
                  <a:lnTo>
                    <a:pt x="51" y="30"/>
                  </a:lnTo>
                  <a:lnTo>
                    <a:pt x="30" y="50"/>
                  </a:lnTo>
                  <a:lnTo>
                    <a:pt x="10" y="50"/>
                  </a:lnTo>
                  <a:lnTo>
                    <a:pt x="0" y="30"/>
                  </a:lnTo>
                  <a:close/>
                </a:path>
              </a:pathLst>
            </a:custGeom>
            <a:solidFill>
              <a:srgbClr val="000000"/>
            </a:solidFill>
            <a:ln w="15875">
              <a:solidFill>
                <a:srgbClr val="000000"/>
              </a:solidFill>
              <a:round/>
            </a:ln>
          </p:spPr>
          <p:txBody>
            <a:bodyPr/>
            <a:lstStyle/>
            <a:p>
              <a:endParaRPr lang="zh-CN" altLang="en-US"/>
            </a:p>
          </p:txBody>
        </p:sp>
        <p:sp>
          <p:nvSpPr>
            <p:cNvPr id="16419" name="Line 153"/>
            <p:cNvSpPr>
              <a:spLocks noChangeShapeType="1"/>
            </p:cNvSpPr>
            <p:nvPr/>
          </p:nvSpPr>
          <p:spPr bwMode="auto">
            <a:xfrm flipH="1">
              <a:off x="1148" y="1350"/>
              <a:ext cx="579"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0" name="Line 154"/>
            <p:cNvSpPr>
              <a:spLocks noChangeShapeType="1"/>
            </p:cNvSpPr>
            <p:nvPr/>
          </p:nvSpPr>
          <p:spPr bwMode="auto">
            <a:xfrm flipV="1">
              <a:off x="1727" y="873"/>
              <a:ext cx="1" cy="47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1" name="Freeform 155"/>
            <p:cNvSpPr/>
            <p:nvPr/>
          </p:nvSpPr>
          <p:spPr bwMode="auto">
            <a:xfrm>
              <a:off x="1707" y="843"/>
              <a:ext cx="41" cy="40"/>
            </a:xfrm>
            <a:custGeom>
              <a:avLst/>
              <a:gdLst>
                <a:gd name="T0" fmla="*/ 0 w 41"/>
                <a:gd name="T1" fmla="*/ 20 h 40"/>
                <a:gd name="T2" fmla="*/ 10 w 41"/>
                <a:gd name="T3" fmla="*/ 0 h 40"/>
                <a:gd name="T4" fmla="*/ 30 w 41"/>
                <a:gd name="T5" fmla="*/ 0 h 40"/>
                <a:gd name="T6" fmla="*/ 41 w 41"/>
                <a:gd name="T7" fmla="*/ 20 h 40"/>
                <a:gd name="T8" fmla="*/ 30 w 41"/>
                <a:gd name="T9" fmla="*/ 40 h 40"/>
                <a:gd name="T10" fmla="*/ 10 w 41"/>
                <a:gd name="T11" fmla="*/ 40 h 40"/>
                <a:gd name="T12" fmla="*/ 0 w 41"/>
                <a:gd name="T13" fmla="*/ 20 h 40"/>
                <a:gd name="T14" fmla="*/ 0 60000 65536"/>
                <a:gd name="T15" fmla="*/ 0 60000 65536"/>
                <a:gd name="T16" fmla="*/ 0 60000 65536"/>
                <a:gd name="T17" fmla="*/ 0 60000 65536"/>
                <a:gd name="T18" fmla="*/ 0 60000 65536"/>
                <a:gd name="T19" fmla="*/ 0 60000 65536"/>
                <a:gd name="T20" fmla="*/ 0 60000 65536"/>
                <a:gd name="T21" fmla="*/ 0 w 41"/>
                <a:gd name="T22" fmla="*/ 0 h 40"/>
                <a:gd name="T23" fmla="*/ 41 w 41"/>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0">
                  <a:moveTo>
                    <a:pt x="0" y="20"/>
                  </a:moveTo>
                  <a:lnTo>
                    <a:pt x="10" y="0"/>
                  </a:lnTo>
                  <a:lnTo>
                    <a:pt x="30" y="0"/>
                  </a:lnTo>
                  <a:lnTo>
                    <a:pt x="41" y="20"/>
                  </a:lnTo>
                  <a:lnTo>
                    <a:pt x="30" y="40"/>
                  </a:lnTo>
                  <a:lnTo>
                    <a:pt x="10" y="40"/>
                  </a:lnTo>
                  <a:lnTo>
                    <a:pt x="0" y="20"/>
                  </a:lnTo>
                  <a:close/>
                </a:path>
              </a:pathLst>
            </a:custGeom>
            <a:solidFill>
              <a:srgbClr val="000000"/>
            </a:solidFill>
            <a:ln w="15875">
              <a:solidFill>
                <a:srgbClr val="000000"/>
              </a:solidFill>
              <a:round/>
            </a:ln>
          </p:spPr>
          <p:txBody>
            <a:bodyPr/>
            <a:lstStyle/>
            <a:p>
              <a:endParaRPr lang="zh-CN" altLang="en-US"/>
            </a:p>
          </p:txBody>
        </p:sp>
        <p:sp>
          <p:nvSpPr>
            <p:cNvPr id="16422" name="Line 156"/>
            <p:cNvSpPr>
              <a:spLocks noChangeShapeType="1"/>
            </p:cNvSpPr>
            <p:nvPr/>
          </p:nvSpPr>
          <p:spPr bwMode="auto">
            <a:xfrm flipH="1">
              <a:off x="0" y="48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3" name="Line 157"/>
            <p:cNvSpPr>
              <a:spLocks noChangeShapeType="1"/>
            </p:cNvSpPr>
            <p:nvPr/>
          </p:nvSpPr>
          <p:spPr bwMode="auto">
            <a:xfrm flipH="1">
              <a:off x="0" y="863"/>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4" name="Line 158"/>
            <p:cNvSpPr>
              <a:spLocks noChangeShapeType="1"/>
            </p:cNvSpPr>
            <p:nvPr/>
          </p:nvSpPr>
          <p:spPr bwMode="auto">
            <a:xfrm flipH="1">
              <a:off x="193" y="1157"/>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5" name="Line 159"/>
            <p:cNvSpPr>
              <a:spLocks noChangeShapeType="1"/>
            </p:cNvSpPr>
            <p:nvPr/>
          </p:nvSpPr>
          <p:spPr bwMode="auto">
            <a:xfrm flipH="1">
              <a:off x="193" y="1350"/>
              <a:ext cx="386" cy="1"/>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6" name="Line 160"/>
            <p:cNvSpPr>
              <a:spLocks noChangeShapeType="1"/>
            </p:cNvSpPr>
            <p:nvPr/>
          </p:nvSpPr>
          <p:spPr bwMode="auto">
            <a:xfrm flipV="1">
              <a:off x="1636" y="294"/>
              <a:ext cx="1" cy="193"/>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27" name="Freeform 161"/>
            <p:cNvSpPr/>
            <p:nvPr/>
          </p:nvSpPr>
          <p:spPr bwMode="auto">
            <a:xfrm>
              <a:off x="1605" y="355"/>
              <a:ext cx="51" cy="132"/>
            </a:xfrm>
            <a:custGeom>
              <a:avLst/>
              <a:gdLst>
                <a:gd name="T0" fmla="*/ 51 w 51"/>
                <a:gd name="T1" fmla="*/ 0 h 132"/>
                <a:gd name="T2" fmla="*/ 31 w 51"/>
                <a:gd name="T3" fmla="*/ 20 h 132"/>
                <a:gd name="T4" fmla="*/ 0 w 51"/>
                <a:gd name="T5" fmla="*/ 0 h 132"/>
                <a:gd name="T6" fmla="*/ 31 w 51"/>
                <a:gd name="T7" fmla="*/ 132 h 132"/>
                <a:gd name="T8" fmla="*/ 51 w 51"/>
                <a:gd name="T9" fmla="*/ 0 h 132"/>
                <a:gd name="T10" fmla="*/ 0 60000 65536"/>
                <a:gd name="T11" fmla="*/ 0 60000 65536"/>
                <a:gd name="T12" fmla="*/ 0 60000 65536"/>
                <a:gd name="T13" fmla="*/ 0 60000 65536"/>
                <a:gd name="T14" fmla="*/ 0 60000 65536"/>
                <a:gd name="T15" fmla="*/ 0 w 51"/>
                <a:gd name="T16" fmla="*/ 0 h 132"/>
                <a:gd name="T17" fmla="*/ 51 w 51"/>
                <a:gd name="T18" fmla="*/ 132 h 132"/>
              </a:gdLst>
              <a:ahLst/>
              <a:cxnLst>
                <a:cxn ang="T10">
                  <a:pos x="T0" y="T1"/>
                </a:cxn>
                <a:cxn ang="T11">
                  <a:pos x="T2" y="T3"/>
                </a:cxn>
                <a:cxn ang="T12">
                  <a:pos x="T4" y="T5"/>
                </a:cxn>
                <a:cxn ang="T13">
                  <a:pos x="T6" y="T7"/>
                </a:cxn>
                <a:cxn ang="T14">
                  <a:pos x="T8" y="T9"/>
                </a:cxn>
              </a:cxnLst>
              <a:rect l="T15" t="T16" r="T17" b="T18"/>
              <a:pathLst>
                <a:path w="51" h="132">
                  <a:moveTo>
                    <a:pt x="51" y="0"/>
                  </a:moveTo>
                  <a:lnTo>
                    <a:pt x="31" y="20"/>
                  </a:lnTo>
                  <a:lnTo>
                    <a:pt x="0" y="0"/>
                  </a:lnTo>
                  <a:lnTo>
                    <a:pt x="31" y="132"/>
                  </a:lnTo>
                  <a:lnTo>
                    <a:pt x="51" y="0"/>
                  </a:lnTo>
                  <a:close/>
                </a:path>
              </a:pathLst>
            </a:custGeom>
            <a:solidFill>
              <a:srgbClr val="000000"/>
            </a:solidFill>
            <a:ln w="15875">
              <a:solidFill>
                <a:srgbClr val="000000"/>
              </a:solidFill>
              <a:round/>
            </a:ln>
          </p:spPr>
          <p:txBody>
            <a:bodyPr/>
            <a:lstStyle/>
            <a:p>
              <a:endParaRPr lang="zh-CN" altLang="en-US"/>
            </a:p>
          </p:txBody>
        </p:sp>
        <p:sp>
          <p:nvSpPr>
            <p:cNvPr id="16428" name="Rectangle 162"/>
            <p:cNvSpPr>
              <a:spLocks noChangeArrowheads="1"/>
            </p:cNvSpPr>
            <p:nvPr/>
          </p:nvSpPr>
          <p:spPr bwMode="auto">
            <a:xfrm>
              <a:off x="1250" y="0"/>
              <a:ext cx="670" cy="294"/>
            </a:xfrm>
            <a:prstGeom prst="rect">
              <a:avLst/>
            </a:prstGeom>
            <a:noFill/>
            <a:ln w="1587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29" name="Rectangle 163"/>
            <p:cNvSpPr>
              <a:spLocks noChangeArrowheads="1"/>
            </p:cNvSpPr>
            <p:nvPr/>
          </p:nvSpPr>
          <p:spPr bwMode="auto">
            <a:xfrm>
              <a:off x="1349" y="70"/>
              <a:ext cx="54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电压取样</a:t>
              </a:r>
              <a:endParaRPr lang="zh-CN" altLang="zh-CN" sz="2800">
                <a:latin typeface="Times New Roman" panose="02020603050405020304" pitchFamily="18" charset="0"/>
              </a:endParaRPr>
            </a:p>
          </p:txBody>
        </p:sp>
        <p:sp>
          <p:nvSpPr>
            <p:cNvPr id="16430" name="Line 164"/>
            <p:cNvSpPr>
              <a:spLocks noChangeShapeType="1"/>
            </p:cNvSpPr>
            <p:nvPr/>
          </p:nvSpPr>
          <p:spPr bwMode="auto">
            <a:xfrm flipV="1">
              <a:off x="1941" y="507"/>
              <a:ext cx="1" cy="33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431" name="Rectangle 165"/>
            <p:cNvSpPr>
              <a:spLocks noChangeArrowheads="1"/>
            </p:cNvSpPr>
            <p:nvPr/>
          </p:nvSpPr>
          <p:spPr bwMode="auto">
            <a:xfrm>
              <a:off x="1910" y="579"/>
              <a:ext cx="71" cy="193"/>
            </a:xfrm>
            <a:prstGeom prst="rect">
              <a:avLst/>
            </a:prstGeom>
            <a:solidFill>
              <a:srgbClr val="FFFFFF"/>
            </a:solidFill>
            <a:ln w="1587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16432" name="Rectangle 166"/>
            <p:cNvSpPr>
              <a:spLocks noChangeArrowheads="1"/>
            </p:cNvSpPr>
            <p:nvPr/>
          </p:nvSpPr>
          <p:spPr bwMode="auto">
            <a:xfrm>
              <a:off x="2062" y="589"/>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16433" name="Rectangle 167"/>
            <p:cNvSpPr>
              <a:spLocks noChangeArrowheads="1"/>
            </p:cNvSpPr>
            <p:nvPr/>
          </p:nvSpPr>
          <p:spPr bwMode="auto">
            <a:xfrm>
              <a:off x="2145" y="659"/>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L</a:t>
              </a:r>
              <a:endParaRPr lang="zh-CN" altLang="zh-CN" sz="2800">
                <a:latin typeface="Times New Roman" panose="02020603050405020304" pitchFamily="18" charset="0"/>
              </a:endParaRPr>
            </a:p>
          </p:txBody>
        </p:sp>
        <p:sp>
          <p:nvSpPr>
            <p:cNvPr id="16434" name="Rectangle 168"/>
            <p:cNvSpPr>
              <a:spLocks noChangeArrowheads="1"/>
            </p:cNvSpPr>
            <p:nvPr/>
          </p:nvSpPr>
          <p:spPr bwMode="auto">
            <a:xfrm>
              <a:off x="2013" y="355"/>
              <a:ext cx="9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16435" name="Rectangle 169"/>
            <p:cNvSpPr>
              <a:spLocks noChangeArrowheads="1"/>
            </p:cNvSpPr>
            <p:nvPr/>
          </p:nvSpPr>
          <p:spPr bwMode="auto">
            <a:xfrm>
              <a:off x="2106" y="416"/>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16436" name="Rectangle 170"/>
            <p:cNvSpPr>
              <a:spLocks noChangeArrowheads="1"/>
            </p:cNvSpPr>
            <p:nvPr/>
          </p:nvSpPr>
          <p:spPr bwMode="auto">
            <a:xfrm>
              <a:off x="2065" y="233"/>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16437" name="Rectangle 171"/>
            <p:cNvSpPr>
              <a:spLocks noChangeArrowheads="1"/>
            </p:cNvSpPr>
            <p:nvPr/>
          </p:nvSpPr>
          <p:spPr bwMode="auto">
            <a:xfrm>
              <a:off x="112" y="1147"/>
              <a:ext cx="9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16438" name="Rectangle 172"/>
            <p:cNvSpPr>
              <a:spLocks noChangeArrowheads="1"/>
            </p:cNvSpPr>
            <p:nvPr/>
          </p:nvSpPr>
          <p:spPr bwMode="auto">
            <a:xfrm>
              <a:off x="189" y="1208"/>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16439" name="Rectangle 173"/>
            <p:cNvSpPr>
              <a:spLocks noChangeArrowheads="1"/>
            </p:cNvSpPr>
            <p:nvPr/>
          </p:nvSpPr>
          <p:spPr bwMode="auto">
            <a:xfrm>
              <a:off x="145" y="1025"/>
              <a:ext cx="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
        <p:nvSpPr>
          <p:cNvPr id="16403" name="Text Box 174"/>
          <p:cNvSpPr txBox="1">
            <a:spLocks noChangeArrowheads="1"/>
          </p:cNvSpPr>
          <p:nvPr/>
        </p:nvSpPr>
        <p:spPr bwMode="auto">
          <a:xfrm>
            <a:off x="2679700" y="5759450"/>
            <a:ext cx="408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图6.1.4  电压反馈和电流反馈</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315913C-FD19-4593-8A81-5DB1C62302AB}" type="slidenum">
              <a:rPr lang="zh-CN" altLang="zh-CN" sz="1400" smtClean="0"/>
            </a:fld>
            <a:endParaRPr lang="zh-CN" altLang="zh-CN" sz="1400" smtClean="0"/>
          </a:p>
        </p:txBody>
      </p:sp>
      <p:sp>
        <p:nvSpPr>
          <p:cNvPr id="17411" name="Text Box 2"/>
          <p:cNvSpPr txBox="1">
            <a:spLocks noChangeArrowheads="1"/>
          </p:cNvSpPr>
          <p:nvPr/>
        </p:nvSpPr>
        <p:spPr bwMode="auto">
          <a:xfrm>
            <a:off x="481013" y="2341563"/>
            <a:ext cx="8162925"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a:latin typeface="Times New Roman" panose="02020603050405020304" pitchFamily="18" charset="0"/>
              </a:rPr>
              <a:t>	采用“输出短路法”。即将输出端短路，观察反馈信号是否还存在。如果反馈信号不存在，说明是电压反馈；反之，则说明是电流反馈。 </a:t>
            </a:r>
            <a:endParaRPr lang="zh-CN" altLang="zh-CN">
              <a:latin typeface="Times New Roman" panose="02020603050405020304" pitchFamily="18" charset="0"/>
            </a:endParaRPr>
          </a:p>
        </p:txBody>
      </p:sp>
      <p:sp>
        <p:nvSpPr>
          <p:cNvPr id="17412" name="Text Box 3"/>
          <p:cNvSpPr txBox="1">
            <a:spLocks noChangeArrowheads="1"/>
          </p:cNvSpPr>
          <p:nvPr/>
        </p:nvSpPr>
        <p:spPr bwMode="auto">
          <a:xfrm>
            <a:off x="3416300" y="1177925"/>
            <a:ext cx="22764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3600">
                <a:latin typeface="Times New Roman" panose="02020603050405020304" pitchFamily="18" charset="0"/>
              </a:rPr>
              <a:t>判断方法</a:t>
            </a:r>
            <a:endParaRPr lang="zh-CN" altLang="zh-CN" sz="36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6665358-8F08-4290-A8B9-E7D781B75745}" type="slidenum">
              <a:rPr lang="zh-CN" altLang="zh-CN" sz="1400" smtClean="0"/>
            </a:fld>
            <a:endParaRPr lang="zh-CN" altLang="zh-CN" sz="1400" smtClean="0"/>
          </a:p>
        </p:txBody>
      </p:sp>
      <p:pic>
        <p:nvPicPr>
          <p:cNvPr id="1843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36650"/>
            <a:ext cx="9144000" cy="314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3"/>
          <p:cNvSpPr>
            <a:spLocks noChangeArrowheads="1"/>
          </p:cNvSpPr>
          <p:nvPr/>
        </p:nvSpPr>
        <p:spPr bwMode="auto">
          <a:xfrm>
            <a:off x="1428750" y="4400550"/>
            <a:ext cx="1781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（a）电路</a:t>
            </a:r>
            <a:endParaRPr lang="zh-CN" altLang="zh-CN" sz="2400">
              <a:latin typeface="Times New Roman" panose="02020603050405020304" pitchFamily="18" charset="0"/>
            </a:endParaRPr>
          </a:p>
        </p:txBody>
      </p:sp>
      <p:sp>
        <p:nvSpPr>
          <p:cNvPr id="18437" name="Rectangle 4"/>
          <p:cNvSpPr>
            <a:spLocks noChangeArrowheads="1"/>
          </p:cNvSpPr>
          <p:nvPr/>
        </p:nvSpPr>
        <p:spPr bwMode="auto">
          <a:xfrm>
            <a:off x="5653088" y="4332288"/>
            <a:ext cx="258921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（b）令负载短路</a:t>
            </a:r>
            <a:endParaRPr lang="zh-CN" altLang="zh-CN" sz="2400">
              <a:latin typeface="Times New Roman" panose="02020603050405020304" pitchFamily="18" charset="0"/>
            </a:endParaRPr>
          </a:p>
        </p:txBody>
      </p:sp>
      <p:sp>
        <p:nvSpPr>
          <p:cNvPr id="2" name="Rectangle 5"/>
          <p:cNvSpPr>
            <a:spLocks noChangeArrowheads="1"/>
          </p:cNvSpPr>
          <p:nvPr/>
        </p:nvSpPr>
        <p:spPr bwMode="auto">
          <a:xfrm>
            <a:off x="3584575" y="5072063"/>
            <a:ext cx="1917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a:latin typeface="Times New Roman" panose="02020603050405020304" pitchFamily="18" charset="0"/>
              </a:rPr>
              <a:t>电压反馈 </a:t>
            </a:r>
            <a:endParaRPr lang="zh-CN" altLang="zh-CN">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C68BAD0-0EC3-4A10-9E7D-D697B546BD5F}" type="slidenum">
              <a:rPr lang="zh-CN" altLang="zh-CN" sz="1400" smtClean="0"/>
            </a:fld>
            <a:endParaRPr lang="zh-CN" altLang="zh-CN" sz="1400" smtClean="0"/>
          </a:p>
        </p:txBody>
      </p:sp>
      <p:sp>
        <p:nvSpPr>
          <p:cNvPr id="19459" name="Rectangle 2"/>
          <p:cNvSpPr>
            <a:spLocks noChangeArrowheads="1"/>
          </p:cNvSpPr>
          <p:nvPr/>
        </p:nvSpPr>
        <p:spPr bwMode="auto">
          <a:xfrm>
            <a:off x="1428750" y="4400550"/>
            <a:ext cx="1922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（a）电路</a:t>
            </a:r>
            <a:endParaRPr lang="zh-CN" altLang="zh-CN" sz="2400">
              <a:latin typeface="Times New Roman" panose="02020603050405020304" pitchFamily="18" charset="0"/>
            </a:endParaRPr>
          </a:p>
        </p:txBody>
      </p:sp>
      <p:sp>
        <p:nvSpPr>
          <p:cNvPr id="19460" name="Rectangle 3"/>
          <p:cNvSpPr>
            <a:spLocks noChangeArrowheads="1"/>
          </p:cNvSpPr>
          <p:nvPr/>
        </p:nvSpPr>
        <p:spPr bwMode="auto">
          <a:xfrm>
            <a:off x="5653088" y="4332288"/>
            <a:ext cx="266541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（b）令负载短路</a:t>
            </a:r>
            <a:endParaRPr lang="zh-CN" altLang="zh-CN" sz="2400">
              <a:latin typeface="Times New Roman" panose="02020603050405020304" pitchFamily="18" charset="0"/>
            </a:endParaRPr>
          </a:p>
        </p:txBody>
      </p:sp>
      <p:sp>
        <p:nvSpPr>
          <p:cNvPr id="2" name="Rectangle 4"/>
          <p:cNvSpPr>
            <a:spLocks noChangeArrowheads="1"/>
          </p:cNvSpPr>
          <p:nvPr/>
        </p:nvSpPr>
        <p:spPr bwMode="auto">
          <a:xfrm>
            <a:off x="3584575" y="5072063"/>
            <a:ext cx="1917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a:latin typeface="Times New Roman" panose="02020603050405020304" pitchFamily="18" charset="0"/>
              </a:rPr>
              <a:t>电流反馈 </a:t>
            </a:r>
            <a:endParaRPr lang="zh-CN" altLang="zh-CN">
              <a:latin typeface="Times New Roman" panose="02020603050405020304" pitchFamily="18" charset="0"/>
            </a:endParaRPr>
          </a:p>
        </p:txBody>
      </p:sp>
      <p:pic>
        <p:nvPicPr>
          <p:cNvPr id="1946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84263"/>
            <a:ext cx="914400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DA5F4A2-BCE6-42F7-B215-6EDA676C3BF2}" type="slidenum">
              <a:rPr lang="zh-CN" altLang="zh-CN" sz="1400" smtClean="0"/>
            </a:fld>
            <a:endParaRPr lang="zh-CN" altLang="zh-CN" sz="1400" smtClean="0"/>
          </a:p>
        </p:txBody>
      </p:sp>
      <p:sp>
        <p:nvSpPr>
          <p:cNvPr id="20483" name="Text Box 2"/>
          <p:cNvSpPr txBox="1">
            <a:spLocks noChangeArrowheads="1"/>
          </p:cNvSpPr>
          <p:nvPr/>
        </p:nvSpPr>
        <p:spPr bwMode="auto">
          <a:xfrm>
            <a:off x="785813" y="1784350"/>
            <a:ext cx="7389812"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        根据反馈网络和基本放大器输入端的连接方式方式不同，分为：</a:t>
            </a:r>
            <a:endParaRPr lang="zh-CN" altLang="zh-CN" sz="280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串联反馈：</a:t>
            </a:r>
            <a:endParaRPr lang="zh-CN" altLang="zh-CN" sz="2800">
              <a:solidFill>
                <a:srgbClr val="CC0099"/>
              </a:solidFill>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        反馈网络串联在基本放大器的输入回路中</a:t>
            </a:r>
            <a:endParaRPr lang="zh-CN" altLang="zh-CN" sz="280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并联反馈：</a:t>
            </a:r>
            <a:endParaRPr lang="zh-CN" altLang="zh-CN" sz="2800">
              <a:solidFill>
                <a:srgbClr val="CC0099"/>
              </a:solidFill>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        反馈网络并接在基本放大器的输入端</a:t>
            </a:r>
            <a:endParaRPr lang="zh-CN" altLang="zh-CN" sz="2800">
              <a:latin typeface="Times New Roman" panose="02020603050405020304" pitchFamily="18" charset="0"/>
            </a:endParaRPr>
          </a:p>
        </p:txBody>
      </p:sp>
      <p:sp>
        <p:nvSpPr>
          <p:cNvPr id="20484" name="Rectangle 3"/>
          <p:cNvSpPr>
            <a:spLocks noChangeArrowheads="1"/>
          </p:cNvSpPr>
          <p:nvPr/>
        </p:nvSpPr>
        <p:spPr bwMode="auto">
          <a:xfrm>
            <a:off x="542925" y="896938"/>
            <a:ext cx="5319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二、串联反馈与并联反馈</a:t>
            </a:r>
            <a:endParaRPr lang="zh-CN" altLang="zh-CN">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B7F638D-98EF-4110-A43E-01CB85692B45}" type="slidenum">
              <a:rPr lang="zh-CN" altLang="zh-CN" sz="1400" smtClean="0"/>
            </a:fld>
            <a:endParaRPr lang="zh-CN" altLang="zh-CN" sz="1400" smtClean="0"/>
          </a:p>
        </p:txBody>
      </p:sp>
      <p:graphicFrame>
        <p:nvGraphicFramePr>
          <p:cNvPr id="21507" name="Object 2"/>
          <p:cNvGraphicFramePr>
            <a:graphicFrameLocks noChangeAspect="1"/>
          </p:cNvGraphicFramePr>
          <p:nvPr/>
        </p:nvGraphicFramePr>
        <p:xfrm>
          <a:off x="1527175" y="5600700"/>
          <a:ext cx="1941513" cy="800100"/>
        </p:xfrm>
        <a:graphic>
          <a:graphicData uri="http://schemas.openxmlformats.org/presentationml/2006/ole">
            <mc:AlternateContent xmlns:mc="http://schemas.openxmlformats.org/markup-compatibility/2006">
              <mc:Choice xmlns:v="urn:schemas-microsoft-com:vml" Requires="v">
                <p:oleObj spid="_x0000_s21596" name="" r:id="rId1" imgW="1282700" imgH="495300" progId="Equation.3">
                  <p:embed/>
                </p:oleObj>
              </mc:Choice>
              <mc:Fallback>
                <p:oleObj name="" r:id="rId1" imgW="1282700" imgH="4953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175" y="5600700"/>
                        <a:ext cx="1941513"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1508" name="Group 3"/>
          <p:cNvGrpSpPr/>
          <p:nvPr/>
        </p:nvGrpSpPr>
        <p:grpSpPr bwMode="auto">
          <a:xfrm>
            <a:off x="1973263" y="319088"/>
            <a:ext cx="5183187" cy="3381375"/>
            <a:chOff x="0" y="0"/>
            <a:chExt cx="3265" cy="2130"/>
          </a:xfrm>
        </p:grpSpPr>
        <p:sp>
          <p:nvSpPr>
            <p:cNvPr id="21513" name="Rectangle 4"/>
            <p:cNvSpPr>
              <a:spLocks noChangeArrowheads="1"/>
            </p:cNvSpPr>
            <p:nvPr/>
          </p:nvSpPr>
          <p:spPr bwMode="auto">
            <a:xfrm>
              <a:off x="1640" y="278"/>
              <a:ext cx="1277" cy="1059"/>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1514" name="Line 5"/>
            <p:cNvSpPr>
              <a:spLocks noChangeShapeType="1"/>
            </p:cNvSpPr>
            <p:nvPr/>
          </p:nvSpPr>
          <p:spPr bwMode="auto">
            <a:xfrm>
              <a:off x="2245" y="585"/>
              <a:ext cx="369"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5" name="Freeform 6"/>
            <p:cNvSpPr/>
            <p:nvPr/>
          </p:nvSpPr>
          <p:spPr bwMode="auto">
            <a:xfrm>
              <a:off x="2446" y="543"/>
              <a:ext cx="168" cy="70"/>
            </a:xfrm>
            <a:custGeom>
              <a:avLst/>
              <a:gdLst>
                <a:gd name="T0" fmla="*/ 0 w 112"/>
                <a:gd name="T1" fmla="*/ 0 h 47"/>
                <a:gd name="T2" fmla="*/ 332 w 112"/>
                <a:gd name="T3" fmla="*/ 463 h 47"/>
                <a:gd name="T4" fmla="*/ 0 w 112"/>
                <a:gd name="T5" fmla="*/ 763 h 47"/>
                <a:gd name="T6" fmla="*/ 1916 w 112"/>
                <a:gd name="T7" fmla="*/ 463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21516" name="Rectangle 7"/>
            <p:cNvSpPr>
              <a:spLocks noChangeArrowheads="1"/>
            </p:cNvSpPr>
            <p:nvPr/>
          </p:nvSpPr>
          <p:spPr bwMode="auto">
            <a:xfrm>
              <a:off x="2366" y="669"/>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i="1">
                  <a:solidFill>
                    <a:srgbClr val="000000"/>
                  </a:solidFill>
                  <a:latin typeface="Times New Roman" panose="02020603050405020304" pitchFamily="18" charset="0"/>
                </a:rPr>
                <a:t>A</a:t>
              </a:r>
              <a:endParaRPr lang="zh-CN" altLang="zh-CN" sz="2400">
                <a:latin typeface="Times New Roman" panose="02020603050405020304" pitchFamily="18" charset="0"/>
              </a:endParaRPr>
            </a:p>
          </p:txBody>
        </p:sp>
        <p:sp>
          <p:nvSpPr>
            <p:cNvPr id="21517" name="Line 8"/>
            <p:cNvSpPr>
              <a:spLocks noChangeShapeType="1"/>
            </p:cNvSpPr>
            <p:nvPr/>
          </p:nvSpPr>
          <p:spPr bwMode="auto">
            <a:xfrm>
              <a:off x="58" y="417"/>
              <a:ext cx="191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8" name="Line 9"/>
            <p:cNvSpPr>
              <a:spLocks noChangeShapeType="1"/>
            </p:cNvSpPr>
            <p:nvPr/>
          </p:nvSpPr>
          <p:spPr bwMode="auto">
            <a:xfrm>
              <a:off x="1108" y="1198"/>
              <a:ext cx="86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9" name="Line 10"/>
            <p:cNvSpPr>
              <a:spLocks noChangeShapeType="1"/>
            </p:cNvSpPr>
            <p:nvPr/>
          </p:nvSpPr>
          <p:spPr bwMode="auto">
            <a:xfrm>
              <a:off x="1976" y="417"/>
              <a:ext cx="2" cy="78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0" name="Line 11"/>
            <p:cNvSpPr>
              <a:spLocks noChangeShapeType="1"/>
            </p:cNvSpPr>
            <p:nvPr/>
          </p:nvSpPr>
          <p:spPr bwMode="auto">
            <a:xfrm flipV="1">
              <a:off x="1976" y="613"/>
              <a:ext cx="2" cy="334"/>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1" name="Rectangle 12"/>
            <p:cNvSpPr>
              <a:spLocks noChangeArrowheads="1"/>
            </p:cNvSpPr>
            <p:nvPr/>
          </p:nvSpPr>
          <p:spPr bwMode="auto">
            <a:xfrm>
              <a:off x="1906" y="613"/>
              <a:ext cx="126" cy="334"/>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1522" name="Rectangle 13"/>
            <p:cNvSpPr>
              <a:spLocks noChangeArrowheads="1"/>
            </p:cNvSpPr>
            <p:nvPr/>
          </p:nvSpPr>
          <p:spPr bwMode="auto">
            <a:xfrm>
              <a:off x="2102" y="699"/>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R</a:t>
              </a:r>
              <a:endParaRPr lang="zh-CN" altLang="zh-CN" sz="1800">
                <a:latin typeface="Times New Roman" panose="02020603050405020304" pitchFamily="18" charset="0"/>
              </a:endParaRPr>
            </a:p>
          </p:txBody>
        </p:sp>
        <p:sp>
          <p:nvSpPr>
            <p:cNvPr id="21523" name="Rectangle 14"/>
            <p:cNvSpPr>
              <a:spLocks noChangeArrowheads="1"/>
            </p:cNvSpPr>
            <p:nvPr/>
          </p:nvSpPr>
          <p:spPr bwMode="auto">
            <a:xfrm>
              <a:off x="2218" y="787"/>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21524" name="Line 15"/>
            <p:cNvSpPr>
              <a:spLocks noChangeShapeType="1"/>
            </p:cNvSpPr>
            <p:nvPr/>
          </p:nvSpPr>
          <p:spPr bwMode="auto">
            <a:xfrm>
              <a:off x="1108" y="1198"/>
              <a:ext cx="1" cy="52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5" name="Rectangle 16"/>
            <p:cNvSpPr>
              <a:spLocks noChangeArrowheads="1"/>
            </p:cNvSpPr>
            <p:nvPr/>
          </p:nvSpPr>
          <p:spPr bwMode="auto">
            <a:xfrm>
              <a:off x="1906" y="1600"/>
              <a:ext cx="1051" cy="530"/>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1526" name="Line 17"/>
            <p:cNvSpPr>
              <a:spLocks noChangeShapeType="1"/>
            </p:cNvSpPr>
            <p:nvPr/>
          </p:nvSpPr>
          <p:spPr bwMode="auto">
            <a:xfrm>
              <a:off x="2173" y="1768"/>
              <a:ext cx="517"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7" name="Freeform 18"/>
            <p:cNvSpPr/>
            <p:nvPr/>
          </p:nvSpPr>
          <p:spPr bwMode="auto">
            <a:xfrm>
              <a:off x="2173" y="1726"/>
              <a:ext cx="168" cy="70"/>
            </a:xfrm>
            <a:custGeom>
              <a:avLst/>
              <a:gdLst>
                <a:gd name="T0" fmla="*/ 1916 w 112"/>
                <a:gd name="T1" fmla="*/ 0 h 47"/>
                <a:gd name="T2" fmla="*/ 1598 w 112"/>
                <a:gd name="T3" fmla="*/ 463 h 47"/>
                <a:gd name="T4" fmla="*/ 1916 w 112"/>
                <a:gd name="T5" fmla="*/ 763 h 47"/>
                <a:gd name="T6" fmla="*/ 0 w 112"/>
                <a:gd name="T7" fmla="*/ 463 h 47"/>
                <a:gd name="T8" fmla="*/ 1916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112" y="0"/>
                  </a:moveTo>
                  <a:lnTo>
                    <a:pt x="93" y="28"/>
                  </a:lnTo>
                  <a:lnTo>
                    <a:pt x="112" y="47"/>
                  </a:lnTo>
                  <a:lnTo>
                    <a:pt x="0" y="28"/>
                  </a:lnTo>
                  <a:lnTo>
                    <a:pt x="112" y="0"/>
                  </a:lnTo>
                  <a:close/>
                </a:path>
              </a:pathLst>
            </a:custGeom>
            <a:solidFill>
              <a:srgbClr val="000000"/>
            </a:solidFill>
            <a:ln w="14288">
              <a:solidFill>
                <a:srgbClr val="000000"/>
              </a:solidFill>
              <a:round/>
            </a:ln>
          </p:spPr>
          <p:txBody>
            <a:bodyPr/>
            <a:lstStyle/>
            <a:p>
              <a:endParaRPr lang="zh-CN" altLang="en-US"/>
            </a:p>
          </p:txBody>
        </p:sp>
        <p:sp>
          <p:nvSpPr>
            <p:cNvPr id="21528" name="Rectangle 19"/>
            <p:cNvSpPr>
              <a:spLocks noChangeArrowheads="1"/>
            </p:cNvSpPr>
            <p:nvPr/>
          </p:nvSpPr>
          <p:spPr bwMode="auto">
            <a:xfrm>
              <a:off x="2351" y="1813"/>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i="1">
                  <a:solidFill>
                    <a:srgbClr val="000000"/>
                  </a:solidFill>
                  <a:latin typeface="Times New Roman" panose="02020603050405020304" pitchFamily="18" charset="0"/>
                </a:rPr>
                <a:t>F</a:t>
              </a:r>
              <a:endParaRPr lang="zh-CN" altLang="zh-CN" sz="2400">
                <a:latin typeface="Times New Roman" panose="02020603050405020304" pitchFamily="18" charset="0"/>
              </a:endParaRPr>
            </a:p>
          </p:txBody>
        </p:sp>
        <p:sp>
          <p:nvSpPr>
            <p:cNvPr id="21529" name="Line 20"/>
            <p:cNvSpPr>
              <a:spLocks noChangeShapeType="1"/>
            </p:cNvSpPr>
            <p:nvPr/>
          </p:nvSpPr>
          <p:spPr bwMode="auto">
            <a:xfrm>
              <a:off x="1108" y="1726"/>
              <a:ext cx="79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0" name="Line 21"/>
            <p:cNvSpPr>
              <a:spLocks noChangeShapeType="1"/>
            </p:cNvSpPr>
            <p:nvPr/>
          </p:nvSpPr>
          <p:spPr bwMode="auto">
            <a:xfrm>
              <a:off x="575" y="1991"/>
              <a:ext cx="1331"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1" name="Line 22"/>
            <p:cNvSpPr>
              <a:spLocks noChangeShapeType="1"/>
            </p:cNvSpPr>
            <p:nvPr/>
          </p:nvSpPr>
          <p:spPr bwMode="auto">
            <a:xfrm>
              <a:off x="575" y="1198"/>
              <a:ext cx="2" cy="793"/>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2" name="Line 23"/>
            <p:cNvSpPr>
              <a:spLocks noChangeShapeType="1"/>
            </p:cNvSpPr>
            <p:nvPr/>
          </p:nvSpPr>
          <p:spPr bwMode="auto">
            <a:xfrm flipH="1">
              <a:off x="58" y="1198"/>
              <a:ext cx="517"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3" name="Freeform 24"/>
            <p:cNvSpPr/>
            <p:nvPr/>
          </p:nvSpPr>
          <p:spPr bwMode="auto">
            <a:xfrm>
              <a:off x="58" y="390"/>
              <a:ext cx="55" cy="56"/>
            </a:xfrm>
            <a:custGeom>
              <a:avLst/>
              <a:gdLst>
                <a:gd name="T0" fmla="*/ 0 w 37"/>
                <a:gd name="T1" fmla="*/ 325 h 37"/>
                <a:gd name="T2" fmla="*/ 137 w 37"/>
                <a:gd name="T3" fmla="*/ 0 h 37"/>
                <a:gd name="T4" fmla="*/ 450 w 37"/>
                <a:gd name="T5" fmla="*/ 0 h 37"/>
                <a:gd name="T6" fmla="*/ 595 w 37"/>
                <a:gd name="T7" fmla="*/ 325 h 37"/>
                <a:gd name="T8" fmla="*/ 450 w 37"/>
                <a:gd name="T9" fmla="*/ 675 h 37"/>
                <a:gd name="T10" fmla="*/ 137 w 37"/>
                <a:gd name="T11" fmla="*/ 675 h 37"/>
                <a:gd name="T12" fmla="*/ 0 w 37"/>
                <a:gd name="T13" fmla="*/ 325 h 37"/>
                <a:gd name="T14" fmla="*/ 0 60000 65536"/>
                <a:gd name="T15" fmla="*/ 0 60000 65536"/>
                <a:gd name="T16" fmla="*/ 0 60000 65536"/>
                <a:gd name="T17" fmla="*/ 0 60000 65536"/>
                <a:gd name="T18" fmla="*/ 0 60000 65536"/>
                <a:gd name="T19" fmla="*/ 0 60000 65536"/>
                <a:gd name="T20" fmla="*/ 0 60000 65536"/>
                <a:gd name="T21" fmla="*/ 0 w 37"/>
                <a:gd name="T22" fmla="*/ 0 h 37"/>
                <a:gd name="T23" fmla="*/ 37 w 3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7">
                  <a:moveTo>
                    <a:pt x="0" y="18"/>
                  </a:moveTo>
                  <a:lnTo>
                    <a:pt x="9" y="0"/>
                  </a:lnTo>
                  <a:lnTo>
                    <a:pt x="28" y="0"/>
                  </a:lnTo>
                  <a:lnTo>
                    <a:pt x="37" y="18"/>
                  </a:lnTo>
                  <a:lnTo>
                    <a:pt x="28" y="37"/>
                  </a:lnTo>
                  <a:lnTo>
                    <a:pt x="9" y="37"/>
                  </a:lnTo>
                  <a:lnTo>
                    <a:pt x="0" y="18"/>
                  </a:lnTo>
                  <a:close/>
                </a:path>
              </a:pathLst>
            </a:custGeom>
            <a:solidFill>
              <a:srgbClr val="FFFFFF"/>
            </a:solidFill>
            <a:ln w="14288">
              <a:solidFill>
                <a:srgbClr val="000000"/>
              </a:solidFill>
              <a:round/>
            </a:ln>
          </p:spPr>
          <p:txBody>
            <a:bodyPr/>
            <a:lstStyle/>
            <a:p>
              <a:endParaRPr lang="zh-CN" altLang="en-US"/>
            </a:p>
          </p:txBody>
        </p:sp>
        <p:sp>
          <p:nvSpPr>
            <p:cNvPr id="21534" name="Freeform 25"/>
            <p:cNvSpPr/>
            <p:nvPr/>
          </p:nvSpPr>
          <p:spPr bwMode="auto">
            <a:xfrm>
              <a:off x="58" y="1170"/>
              <a:ext cx="55" cy="55"/>
            </a:xfrm>
            <a:custGeom>
              <a:avLst/>
              <a:gdLst>
                <a:gd name="T0" fmla="*/ 0 w 37"/>
                <a:gd name="T1" fmla="*/ 303 h 37"/>
                <a:gd name="T2" fmla="*/ 137 w 37"/>
                <a:gd name="T3" fmla="*/ 0 h 37"/>
                <a:gd name="T4" fmla="*/ 450 w 37"/>
                <a:gd name="T5" fmla="*/ 0 h 37"/>
                <a:gd name="T6" fmla="*/ 595 w 37"/>
                <a:gd name="T7" fmla="*/ 303 h 37"/>
                <a:gd name="T8" fmla="*/ 450 w 37"/>
                <a:gd name="T9" fmla="*/ 595 h 37"/>
                <a:gd name="T10" fmla="*/ 137 w 37"/>
                <a:gd name="T11" fmla="*/ 595 h 37"/>
                <a:gd name="T12" fmla="*/ 0 w 37"/>
                <a:gd name="T13" fmla="*/ 303 h 37"/>
                <a:gd name="T14" fmla="*/ 0 60000 65536"/>
                <a:gd name="T15" fmla="*/ 0 60000 65536"/>
                <a:gd name="T16" fmla="*/ 0 60000 65536"/>
                <a:gd name="T17" fmla="*/ 0 60000 65536"/>
                <a:gd name="T18" fmla="*/ 0 60000 65536"/>
                <a:gd name="T19" fmla="*/ 0 60000 65536"/>
                <a:gd name="T20" fmla="*/ 0 60000 65536"/>
                <a:gd name="T21" fmla="*/ 0 w 37"/>
                <a:gd name="T22" fmla="*/ 0 h 37"/>
                <a:gd name="T23" fmla="*/ 37 w 3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7">
                  <a:moveTo>
                    <a:pt x="0" y="19"/>
                  </a:moveTo>
                  <a:lnTo>
                    <a:pt x="9" y="0"/>
                  </a:lnTo>
                  <a:lnTo>
                    <a:pt x="28" y="0"/>
                  </a:lnTo>
                  <a:lnTo>
                    <a:pt x="37" y="19"/>
                  </a:lnTo>
                  <a:lnTo>
                    <a:pt x="28" y="37"/>
                  </a:lnTo>
                  <a:lnTo>
                    <a:pt x="9" y="37"/>
                  </a:lnTo>
                  <a:lnTo>
                    <a:pt x="0" y="19"/>
                  </a:lnTo>
                  <a:close/>
                </a:path>
              </a:pathLst>
            </a:custGeom>
            <a:solidFill>
              <a:srgbClr val="FFFFFF"/>
            </a:solidFill>
            <a:ln w="14288">
              <a:solidFill>
                <a:srgbClr val="000000"/>
              </a:solidFill>
              <a:round/>
            </a:ln>
          </p:spPr>
          <p:txBody>
            <a:bodyPr/>
            <a:lstStyle/>
            <a:p>
              <a:endParaRPr lang="zh-CN" altLang="en-US"/>
            </a:p>
          </p:txBody>
        </p:sp>
        <p:sp>
          <p:nvSpPr>
            <p:cNvPr id="21535" name="Line 26"/>
            <p:cNvSpPr>
              <a:spLocks noChangeShapeType="1"/>
            </p:cNvSpPr>
            <p:nvPr/>
          </p:nvSpPr>
          <p:spPr bwMode="auto">
            <a:xfrm>
              <a:off x="2935" y="417"/>
              <a:ext cx="312"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6" name="Line 27"/>
            <p:cNvSpPr>
              <a:spLocks noChangeShapeType="1"/>
            </p:cNvSpPr>
            <p:nvPr/>
          </p:nvSpPr>
          <p:spPr bwMode="auto">
            <a:xfrm>
              <a:off x="2935" y="1198"/>
              <a:ext cx="330"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7" name="Line 28"/>
            <p:cNvSpPr>
              <a:spLocks noChangeShapeType="1"/>
            </p:cNvSpPr>
            <p:nvPr/>
          </p:nvSpPr>
          <p:spPr bwMode="auto">
            <a:xfrm>
              <a:off x="2957" y="1726"/>
              <a:ext cx="240"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8" name="Line 29"/>
            <p:cNvSpPr>
              <a:spLocks noChangeShapeType="1"/>
            </p:cNvSpPr>
            <p:nvPr/>
          </p:nvSpPr>
          <p:spPr bwMode="auto">
            <a:xfrm>
              <a:off x="2957" y="1991"/>
              <a:ext cx="222"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9" name="Rectangle 30"/>
            <p:cNvSpPr>
              <a:spLocks noChangeArrowheads="1"/>
            </p:cNvSpPr>
            <p:nvPr/>
          </p:nvSpPr>
          <p:spPr bwMode="auto">
            <a:xfrm>
              <a:off x="215" y="446"/>
              <a:ext cx="12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40" name="Rectangle 31"/>
            <p:cNvSpPr>
              <a:spLocks noChangeArrowheads="1"/>
            </p:cNvSpPr>
            <p:nvPr/>
          </p:nvSpPr>
          <p:spPr bwMode="auto">
            <a:xfrm>
              <a:off x="215" y="1046"/>
              <a:ext cx="12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41" name="Rectangle 32"/>
            <p:cNvSpPr>
              <a:spLocks noChangeArrowheads="1"/>
            </p:cNvSpPr>
            <p:nvPr/>
          </p:nvSpPr>
          <p:spPr bwMode="auto">
            <a:xfrm>
              <a:off x="0" y="751"/>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21542" name="Rectangle 33"/>
            <p:cNvSpPr>
              <a:spLocks noChangeArrowheads="1"/>
            </p:cNvSpPr>
            <p:nvPr/>
          </p:nvSpPr>
          <p:spPr bwMode="auto">
            <a:xfrm>
              <a:off x="134" y="818"/>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21543" name="Rectangle 34"/>
            <p:cNvSpPr>
              <a:spLocks noChangeArrowheads="1"/>
            </p:cNvSpPr>
            <p:nvPr/>
          </p:nvSpPr>
          <p:spPr bwMode="auto">
            <a:xfrm>
              <a:off x="97" y="600"/>
              <a:ext cx="6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44" name="Line 35"/>
            <p:cNvSpPr>
              <a:spLocks noChangeShapeType="1"/>
            </p:cNvSpPr>
            <p:nvPr/>
          </p:nvSpPr>
          <p:spPr bwMode="auto">
            <a:xfrm>
              <a:off x="380" y="808"/>
              <a:ext cx="0" cy="653"/>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5" name="Rectangle 36"/>
            <p:cNvSpPr>
              <a:spLocks noChangeArrowheads="1"/>
            </p:cNvSpPr>
            <p:nvPr/>
          </p:nvSpPr>
          <p:spPr bwMode="auto">
            <a:xfrm>
              <a:off x="454" y="1240"/>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46" name="Line 37"/>
            <p:cNvSpPr>
              <a:spLocks noChangeShapeType="1"/>
            </p:cNvSpPr>
            <p:nvPr/>
          </p:nvSpPr>
          <p:spPr bwMode="auto">
            <a:xfrm flipH="1">
              <a:off x="380" y="808"/>
              <a:ext cx="266"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47" name="Freeform 38"/>
            <p:cNvSpPr/>
            <p:nvPr/>
          </p:nvSpPr>
          <p:spPr bwMode="auto">
            <a:xfrm>
              <a:off x="533" y="779"/>
              <a:ext cx="183" cy="57"/>
            </a:xfrm>
            <a:custGeom>
              <a:avLst/>
              <a:gdLst>
                <a:gd name="T0" fmla="*/ 0 w 122"/>
                <a:gd name="T1" fmla="*/ 0 h 38"/>
                <a:gd name="T2" fmla="*/ 477 w 122"/>
                <a:gd name="T3" fmla="*/ 324 h 38"/>
                <a:gd name="T4" fmla="*/ 0 w 122"/>
                <a:gd name="T5" fmla="*/ 647 h 38"/>
                <a:gd name="T6" fmla="*/ 2093 w 122"/>
                <a:gd name="T7" fmla="*/ 324 h 38"/>
                <a:gd name="T8" fmla="*/ 0 w 122"/>
                <a:gd name="T9" fmla="*/ 0 h 38"/>
                <a:gd name="T10" fmla="*/ 0 60000 65536"/>
                <a:gd name="T11" fmla="*/ 0 60000 65536"/>
                <a:gd name="T12" fmla="*/ 0 60000 65536"/>
                <a:gd name="T13" fmla="*/ 0 60000 65536"/>
                <a:gd name="T14" fmla="*/ 0 60000 65536"/>
                <a:gd name="T15" fmla="*/ 0 w 122"/>
                <a:gd name="T16" fmla="*/ 0 h 38"/>
                <a:gd name="T17" fmla="*/ 122 w 122"/>
                <a:gd name="T18" fmla="*/ 38 h 38"/>
              </a:gdLst>
              <a:ahLst/>
              <a:cxnLst>
                <a:cxn ang="T10">
                  <a:pos x="T0" y="T1"/>
                </a:cxn>
                <a:cxn ang="T11">
                  <a:pos x="T2" y="T3"/>
                </a:cxn>
                <a:cxn ang="T12">
                  <a:pos x="T4" y="T5"/>
                </a:cxn>
                <a:cxn ang="T13">
                  <a:pos x="T6" y="T7"/>
                </a:cxn>
                <a:cxn ang="T14">
                  <a:pos x="T8" y="T9"/>
                </a:cxn>
              </a:cxnLst>
              <a:rect l="T15" t="T16" r="T17" b="T18"/>
              <a:pathLst>
                <a:path w="122" h="38">
                  <a:moveTo>
                    <a:pt x="0" y="0"/>
                  </a:moveTo>
                  <a:lnTo>
                    <a:pt x="28" y="19"/>
                  </a:lnTo>
                  <a:lnTo>
                    <a:pt x="0" y="38"/>
                  </a:lnTo>
                  <a:lnTo>
                    <a:pt x="122" y="19"/>
                  </a:lnTo>
                  <a:lnTo>
                    <a:pt x="0" y="0"/>
                  </a:lnTo>
                  <a:close/>
                </a:path>
              </a:pathLst>
            </a:custGeom>
            <a:solidFill>
              <a:srgbClr val="000000"/>
            </a:solidFill>
            <a:ln w="14288">
              <a:solidFill>
                <a:srgbClr val="000000"/>
              </a:solidFill>
              <a:round/>
            </a:ln>
          </p:spPr>
          <p:txBody>
            <a:bodyPr/>
            <a:lstStyle/>
            <a:p>
              <a:endParaRPr lang="zh-CN" altLang="en-US"/>
            </a:p>
          </p:txBody>
        </p:sp>
        <p:sp>
          <p:nvSpPr>
            <p:cNvPr id="21548" name="Rectangle 39"/>
            <p:cNvSpPr>
              <a:spLocks noChangeArrowheads="1"/>
            </p:cNvSpPr>
            <p:nvPr/>
          </p:nvSpPr>
          <p:spPr bwMode="auto">
            <a:xfrm>
              <a:off x="92" y="1315"/>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R</a:t>
              </a:r>
              <a:endParaRPr lang="zh-CN" altLang="zh-CN" sz="1800">
                <a:latin typeface="Times New Roman" panose="02020603050405020304" pitchFamily="18" charset="0"/>
              </a:endParaRPr>
            </a:p>
          </p:txBody>
        </p:sp>
        <p:sp>
          <p:nvSpPr>
            <p:cNvPr id="21549" name="Rectangle 40"/>
            <p:cNvSpPr>
              <a:spLocks noChangeArrowheads="1"/>
            </p:cNvSpPr>
            <p:nvPr/>
          </p:nvSpPr>
          <p:spPr bwMode="auto">
            <a:xfrm>
              <a:off x="199" y="1414"/>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21550" name="Rectangle 41"/>
            <p:cNvSpPr>
              <a:spLocks noChangeArrowheads="1"/>
            </p:cNvSpPr>
            <p:nvPr/>
          </p:nvSpPr>
          <p:spPr bwMode="auto">
            <a:xfrm>
              <a:off x="231" y="1414"/>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f</a:t>
              </a:r>
              <a:endParaRPr lang="zh-CN" altLang="zh-CN" sz="1600">
                <a:latin typeface="Times New Roman" panose="02020603050405020304" pitchFamily="18" charset="0"/>
              </a:endParaRPr>
            </a:p>
          </p:txBody>
        </p:sp>
        <p:sp>
          <p:nvSpPr>
            <p:cNvPr id="21551" name="Rectangle 42"/>
            <p:cNvSpPr>
              <a:spLocks noChangeArrowheads="1"/>
            </p:cNvSpPr>
            <p:nvPr/>
          </p:nvSpPr>
          <p:spPr bwMode="auto">
            <a:xfrm>
              <a:off x="810" y="1128"/>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21552" name="Rectangle 43"/>
            <p:cNvSpPr>
              <a:spLocks noChangeArrowheads="1"/>
            </p:cNvSpPr>
            <p:nvPr/>
          </p:nvSpPr>
          <p:spPr bwMode="auto">
            <a:xfrm>
              <a:off x="918" y="1212"/>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f</a:t>
              </a:r>
              <a:endParaRPr lang="zh-CN" altLang="zh-CN" sz="1600">
                <a:latin typeface="Times New Roman" panose="02020603050405020304" pitchFamily="18" charset="0"/>
              </a:endParaRPr>
            </a:p>
          </p:txBody>
        </p:sp>
        <p:sp>
          <p:nvSpPr>
            <p:cNvPr id="21553" name="Rectangle 44"/>
            <p:cNvSpPr>
              <a:spLocks noChangeArrowheads="1"/>
            </p:cNvSpPr>
            <p:nvPr/>
          </p:nvSpPr>
          <p:spPr bwMode="auto">
            <a:xfrm>
              <a:off x="1423" y="446"/>
              <a:ext cx="12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54" name="Rectangle 45"/>
            <p:cNvSpPr>
              <a:spLocks noChangeArrowheads="1"/>
            </p:cNvSpPr>
            <p:nvPr/>
          </p:nvSpPr>
          <p:spPr bwMode="auto">
            <a:xfrm>
              <a:off x="1423" y="1046"/>
              <a:ext cx="12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55" name="Rectangle 46"/>
            <p:cNvSpPr>
              <a:spLocks noChangeArrowheads="1"/>
            </p:cNvSpPr>
            <p:nvPr/>
          </p:nvSpPr>
          <p:spPr bwMode="auto">
            <a:xfrm>
              <a:off x="1237" y="1240"/>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56" name="Rectangle 47"/>
            <p:cNvSpPr>
              <a:spLocks noChangeArrowheads="1"/>
            </p:cNvSpPr>
            <p:nvPr/>
          </p:nvSpPr>
          <p:spPr bwMode="auto">
            <a:xfrm>
              <a:off x="1319" y="696"/>
              <a:ext cx="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21557" name="Rectangle 48"/>
            <p:cNvSpPr>
              <a:spLocks noChangeArrowheads="1"/>
            </p:cNvSpPr>
            <p:nvPr/>
          </p:nvSpPr>
          <p:spPr bwMode="auto">
            <a:xfrm>
              <a:off x="1436" y="779"/>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21558" name="Rectangle 49"/>
            <p:cNvSpPr>
              <a:spLocks noChangeArrowheads="1"/>
            </p:cNvSpPr>
            <p:nvPr/>
          </p:nvSpPr>
          <p:spPr bwMode="auto">
            <a:xfrm>
              <a:off x="1458" y="660"/>
              <a:ext cx="1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21559" name="Rectangle 50"/>
            <p:cNvSpPr>
              <a:spLocks noChangeArrowheads="1"/>
            </p:cNvSpPr>
            <p:nvPr/>
          </p:nvSpPr>
          <p:spPr bwMode="auto">
            <a:xfrm>
              <a:off x="989" y="153"/>
              <a:ext cx="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1560" name="Rectangle 51"/>
            <p:cNvSpPr>
              <a:spLocks noChangeArrowheads="1"/>
            </p:cNvSpPr>
            <p:nvPr/>
          </p:nvSpPr>
          <p:spPr bwMode="auto">
            <a:xfrm>
              <a:off x="1085" y="206"/>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21561" name="Rectangle 52"/>
            <p:cNvSpPr>
              <a:spLocks noChangeArrowheads="1"/>
            </p:cNvSpPr>
            <p:nvPr/>
          </p:nvSpPr>
          <p:spPr bwMode="auto">
            <a:xfrm>
              <a:off x="1028" y="0"/>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62" name="Freeform 53"/>
            <p:cNvSpPr/>
            <p:nvPr/>
          </p:nvSpPr>
          <p:spPr bwMode="auto">
            <a:xfrm>
              <a:off x="604" y="375"/>
              <a:ext cx="168" cy="71"/>
            </a:xfrm>
            <a:custGeom>
              <a:avLst/>
              <a:gdLst>
                <a:gd name="T0" fmla="*/ 0 w 112"/>
                <a:gd name="T1" fmla="*/ 0 h 47"/>
                <a:gd name="T2" fmla="*/ 332 w 112"/>
                <a:gd name="T3" fmla="*/ 497 h 47"/>
                <a:gd name="T4" fmla="*/ 0 w 112"/>
                <a:gd name="T5" fmla="*/ 844 h 47"/>
                <a:gd name="T6" fmla="*/ 1916 w 112"/>
                <a:gd name="T7" fmla="*/ 497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21563" name="Rectangle 54"/>
            <p:cNvSpPr>
              <a:spLocks noChangeArrowheads="1"/>
            </p:cNvSpPr>
            <p:nvPr/>
          </p:nvSpPr>
          <p:spPr bwMode="auto">
            <a:xfrm>
              <a:off x="1378" y="54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1564" name="Rectangle 55"/>
            <p:cNvSpPr>
              <a:spLocks noChangeArrowheads="1"/>
            </p:cNvSpPr>
            <p:nvPr/>
          </p:nvSpPr>
          <p:spPr bwMode="auto">
            <a:xfrm>
              <a:off x="851" y="980"/>
              <a:ext cx="6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grpSp>
      <p:sp>
        <p:nvSpPr>
          <p:cNvPr id="21509" name="Rectangle 56"/>
          <p:cNvSpPr>
            <a:spLocks noChangeArrowheads="1"/>
          </p:cNvSpPr>
          <p:nvPr/>
        </p:nvSpPr>
        <p:spPr bwMode="auto">
          <a:xfrm>
            <a:off x="3495675" y="3779838"/>
            <a:ext cx="221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a:latin typeface="Times New Roman" panose="02020603050405020304" pitchFamily="18" charset="0"/>
              </a:rPr>
              <a:t>(a)串联反馈</a:t>
            </a:r>
            <a:endParaRPr lang="zh-CN" altLang="zh-CN" sz="2800">
              <a:latin typeface="Times New Roman" panose="02020603050405020304" pitchFamily="18" charset="0"/>
            </a:endParaRPr>
          </a:p>
        </p:txBody>
      </p:sp>
      <p:sp>
        <p:nvSpPr>
          <p:cNvPr id="21510" name="Text Box 57"/>
          <p:cNvSpPr txBox="1">
            <a:spLocks noChangeArrowheads="1"/>
          </p:cNvSpPr>
          <p:nvPr/>
        </p:nvSpPr>
        <p:spPr bwMode="auto">
          <a:xfrm>
            <a:off x="836613" y="4357688"/>
            <a:ext cx="4000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1）</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i</a:t>
            </a:r>
            <a:r>
              <a:rPr lang="zh-CN" altLang="zh-CN" sz="2800">
                <a:latin typeface="Times New Roman" panose="02020603050405020304" pitchFamily="18" charset="0"/>
              </a:rPr>
              <a:t>’与</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f</a:t>
            </a:r>
            <a:r>
              <a:rPr lang="zh-CN" altLang="zh-CN" sz="2800">
                <a:latin typeface="Times New Roman" panose="02020603050405020304" pitchFamily="18" charset="0"/>
              </a:rPr>
              <a:t>是串联关系。</a:t>
            </a:r>
            <a:endParaRPr lang="zh-CN" altLang="zh-CN" sz="2800">
              <a:latin typeface="Times New Roman" panose="02020603050405020304" pitchFamily="18" charset="0"/>
            </a:endParaRPr>
          </a:p>
        </p:txBody>
      </p:sp>
      <p:sp>
        <p:nvSpPr>
          <p:cNvPr id="21511" name="Text Box 58"/>
          <p:cNvSpPr txBox="1">
            <a:spLocks noChangeArrowheads="1"/>
          </p:cNvSpPr>
          <p:nvPr/>
        </p:nvSpPr>
        <p:spPr bwMode="auto">
          <a:xfrm>
            <a:off x="865188" y="5008563"/>
            <a:ext cx="67913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2）输入信号与反馈信号不在同一节点上。</a:t>
            </a:r>
            <a:endParaRPr lang="zh-CN" altLang="zh-CN" sz="2800">
              <a:latin typeface="Times New Roman" panose="02020603050405020304" pitchFamily="18" charset="0"/>
            </a:endParaRPr>
          </a:p>
        </p:txBody>
      </p:sp>
      <p:sp>
        <p:nvSpPr>
          <p:cNvPr id="21512" name="Text Box 59"/>
          <p:cNvSpPr txBox="1">
            <a:spLocks noChangeArrowheads="1"/>
          </p:cNvSpPr>
          <p:nvPr/>
        </p:nvSpPr>
        <p:spPr bwMode="auto">
          <a:xfrm>
            <a:off x="865188" y="5668963"/>
            <a:ext cx="7191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3）</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2D0A051-BD4F-48D7-A4E4-5878EF03EFB3}" type="slidenum">
              <a:rPr lang="zh-CN" altLang="zh-CN" sz="1400" smtClean="0"/>
            </a:fld>
            <a:endParaRPr lang="zh-CN" altLang="zh-CN" sz="1400" smtClean="0"/>
          </a:p>
        </p:txBody>
      </p:sp>
      <p:sp>
        <p:nvSpPr>
          <p:cNvPr id="22531" name="Rectangle 2"/>
          <p:cNvSpPr>
            <a:spLocks noChangeArrowheads="1"/>
          </p:cNvSpPr>
          <p:nvPr/>
        </p:nvSpPr>
        <p:spPr bwMode="auto">
          <a:xfrm>
            <a:off x="4119563" y="592138"/>
            <a:ext cx="2298700" cy="1606550"/>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2532" name="Line 3"/>
          <p:cNvSpPr>
            <a:spLocks noChangeShapeType="1"/>
          </p:cNvSpPr>
          <p:nvPr/>
        </p:nvSpPr>
        <p:spPr bwMode="auto">
          <a:xfrm>
            <a:off x="5345113" y="1057275"/>
            <a:ext cx="619125"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3" name="Freeform 4"/>
          <p:cNvSpPr/>
          <p:nvPr/>
        </p:nvSpPr>
        <p:spPr bwMode="auto">
          <a:xfrm>
            <a:off x="5672138" y="993775"/>
            <a:ext cx="292100" cy="106363"/>
          </a:xfrm>
          <a:custGeom>
            <a:avLst/>
            <a:gdLst>
              <a:gd name="T0" fmla="*/ 0 w 112"/>
              <a:gd name="T1" fmla="*/ 0 h 47"/>
              <a:gd name="T2" fmla="*/ 2147483646 w 112"/>
              <a:gd name="T3" fmla="*/ 2147483646 h 47"/>
              <a:gd name="T4" fmla="*/ 0 w 112"/>
              <a:gd name="T5" fmla="*/ 2147483646 h 47"/>
              <a:gd name="T6" fmla="*/ 2147483646 w 112"/>
              <a:gd name="T7" fmla="*/ 2147483646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8"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22534" name="Rectangle 5"/>
          <p:cNvSpPr>
            <a:spLocks noChangeArrowheads="1"/>
          </p:cNvSpPr>
          <p:nvPr/>
        </p:nvSpPr>
        <p:spPr bwMode="auto">
          <a:xfrm>
            <a:off x="5457825" y="1184275"/>
            <a:ext cx="2714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i="1">
                <a:solidFill>
                  <a:srgbClr val="000000"/>
                </a:solidFill>
                <a:latin typeface="Times New Roman" panose="02020603050405020304" pitchFamily="18" charset="0"/>
              </a:rPr>
              <a:t>A</a:t>
            </a:r>
            <a:endParaRPr lang="zh-CN" altLang="zh-CN">
              <a:latin typeface="Times New Roman" panose="02020603050405020304" pitchFamily="18" charset="0"/>
            </a:endParaRPr>
          </a:p>
        </p:txBody>
      </p:sp>
      <p:sp>
        <p:nvSpPr>
          <p:cNvPr id="22535" name="Line 6"/>
          <p:cNvSpPr>
            <a:spLocks noChangeShapeType="1"/>
          </p:cNvSpPr>
          <p:nvPr/>
        </p:nvSpPr>
        <p:spPr bwMode="auto">
          <a:xfrm>
            <a:off x="1377950" y="803275"/>
            <a:ext cx="33226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6" name="Line 7"/>
          <p:cNvSpPr>
            <a:spLocks noChangeShapeType="1"/>
          </p:cNvSpPr>
          <p:nvPr/>
        </p:nvSpPr>
        <p:spPr bwMode="auto">
          <a:xfrm>
            <a:off x="1500188" y="1987550"/>
            <a:ext cx="3200400" cy="31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7" name="Line 8"/>
          <p:cNvSpPr>
            <a:spLocks noChangeShapeType="1"/>
          </p:cNvSpPr>
          <p:nvPr/>
        </p:nvSpPr>
        <p:spPr bwMode="auto">
          <a:xfrm>
            <a:off x="4700588" y="803275"/>
            <a:ext cx="3175" cy="11842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8" name="Line 9"/>
          <p:cNvSpPr>
            <a:spLocks noChangeShapeType="1"/>
          </p:cNvSpPr>
          <p:nvPr/>
        </p:nvSpPr>
        <p:spPr bwMode="auto">
          <a:xfrm flipV="1">
            <a:off x="4700588" y="1100138"/>
            <a:ext cx="3175" cy="506412"/>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39" name="Rectangle 10"/>
          <p:cNvSpPr>
            <a:spLocks noChangeArrowheads="1"/>
          </p:cNvSpPr>
          <p:nvPr/>
        </p:nvSpPr>
        <p:spPr bwMode="auto">
          <a:xfrm>
            <a:off x="4581525" y="1100138"/>
            <a:ext cx="241300" cy="506412"/>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2540" name="Rectangle 11"/>
          <p:cNvSpPr>
            <a:spLocks noChangeArrowheads="1"/>
          </p:cNvSpPr>
          <p:nvPr/>
        </p:nvSpPr>
        <p:spPr bwMode="auto">
          <a:xfrm>
            <a:off x="4979988" y="1120775"/>
            <a:ext cx="169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R</a:t>
            </a:r>
            <a:endParaRPr lang="zh-CN" altLang="zh-CN" sz="2000">
              <a:latin typeface="Times New Roman" panose="02020603050405020304" pitchFamily="18" charset="0"/>
            </a:endParaRPr>
          </a:p>
        </p:txBody>
      </p:sp>
      <p:sp>
        <p:nvSpPr>
          <p:cNvPr id="22541" name="Rectangle 12"/>
          <p:cNvSpPr>
            <a:spLocks noChangeArrowheads="1"/>
          </p:cNvSpPr>
          <p:nvPr/>
        </p:nvSpPr>
        <p:spPr bwMode="auto">
          <a:xfrm>
            <a:off x="5199063" y="12398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2542" name="Line 13"/>
          <p:cNvSpPr>
            <a:spLocks noChangeShapeType="1"/>
          </p:cNvSpPr>
          <p:nvPr/>
        </p:nvSpPr>
        <p:spPr bwMode="auto">
          <a:xfrm>
            <a:off x="3198813" y="803275"/>
            <a:ext cx="3175" cy="1985963"/>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3" name="Rectangle 14"/>
          <p:cNvSpPr>
            <a:spLocks noChangeArrowheads="1"/>
          </p:cNvSpPr>
          <p:nvPr/>
        </p:nvSpPr>
        <p:spPr bwMode="auto">
          <a:xfrm>
            <a:off x="4581525" y="2598738"/>
            <a:ext cx="1530350" cy="803275"/>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2544" name="Line 15"/>
          <p:cNvSpPr>
            <a:spLocks noChangeShapeType="1"/>
          </p:cNvSpPr>
          <p:nvPr/>
        </p:nvSpPr>
        <p:spPr bwMode="auto">
          <a:xfrm>
            <a:off x="5041900" y="2781300"/>
            <a:ext cx="609600"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5" name="Freeform 16"/>
          <p:cNvSpPr/>
          <p:nvPr/>
        </p:nvSpPr>
        <p:spPr bwMode="auto">
          <a:xfrm>
            <a:off x="5041900" y="2717800"/>
            <a:ext cx="290513" cy="106363"/>
          </a:xfrm>
          <a:custGeom>
            <a:avLst/>
            <a:gdLst>
              <a:gd name="T0" fmla="*/ 2147483646 w 112"/>
              <a:gd name="T1" fmla="*/ 0 h 47"/>
              <a:gd name="T2" fmla="*/ 2147483646 w 112"/>
              <a:gd name="T3" fmla="*/ 2147483646 h 47"/>
              <a:gd name="T4" fmla="*/ 2147483646 w 112"/>
              <a:gd name="T5" fmla="*/ 2147483646 h 47"/>
              <a:gd name="T6" fmla="*/ 0 w 112"/>
              <a:gd name="T7" fmla="*/ 2147483646 h 47"/>
              <a:gd name="T8" fmla="*/ 2147483646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112" y="0"/>
                </a:moveTo>
                <a:lnTo>
                  <a:pt x="93" y="28"/>
                </a:lnTo>
                <a:lnTo>
                  <a:pt x="112" y="47"/>
                </a:lnTo>
                <a:lnTo>
                  <a:pt x="0" y="28"/>
                </a:lnTo>
                <a:lnTo>
                  <a:pt x="112" y="0"/>
                </a:lnTo>
                <a:close/>
              </a:path>
            </a:pathLst>
          </a:custGeom>
          <a:solidFill>
            <a:srgbClr val="000000"/>
          </a:solidFill>
          <a:ln w="14288">
            <a:solidFill>
              <a:srgbClr val="000000"/>
            </a:solidFill>
            <a:round/>
          </a:ln>
        </p:spPr>
        <p:txBody>
          <a:bodyPr/>
          <a:lstStyle/>
          <a:p>
            <a:endParaRPr lang="zh-CN" altLang="en-US"/>
          </a:p>
        </p:txBody>
      </p:sp>
      <p:sp>
        <p:nvSpPr>
          <p:cNvPr id="22546" name="Rectangle 17"/>
          <p:cNvSpPr>
            <a:spLocks noChangeArrowheads="1"/>
          </p:cNvSpPr>
          <p:nvPr/>
        </p:nvSpPr>
        <p:spPr bwMode="auto">
          <a:xfrm>
            <a:off x="5230813" y="2863850"/>
            <a:ext cx="2714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i="1">
                <a:solidFill>
                  <a:srgbClr val="000000"/>
                </a:solidFill>
                <a:latin typeface="Times New Roman" panose="02020603050405020304" pitchFamily="18" charset="0"/>
              </a:rPr>
              <a:t>F</a:t>
            </a:r>
            <a:endParaRPr lang="zh-CN" altLang="zh-CN">
              <a:latin typeface="Times New Roman" panose="02020603050405020304" pitchFamily="18" charset="0"/>
            </a:endParaRPr>
          </a:p>
        </p:txBody>
      </p:sp>
      <p:sp>
        <p:nvSpPr>
          <p:cNvPr id="22547" name="Line 18"/>
          <p:cNvSpPr>
            <a:spLocks noChangeShapeType="1"/>
          </p:cNvSpPr>
          <p:nvPr/>
        </p:nvSpPr>
        <p:spPr bwMode="auto">
          <a:xfrm>
            <a:off x="3198813" y="2789238"/>
            <a:ext cx="1382712" cy="15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8" name="Line 19"/>
          <p:cNvSpPr>
            <a:spLocks noChangeShapeType="1"/>
          </p:cNvSpPr>
          <p:nvPr/>
        </p:nvSpPr>
        <p:spPr bwMode="auto">
          <a:xfrm>
            <a:off x="2300288" y="3190875"/>
            <a:ext cx="2281237"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9" name="Line 20"/>
          <p:cNvSpPr>
            <a:spLocks noChangeShapeType="1"/>
          </p:cNvSpPr>
          <p:nvPr/>
        </p:nvSpPr>
        <p:spPr bwMode="auto">
          <a:xfrm>
            <a:off x="2300288" y="1987550"/>
            <a:ext cx="0" cy="1203325"/>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0" name="Freeform 21"/>
          <p:cNvSpPr/>
          <p:nvPr/>
        </p:nvSpPr>
        <p:spPr bwMode="auto">
          <a:xfrm>
            <a:off x="1377950" y="762000"/>
            <a:ext cx="122238" cy="84138"/>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8"/>
                </a:moveTo>
                <a:lnTo>
                  <a:pt x="10" y="0"/>
                </a:lnTo>
                <a:lnTo>
                  <a:pt x="28" y="0"/>
                </a:lnTo>
                <a:lnTo>
                  <a:pt x="47" y="18"/>
                </a:lnTo>
                <a:lnTo>
                  <a:pt x="28" y="37"/>
                </a:lnTo>
                <a:lnTo>
                  <a:pt x="10" y="37"/>
                </a:lnTo>
                <a:lnTo>
                  <a:pt x="0" y="18"/>
                </a:lnTo>
                <a:close/>
              </a:path>
            </a:pathLst>
          </a:custGeom>
          <a:solidFill>
            <a:srgbClr val="FFFFFF"/>
          </a:solidFill>
          <a:ln w="14288">
            <a:solidFill>
              <a:srgbClr val="000000"/>
            </a:solidFill>
            <a:round/>
          </a:ln>
        </p:spPr>
        <p:txBody>
          <a:bodyPr/>
          <a:lstStyle/>
          <a:p>
            <a:endParaRPr lang="zh-CN" altLang="en-US"/>
          </a:p>
        </p:txBody>
      </p:sp>
      <p:sp>
        <p:nvSpPr>
          <p:cNvPr id="22551" name="Freeform 22"/>
          <p:cNvSpPr/>
          <p:nvPr/>
        </p:nvSpPr>
        <p:spPr bwMode="auto">
          <a:xfrm>
            <a:off x="1377950" y="1944688"/>
            <a:ext cx="122238" cy="84137"/>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9"/>
                </a:moveTo>
                <a:lnTo>
                  <a:pt x="10" y="0"/>
                </a:lnTo>
                <a:lnTo>
                  <a:pt x="28" y="0"/>
                </a:lnTo>
                <a:lnTo>
                  <a:pt x="47" y="19"/>
                </a:lnTo>
                <a:lnTo>
                  <a:pt x="28" y="37"/>
                </a:lnTo>
                <a:lnTo>
                  <a:pt x="10" y="37"/>
                </a:lnTo>
                <a:lnTo>
                  <a:pt x="0" y="19"/>
                </a:lnTo>
                <a:close/>
              </a:path>
            </a:pathLst>
          </a:custGeom>
          <a:solidFill>
            <a:srgbClr val="FFFFFF"/>
          </a:solidFill>
          <a:ln w="14288">
            <a:solidFill>
              <a:srgbClr val="000000"/>
            </a:solidFill>
            <a:round/>
          </a:ln>
        </p:spPr>
        <p:txBody>
          <a:bodyPr/>
          <a:lstStyle/>
          <a:p>
            <a:endParaRPr lang="zh-CN" altLang="en-US"/>
          </a:p>
        </p:txBody>
      </p:sp>
      <p:sp>
        <p:nvSpPr>
          <p:cNvPr id="22552" name="Line 23"/>
          <p:cNvSpPr>
            <a:spLocks noChangeShapeType="1"/>
          </p:cNvSpPr>
          <p:nvPr/>
        </p:nvSpPr>
        <p:spPr bwMode="auto">
          <a:xfrm>
            <a:off x="6418263" y="803275"/>
            <a:ext cx="577850"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3" name="Line 24"/>
          <p:cNvSpPr>
            <a:spLocks noChangeShapeType="1"/>
          </p:cNvSpPr>
          <p:nvPr/>
        </p:nvSpPr>
        <p:spPr bwMode="auto">
          <a:xfrm>
            <a:off x="6418263" y="1987550"/>
            <a:ext cx="795337" cy="31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4" name="Line 25"/>
          <p:cNvSpPr>
            <a:spLocks noChangeShapeType="1"/>
          </p:cNvSpPr>
          <p:nvPr/>
        </p:nvSpPr>
        <p:spPr bwMode="auto">
          <a:xfrm>
            <a:off x="6111875" y="2789238"/>
            <a:ext cx="547688"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5" name="Line 26"/>
          <p:cNvSpPr>
            <a:spLocks noChangeShapeType="1"/>
          </p:cNvSpPr>
          <p:nvPr/>
        </p:nvSpPr>
        <p:spPr bwMode="auto">
          <a:xfrm>
            <a:off x="6111875" y="3190875"/>
            <a:ext cx="547688"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6" name="Rectangle 27"/>
          <p:cNvSpPr>
            <a:spLocks noChangeArrowheads="1"/>
          </p:cNvSpPr>
          <p:nvPr/>
        </p:nvSpPr>
        <p:spPr bwMode="auto">
          <a:xfrm>
            <a:off x="1658938" y="846138"/>
            <a:ext cx="1889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57" name="Rectangle 28"/>
          <p:cNvSpPr>
            <a:spLocks noChangeArrowheads="1"/>
          </p:cNvSpPr>
          <p:nvPr/>
        </p:nvSpPr>
        <p:spPr bwMode="auto">
          <a:xfrm>
            <a:off x="1658938" y="1755775"/>
            <a:ext cx="1889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58" name="Rectangle 29"/>
          <p:cNvSpPr>
            <a:spLocks noChangeArrowheads="1"/>
          </p:cNvSpPr>
          <p:nvPr/>
        </p:nvSpPr>
        <p:spPr bwMode="auto">
          <a:xfrm>
            <a:off x="1298575" y="130968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U</a:t>
            </a:r>
            <a:endParaRPr lang="zh-CN" altLang="zh-CN" sz="2000">
              <a:latin typeface="Times New Roman" panose="02020603050405020304" pitchFamily="18" charset="0"/>
            </a:endParaRPr>
          </a:p>
        </p:txBody>
      </p:sp>
      <p:sp>
        <p:nvSpPr>
          <p:cNvPr id="22559" name="Rectangle 30"/>
          <p:cNvSpPr>
            <a:spLocks noChangeArrowheads="1"/>
          </p:cNvSpPr>
          <p:nvPr/>
        </p:nvSpPr>
        <p:spPr bwMode="auto">
          <a:xfrm>
            <a:off x="1543050" y="143827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2560" name="Rectangle 31"/>
          <p:cNvSpPr>
            <a:spLocks noChangeArrowheads="1"/>
          </p:cNvSpPr>
          <p:nvPr/>
        </p:nvSpPr>
        <p:spPr bwMode="auto">
          <a:xfrm>
            <a:off x="1389063" y="1065213"/>
            <a:ext cx="95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61" name="Line 32"/>
          <p:cNvSpPr>
            <a:spLocks noChangeShapeType="1"/>
          </p:cNvSpPr>
          <p:nvPr/>
        </p:nvSpPr>
        <p:spPr bwMode="auto">
          <a:xfrm>
            <a:off x="1936750" y="1395413"/>
            <a:ext cx="0" cy="992187"/>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2" name="Line 33"/>
          <p:cNvSpPr>
            <a:spLocks noChangeShapeType="1"/>
          </p:cNvSpPr>
          <p:nvPr/>
        </p:nvSpPr>
        <p:spPr bwMode="auto">
          <a:xfrm flipH="1">
            <a:off x="1936750" y="1395413"/>
            <a:ext cx="460375" cy="15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3" name="Freeform 34"/>
          <p:cNvSpPr/>
          <p:nvPr/>
        </p:nvSpPr>
        <p:spPr bwMode="auto">
          <a:xfrm>
            <a:off x="2227263" y="1352550"/>
            <a:ext cx="292100" cy="85725"/>
          </a:xfrm>
          <a:custGeom>
            <a:avLst/>
            <a:gdLst>
              <a:gd name="T0" fmla="*/ 0 w 112"/>
              <a:gd name="T1" fmla="*/ 0 h 38"/>
              <a:gd name="T2" fmla="*/ 2147483646 w 112"/>
              <a:gd name="T3" fmla="*/ 2147483646 h 38"/>
              <a:gd name="T4" fmla="*/ 0 w 112"/>
              <a:gd name="T5" fmla="*/ 2147483646 h 38"/>
              <a:gd name="T6" fmla="*/ 2147483646 w 112"/>
              <a:gd name="T7" fmla="*/ 2147483646 h 38"/>
              <a:gd name="T8" fmla="*/ 0 w 112"/>
              <a:gd name="T9" fmla="*/ 0 h 38"/>
              <a:gd name="T10" fmla="*/ 0 60000 65536"/>
              <a:gd name="T11" fmla="*/ 0 60000 65536"/>
              <a:gd name="T12" fmla="*/ 0 60000 65536"/>
              <a:gd name="T13" fmla="*/ 0 60000 65536"/>
              <a:gd name="T14" fmla="*/ 0 60000 65536"/>
              <a:gd name="T15" fmla="*/ 0 w 112"/>
              <a:gd name="T16" fmla="*/ 0 h 38"/>
              <a:gd name="T17" fmla="*/ 112 w 112"/>
              <a:gd name="T18" fmla="*/ 38 h 38"/>
            </a:gdLst>
            <a:ahLst/>
            <a:cxnLst>
              <a:cxn ang="T10">
                <a:pos x="T0" y="T1"/>
              </a:cxn>
              <a:cxn ang="T11">
                <a:pos x="T2" y="T3"/>
              </a:cxn>
              <a:cxn ang="T12">
                <a:pos x="T4" y="T5"/>
              </a:cxn>
              <a:cxn ang="T13">
                <a:pos x="T6" y="T7"/>
              </a:cxn>
              <a:cxn ang="T14">
                <a:pos x="T8" y="T9"/>
              </a:cxn>
            </a:cxnLst>
            <a:rect l="T15" t="T16" r="T17" b="T18"/>
            <a:pathLst>
              <a:path w="112" h="38">
                <a:moveTo>
                  <a:pt x="0" y="0"/>
                </a:moveTo>
                <a:lnTo>
                  <a:pt x="19" y="19"/>
                </a:lnTo>
                <a:lnTo>
                  <a:pt x="0" y="38"/>
                </a:lnTo>
                <a:lnTo>
                  <a:pt x="112" y="19"/>
                </a:lnTo>
                <a:lnTo>
                  <a:pt x="0" y="0"/>
                </a:lnTo>
                <a:close/>
              </a:path>
            </a:pathLst>
          </a:custGeom>
          <a:solidFill>
            <a:srgbClr val="000000"/>
          </a:solidFill>
          <a:ln w="14288">
            <a:solidFill>
              <a:srgbClr val="000000"/>
            </a:solidFill>
            <a:round/>
          </a:ln>
        </p:spPr>
        <p:txBody>
          <a:bodyPr/>
          <a:lstStyle/>
          <a:p>
            <a:endParaRPr lang="zh-CN" altLang="en-US"/>
          </a:p>
        </p:txBody>
      </p:sp>
      <p:sp>
        <p:nvSpPr>
          <p:cNvPr id="22564" name="Rectangle 35"/>
          <p:cNvSpPr>
            <a:spLocks noChangeArrowheads="1"/>
          </p:cNvSpPr>
          <p:nvPr/>
        </p:nvSpPr>
        <p:spPr bwMode="auto">
          <a:xfrm>
            <a:off x="1466850" y="2198688"/>
            <a:ext cx="169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R</a:t>
            </a:r>
            <a:endParaRPr lang="zh-CN" altLang="zh-CN" sz="2000">
              <a:latin typeface="Times New Roman" panose="02020603050405020304" pitchFamily="18" charset="0"/>
            </a:endParaRPr>
          </a:p>
        </p:txBody>
      </p:sp>
      <p:sp>
        <p:nvSpPr>
          <p:cNvPr id="22565" name="Rectangle 36"/>
          <p:cNvSpPr>
            <a:spLocks noChangeArrowheads="1"/>
          </p:cNvSpPr>
          <p:nvPr/>
        </p:nvSpPr>
        <p:spPr bwMode="auto">
          <a:xfrm>
            <a:off x="1676400" y="233362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2566" name="Rectangle 37"/>
          <p:cNvSpPr>
            <a:spLocks noChangeArrowheads="1"/>
          </p:cNvSpPr>
          <p:nvPr/>
        </p:nvSpPr>
        <p:spPr bwMode="auto">
          <a:xfrm>
            <a:off x="1778000" y="2347913"/>
            <a:ext cx="76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f</a:t>
            </a:r>
            <a:endParaRPr lang="zh-CN" altLang="zh-CN" sz="1800">
              <a:latin typeface="Times New Roman" panose="02020603050405020304" pitchFamily="18" charset="0"/>
            </a:endParaRPr>
          </a:p>
        </p:txBody>
      </p:sp>
      <p:sp>
        <p:nvSpPr>
          <p:cNvPr id="22567" name="Rectangle 38"/>
          <p:cNvSpPr>
            <a:spLocks noChangeArrowheads="1"/>
          </p:cNvSpPr>
          <p:nvPr/>
        </p:nvSpPr>
        <p:spPr bwMode="auto">
          <a:xfrm>
            <a:off x="2411413" y="260350"/>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22568" name="Rectangle 39"/>
          <p:cNvSpPr>
            <a:spLocks noChangeArrowheads="1"/>
          </p:cNvSpPr>
          <p:nvPr/>
        </p:nvSpPr>
        <p:spPr bwMode="auto">
          <a:xfrm>
            <a:off x="2538413" y="358775"/>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2569" name="Rectangle 40"/>
          <p:cNvSpPr>
            <a:spLocks noChangeArrowheads="1"/>
          </p:cNvSpPr>
          <p:nvPr/>
        </p:nvSpPr>
        <p:spPr bwMode="auto">
          <a:xfrm>
            <a:off x="2470150" y="177800"/>
            <a:ext cx="968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70" name="Freeform 41"/>
          <p:cNvSpPr/>
          <p:nvPr/>
        </p:nvSpPr>
        <p:spPr bwMode="auto">
          <a:xfrm>
            <a:off x="3149600" y="762000"/>
            <a:ext cx="122238" cy="84138"/>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8"/>
                </a:moveTo>
                <a:lnTo>
                  <a:pt x="9" y="0"/>
                </a:lnTo>
                <a:lnTo>
                  <a:pt x="37" y="0"/>
                </a:lnTo>
                <a:lnTo>
                  <a:pt x="47" y="18"/>
                </a:lnTo>
                <a:lnTo>
                  <a:pt x="37" y="37"/>
                </a:lnTo>
                <a:lnTo>
                  <a:pt x="9" y="37"/>
                </a:lnTo>
                <a:lnTo>
                  <a:pt x="0" y="18"/>
                </a:lnTo>
                <a:close/>
              </a:path>
            </a:pathLst>
          </a:custGeom>
          <a:solidFill>
            <a:srgbClr val="000000"/>
          </a:solidFill>
          <a:ln w="14288">
            <a:solidFill>
              <a:srgbClr val="000000"/>
            </a:solidFill>
            <a:round/>
          </a:ln>
        </p:spPr>
        <p:txBody>
          <a:bodyPr/>
          <a:lstStyle/>
          <a:p>
            <a:endParaRPr lang="zh-CN" altLang="en-US"/>
          </a:p>
        </p:txBody>
      </p:sp>
      <p:sp>
        <p:nvSpPr>
          <p:cNvPr id="22571" name="Freeform 42"/>
          <p:cNvSpPr/>
          <p:nvPr/>
        </p:nvSpPr>
        <p:spPr bwMode="auto">
          <a:xfrm>
            <a:off x="2397125" y="739775"/>
            <a:ext cx="315913" cy="106363"/>
          </a:xfrm>
          <a:custGeom>
            <a:avLst/>
            <a:gdLst>
              <a:gd name="T0" fmla="*/ 0 w 122"/>
              <a:gd name="T1" fmla="*/ 0 h 47"/>
              <a:gd name="T2" fmla="*/ 2147483646 w 122"/>
              <a:gd name="T3" fmla="*/ 2147483646 h 47"/>
              <a:gd name="T4" fmla="*/ 0 w 122"/>
              <a:gd name="T5" fmla="*/ 2147483646 h 47"/>
              <a:gd name="T6" fmla="*/ 2147483646 w 122"/>
              <a:gd name="T7" fmla="*/ 2147483646 h 47"/>
              <a:gd name="T8" fmla="*/ 0 w 122"/>
              <a:gd name="T9" fmla="*/ 0 h 47"/>
              <a:gd name="T10" fmla="*/ 0 60000 65536"/>
              <a:gd name="T11" fmla="*/ 0 60000 65536"/>
              <a:gd name="T12" fmla="*/ 0 60000 65536"/>
              <a:gd name="T13" fmla="*/ 0 60000 65536"/>
              <a:gd name="T14" fmla="*/ 0 60000 65536"/>
              <a:gd name="T15" fmla="*/ 0 w 122"/>
              <a:gd name="T16" fmla="*/ 0 h 47"/>
              <a:gd name="T17" fmla="*/ 122 w 122"/>
              <a:gd name="T18" fmla="*/ 47 h 47"/>
            </a:gdLst>
            <a:ahLst/>
            <a:cxnLst>
              <a:cxn ang="T10">
                <a:pos x="T0" y="T1"/>
              </a:cxn>
              <a:cxn ang="T11">
                <a:pos x="T2" y="T3"/>
              </a:cxn>
              <a:cxn ang="T12">
                <a:pos x="T4" y="T5"/>
              </a:cxn>
              <a:cxn ang="T13">
                <a:pos x="T6" y="T7"/>
              </a:cxn>
              <a:cxn ang="T14">
                <a:pos x="T8" y="T9"/>
              </a:cxn>
            </a:cxnLst>
            <a:rect l="T15" t="T16" r="T17" b="T18"/>
            <a:pathLst>
              <a:path w="122" h="47">
                <a:moveTo>
                  <a:pt x="0" y="0"/>
                </a:moveTo>
                <a:lnTo>
                  <a:pt x="28" y="28"/>
                </a:lnTo>
                <a:lnTo>
                  <a:pt x="0" y="47"/>
                </a:lnTo>
                <a:lnTo>
                  <a:pt x="122" y="28"/>
                </a:lnTo>
                <a:lnTo>
                  <a:pt x="0" y="0"/>
                </a:lnTo>
                <a:close/>
              </a:path>
            </a:pathLst>
          </a:custGeom>
          <a:solidFill>
            <a:srgbClr val="000000"/>
          </a:solidFill>
          <a:ln w="14288">
            <a:solidFill>
              <a:srgbClr val="000000"/>
            </a:solidFill>
            <a:round/>
          </a:ln>
        </p:spPr>
        <p:txBody>
          <a:bodyPr/>
          <a:lstStyle/>
          <a:p>
            <a:endParaRPr lang="zh-CN" altLang="en-US"/>
          </a:p>
        </p:txBody>
      </p:sp>
      <p:sp>
        <p:nvSpPr>
          <p:cNvPr id="22572" name="Freeform 43"/>
          <p:cNvSpPr/>
          <p:nvPr/>
        </p:nvSpPr>
        <p:spPr bwMode="auto">
          <a:xfrm>
            <a:off x="3609975" y="739775"/>
            <a:ext cx="290513" cy="106363"/>
          </a:xfrm>
          <a:custGeom>
            <a:avLst/>
            <a:gdLst>
              <a:gd name="T0" fmla="*/ 0 w 112"/>
              <a:gd name="T1" fmla="*/ 0 h 47"/>
              <a:gd name="T2" fmla="*/ 2147483646 w 112"/>
              <a:gd name="T3" fmla="*/ 2147483646 h 47"/>
              <a:gd name="T4" fmla="*/ 0 w 112"/>
              <a:gd name="T5" fmla="*/ 2147483646 h 47"/>
              <a:gd name="T6" fmla="*/ 2147483646 w 112"/>
              <a:gd name="T7" fmla="*/ 2147483646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22573" name="Rectangle 44"/>
          <p:cNvSpPr>
            <a:spLocks noChangeArrowheads="1"/>
          </p:cNvSpPr>
          <p:nvPr/>
        </p:nvSpPr>
        <p:spPr bwMode="auto">
          <a:xfrm>
            <a:off x="3717925" y="360363"/>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22574" name="Rectangle 45"/>
          <p:cNvSpPr>
            <a:spLocks noChangeArrowheads="1"/>
          </p:cNvSpPr>
          <p:nvPr/>
        </p:nvSpPr>
        <p:spPr bwMode="auto">
          <a:xfrm>
            <a:off x="3890963" y="45878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22575" name="Rectangle 46"/>
          <p:cNvSpPr>
            <a:spLocks noChangeArrowheads="1"/>
          </p:cNvSpPr>
          <p:nvPr/>
        </p:nvSpPr>
        <p:spPr bwMode="auto">
          <a:xfrm>
            <a:off x="3754438" y="-36513"/>
            <a:ext cx="96837"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76" name="Rectangle 47"/>
          <p:cNvSpPr>
            <a:spLocks noChangeArrowheads="1"/>
          </p:cNvSpPr>
          <p:nvPr/>
        </p:nvSpPr>
        <p:spPr bwMode="auto">
          <a:xfrm>
            <a:off x="3889375" y="309563"/>
            <a:ext cx="20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22577" name="Freeform 48"/>
          <p:cNvSpPr/>
          <p:nvPr/>
        </p:nvSpPr>
        <p:spPr bwMode="auto">
          <a:xfrm>
            <a:off x="3149600" y="1225550"/>
            <a:ext cx="122238" cy="274638"/>
          </a:xfrm>
          <a:custGeom>
            <a:avLst/>
            <a:gdLst>
              <a:gd name="T0" fmla="*/ 0 w 47"/>
              <a:gd name="T1" fmla="*/ 0 h 121"/>
              <a:gd name="T2" fmla="*/ 2147483646 w 47"/>
              <a:gd name="T3" fmla="*/ 2147483646 h 121"/>
              <a:gd name="T4" fmla="*/ 2147483646 w 47"/>
              <a:gd name="T5" fmla="*/ 0 h 121"/>
              <a:gd name="T6" fmla="*/ 2147483646 w 47"/>
              <a:gd name="T7" fmla="*/ 2147483646 h 121"/>
              <a:gd name="T8" fmla="*/ 0 w 47"/>
              <a:gd name="T9" fmla="*/ 0 h 121"/>
              <a:gd name="T10" fmla="*/ 0 60000 65536"/>
              <a:gd name="T11" fmla="*/ 0 60000 65536"/>
              <a:gd name="T12" fmla="*/ 0 60000 65536"/>
              <a:gd name="T13" fmla="*/ 0 60000 65536"/>
              <a:gd name="T14" fmla="*/ 0 60000 65536"/>
              <a:gd name="T15" fmla="*/ 0 w 47"/>
              <a:gd name="T16" fmla="*/ 0 h 121"/>
              <a:gd name="T17" fmla="*/ 47 w 47"/>
              <a:gd name="T18" fmla="*/ 121 h 121"/>
            </a:gdLst>
            <a:ahLst/>
            <a:cxnLst>
              <a:cxn ang="T10">
                <a:pos x="T0" y="T1"/>
              </a:cxn>
              <a:cxn ang="T11">
                <a:pos x="T2" y="T3"/>
              </a:cxn>
              <a:cxn ang="T12">
                <a:pos x="T4" y="T5"/>
              </a:cxn>
              <a:cxn ang="T13">
                <a:pos x="T6" y="T7"/>
              </a:cxn>
              <a:cxn ang="T14">
                <a:pos x="T8" y="T9"/>
              </a:cxn>
            </a:cxnLst>
            <a:rect l="T15" t="T16" r="T17" b="T18"/>
            <a:pathLst>
              <a:path w="47" h="121">
                <a:moveTo>
                  <a:pt x="0" y="0"/>
                </a:moveTo>
                <a:lnTo>
                  <a:pt x="19" y="28"/>
                </a:lnTo>
                <a:lnTo>
                  <a:pt x="47" y="0"/>
                </a:lnTo>
                <a:lnTo>
                  <a:pt x="19" y="121"/>
                </a:lnTo>
                <a:lnTo>
                  <a:pt x="0" y="0"/>
                </a:lnTo>
                <a:close/>
              </a:path>
            </a:pathLst>
          </a:custGeom>
          <a:solidFill>
            <a:srgbClr val="000000"/>
          </a:solidFill>
          <a:ln w="14288">
            <a:solidFill>
              <a:srgbClr val="000000"/>
            </a:solidFill>
            <a:round/>
          </a:ln>
        </p:spPr>
        <p:txBody>
          <a:bodyPr/>
          <a:lstStyle/>
          <a:p>
            <a:endParaRPr lang="zh-CN" altLang="en-US"/>
          </a:p>
        </p:txBody>
      </p:sp>
      <p:sp>
        <p:nvSpPr>
          <p:cNvPr id="22578" name="Rectangle 49"/>
          <p:cNvSpPr>
            <a:spLocks noChangeArrowheads="1"/>
          </p:cNvSpPr>
          <p:nvPr/>
        </p:nvSpPr>
        <p:spPr bwMode="auto">
          <a:xfrm>
            <a:off x="3524250" y="1309688"/>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22579" name="Rectangle 50"/>
          <p:cNvSpPr>
            <a:spLocks noChangeArrowheads="1"/>
          </p:cNvSpPr>
          <p:nvPr/>
        </p:nvSpPr>
        <p:spPr bwMode="auto">
          <a:xfrm>
            <a:off x="3698875" y="1438275"/>
            <a:ext cx="76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f</a:t>
            </a:r>
            <a:endParaRPr lang="zh-CN" altLang="zh-CN" sz="1800">
              <a:latin typeface="Times New Roman" panose="02020603050405020304" pitchFamily="18" charset="0"/>
            </a:endParaRPr>
          </a:p>
        </p:txBody>
      </p:sp>
      <p:sp>
        <p:nvSpPr>
          <p:cNvPr id="22580" name="Rectangle 51"/>
          <p:cNvSpPr>
            <a:spLocks noChangeArrowheads="1"/>
          </p:cNvSpPr>
          <p:nvPr/>
        </p:nvSpPr>
        <p:spPr bwMode="auto">
          <a:xfrm>
            <a:off x="3598863" y="1050925"/>
            <a:ext cx="9366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22581" name="Freeform 52"/>
          <p:cNvSpPr/>
          <p:nvPr/>
        </p:nvSpPr>
        <p:spPr bwMode="auto">
          <a:xfrm>
            <a:off x="2227263" y="1944688"/>
            <a:ext cx="122237" cy="84137"/>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9"/>
                </a:moveTo>
                <a:lnTo>
                  <a:pt x="9" y="0"/>
                </a:lnTo>
                <a:lnTo>
                  <a:pt x="37" y="0"/>
                </a:lnTo>
                <a:lnTo>
                  <a:pt x="47" y="19"/>
                </a:lnTo>
                <a:lnTo>
                  <a:pt x="37" y="37"/>
                </a:lnTo>
                <a:lnTo>
                  <a:pt x="9" y="37"/>
                </a:lnTo>
                <a:lnTo>
                  <a:pt x="0" y="19"/>
                </a:lnTo>
                <a:close/>
              </a:path>
            </a:pathLst>
          </a:custGeom>
          <a:solidFill>
            <a:srgbClr val="000000"/>
          </a:solidFill>
          <a:ln w="14288">
            <a:solidFill>
              <a:srgbClr val="000000"/>
            </a:solidFill>
            <a:round/>
          </a:ln>
        </p:spPr>
        <p:txBody>
          <a:bodyPr/>
          <a:lstStyle/>
          <a:p>
            <a:endParaRPr lang="zh-CN" altLang="en-US"/>
          </a:p>
        </p:txBody>
      </p:sp>
      <p:sp>
        <p:nvSpPr>
          <p:cNvPr id="22582" name="Rectangle 53"/>
          <p:cNvSpPr>
            <a:spLocks noChangeArrowheads="1"/>
          </p:cNvSpPr>
          <p:nvPr/>
        </p:nvSpPr>
        <p:spPr bwMode="auto">
          <a:xfrm>
            <a:off x="3430588" y="3465513"/>
            <a:ext cx="2200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a:latin typeface="Times New Roman" panose="02020603050405020304" pitchFamily="18" charset="0"/>
              </a:rPr>
              <a:t>(b)并联反馈</a:t>
            </a:r>
            <a:endParaRPr lang="zh-CN" altLang="zh-CN" sz="2800">
              <a:latin typeface="Times New Roman" panose="02020603050405020304" pitchFamily="18" charset="0"/>
            </a:endParaRPr>
          </a:p>
        </p:txBody>
      </p:sp>
      <p:graphicFrame>
        <p:nvGraphicFramePr>
          <p:cNvPr id="22583" name="Object 54"/>
          <p:cNvGraphicFramePr>
            <a:graphicFrameLocks noChangeAspect="1"/>
          </p:cNvGraphicFramePr>
          <p:nvPr/>
        </p:nvGraphicFramePr>
        <p:xfrm>
          <a:off x="1462088" y="5467350"/>
          <a:ext cx="1938337" cy="879475"/>
        </p:xfrm>
        <a:graphic>
          <a:graphicData uri="http://schemas.openxmlformats.org/presentationml/2006/ole">
            <mc:AlternateContent xmlns:mc="http://schemas.openxmlformats.org/markup-compatibility/2006">
              <mc:Choice xmlns:v="urn:schemas-microsoft-com:vml" Requires="v">
                <p:oleObj spid="_x0000_s22618" name="" r:id="rId1" imgW="1117600" imgH="482600" progId="Equation.3">
                  <p:embed/>
                </p:oleObj>
              </mc:Choice>
              <mc:Fallback>
                <p:oleObj name="" r:id="rId1" imgW="1117600" imgH="482600" progId="Equation.3">
                  <p:embed/>
                  <p:pic>
                    <p:nvPicPr>
                      <p:cNvPr id="0" name="Object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088" y="5467350"/>
                        <a:ext cx="1938337"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84" name="Text Box 55"/>
          <p:cNvSpPr txBox="1">
            <a:spLocks noChangeArrowheads="1"/>
          </p:cNvSpPr>
          <p:nvPr/>
        </p:nvSpPr>
        <p:spPr bwMode="auto">
          <a:xfrm>
            <a:off x="781050" y="4154488"/>
            <a:ext cx="4000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1）</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i</a:t>
            </a:r>
            <a:r>
              <a:rPr lang="zh-CN" altLang="zh-CN" sz="2800">
                <a:latin typeface="Times New Roman" panose="02020603050405020304" pitchFamily="18" charset="0"/>
              </a:rPr>
              <a:t>’与</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f</a:t>
            </a:r>
            <a:r>
              <a:rPr lang="zh-CN" altLang="zh-CN" sz="2800">
                <a:latin typeface="Times New Roman" panose="02020603050405020304" pitchFamily="18" charset="0"/>
              </a:rPr>
              <a:t>是并联关系。</a:t>
            </a:r>
            <a:endParaRPr lang="zh-CN" altLang="zh-CN" sz="2800">
              <a:latin typeface="Times New Roman" panose="02020603050405020304" pitchFamily="18" charset="0"/>
            </a:endParaRPr>
          </a:p>
        </p:txBody>
      </p:sp>
      <p:sp>
        <p:nvSpPr>
          <p:cNvPr id="22585" name="Text Box 56"/>
          <p:cNvSpPr txBox="1">
            <a:spLocks noChangeArrowheads="1"/>
          </p:cNvSpPr>
          <p:nvPr/>
        </p:nvSpPr>
        <p:spPr bwMode="auto">
          <a:xfrm>
            <a:off x="879475" y="4832350"/>
            <a:ext cx="64341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2）输入信号与反馈信号在同一节点上。</a:t>
            </a:r>
            <a:endParaRPr lang="zh-CN" altLang="zh-CN" sz="2800">
              <a:latin typeface="Times New Roman" panose="02020603050405020304" pitchFamily="18" charset="0"/>
            </a:endParaRPr>
          </a:p>
        </p:txBody>
      </p:sp>
      <p:sp>
        <p:nvSpPr>
          <p:cNvPr id="22586" name="Text Box 57"/>
          <p:cNvSpPr txBox="1">
            <a:spLocks noChangeArrowheads="1"/>
          </p:cNvSpPr>
          <p:nvPr/>
        </p:nvSpPr>
        <p:spPr bwMode="auto">
          <a:xfrm>
            <a:off x="892175" y="5576888"/>
            <a:ext cx="7191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3）</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1ED7ABD-7E3F-4BF3-B2C4-44400B8755A6}" type="slidenum">
              <a:rPr lang="zh-CN" altLang="zh-CN" sz="1400" smtClean="0"/>
            </a:fld>
            <a:endParaRPr lang="zh-CN" altLang="zh-CN" sz="1400" smtClean="0"/>
          </a:p>
        </p:txBody>
      </p:sp>
      <p:sp>
        <p:nvSpPr>
          <p:cNvPr id="23555" name="Text Box 2"/>
          <p:cNvSpPr txBox="1">
            <a:spLocks noChangeArrowheads="1"/>
          </p:cNvSpPr>
          <p:nvPr/>
        </p:nvSpPr>
        <p:spPr bwMode="auto">
          <a:xfrm>
            <a:off x="715963" y="2301875"/>
            <a:ext cx="7675562"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a:latin typeface="Times New Roman" panose="02020603050405020304" pitchFamily="18" charset="0"/>
              </a:rPr>
              <a:t>        一般地，串联反馈是输入信号与反馈信号加在放大器的不同输入端上；而并联反馈则是两者并接在同一个输入端。</a:t>
            </a:r>
            <a:endParaRPr lang="zh-CN" altLang="zh-CN">
              <a:latin typeface="Times New Roman" panose="02020603050405020304" pitchFamily="18" charset="0"/>
            </a:endParaRPr>
          </a:p>
        </p:txBody>
      </p:sp>
      <p:sp>
        <p:nvSpPr>
          <p:cNvPr id="23556" name="Text Box 3"/>
          <p:cNvSpPr txBox="1">
            <a:spLocks noChangeArrowheads="1"/>
          </p:cNvSpPr>
          <p:nvPr/>
        </p:nvSpPr>
        <p:spPr bwMode="auto">
          <a:xfrm>
            <a:off x="1736725" y="1266825"/>
            <a:ext cx="589597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a:solidFill>
                  <a:srgbClr val="CC0099"/>
                </a:solidFill>
                <a:latin typeface="Times New Roman" panose="02020603050405020304" pitchFamily="18" charset="0"/>
              </a:rPr>
              <a:t>串联反馈和并联反馈的判断方法</a:t>
            </a:r>
            <a:endParaRPr lang="zh-CN" altLang="zh-CN">
              <a:solidFill>
                <a:srgbClr val="CC0099"/>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7B7FD79-4302-41FE-899D-F13580EE3670}" type="slidenum">
              <a:rPr lang="zh-CN" altLang="zh-CN" sz="1400" smtClean="0"/>
            </a:fld>
            <a:endParaRPr lang="zh-CN" altLang="zh-CN" sz="1400" smtClean="0"/>
          </a:p>
        </p:txBody>
      </p:sp>
      <p:grpSp>
        <p:nvGrpSpPr>
          <p:cNvPr id="24579" name="Group 2"/>
          <p:cNvGrpSpPr/>
          <p:nvPr/>
        </p:nvGrpSpPr>
        <p:grpSpPr bwMode="auto">
          <a:xfrm>
            <a:off x="4633913" y="885825"/>
            <a:ext cx="3841750" cy="3132138"/>
            <a:chOff x="0" y="0"/>
            <a:chExt cx="2420" cy="1973"/>
          </a:xfrm>
        </p:grpSpPr>
        <p:sp>
          <p:nvSpPr>
            <p:cNvPr id="24619" name="Freeform 3"/>
            <p:cNvSpPr/>
            <p:nvPr/>
          </p:nvSpPr>
          <p:spPr bwMode="auto">
            <a:xfrm>
              <a:off x="90" y="1123"/>
              <a:ext cx="313" cy="330"/>
            </a:xfrm>
            <a:custGeom>
              <a:avLst/>
              <a:gdLst>
                <a:gd name="T0" fmla="*/ 0 w 275"/>
                <a:gd name="T1" fmla="*/ 482 h 274"/>
                <a:gd name="T2" fmla="*/ 30 w 275"/>
                <a:gd name="T3" fmla="*/ 264 h 274"/>
                <a:gd name="T4" fmla="*/ 148 w 275"/>
                <a:gd name="T5" fmla="*/ 42 h 274"/>
                <a:gd name="T6" fmla="*/ 328 w 275"/>
                <a:gd name="T7" fmla="*/ 0 h 274"/>
                <a:gd name="T8" fmla="*/ 501 w 275"/>
                <a:gd name="T9" fmla="*/ 42 h 274"/>
                <a:gd name="T10" fmla="*/ 649 w 275"/>
                <a:gd name="T11" fmla="*/ 264 h 274"/>
                <a:gd name="T12" fmla="*/ 681 w 275"/>
                <a:gd name="T13" fmla="*/ 482 h 274"/>
                <a:gd name="T14" fmla="*/ 649 w 275"/>
                <a:gd name="T15" fmla="*/ 744 h 274"/>
                <a:gd name="T16" fmla="*/ 501 w 275"/>
                <a:gd name="T17" fmla="*/ 966 h 274"/>
                <a:gd name="T18" fmla="*/ 328 w 275"/>
                <a:gd name="T19" fmla="*/ 1007 h 274"/>
                <a:gd name="T20" fmla="*/ 148 w 275"/>
                <a:gd name="T21" fmla="*/ 966 h 274"/>
                <a:gd name="T22" fmla="*/ 30 w 275"/>
                <a:gd name="T23" fmla="*/ 744 h 274"/>
                <a:gd name="T24" fmla="*/ 0 w 275"/>
                <a:gd name="T25" fmla="*/ 482 h 2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5"/>
                <a:gd name="T40" fmla="*/ 0 h 274"/>
                <a:gd name="T41" fmla="*/ 275 w 275"/>
                <a:gd name="T42" fmla="*/ 274 h 2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5" h="274">
                  <a:moveTo>
                    <a:pt x="0" y="131"/>
                  </a:moveTo>
                  <a:lnTo>
                    <a:pt x="12" y="71"/>
                  </a:lnTo>
                  <a:lnTo>
                    <a:pt x="60" y="12"/>
                  </a:lnTo>
                  <a:lnTo>
                    <a:pt x="132" y="0"/>
                  </a:lnTo>
                  <a:lnTo>
                    <a:pt x="203" y="12"/>
                  </a:lnTo>
                  <a:lnTo>
                    <a:pt x="263" y="71"/>
                  </a:lnTo>
                  <a:lnTo>
                    <a:pt x="275" y="131"/>
                  </a:lnTo>
                  <a:lnTo>
                    <a:pt x="263" y="203"/>
                  </a:lnTo>
                  <a:lnTo>
                    <a:pt x="203" y="262"/>
                  </a:lnTo>
                  <a:lnTo>
                    <a:pt x="132" y="274"/>
                  </a:lnTo>
                  <a:lnTo>
                    <a:pt x="60" y="262"/>
                  </a:lnTo>
                  <a:lnTo>
                    <a:pt x="12" y="203"/>
                  </a:lnTo>
                  <a:lnTo>
                    <a:pt x="0" y="131"/>
                  </a:lnTo>
                  <a:close/>
                </a:path>
              </a:pathLst>
            </a:custGeom>
            <a:solidFill>
              <a:srgbClr val="FFFFFF"/>
            </a:solidFill>
            <a:ln w="19050">
              <a:solidFill>
                <a:srgbClr val="000000"/>
              </a:solidFill>
              <a:round/>
            </a:ln>
          </p:spPr>
          <p:txBody>
            <a:bodyPr/>
            <a:lstStyle/>
            <a:p>
              <a:endParaRPr lang="zh-CN" altLang="en-US"/>
            </a:p>
          </p:txBody>
        </p:sp>
        <p:sp>
          <p:nvSpPr>
            <p:cNvPr id="24620" name="Line 4"/>
            <p:cNvSpPr>
              <a:spLocks noChangeShapeType="1"/>
            </p:cNvSpPr>
            <p:nvPr/>
          </p:nvSpPr>
          <p:spPr bwMode="auto">
            <a:xfrm>
              <a:off x="240" y="805"/>
              <a:ext cx="1" cy="95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1" name="Rectangle 5"/>
            <p:cNvSpPr>
              <a:spLocks noChangeArrowheads="1"/>
            </p:cNvSpPr>
            <p:nvPr/>
          </p:nvSpPr>
          <p:spPr bwMode="auto">
            <a:xfrm>
              <a:off x="0" y="907"/>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22" name="Rectangle 6"/>
            <p:cNvSpPr>
              <a:spLocks noChangeArrowheads="1"/>
            </p:cNvSpPr>
            <p:nvPr/>
          </p:nvSpPr>
          <p:spPr bwMode="auto">
            <a:xfrm>
              <a:off x="0" y="1511"/>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23" name="Line 7"/>
            <p:cNvSpPr>
              <a:spLocks noChangeShapeType="1"/>
            </p:cNvSpPr>
            <p:nvPr/>
          </p:nvSpPr>
          <p:spPr bwMode="auto">
            <a:xfrm flipH="1">
              <a:off x="240" y="805"/>
              <a:ext cx="1291" cy="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4" name="Line 8"/>
            <p:cNvSpPr>
              <a:spLocks noChangeShapeType="1"/>
            </p:cNvSpPr>
            <p:nvPr/>
          </p:nvSpPr>
          <p:spPr bwMode="auto">
            <a:xfrm>
              <a:off x="1531" y="647"/>
              <a:ext cx="1" cy="3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5" name="Line 9"/>
            <p:cNvSpPr>
              <a:spLocks noChangeShapeType="1"/>
            </p:cNvSpPr>
            <p:nvPr/>
          </p:nvSpPr>
          <p:spPr bwMode="auto">
            <a:xfrm flipV="1">
              <a:off x="1531" y="647"/>
              <a:ext cx="258" cy="10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6" name="Line 10"/>
            <p:cNvSpPr>
              <a:spLocks noChangeShapeType="1"/>
            </p:cNvSpPr>
            <p:nvPr/>
          </p:nvSpPr>
          <p:spPr bwMode="auto">
            <a:xfrm>
              <a:off x="1531" y="878"/>
              <a:ext cx="258"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7" name="Freeform 11"/>
            <p:cNvSpPr/>
            <p:nvPr/>
          </p:nvSpPr>
          <p:spPr bwMode="auto">
            <a:xfrm>
              <a:off x="1652" y="906"/>
              <a:ext cx="137" cy="72"/>
            </a:xfrm>
            <a:custGeom>
              <a:avLst/>
              <a:gdLst>
                <a:gd name="T0" fmla="*/ 0 w 120"/>
                <a:gd name="T1" fmla="*/ 128 h 60"/>
                <a:gd name="T2" fmla="*/ 61 w 120"/>
                <a:gd name="T3" fmla="*/ 86 h 60"/>
                <a:gd name="T4" fmla="*/ 31 w 120"/>
                <a:gd name="T5" fmla="*/ 0 h 60"/>
                <a:gd name="T6" fmla="*/ 303 w 120"/>
                <a:gd name="T7" fmla="*/ 215 h 60"/>
                <a:gd name="T8" fmla="*/ 0 w 120"/>
                <a:gd name="T9" fmla="*/ 128 h 60"/>
                <a:gd name="T10" fmla="*/ 0 60000 65536"/>
                <a:gd name="T11" fmla="*/ 0 60000 65536"/>
                <a:gd name="T12" fmla="*/ 0 60000 65536"/>
                <a:gd name="T13" fmla="*/ 0 60000 65536"/>
                <a:gd name="T14" fmla="*/ 0 60000 65536"/>
                <a:gd name="T15" fmla="*/ 0 w 120"/>
                <a:gd name="T16" fmla="*/ 0 h 60"/>
                <a:gd name="T17" fmla="*/ 120 w 120"/>
                <a:gd name="T18" fmla="*/ 60 h 60"/>
              </a:gdLst>
              <a:ahLst/>
              <a:cxnLst>
                <a:cxn ang="T10">
                  <a:pos x="T0" y="T1"/>
                </a:cxn>
                <a:cxn ang="T11">
                  <a:pos x="T2" y="T3"/>
                </a:cxn>
                <a:cxn ang="T12">
                  <a:pos x="T4" y="T5"/>
                </a:cxn>
                <a:cxn ang="T13">
                  <a:pos x="T6" y="T7"/>
                </a:cxn>
                <a:cxn ang="T14">
                  <a:pos x="T8" y="T9"/>
                </a:cxn>
              </a:cxnLst>
              <a:rect l="T15" t="T16" r="T17" b="T18"/>
              <a:pathLst>
                <a:path w="120" h="60">
                  <a:moveTo>
                    <a:pt x="0" y="36"/>
                  </a:moveTo>
                  <a:lnTo>
                    <a:pt x="24" y="24"/>
                  </a:lnTo>
                  <a:lnTo>
                    <a:pt x="12" y="0"/>
                  </a:lnTo>
                  <a:lnTo>
                    <a:pt x="120" y="60"/>
                  </a:lnTo>
                  <a:lnTo>
                    <a:pt x="0" y="36"/>
                  </a:lnTo>
                  <a:close/>
                </a:path>
              </a:pathLst>
            </a:custGeom>
            <a:solidFill>
              <a:srgbClr val="000000"/>
            </a:solidFill>
            <a:ln w="19050">
              <a:solidFill>
                <a:srgbClr val="000000"/>
              </a:solidFill>
              <a:round/>
            </a:ln>
          </p:spPr>
          <p:txBody>
            <a:bodyPr/>
            <a:lstStyle/>
            <a:p>
              <a:endParaRPr lang="zh-CN" altLang="en-US"/>
            </a:p>
          </p:txBody>
        </p:sp>
        <p:sp>
          <p:nvSpPr>
            <p:cNvPr id="24628" name="Line 12"/>
            <p:cNvSpPr>
              <a:spLocks noChangeShapeType="1"/>
            </p:cNvSpPr>
            <p:nvPr/>
          </p:nvSpPr>
          <p:spPr bwMode="auto">
            <a:xfrm flipH="1">
              <a:off x="240" y="1756"/>
              <a:ext cx="1549"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29" name="Line 13"/>
            <p:cNvSpPr>
              <a:spLocks noChangeShapeType="1"/>
            </p:cNvSpPr>
            <p:nvPr/>
          </p:nvSpPr>
          <p:spPr bwMode="auto">
            <a:xfrm>
              <a:off x="1789" y="978"/>
              <a:ext cx="1" cy="99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0" name="Line 14"/>
            <p:cNvSpPr>
              <a:spLocks noChangeShapeType="1"/>
            </p:cNvSpPr>
            <p:nvPr/>
          </p:nvSpPr>
          <p:spPr bwMode="auto">
            <a:xfrm>
              <a:off x="1789" y="401"/>
              <a:ext cx="1" cy="2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1" name="Line 15"/>
            <p:cNvSpPr>
              <a:spLocks noChangeShapeType="1"/>
            </p:cNvSpPr>
            <p:nvPr/>
          </p:nvSpPr>
          <p:spPr bwMode="auto">
            <a:xfrm>
              <a:off x="1136" y="89"/>
              <a:ext cx="1" cy="71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2" name="Line 16"/>
            <p:cNvSpPr>
              <a:spLocks noChangeShapeType="1"/>
            </p:cNvSpPr>
            <p:nvPr/>
          </p:nvSpPr>
          <p:spPr bwMode="auto">
            <a:xfrm>
              <a:off x="1136" y="92"/>
              <a:ext cx="931"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3" name="Line 17"/>
            <p:cNvSpPr>
              <a:spLocks noChangeShapeType="1"/>
            </p:cNvSpPr>
            <p:nvPr/>
          </p:nvSpPr>
          <p:spPr bwMode="auto">
            <a:xfrm flipH="1">
              <a:off x="1911" y="272"/>
              <a:ext cx="326" cy="2"/>
            </a:xfrm>
            <a:prstGeom prst="line">
              <a:avLst/>
            </a:prstGeom>
            <a:noFill/>
            <a:ln w="1905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4" name="Rectangle 18"/>
            <p:cNvSpPr>
              <a:spLocks noChangeArrowheads="1"/>
            </p:cNvSpPr>
            <p:nvPr/>
          </p:nvSpPr>
          <p:spPr bwMode="auto">
            <a:xfrm>
              <a:off x="1452" y="20"/>
              <a:ext cx="326" cy="130"/>
            </a:xfrm>
            <a:prstGeom prst="rect">
              <a:avLst/>
            </a:prstGeom>
            <a:solidFill>
              <a:srgbClr val="FFFFFF"/>
            </a:solidFill>
            <a:ln w="1905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4635" name="Line 19"/>
            <p:cNvSpPr>
              <a:spLocks noChangeShapeType="1"/>
            </p:cNvSpPr>
            <p:nvPr/>
          </p:nvSpPr>
          <p:spPr bwMode="auto">
            <a:xfrm>
              <a:off x="1693" y="1972"/>
              <a:ext cx="191"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36" name="Rectangle 20"/>
            <p:cNvSpPr>
              <a:spLocks noChangeArrowheads="1"/>
            </p:cNvSpPr>
            <p:nvPr/>
          </p:nvSpPr>
          <p:spPr bwMode="auto">
            <a:xfrm>
              <a:off x="536" y="1166"/>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4637" name="Rectangle 21"/>
            <p:cNvSpPr>
              <a:spLocks noChangeArrowheads="1"/>
            </p:cNvSpPr>
            <p:nvPr/>
          </p:nvSpPr>
          <p:spPr bwMode="auto">
            <a:xfrm>
              <a:off x="625" y="1266"/>
              <a:ext cx="29"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38" name="Freeform 22"/>
            <p:cNvSpPr/>
            <p:nvPr/>
          </p:nvSpPr>
          <p:spPr bwMode="auto">
            <a:xfrm>
              <a:off x="1109" y="777"/>
              <a:ext cx="68" cy="57"/>
            </a:xfrm>
            <a:custGeom>
              <a:avLst/>
              <a:gdLst>
                <a:gd name="T0" fmla="*/ 0 w 60"/>
                <a:gd name="T1" fmla="*/ 81 h 48"/>
                <a:gd name="T2" fmla="*/ 29 w 60"/>
                <a:gd name="T3" fmla="*/ 0 h 48"/>
                <a:gd name="T4" fmla="*/ 113 w 60"/>
                <a:gd name="T5" fmla="*/ 0 h 48"/>
                <a:gd name="T6" fmla="*/ 144 w 60"/>
                <a:gd name="T7" fmla="*/ 81 h 48"/>
                <a:gd name="T8" fmla="*/ 113 w 60"/>
                <a:gd name="T9" fmla="*/ 160 h 48"/>
                <a:gd name="T10" fmla="*/ 29 w 60"/>
                <a:gd name="T11" fmla="*/ 160 h 48"/>
                <a:gd name="T12" fmla="*/ 0 w 60"/>
                <a:gd name="T13" fmla="*/ 81 h 48"/>
                <a:gd name="T14" fmla="*/ 0 60000 65536"/>
                <a:gd name="T15" fmla="*/ 0 60000 65536"/>
                <a:gd name="T16" fmla="*/ 0 60000 65536"/>
                <a:gd name="T17" fmla="*/ 0 60000 65536"/>
                <a:gd name="T18" fmla="*/ 0 60000 65536"/>
                <a:gd name="T19" fmla="*/ 0 60000 65536"/>
                <a:gd name="T20" fmla="*/ 0 60000 65536"/>
                <a:gd name="T21" fmla="*/ 0 w 60"/>
                <a:gd name="T22" fmla="*/ 0 h 48"/>
                <a:gd name="T23" fmla="*/ 60 w 60"/>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48">
                  <a:moveTo>
                    <a:pt x="0" y="24"/>
                  </a:moveTo>
                  <a:lnTo>
                    <a:pt x="12" y="0"/>
                  </a:lnTo>
                  <a:lnTo>
                    <a:pt x="48" y="0"/>
                  </a:lnTo>
                  <a:lnTo>
                    <a:pt x="60" y="24"/>
                  </a:lnTo>
                  <a:lnTo>
                    <a:pt x="48" y="48"/>
                  </a:lnTo>
                  <a:lnTo>
                    <a:pt x="12" y="48"/>
                  </a:lnTo>
                  <a:lnTo>
                    <a:pt x="0" y="24"/>
                  </a:lnTo>
                  <a:close/>
                </a:path>
              </a:pathLst>
            </a:custGeom>
            <a:solidFill>
              <a:srgbClr val="000000"/>
            </a:solidFill>
            <a:ln w="19050">
              <a:solidFill>
                <a:srgbClr val="000000"/>
              </a:solidFill>
              <a:round/>
            </a:ln>
          </p:spPr>
          <p:txBody>
            <a:bodyPr/>
            <a:lstStyle/>
            <a:p>
              <a:endParaRPr lang="zh-CN" altLang="en-US"/>
            </a:p>
          </p:txBody>
        </p:sp>
        <p:sp>
          <p:nvSpPr>
            <p:cNvPr id="24639" name="Line 23"/>
            <p:cNvSpPr>
              <a:spLocks noChangeShapeType="1"/>
            </p:cNvSpPr>
            <p:nvPr/>
          </p:nvSpPr>
          <p:spPr bwMode="auto">
            <a:xfrm>
              <a:off x="430" y="805"/>
              <a:ext cx="326" cy="2"/>
            </a:xfrm>
            <a:prstGeom prst="line">
              <a:avLst/>
            </a:prstGeom>
            <a:noFill/>
            <a:ln w="1905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40" name="Rectangle 24"/>
            <p:cNvSpPr>
              <a:spLocks noChangeArrowheads="1"/>
            </p:cNvSpPr>
            <p:nvPr/>
          </p:nvSpPr>
          <p:spPr bwMode="auto">
            <a:xfrm>
              <a:off x="430" y="748"/>
              <a:ext cx="326" cy="130"/>
            </a:xfrm>
            <a:prstGeom prst="rect">
              <a:avLst/>
            </a:prstGeom>
            <a:solidFill>
              <a:srgbClr val="FFFFFF"/>
            </a:solidFill>
            <a:ln w="1905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4641" name="Freeform 25"/>
            <p:cNvSpPr/>
            <p:nvPr/>
          </p:nvSpPr>
          <p:spPr bwMode="auto">
            <a:xfrm>
              <a:off x="851" y="777"/>
              <a:ext cx="163" cy="72"/>
            </a:xfrm>
            <a:custGeom>
              <a:avLst/>
              <a:gdLst>
                <a:gd name="T0" fmla="*/ 0 w 144"/>
                <a:gd name="T1" fmla="*/ 0 h 60"/>
                <a:gd name="T2" fmla="*/ 58 w 144"/>
                <a:gd name="T3" fmla="*/ 86 h 60"/>
                <a:gd name="T4" fmla="*/ 0 w 144"/>
                <a:gd name="T5" fmla="*/ 215 h 60"/>
                <a:gd name="T6" fmla="*/ 343 w 144"/>
                <a:gd name="T7" fmla="*/ 86 h 60"/>
                <a:gd name="T8" fmla="*/ 0 w 144"/>
                <a:gd name="T9" fmla="*/ 0 h 60"/>
                <a:gd name="T10" fmla="*/ 0 60000 65536"/>
                <a:gd name="T11" fmla="*/ 0 60000 65536"/>
                <a:gd name="T12" fmla="*/ 0 60000 65536"/>
                <a:gd name="T13" fmla="*/ 0 60000 65536"/>
                <a:gd name="T14" fmla="*/ 0 60000 65536"/>
                <a:gd name="T15" fmla="*/ 0 w 144"/>
                <a:gd name="T16" fmla="*/ 0 h 60"/>
                <a:gd name="T17" fmla="*/ 144 w 144"/>
                <a:gd name="T18" fmla="*/ 60 h 60"/>
              </a:gdLst>
              <a:ahLst/>
              <a:cxnLst>
                <a:cxn ang="T10">
                  <a:pos x="T0" y="T1"/>
                </a:cxn>
                <a:cxn ang="T11">
                  <a:pos x="T2" y="T3"/>
                </a:cxn>
                <a:cxn ang="T12">
                  <a:pos x="T4" y="T5"/>
                </a:cxn>
                <a:cxn ang="T13">
                  <a:pos x="T6" y="T7"/>
                </a:cxn>
                <a:cxn ang="T14">
                  <a:pos x="T8" y="T9"/>
                </a:cxn>
              </a:cxnLst>
              <a:rect l="T15" t="T16" r="T17" b="T18"/>
              <a:pathLst>
                <a:path w="144" h="60">
                  <a:moveTo>
                    <a:pt x="0" y="0"/>
                  </a:moveTo>
                  <a:lnTo>
                    <a:pt x="24" y="24"/>
                  </a:lnTo>
                  <a:lnTo>
                    <a:pt x="0" y="60"/>
                  </a:lnTo>
                  <a:lnTo>
                    <a:pt x="144" y="24"/>
                  </a:lnTo>
                  <a:lnTo>
                    <a:pt x="0" y="0"/>
                  </a:lnTo>
                  <a:close/>
                </a:path>
              </a:pathLst>
            </a:custGeom>
            <a:solidFill>
              <a:srgbClr val="000000"/>
            </a:solidFill>
            <a:ln w="19050">
              <a:solidFill>
                <a:srgbClr val="000000"/>
              </a:solidFill>
              <a:round/>
            </a:ln>
          </p:spPr>
          <p:txBody>
            <a:bodyPr/>
            <a:lstStyle/>
            <a:p>
              <a:endParaRPr lang="zh-CN" altLang="en-US"/>
            </a:p>
          </p:txBody>
        </p:sp>
        <p:sp>
          <p:nvSpPr>
            <p:cNvPr id="24642" name="Freeform 26"/>
            <p:cNvSpPr/>
            <p:nvPr/>
          </p:nvSpPr>
          <p:spPr bwMode="auto">
            <a:xfrm>
              <a:off x="1109" y="401"/>
              <a:ext cx="68" cy="174"/>
            </a:xfrm>
            <a:custGeom>
              <a:avLst/>
              <a:gdLst>
                <a:gd name="T0" fmla="*/ 0 w 60"/>
                <a:gd name="T1" fmla="*/ 541 h 144"/>
                <a:gd name="T2" fmla="*/ 58 w 60"/>
                <a:gd name="T3" fmla="*/ 450 h 144"/>
                <a:gd name="T4" fmla="*/ 144 w 60"/>
                <a:gd name="T5" fmla="*/ 541 h 144"/>
                <a:gd name="T6" fmla="*/ 58 w 60"/>
                <a:gd name="T7" fmla="*/ 0 h 144"/>
                <a:gd name="T8" fmla="*/ 0 w 60"/>
                <a:gd name="T9" fmla="*/ 541 h 144"/>
                <a:gd name="T10" fmla="*/ 0 60000 65536"/>
                <a:gd name="T11" fmla="*/ 0 60000 65536"/>
                <a:gd name="T12" fmla="*/ 0 60000 65536"/>
                <a:gd name="T13" fmla="*/ 0 60000 65536"/>
                <a:gd name="T14" fmla="*/ 0 60000 65536"/>
                <a:gd name="T15" fmla="*/ 0 w 60"/>
                <a:gd name="T16" fmla="*/ 0 h 144"/>
                <a:gd name="T17" fmla="*/ 60 w 60"/>
                <a:gd name="T18" fmla="*/ 144 h 144"/>
              </a:gdLst>
              <a:ahLst/>
              <a:cxnLst>
                <a:cxn ang="T10">
                  <a:pos x="T0" y="T1"/>
                </a:cxn>
                <a:cxn ang="T11">
                  <a:pos x="T2" y="T3"/>
                </a:cxn>
                <a:cxn ang="T12">
                  <a:pos x="T4" y="T5"/>
                </a:cxn>
                <a:cxn ang="T13">
                  <a:pos x="T6" y="T7"/>
                </a:cxn>
                <a:cxn ang="T14">
                  <a:pos x="T8" y="T9"/>
                </a:cxn>
              </a:cxnLst>
              <a:rect l="T15" t="T16" r="T17" b="T18"/>
              <a:pathLst>
                <a:path w="60" h="144">
                  <a:moveTo>
                    <a:pt x="0" y="144"/>
                  </a:moveTo>
                  <a:lnTo>
                    <a:pt x="24" y="120"/>
                  </a:lnTo>
                  <a:lnTo>
                    <a:pt x="60" y="144"/>
                  </a:lnTo>
                  <a:lnTo>
                    <a:pt x="24" y="0"/>
                  </a:lnTo>
                  <a:lnTo>
                    <a:pt x="0" y="144"/>
                  </a:lnTo>
                  <a:close/>
                </a:path>
              </a:pathLst>
            </a:custGeom>
            <a:solidFill>
              <a:srgbClr val="000000"/>
            </a:solidFill>
            <a:ln w="19050">
              <a:solidFill>
                <a:srgbClr val="000000"/>
              </a:solidFill>
              <a:round/>
            </a:ln>
          </p:spPr>
          <p:txBody>
            <a:bodyPr/>
            <a:lstStyle/>
            <a:p>
              <a:endParaRPr lang="zh-CN" altLang="en-US"/>
            </a:p>
          </p:txBody>
        </p:sp>
        <p:sp>
          <p:nvSpPr>
            <p:cNvPr id="24643" name="Freeform 27"/>
            <p:cNvSpPr/>
            <p:nvPr/>
          </p:nvSpPr>
          <p:spPr bwMode="auto">
            <a:xfrm>
              <a:off x="1273" y="777"/>
              <a:ext cx="162" cy="72"/>
            </a:xfrm>
            <a:custGeom>
              <a:avLst/>
              <a:gdLst>
                <a:gd name="T0" fmla="*/ 0 w 143"/>
                <a:gd name="T1" fmla="*/ 0 h 60"/>
                <a:gd name="T2" fmla="*/ 58 w 143"/>
                <a:gd name="T3" fmla="*/ 86 h 60"/>
                <a:gd name="T4" fmla="*/ 0 w 143"/>
                <a:gd name="T5" fmla="*/ 215 h 60"/>
                <a:gd name="T6" fmla="*/ 342 w 143"/>
                <a:gd name="T7" fmla="*/ 86 h 60"/>
                <a:gd name="T8" fmla="*/ 0 w 143"/>
                <a:gd name="T9" fmla="*/ 0 h 60"/>
                <a:gd name="T10" fmla="*/ 0 60000 65536"/>
                <a:gd name="T11" fmla="*/ 0 60000 65536"/>
                <a:gd name="T12" fmla="*/ 0 60000 65536"/>
                <a:gd name="T13" fmla="*/ 0 60000 65536"/>
                <a:gd name="T14" fmla="*/ 0 60000 65536"/>
                <a:gd name="T15" fmla="*/ 0 w 143"/>
                <a:gd name="T16" fmla="*/ 0 h 60"/>
                <a:gd name="T17" fmla="*/ 143 w 143"/>
                <a:gd name="T18" fmla="*/ 60 h 60"/>
              </a:gdLst>
              <a:ahLst/>
              <a:cxnLst>
                <a:cxn ang="T10">
                  <a:pos x="T0" y="T1"/>
                </a:cxn>
                <a:cxn ang="T11">
                  <a:pos x="T2" y="T3"/>
                </a:cxn>
                <a:cxn ang="T12">
                  <a:pos x="T4" y="T5"/>
                </a:cxn>
                <a:cxn ang="T13">
                  <a:pos x="T6" y="T7"/>
                </a:cxn>
                <a:cxn ang="T14">
                  <a:pos x="T8" y="T9"/>
                </a:cxn>
              </a:cxnLst>
              <a:rect l="T15" t="T16" r="T17" b="T18"/>
              <a:pathLst>
                <a:path w="143" h="60">
                  <a:moveTo>
                    <a:pt x="0" y="0"/>
                  </a:moveTo>
                  <a:lnTo>
                    <a:pt x="24" y="24"/>
                  </a:lnTo>
                  <a:lnTo>
                    <a:pt x="0" y="60"/>
                  </a:lnTo>
                  <a:lnTo>
                    <a:pt x="143" y="24"/>
                  </a:lnTo>
                  <a:lnTo>
                    <a:pt x="0" y="0"/>
                  </a:lnTo>
                  <a:close/>
                </a:path>
              </a:pathLst>
            </a:custGeom>
            <a:solidFill>
              <a:srgbClr val="000000"/>
            </a:solidFill>
            <a:ln w="19050">
              <a:solidFill>
                <a:srgbClr val="000000"/>
              </a:solidFill>
              <a:round/>
            </a:ln>
          </p:spPr>
          <p:txBody>
            <a:bodyPr/>
            <a:lstStyle/>
            <a:p>
              <a:endParaRPr lang="zh-CN" altLang="en-US"/>
            </a:p>
          </p:txBody>
        </p:sp>
        <p:sp>
          <p:nvSpPr>
            <p:cNvPr id="24644" name="Rectangle 28"/>
            <p:cNvSpPr>
              <a:spLocks noChangeArrowheads="1"/>
            </p:cNvSpPr>
            <p:nvPr/>
          </p:nvSpPr>
          <p:spPr bwMode="auto">
            <a:xfrm>
              <a:off x="549" y="488"/>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4645" name="Rectangle 29"/>
            <p:cNvSpPr>
              <a:spLocks noChangeArrowheads="1"/>
            </p:cNvSpPr>
            <p:nvPr/>
          </p:nvSpPr>
          <p:spPr bwMode="auto">
            <a:xfrm>
              <a:off x="654" y="590"/>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4646" name="Rectangle 30"/>
            <p:cNvSpPr>
              <a:spLocks noChangeArrowheads="1"/>
            </p:cNvSpPr>
            <p:nvPr/>
          </p:nvSpPr>
          <p:spPr bwMode="auto">
            <a:xfrm>
              <a:off x="923" y="907"/>
              <a:ext cx="5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47" name="Rectangle 31"/>
            <p:cNvSpPr>
              <a:spLocks noChangeArrowheads="1"/>
            </p:cNvSpPr>
            <p:nvPr/>
          </p:nvSpPr>
          <p:spPr bwMode="auto">
            <a:xfrm>
              <a:off x="978" y="994"/>
              <a:ext cx="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48" name="Rectangle 32"/>
            <p:cNvSpPr>
              <a:spLocks noChangeArrowheads="1"/>
            </p:cNvSpPr>
            <p:nvPr/>
          </p:nvSpPr>
          <p:spPr bwMode="auto">
            <a:xfrm>
              <a:off x="967" y="733"/>
              <a:ext cx="3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49" name="Rectangle 33"/>
            <p:cNvSpPr>
              <a:spLocks noChangeArrowheads="1"/>
            </p:cNvSpPr>
            <p:nvPr/>
          </p:nvSpPr>
          <p:spPr bwMode="auto">
            <a:xfrm>
              <a:off x="1249" y="907"/>
              <a:ext cx="5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50" name="Rectangle 34"/>
            <p:cNvSpPr>
              <a:spLocks noChangeArrowheads="1"/>
            </p:cNvSpPr>
            <p:nvPr/>
          </p:nvSpPr>
          <p:spPr bwMode="auto">
            <a:xfrm>
              <a:off x="1306" y="99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51" name="Rectangle 35"/>
            <p:cNvSpPr>
              <a:spLocks noChangeArrowheads="1"/>
            </p:cNvSpPr>
            <p:nvPr/>
          </p:nvSpPr>
          <p:spPr bwMode="auto">
            <a:xfrm>
              <a:off x="1295" y="733"/>
              <a:ext cx="3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52" name="Rectangle 36"/>
            <p:cNvSpPr>
              <a:spLocks noChangeArrowheads="1"/>
            </p:cNvSpPr>
            <p:nvPr/>
          </p:nvSpPr>
          <p:spPr bwMode="auto">
            <a:xfrm>
              <a:off x="1345" y="863"/>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53" name="Rectangle 37"/>
            <p:cNvSpPr>
              <a:spLocks noChangeArrowheads="1"/>
            </p:cNvSpPr>
            <p:nvPr/>
          </p:nvSpPr>
          <p:spPr bwMode="auto">
            <a:xfrm>
              <a:off x="1263" y="417"/>
              <a:ext cx="5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54" name="Rectangle 38"/>
            <p:cNvSpPr>
              <a:spLocks noChangeArrowheads="1"/>
            </p:cNvSpPr>
            <p:nvPr/>
          </p:nvSpPr>
          <p:spPr bwMode="auto">
            <a:xfrm>
              <a:off x="1309" y="517"/>
              <a:ext cx="3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4655" name="Rectangle 39"/>
            <p:cNvSpPr>
              <a:spLocks noChangeArrowheads="1"/>
            </p:cNvSpPr>
            <p:nvPr/>
          </p:nvSpPr>
          <p:spPr bwMode="auto">
            <a:xfrm>
              <a:off x="1295" y="258"/>
              <a:ext cx="3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56" name="Rectangle 40"/>
            <p:cNvSpPr>
              <a:spLocks noChangeArrowheads="1"/>
            </p:cNvSpPr>
            <p:nvPr/>
          </p:nvSpPr>
          <p:spPr bwMode="auto">
            <a:xfrm>
              <a:off x="1550" y="186"/>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4657" name="Rectangle 41"/>
            <p:cNvSpPr>
              <a:spLocks noChangeArrowheads="1"/>
            </p:cNvSpPr>
            <p:nvPr/>
          </p:nvSpPr>
          <p:spPr bwMode="auto">
            <a:xfrm>
              <a:off x="1680" y="273"/>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4658" name="Rectangle 42"/>
            <p:cNvSpPr>
              <a:spLocks noChangeArrowheads="1"/>
            </p:cNvSpPr>
            <p:nvPr/>
          </p:nvSpPr>
          <p:spPr bwMode="auto">
            <a:xfrm>
              <a:off x="2116" y="0"/>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宋体" panose="02010600030101010101" pitchFamily="2" charset="-122"/>
                </a:rPr>
                <a:t>反馈</a:t>
              </a:r>
              <a:endParaRPr lang="zh-CN" altLang="zh-CN" sz="2800">
                <a:latin typeface="Times New Roman" panose="02020603050405020304" pitchFamily="18" charset="0"/>
              </a:endParaRPr>
            </a:p>
          </p:txBody>
        </p:sp>
        <p:sp>
          <p:nvSpPr>
            <p:cNvPr id="24659" name="Freeform 43"/>
            <p:cNvSpPr/>
            <p:nvPr/>
          </p:nvSpPr>
          <p:spPr bwMode="auto">
            <a:xfrm>
              <a:off x="1748" y="1727"/>
              <a:ext cx="68" cy="72"/>
            </a:xfrm>
            <a:custGeom>
              <a:avLst/>
              <a:gdLst>
                <a:gd name="T0" fmla="*/ 0 w 60"/>
                <a:gd name="T1" fmla="*/ 86 h 60"/>
                <a:gd name="T2" fmla="*/ 58 w 60"/>
                <a:gd name="T3" fmla="*/ 0 h 60"/>
                <a:gd name="T4" fmla="*/ 113 w 60"/>
                <a:gd name="T5" fmla="*/ 0 h 60"/>
                <a:gd name="T6" fmla="*/ 144 w 60"/>
                <a:gd name="T7" fmla="*/ 86 h 60"/>
                <a:gd name="T8" fmla="*/ 113 w 60"/>
                <a:gd name="T9" fmla="*/ 215 h 60"/>
                <a:gd name="T10" fmla="*/ 58 w 60"/>
                <a:gd name="T11" fmla="*/ 215 h 60"/>
                <a:gd name="T12" fmla="*/ 0 w 60"/>
                <a:gd name="T13" fmla="*/ 86 h 60"/>
                <a:gd name="T14" fmla="*/ 0 60000 65536"/>
                <a:gd name="T15" fmla="*/ 0 60000 65536"/>
                <a:gd name="T16" fmla="*/ 0 60000 65536"/>
                <a:gd name="T17" fmla="*/ 0 60000 65536"/>
                <a:gd name="T18" fmla="*/ 0 60000 65536"/>
                <a:gd name="T19" fmla="*/ 0 60000 65536"/>
                <a:gd name="T20" fmla="*/ 0 60000 65536"/>
                <a:gd name="T21" fmla="*/ 0 w 60"/>
                <a:gd name="T22" fmla="*/ 0 h 60"/>
                <a:gd name="T23" fmla="*/ 60 w 60"/>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60">
                  <a:moveTo>
                    <a:pt x="0" y="24"/>
                  </a:moveTo>
                  <a:lnTo>
                    <a:pt x="24" y="0"/>
                  </a:lnTo>
                  <a:lnTo>
                    <a:pt x="48" y="0"/>
                  </a:lnTo>
                  <a:lnTo>
                    <a:pt x="60" y="24"/>
                  </a:lnTo>
                  <a:lnTo>
                    <a:pt x="48" y="60"/>
                  </a:lnTo>
                  <a:lnTo>
                    <a:pt x="24" y="60"/>
                  </a:lnTo>
                  <a:lnTo>
                    <a:pt x="0" y="24"/>
                  </a:lnTo>
                  <a:close/>
                </a:path>
              </a:pathLst>
            </a:custGeom>
            <a:solidFill>
              <a:srgbClr val="000000"/>
            </a:solidFill>
            <a:ln w="19050">
              <a:solidFill>
                <a:srgbClr val="000000"/>
              </a:solidFill>
              <a:round/>
            </a:ln>
          </p:spPr>
          <p:txBody>
            <a:bodyPr/>
            <a:lstStyle/>
            <a:p>
              <a:endParaRPr lang="zh-CN" altLang="en-US"/>
            </a:p>
          </p:txBody>
        </p:sp>
      </p:grpSp>
      <p:grpSp>
        <p:nvGrpSpPr>
          <p:cNvPr id="24580" name="Group 44"/>
          <p:cNvGrpSpPr/>
          <p:nvPr/>
        </p:nvGrpSpPr>
        <p:grpSpPr bwMode="auto">
          <a:xfrm>
            <a:off x="679450" y="1098550"/>
            <a:ext cx="3386138" cy="2673350"/>
            <a:chOff x="0" y="0"/>
            <a:chExt cx="2133" cy="1684"/>
          </a:xfrm>
        </p:grpSpPr>
        <p:sp>
          <p:nvSpPr>
            <p:cNvPr id="24584" name="Freeform 45"/>
            <p:cNvSpPr/>
            <p:nvPr/>
          </p:nvSpPr>
          <p:spPr bwMode="auto">
            <a:xfrm>
              <a:off x="76" y="842"/>
              <a:ext cx="293" cy="327"/>
            </a:xfrm>
            <a:custGeom>
              <a:avLst/>
              <a:gdLst>
                <a:gd name="T0" fmla="*/ 0 w 287"/>
                <a:gd name="T1" fmla="*/ 450 h 274"/>
                <a:gd name="T2" fmla="*/ 31 w 287"/>
                <a:gd name="T3" fmla="*/ 245 h 274"/>
                <a:gd name="T4" fmla="*/ 86 w 287"/>
                <a:gd name="T5" fmla="*/ 42 h 274"/>
                <a:gd name="T6" fmla="*/ 164 w 287"/>
                <a:gd name="T7" fmla="*/ 0 h 274"/>
                <a:gd name="T8" fmla="*/ 249 w 287"/>
                <a:gd name="T9" fmla="*/ 42 h 274"/>
                <a:gd name="T10" fmla="*/ 304 w 287"/>
                <a:gd name="T11" fmla="*/ 245 h 274"/>
                <a:gd name="T12" fmla="*/ 332 w 287"/>
                <a:gd name="T13" fmla="*/ 450 h 274"/>
                <a:gd name="T14" fmla="*/ 304 w 287"/>
                <a:gd name="T15" fmla="*/ 701 h 274"/>
                <a:gd name="T16" fmla="*/ 249 w 287"/>
                <a:gd name="T17" fmla="*/ 905 h 274"/>
                <a:gd name="T18" fmla="*/ 164 w 287"/>
                <a:gd name="T19" fmla="*/ 943 h 274"/>
                <a:gd name="T20" fmla="*/ 86 w 287"/>
                <a:gd name="T21" fmla="*/ 905 h 274"/>
                <a:gd name="T22" fmla="*/ 31 w 287"/>
                <a:gd name="T23" fmla="*/ 701 h 274"/>
                <a:gd name="T24" fmla="*/ 0 w 287"/>
                <a:gd name="T25" fmla="*/ 450 h 2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7"/>
                <a:gd name="T40" fmla="*/ 0 h 274"/>
                <a:gd name="T41" fmla="*/ 287 w 287"/>
                <a:gd name="T42" fmla="*/ 274 h 2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7" h="274">
                  <a:moveTo>
                    <a:pt x="0" y="131"/>
                  </a:moveTo>
                  <a:lnTo>
                    <a:pt x="24" y="71"/>
                  </a:lnTo>
                  <a:lnTo>
                    <a:pt x="72" y="12"/>
                  </a:lnTo>
                  <a:lnTo>
                    <a:pt x="143" y="0"/>
                  </a:lnTo>
                  <a:lnTo>
                    <a:pt x="215" y="12"/>
                  </a:lnTo>
                  <a:lnTo>
                    <a:pt x="263" y="71"/>
                  </a:lnTo>
                  <a:lnTo>
                    <a:pt x="287" y="131"/>
                  </a:lnTo>
                  <a:lnTo>
                    <a:pt x="263" y="203"/>
                  </a:lnTo>
                  <a:lnTo>
                    <a:pt x="215" y="262"/>
                  </a:lnTo>
                  <a:lnTo>
                    <a:pt x="143" y="274"/>
                  </a:lnTo>
                  <a:lnTo>
                    <a:pt x="72" y="262"/>
                  </a:lnTo>
                  <a:lnTo>
                    <a:pt x="24" y="203"/>
                  </a:lnTo>
                  <a:lnTo>
                    <a:pt x="0" y="131"/>
                  </a:lnTo>
                  <a:close/>
                </a:path>
              </a:pathLst>
            </a:custGeom>
            <a:solidFill>
              <a:srgbClr val="FFFFFF"/>
            </a:solidFill>
            <a:ln w="19050">
              <a:solidFill>
                <a:srgbClr val="000000"/>
              </a:solidFill>
              <a:round/>
            </a:ln>
          </p:spPr>
          <p:txBody>
            <a:bodyPr/>
            <a:lstStyle/>
            <a:p>
              <a:endParaRPr lang="zh-CN" altLang="en-US"/>
            </a:p>
          </p:txBody>
        </p:sp>
        <p:sp>
          <p:nvSpPr>
            <p:cNvPr id="24585" name="Line 46"/>
            <p:cNvSpPr>
              <a:spLocks noChangeShapeType="1"/>
            </p:cNvSpPr>
            <p:nvPr/>
          </p:nvSpPr>
          <p:spPr bwMode="auto">
            <a:xfrm>
              <a:off x="234" y="537"/>
              <a:ext cx="1" cy="93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86" name="Rectangle 47"/>
            <p:cNvSpPr>
              <a:spLocks noChangeArrowheads="1"/>
            </p:cNvSpPr>
            <p:nvPr/>
          </p:nvSpPr>
          <p:spPr bwMode="auto">
            <a:xfrm>
              <a:off x="0" y="628"/>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587" name="Rectangle 48"/>
            <p:cNvSpPr>
              <a:spLocks noChangeArrowheads="1"/>
            </p:cNvSpPr>
            <p:nvPr/>
          </p:nvSpPr>
          <p:spPr bwMode="auto">
            <a:xfrm>
              <a:off x="0" y="1227"/>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588" name="Line 49"/>
            <p:cNvSpPr>
              <a:spLocks noChangeShapeType="1"/>
            </p:cNvSpPr>
            <p:nvPr/>
          </p:nvSpPr>
          <p:spPr bwMode="auto">
            <a:xfrm flipH="1">
              <a:off x="228" y="537"/>
              <a:ext cx="736"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89" name="Line 50"/>
            <p:cNvSpPr>
              <a:spLocks noChangeShapeType="1"/>
            </p:cNvSpPr>
            <p:nvPr/>
          </p:nvSpPr>
          <p:spPr bwMode="auto">
            <a:xfrm>
              <a:off x="964" y="371"/>
              <a:ext cx="1" cy="32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0" name="Line 51"/>
            <p:cNvSpPr>
              <a:spLocks noChangeShapeType="1"/>
            </p:cNvSpPr>
            <p:nvPr/>
          </p:nvSpPr>
          <p:spPr bwMode="auto">
            <a:xfrm flipV="1">
              <a:off x="964" y="371"/>
              <a:ext cx="232" cy="1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1" name="Line 52"/>
            <p:cNvSpPr>
              <a:spLocks noChangeShapeType="1"/>
            </p:cNvSpPr>
            <p:nvPr/>
          </p:nvSpPr>
          <p:spPr bwMode="auto">
            <a:xfrm>
              <a:off x="964" y="600"/>
              <a:ext cx="219" cy="9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2" name="Freeform 53"/>
            <p:cNvSpPr/>
            <p:nvPr/>
          </p:nvSpPr>
          <p:spPr bwMode="auto">
            <a:xfrm>
              <a:off x="1073" y="627"/>
              <a:ext cx="123" cy="72"/>
            </a:xfrm>
            <a:custGeom>
              <a:avLst/>
              <a:gdLst>
                <a:gd name="T0" fmla="*/ 0 w 120"/>
                <a:gd name="T1" fmla="*/ 128 h 60"/>
                <a:gd name="T2" fmla="*/ 31 w 120"/>
                <a:gd name="T3" fmla="*/ 86 h 60"/>
                <a:gd name="T4" fmla="*/ 12 w 120"/>
                <a:gd name="T5" fmla="*/ 0 h 60"/>
                <a:gd name="T6" fmla="*/ 141 w 120"/>
                <a:gd name="T7" fmla="*/ 215 h 60"/>
                <a:gd name="T8" fmla="*/ 0 w 120"/>
                <a:gd name="T9" fmla="*/ 128 h 60"/>
                <a:gd name="T10" fmla="*/ 0 60000 65536"/>
                <a:gd name="T11" fmla="*/ 0 60000 65536"/>
                <a:gd name="T12" fmla="*/ 0 60000 65536"/>
                <a:gd name="T13" fmla="*/ 0 60000 65536"/>
                <a:gd name="T14" fmla="*/ 0 60000 65536"/>
                <a:gd name="T15" fmla="*/ 0 w 120"/>
                <a:gd name="T16" fmla="*/ 0 h 60"/>
                <a:gd name="T17" fmla="*/ 120 w 120"/>
                <a:gd name="T18" fmla="*/ 60 h 60"/>
              </a:gdLst>
              <a:ahLst/>
              <a:cxnLst>
                <a:cxn ang="T10">
                  <a:pos x="T0" y="T1"/>
                </a:cxn>
                <a:cxn ang="T11">
                  <a:pos x="T2" y="T3"/>
                </a:cxn>
                <a:cxn ang="T12">
                  <a:pos x="T4" y="T5"/>
                </a:cxn>
                <a:cxn ang="T13">
                  <a:pos x="T6" y="T7"/>
                </a:cxn>
                <a:cxn ang="T14">
                  <a:pos x="T8" y="T9"/>
                </a:cxn>
              </a:cxnLst>
              <a:rect l="T15" t="T16" r="T17" b="T18"/>
              <a:pathLst>
                <a:path w="120" h="60">
                  <a:moveTo>
                    <a:pt x="0" y="36"/>
                  </a:moveTo>
                  <a:lnTo>
                    <a:pt x="24" y="24"/>
                  </a:lnTo>
                  <a:lnTo>
                    <a:pt x="12" y="0"/>
                  </a:lnTo>
                  <a:lnTo>
                    <a:pt x="120" y="60"/>
                  </a:lnTo>
                  <a:lnTo>
                    <a:pt x="0" y="36"/>
                  </a:lnTo>
                  <a:close/>
                </a:path>
              </a:pathLst>
            </a:custGeom>
            <a:solidFill>
              <a:srgbClr val="000000"/>
            </a:solidFill>
            <a:ln w="19050">
              <a:solidFill>
                <a:srgbClr val="000000"/>
              </a:solidFill>
              <a:round/>
            </a:ln>
          </p:spPr>
          <p:txBody>
            <a:bodyPr/>
            <a:lstStyle/>
            <a:p>
              <a:endParaRPr lang="zh-CN" altLang="en-US"/>
            </a:p>
          </p:txBody>
        </p:sp>
        <p:sp>
          <p:nvSpPr>
            <p:cNvPr id="24593" name="Line 54"/>
            <p:cNvSpPr>
              <a:spLocks noChangeShapeType="1"/>
            </p:cNvSpPr>
            <p:nvPr/>
          </p:nvSpPr>
          <p:spPr bwMode="auto">
            <a:xfrm flipH="1">
              <a:off x="247" y="1469"/>
              <a:ext cx="949"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4" name="Line 55"/>
            <p:cNvSpPr>
              <a:spLocks noChangeShapeType="1"/>
            </p:cNvSpPr>
            <p:nvPr/>
          </p:nvSpPr>
          <p:spPr bwMode="auto">
            <a:xfrm>
              <a:off x="1196" y="699"/>
              <a:ext cx="1" cy="98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5" name="Line 56"/>
            <p:cNvSpPr>
              <a:spLocks noChangeShapeType="1"/>
            </p:cNvSpPr>
            <p:nvPr/>
          </p:nvSpPr>
          <p:spPr bwMode="auto">
            <a:xfrm flipV="1">
              <a:off x="1196" y="998"/>
              <a:ext cx="1" cy="343"/>
            </a:xfrm>
            <a:prstGeom prst="line">
              <a:avLst/>
            </a:prstGeom>
            <a:noFill/>
            <a:ln w="1905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6" name="Rectangle 57"/>
            <p:cNvSpPr>
              <a:spLocks noChangeArrowheads="1"/>
            </p:cNvSpPr>
            <p:nvPr/>
          </p:nvSpPr>
          <p:spPr bwMode="auto">
            <a:xfrm>
              <a:off x="1135" y="998"/>
              <a:ext cx="109" cy="343"/>
            </a:xfrm>
            <a:prstGeom prst="rect">
              <a:avLst/>
            </a:prstGeom>
            <a:solidFill>
              <a:srgbClr val="FFFFFF"/>
            </a:solidFill>
            <a:ln w="1905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4597" name="Line 58"/>
            <p:cNvSpPr>
              <a:spLocks noChangeShapeType="1"/>
            </p:cNvSpPr>
            <p:nvPr/>
          </p:nvSpPr>
          <p:spPr bwMode="auto">
            <a:xfrm>
              <a:off x="1196" y="0"/>
              <a:ext cx="1" cy="3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8" name="Line 59"/>
            <p:cNvSpPr>
              <a:spLocks noChangeShapeType="1"/>
            </p:cNvSpPr>
            <p:nvPr/>
          </p:nvSpPr>
          <p:spPr bwMode="auto">
            <a:xfrm>
              <a:off x="1196" y="869"/>
              <a:ext cx="937" cy="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9" name="Rectangle 60"/>
            <p:cNvSpPr>
              <a:spLocks noChangeArrowheads="1"/>
            </p:cNvSpPr>
            <p:nvPr/>
          </p:nvSpPr>
          <p:spPr bwMode="auto">
            <a:xfrm>
              <a:off x="1441" y="799"/>
              <a:ext cx="293" cy="142"/>
            </a:xfrm>
            <a:prstGeom prst="rect">
              <a:avLst/>
            </a:prstGeom>
            <a:solidFill>
              <a:srgbClr val="FFFFFF"/>
            </a:solidFill>
            <a:ln w="1905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4600" name="Freeform 61"/>
            <p:cNvSpPr/>
            <p:nvPr/>
          </p:nvSpPr>
          <p:spPr bwMode="auto">
            <a:xfrm>
              <a:off x="1840" y="842"/>
              <a:ext cx="146" cy="56"/>
            </a:xfrm>
            <a:custGeom>
              <a:avLst/>
              <a:gdLst>
                <a:gd name="T0" fmla="*/ 164 w 143"/>
                <a:gd name="T1" fmla="*/ 0 h 47"/>
                <a:gd name="T2" fmla="*/ 139 w 143"/>
                <a:gd name="T3" fmla="*/ 76 h 47"/>
                <a:gd name="T4" fmla="*/ 164 w 143"/>
                <a:gd name="T5" fmla="*/ 161 h 47"/>
                <a:gd name="T6" fmla="*/ 0 w 143"/>
                <a:gd name="T7" fmla="*/ 76 h 47"/>
                <a:gd name="T8" fmla="*/ 164 w 143"/>
                <a:gd name="T9" fmla="*/ 0 h 47"/>
                <a:gd name="T10" fmla="*/ 0 60000 65536"/>
                <a:gd name="T11" fmla="*/ 0 60000 65536"/>
                <a:gd name="T12" fmla="*/ 0 60000 65536"/>
                <a:gd name="T13" fmla="*/ 0 60000 65536"/>
                <a:gd name="T14" fmla="*/ 0 60000 65536"/>
                <a:gd name="T15" fmla="*/ 0 w 143"/>
                <a:gd name="T16" fmla="*/ 0 h 47"/>
                <a:gd name="T17" fmla="*/ 143 w 143"/>
                <a:gd name="T18" fmla="*/ 47 h 47"/>
              </a:gdLst>
              <a:ahLst/>
              <a:cxnLst>
                <a:cxn ang="T10">
                  <a:pos x="T0" y="T1"/>
                </a:cxn>
                <a:cxn ang="T11">
                  <a:pos x="T2" y="T3"/>
                </a:cxn>
                <a:cxn ang="T12">
                  <a:pos x="T4" y="T5"/>
                </a:cxn>
                <a:cxn ang="T13">
                  <a:pos x="T6" y="T7"/>
                </a:cxn>
                <a:cxn ang="T14">
                  <a:pos x="T8" y="T9"/>
                </a:cxn>
              </a:cxnLst>
              <a:rect l="T15" t="T16" r="T17" b="T18"/>
              <a:pathLst>
                <a:path w="143" h="47">
                  <a:moveTo>
                    <a:pt x="143" y="0"/>
                  </a:moveTo>
                  <a:lnTo>
                    <a:pt x="119" y="23"/>
                  </a:lnTo>
                  <a:lnTo>
                    <a:pt x="143" y="47"/>
                  </a:lnTo>
                  <a:lnTo>
                    <a:pt x="0" y="23"/>
                  </a:lnTo>
                  <a:lnTo>
                    <a:pt x="143" y="0"/>
                  </a:lnTo>
                  <a:close/>
                </a:path>
              </a:pathLst>
            </a:custGeom>
            <a:solidFill>
              <a:srgbClr val="000000"/>
            </a:solidFill>
            <a:ln w="19050">
              <a:solidFill>
                <a:srgbClr val="000000"/>
              </a:solidFill>
              <a:round/>
            </a:ln>
          </p:spPr>
          <p:txBody>
            <a:bodyPr/>
            <a:lstStyle/>
            <a:p>
              <a:endParaRPr lang="zh-CN" altLang="en-US"/>
            </a:p>
          </p:txBody>
        </p:sp>
        <p:sp>
          <p:nvSpPr>
            <p:cNvPr id="24601" name="Line 62"/>
            <p:cNvSpPr>
              <a:spLocks noChangeShapeType="1"/>
            </p:cNvSpPr>
            <p:nvPr/>
          </p:nvSpPr>
          <p:spPr bwMode="auto">
            <a:xfrm>
              <a:off x="1110" y="1683"/>
              <a:ext cx="170"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602" name="Rectangle 63"/>
            <p:cNvSpPr>
              <a:spLocks noChangeArrowheads="1"/>
            </p:cNvSpPr>
            <p:nvPr/>
          </p:nvSpPr>
          <p:spPr bwMode="auto">
            <a:xfrm>
              <a:off x="435" y="903"/>
              <a:ext cx="11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4603" name="Rectangle 64"/>
            <p:cNvSpPr>
              <a:spLocks noChangeArrowheads="1"/>
            </p:cNvSpPr>
            <p:nvPr/>
          </p:nvSpPr>
          <p:spPr bwMode="auto">
            <a:xfrm>
              <a:off x="545" y="1002"/>
              <a:ext cx="3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04" name="Rectangle 65"/>
            <p:cNvSpPr>
              <a:spLocks noChangeArrowheads="1"/>
            </p:cNvSpPr>
            <p:nvPr/>
          </p:nvSpPr>
          <p:spPr bwMode="auto">
            <a:xfrm>
              <a:off x="509" y="727"/>
              <a:ext cx="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05" name="Rectangle 66"/>
            <p:cNvSpPr>
              <a:spLocks noChangeArrowheads="1"/>
            </p:cNvSpPr>
            <p:nvPr/>
          </p:nvSpPr>
          <p:spPr bwMode="auto">
            <a:xfrm>
              <a:off x="703" y="628"/>
              <a:ext cx="11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4606" name="Rectangle 67"/>
            <p:cNvSpPr>
              <a:spLocks noChangeArrowheads="1"/>
            </p:cNvSpPr>
            <p:nvPr/>
          </p:nvSpPr>
          <p:spPr bwMode="auto">
            <a:xfrm>
              <a:off x="856" y="732"/>
              <a:ext cx="29"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4607" name="Rectangle 68"/>
            <p:cNvSpPr>
              <a:spLocks noChangeArrowheads="1"/>
            </p:cNvSpPr>
            <p:nvPr/>
          </p:nvSpPr>
          <p:spPr bwMode="auto">
            <a:xfrm>
              <a:off x="776" y="465"/>
              <a:ext cx="4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08" name="Rectangle 69"/>
            <p:cNvSpPr>
              <a:spLocks noChangeArrowheads="1"/>
            </p:cNvSpPr>
            <p:nvPr/>
          </p:nvSpPr>
          <p:spPr bwMode="auto">
            <a:xfrm>
              <a:off x="840" y="585"/>
              <a:ext cx="15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09" name="Rectangle 70"/>
            <p:cNvSpPr>
              <a:spLocks noChangeArrowheads="1"/>
            </p:cNvSpPr>
            <p:nvPr/>
          </p:nvSpPr>
          <p:spPr bwMode="auto">
            <a:xfrm>
              <a:off x="906" y="1056"/>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4610" name="Rectangle 71"/>
            <p:cNvSpPr>
              <a:spLocks noChangeArrowheads="1"/>
            </p:cNvSpPr>
            <p:nvPr/>
          </p:nvSpPr>
          <p:spPr bwMode="auto">
            <a:xfrm>
              <a:off x="1003" y="1156"/>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E</a:t>
              </a:r>
              <a:endParaRPr lang="zh-CN" altLang="zh-CN" sz="2800">
                <a:latin typeface="Times New Roman" panose="02020603050405020304" pitchFamily="18" charset="0"/>
              </a:endParaRPr>
            </a:p>
          </p:txBody>
        </p:sp>
        <p:sp>
          <p:nvSpPr>
            <p:cNvPr id="24611" name="Freeform 72"/>
            <p:cNvSpPr/>
            <p:nvPr/>
          </p:nvSpPr>
          <p:spPr bwMode="auto">
            <a:xfrm>
              <a:off x="1159" y="1440"/>
              <a:ext cx="60" cy="72"/>
            </a:xfrm>
            <a:custGeom>
              <a:avLst/>
              <a:gdLst>
                <a:gd name="T0" fmla="*/ 0 w 59"/>
                <a:gd name="T1" fmla="*/ 86 h 60"/>
                <a:gd name="T2" fmla="*/ 12 w 59"/>
                <a:gd name="T3" fmla="*/ 0 h 60"/>
                <a:gd name="T4" fmla="*/ 55 w 59"/>
                <a:gd name="T5" fmla="*/ 0 h 60"/>
                <a:gd name="T6" fmla="*/ 66 w 59"/>
                <a:gd name="T7" fmla="*/ 86 h 60"/>
                <a:gd name="T8" fmla="*/ 55 w 59"/>
                <a:gd name="T9" fmla="*/ 215 h 60"/>
                <a:gd name="T10" fmla="*/ 12 w 59"/>
                <a:gd name="T11" fmla="*/ 215 h 60"/>
                <a:gd name="T12" fmla="*/ 0 w 59"/>
                <a:gd name="T13" fmla="*/ 86 h 60"/>
                <a:gd name="T14" fmla="*/ 0 60000 65536"/>
                <a:gd name="T15" fmla="*/ 0 60000 65536"/>
                <a:gd name="T16" fmla="*/ 0 60000 65536"/>
                <a:gd name="T17" fmla="*/ 0 60000 65536"/>
                <a:gd name="T18" fmla="*/ 0 60000 65536"/>
                <a:gd name="T19" fmla="*/ 0 60000 65536"/>
                <a:gd name="T20" fmla="*/ 0 60000 65536"/>
                <a:gd name="T21" fmla="*/ 0 w 59"/>
                <a:gd name="T22" fmla="*/ 0 h 60"/>
                <a:gd name="T23" fmla="*/ 59 w 59"/>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60">
                  <a:moveTo>
                    <a:pt x="0" y="24"/>
                  </a:moveTo>
                  <a:lnTo>
                    <a:pt x="12" y="0"/>
                  </a:lnTo>
                  <a:lnTo>
                    <a:pt x="48" y="0"/>
                  </a:lnTo>
                  <a:lnTo>
                    <a:pt x="59" y="24"/>
                  </a:lnTo>
                  <a:lnTo>
                    <a:pt x="48" y="60"/>
                  </a:lnTo>
                  <a:lnTo>
                    <a:pt x="12" y="60"/>
                  </a:lnTo>
                  <a:lnTo>
                    <a:pt x="0" y="24"/>
                  </a:lnTo>
                  <a:close/>
                </a:path>
              </a:pathLst>
            </a:custGeom>
            <a:solidFill>
              <a:srgbClr val="000000"/>
            </a:solidFill>
            <a:ln w="19050">
              <a:solidFill>
                <a:srgbClr val="000000"/>
              </a:solidFill>
              <a:round/>
            </a:ln>
          </p:spPr>
          <p:txBody>
            <a:bodyPr/>
            <a:lstStyle/>
            <a:p>
              <a:endParaRPr lang="zh-CN" altLang="en-US"/>
            </a:p>
          </p:txBody>
        </p:sp>
        <p:sp>
          <p:nvSpPr>
            <p:cNvPr id="24612" name="Rectangle 73"/>
            <p:cNvSpPr>
              <a:spLocks noChangeArrowheads="1"/>
            </p:cNvSpPr>
            <p:nvPr/>
          </p:nvSpPr>
          <p:spPr bwMode="auto">
            <a:xfrm>
              <a:off x="1323" y="1099"/>
              <a:ext cx="110"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4613" name="Rectangle 74"/>
            <p:cNvSpPr>
              <a:spLocks noChangeArrowheads="1"/>
            </p:cNvSpPr>
            <p:nvPr/>
          </p:nvSpPr>
          <p:spPr bwMode="auto">
            <a:xfrm>
              <a:off x="1466" y="1194"/>
              <a:ext cx="3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4614" name="Rectangle 75"/>
            <p:cNvSpPr>
              <a:spLocks noChangeArrowheads="1"/>
            </p:cNvSpPr>
            <p:nvPr/>
          </p:nvSpPr>
          <p:spPr bwMode="auto">
            <a:xfrm>
              <a:off x="1384" y="928"/>
              <a:ext cx="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4615" name="Rectangle 76"/>
            <p:cNvSpPr>
              <a:spLocks noChangeArrowheads="1"/>
            </p:cNvSpPr>
            <p:nvPr/>
          </p:nvSpPr>
          <p:spPr bwMode="auto">
            <a:xfrm>
              <a:off x="1588" y="514"/>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4616" name="Rectangle 77"/>
            <p:cNvSpPr>
              <a:spLocks noChangeArrowheads="1"/>
            </p:cNvSpPr>
            <p:nvPr/>
          </p:nvSpPr>
          <p:spPr bwMode="auto">
            <a:xfrm>
              <a:off x="1704" y="614"/>
              <a:ext cx="3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3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4617" name="Rectangle 78"/>
            <p:cNvSpPr>
              <a:spLocks noChangeArrowheads="1"/>
            </p:cNvSpPr>
            <p:nvPr/>
          </p:nvSpPr>
          <p:spPr bwMode="auto">
            <a:xfrm>
              <a:off x="1792" y="988"/>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900">
                  <a:solidFill>
                    <a:srgbClr val="000000"/>
                  </a:solidFill>
                  <a:latin typeface="宋体" panose="02010600030101010101" pitchFamily="2" charset="-122"/>
                </a:rPr>
                <a:t>反馈</a:t>
              </a:r>
              <a:endParaRPr lang="zh-CN" altLang="zh-CN" sz="2800">
                <a:latin typeface="Times New Roman" panose="02020603050405020304" pitchFamily="18" charset="0"/>
              </a:endParaRPr>
            </a:p>
          </p:txBody>
        </p:sp>
        <p:sp>
          <p:nvSpPr>
            <p:cNvPr id="24618" name="Freeform 79"/>
            <p:cNvSpPr/>
            <p:nvPr/>
          </p:nvSpPr>
          <p:spPr bwMode="auto">
            <a:xfrm>
              <a:off x="1159" y="842"/>
              <a:ext cx="60" cy="56"/>
            </a:xfrm>
            <a:custGeom>
              <a:avLst/>
              <a:gdLst>
                <a:gd name="T0" fmla="*/ 0 w 59"/>
                <a:gd name="T1" fmla="*/ 76 h 47"/>
                <a:gd name="T2" fmla="*/ 12 w 59"/>
                <a:gd name="T3" fmla="*/ 0 h 47"/>
                <a:gd name="T4" fmla="*/ 55 w 59"/>
                <a:gd name="T5" fmla="*/ 0 h 47"/>
                <a:gd name="T6" fmla="*/ 66 w 59"/>
                <a:gd name="T7" fmla="*/ 76 h 47"/>
                <a:gd name="T8" fmla="*/ 55 w 59"/>
                <a:gd name="T9" fmla="*/ 161 h 47"/>
                <a:gd name="T10" fmla="*/ 12 w 59"/>
                <a:gd name="T11" fmla="*/ 161 h 47"/>
                <a:gd name="T12" fmla="*/ 0 w 59"/>
                <a:gd name="T13" fmla="*/ 76 h 47"/>
                <a:gd name="T14" fmla="*/ 0 60000 65536"/>
                <a:gd name="T15" fmla="*/ 0 60000 65536"/>
                <a:gd name="T16" fmla="*/ 0 60000 65536"/>
                <a:gd name="T17" fmla="*/ 0 60000 65536"/>
                <a:gd name="T18" fmla="*/ 0 60000 65536"/>
                <a:gd name="T19" fmla="*/ 0 60000 65536"/>
                <a:gd name="T20" fmla="*/ 0 60000 65536"/>
                <a:gd name="T21" fmla="*/ 0 w 59"/>
                <a:gd name="T22" fmla="*/ 0 h 47"/>
                <a:gd name="T23" fmla="*/ 59 w 59"/>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47">
                  <a:moveTo>
                    <a:pt x="0" y="23"/>
                  </a:moveTo>
                  <a:lnTo>
                    <a:pt x="12" y="0"/>
                  </a:lnTo>
                  <a:lnTo>
                    <a:pt x="48" y="0"/>
                  </a:lnTo>
                  <a:lnTo>
                    <a:pt x="59" y="23"/>
                  </a:lnTo>
                  <a:lnTo>
                    <a:pt x="48" y="47"/>
                  </a:lnTo>
                  <a:lnTo>
                    <a:pt x="12" y="47"/>
                  </a:lnTo>
                  <a:lnTo>
                    <a:pt x="0" y="23"/>
                  </a:lnTo>
                  <a:close/>
                </a:path>
              </a:pathLst>
            </a:custGeom>
            <a:solidFill>
              <a:srgbClr val="000000"/>
            </a:solidFill>
            <a:ln w="19050">
              <a:solidFill>
                <a:srgbClr val="000000"/>
              </a:solidFill>
              <a:round/>
            </a:ln>
          </p:spPr>
          <p:txBody>
            <a:bodyPr/>
            <a:lstStyle/>
            <a:p>
              <a:endParaRPr lang="zh-CN" altLang="en-US"/>
            </a:p>
          </p:txBody>
        </p:sp>
      </p:grpSp>
      <p:sp>
        <p:nvSpPr>
          <p:cNvPr id="24581" name="Text Box 80"/>
          <p:cNvSpPr txBox="1">
            <a:spLocks noChangeArrowheads="1"/>
          </p:cNvSpPr>
          <p:nvPr/>
        </p:nvSpPr>
        <p:spPr bwMode="auto">
          <a:xfrm>
            <a:off x="1098550" y="4962525"/>
            <a:ext cx="69977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Font typeface="Arial" panose="020B0604020202020204" pitchFamily="34" charset="0"/>
              <a:buNone/>
            </a:pPr>
            <a:r>
              <a:rPr lang="zh-CN" altLang="zh-CN" sz="2400">
                <a:latin typeface="Times New Roman" panose="02020603050405020304" pitchFamily="18" charset="0"/>
              </a:rPr>
              <a:t>图6.1.8 放大器输入回路中引入串联反馈和并联反馈</a:t>
            </a:r>
            <a:endParaRPr lang="zh-CN" altLang="zh-CN" sz="2400">
              <a:latin typeface="Times New Roman" panose="02020603050405020304" pitchFamily="18" charset="0"/>
            </a:endParaRPr>
          </a:p>
        </p:txBody>
      </p:sp>
      <p:sp>
        <p:nvSpPr>
          <p:cNvPr id="24582" name="Rectangle 81"/>
          <p:cNvSpPr>
            <a:spLocks noChangeArrowheads="1"/>
          </p:cNvSpPr>
          <p:nvPr/>
        </p:nvSpPr>
        <p:spPr bwMode="auto">
          <a:xfrm>
            <a:off x="1211263" y="4319588"/>
            <a:ext cx="2101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 (a)串联反馈</a:t>
            </a:r>
            <a:endParaRPr lang="zh-CN" altLang="zh-CN" sz="2400">
              <a:latin typeface="Times New Roman" panose="02020603050405020304" pitchFamily="18" charset="0"/>
            </a:endParaRPr>
          </a:p>
        </p:txBody>
      </p:sp>
      <p:sp>
        <p:nvSpPr>
          <p:cNvPr id="24583" name="Rectangle 82"/>
          <p:cNvSpPr>
            <a:spLocks noChangeArrowheads="1"/>
          </p:cNvSpPr>
          <p:nvPr/>
        </p:nvSpPr>
        <p:spPr bwMode="auto">
          <a:xfrm>
            <a:off x="5605463" y="4319588"/>
            <a:ext cx="1876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(b)并联反馈</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228ADF8-A641-4041-97ED-0E456E2CB00E}" type="slidenum">
              <a:rPr lang="zh-CN" altLang="zh-CN" sz="1400" smtClean="0"/>
            </a:fld>
            <a:endParaRPr lang="zh-CN" altLang="zh-CN" sz="1400" smtClean="0"/>
          </a:p>
        </p:txBody>
      </p:sp>
      <p:grpSp>
        <p:nvGrpSpPr>
          <p:cNvPr id="25603" name="Group 2"/>
          <p:cNvGrpSpPr/>
          <p:nvPr/>
        </p:nvGrpSpPr>
        <p:grpSpPr bwMode="auto">
          <a:xfrm>
            <a:off x="1565275" y="381000"/>
            <a:ext cx="4919663" cy="2211388"/>
            <a:chOff x="0" y="0"/>
            <a:chExt cx="2614" cy="1148"/>
          </a:xfrm>
        </p:grpSpPr>
        <p:sp>
          <p:nvSpPr>
            <p:cNvPr id="25674" name="Freeform 3"/>
            <p:cNvSpPr/>
            <p:nvPr/>
          </p:nvSpPr>
          <p:spPr bwMode="auto">
            <a:xfrm>
              <a:off x="47" y="508"/>
              <a:ext cx="226" cy="217"/>
            </a:xfrm>
            <a:custGeom>
              <a:avLst/>
              <a:gdLst>
                <a:gd name="T0" fmla="*/ 0 w 226"/>
                <a:gd name="T1" fmla="*/ 113 h 217"/>
                <a:gd name="T2" fmla="*/ 19 w 226"/>
                <a:gd name="T3" fmla="*/ 57 h 217"/>
                <a:gd name="T4" fmla="*/ 56 w 226"/>
                <a:gd name="T5" fmla="*/ 10 h 217"/>
                <a:gd name="T6" fmla="*/ 113 w 226"/>
                <a:gd name="T7" fmla="*/ 0 h 217"/>
                <a:gd name="T8" fmla="*/ 169 w 226"/>
                <a:gd name="T9" fmla="*/ 10 h 217"/>
                <a:gd name="T10" fmla="*/ 207 w 226"/>
                <a:gd name="T11" fmla="*/ 57 h 217"/>
                <a:gd name="T12" fmla="*/ 226 w 226"/>
                <a:gd name="T13" fmla="*/ 113 h 217"/>
                <a:gd name="T14" fmla="*/ 207 w 226"/>
                <a:gd name="T15" fmla="*/ 170 h 217"/>
                <a:gd name="T16" fmla="*/ 169 w 226"/>
                <a:gd name="T17" fmla="*/ 207 h 217"/>
                <a:gd name="T18" fmla="*/ 113 w 226"/>
                <a:gd name="T19" fmla="*/ 217 h 217"/>
                <a:gd name="T20" fmla="*/ 56 w 226"/>
                <a:gd name="T21" fmla="*/ 207 h 217"/>
                <a:gd name="T22" fmla="*/ 19 w 226"/>
                <a:gd name="T23" fmla="*/ 170 h 217"/>
                <a:gd name="T24" fmla="*/ 0 w 226"/>
                <a:gd name="T25" fmla="*/ 113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
                <a:gd name="T40" fmla="*/ 0 h 217"/>
                <a:gd name="T41" fmla="*/ 226 w 226"/>
                <a:gd name="T42" fmla="*/ 217 h 2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 h="217">
                  <a:moveTo>
                    <a:pt x="0" y="113"/>
                  </a:moveTo>
                  <a:lnTo>
                    <a:pt x="19" y="57"/>
                  </a:lnTo>
                  <a:lnTo>
                    <a:pt x="56" y="10"/>
                  </a:lnTo>
                  <a:lnTo>
                    <a:pt x="113" y="0"/>
                  </a:lnTo>
                  <a:lnTo>
                    <a:pt x="169" y="10"/>
                  </a:lnTo>
                  <a:lnTo>
                    <a:pt x="207" y="57"/>
                  </a:lnTo>
                  <a:lnTo>
                    <a:pt x="226" y="113"/>
                  </a:lnTo>
                  <a:lnTo>
                    <a:pt x="207" y="170"/>
                  </a:lnTo>
                  <a:lnTo>
                    <a:pt x="169" y="207"/>
                  </a:lnTo>
                  <a:lnTo>
                    <a:pt x="113" y="217"/>
                  </a:lnTo>
                  <a:lnTo>
                    <a:pt x="56" y="207"/>
                  </a:lnTo>
                  <a:lnTo>
                    <a:pt x="19" y="170"/>
                  </a:lnTo>
                  <a:lnTo>
                    <a:pt x="0" y="113"/>
                  </a:lnTo>
                  <a:close/>
                </a:path>
              </a:pathLst>
            </a:custGeom>
            <a:solidFill>
              <a:srgbClr val="FFFFFF"/>
            </a:solidFill>
            <a:ln w="14288">
              <a:solidFill>
                <a:srgbClr val="000000"/>
              </a:solidFill>
              <a:round/>
            </a:ln>
          </p:spPr>
          <p:txBody>
            <a:bodyPr/>
            <a:lstStyle/>
            <a:p>
              <a:endParaRPr lang="zh-CN" altLang="en-US"/>
            </a:p>
          </p:txBody>
        </p:sp>
        <p:sp>
          <p:nvSpPr>
            <p:cNvPr id="25675" name="Line 4"/>
            <p:cNvSpPr>
              <a:spLocks noChangeShapeType="1"/>
            </p:cNvSpPr>
            <p:nvPr/>
          </p:nvSpPr>
          <p:spPr bwMode="auto">
            <a:xfrm>
              <a:off x="695" y="264"/>
              <a:ext cx="1" cy="21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76" name="Line 5"/>
            <p:cNvSpPr>
              <a:spLocks noChangeShapeType="1"/>
            </p:cNvSpPr>
            <p:nvPr/>
          </p:nvSpPr>
          <p:spPr bwMode="auto">
            <a:xfrm flipV="1">
              <a:off x="695" y="264"/>
              <a:ext cx="179" cy="6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77" name="Line 6"/>
            <p:cNvSpPr>
              <a:spLocks noChangeShapeType="1"/>
            </p:cNvSpPr>
            <p:nvPr/>
          </p:nvSpPr>
          <p:spPr bwMode="auto">
            <a:xfrm>
              <a:off x="695" y="414"/>
              <a:ext cx="179" cy="6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78" name="Freeform 7"/>
            <p:cNvSpPr/>
            <p:nvPr/>
          </p:nvSpPr>
          <p:spPr bwMode="auto">
            <a:xfrm>
              <a:off x="780" y="433"/>
              <a:ext cx="94" cy="56"/>
            </a:xfrm>
            <a:custGeom>
              <a:avLst/>
              <a:gdLst>
                <a:gd name="T0" fmla="*/ 0 w 94"/>
                <a:gd name="T1" fmla="*/ 38 h 56"/>
                <a:gd name="T2" fmla="*/ 19 w 94"/>
                <a:gd name="T3" fmla="*/ 28 h 56"/>
                <a:gd name="T4" fmla="*/ 9 w 94"/>
                <a:gd name="T5" fmla="*/ 0 h 56"/>
                <a:gd name="T6" fmla="*/ 94 w 94"/>
                <a:gd name="T7" fmla="*/ 56 h 56"/>
                <a:gd name="T8" fmla="*/ 0 w 94"/>
                <a:gd name="T9" fmla="*/ 38 h 56"/>
                <a:gd name="T10" fmla="*/ 0 60000 65536"/>
                <a:gd name="T11" fmla="*/ 0 60000 65536"/>
                <a:gd name="T12" fmla="*/ 0 60000 65536"/>
                <a:gd name="T13" fmla="*/ 0 60000 65536"/>
                <a:gd name="T14" fmla="*/ 0 60000 65536"/>
                <a:gd name="T15" fmla="*/ 0 w 94"/>
                <a:gd name="T16" fmla="*/ 0 h 56"/>
                <a:gd name="T17" fmla="*/ 94 w 94"/>
                <a:gd name="T18" fmla="*/ 56 h 56"/>
              </a:gdLst>
              <a:ahLst/>
              <a:cxnLst>
                <a:cxn ang="T10">
                  <a:pos x="T0" y="T1"/>
                </a:cxn>
                <a:cxn ang="T11">
                  <a:pos x="T2" y="T3"/>
                </a:cxn>
                <a:cxn ang="T12">
                  <a:pos x="T4" y="T5"/>
                </a:cxn>
                <a:cxn ang="T13">
                  <a:pos x="T6" y="T7"/>
                </a:cxn>
                <a:cxn ang="T14">
                  <a:pos x="T8" y="T9"/>
                </a:cxn>
              </a:cxnLst>
              <a:rect l="T15" t="T16" r="T17" b="T18"/>
              <a:pathLst>
                <a:path w="94" h="56">
                  <a:moveTo>
                    <a:pt x="0" y="38"/>
                  </a:moveTo>
                  <a:lnTo>
                    <a:pt x="19" y="28"/>
                  </a:lnTo>
                  <a:lnTo>
                    <a:pt x="9" y="0"/>
                  </a:lnTo>
                  <a:lnTo>
                    <a:pt x="94" y="56"/>
                  </a:lnTo>
                  <a:lnTo>
                    <a:pt x="0" y="38"/>
                  </a:lnTo>
                  <a:close/>
                </a:path>
              </a:pathLst>
            </a:custGeom>
            <a:solidFill>
              <a:srgbClr val="000000"/>
            </a:solidFill>
            <a:ln w="14288">
              <a:solidFill>
                <a:srgbClr val="000000"/>
              </a:solidFill>
              <a:round/>
            </a:ln>
          </p:spPr>
          <p:txBody>
            <a:bodyPr/>
            <a:lstStyle/>
            <a:p>
              <a:endParaRPr lang="zh-CN" altLang="en-US"/>
            </a:p>
          </p:txBody>
        </p:sp>
        <p:sp>
          <p:nvSpPr>
            <p:cNvPr id="25679" name="Line 8"/>
            <p:cNvSpPr>
              <a:spLocks noChangeShapeType="1"/>
            </p:cNvSpPr>
            <p:nvPr/>
          </p:nvSpPr>
          <p:spPr bwMode="auto">
            <a:xfrm>
              <a:off x="160" y="376"/>
              <a:ext cx="53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0" name="Line 9"/>
            <p:cNvSpPr>
              <a:spLocks noChangeShapeType="1"/>
            </p:cNvSpPr>
            <p:nvPr/>
          </p:nvSpPr>
          <p:spPr bwMode="auto">
            <a:xfrm>
              <a:off x="874" y="0"/>
              <a:ext cx="1" cy="264"/>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1" name="Line 10"/>
            <p:cNvSpPr>
              <a:spLocks noChangeShapeType="1"/>
            </p:cNvSpPr>
            <p:nvPr/>
          </p:nvSpPr>
          <p:spPr bwMode="auto">
            <a:xfrm>
              <a:off x="874" y="480"/>
              <a:ext cx="1" cy="14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2" name="Line 11"/>
            <p:cNvSpPr>
              <a:spLocks noChangeShapeType="1"/>
            </p:cNvSpPr>
            <p:nvPr/>
          </p:nvSpPr>
          <p:spPr bwMode="auto">
            <a:xfrm>
              <a:off x="874" y="621"/>
              <a:ext cx="35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3" name="Line 12"/>
            <p:cNvSpPr>
              <a:spLocks noChangeShapeType="1"/>
            </p:cNvSpPr>
            <p:nvPr/>
          </p:nvSpPr>
          <p:spPr bwMode="auto">
            <a:xfrm>
              <a:off x="1410" y="264"/>
              <a:ext cx="1" cy="21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4" name="Line 13"/>
            <p:cNvSpPr>
              <a:spLocks noChangeShapeType="1"/>
            </p:cNvSpPr>
            <p:nvPr/>
          </p:nvSpPr>
          <p:spPr bwMode="auto">
            <a:xfrm flipH="1" flipV="1">
              <a:off x="1231" y="264"/>
              <a:ext cx="179" cy="6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5" name="Line 14"/>
            <p:cNvSpPr>
              <a:spLocks noChangeShapeType="1"/>
            </p:cNvSpPr>
            <p:nvPr/>
          </p:nvSpPr>
          <p:spPr bwMode="auto">
            <a:xfrm flipH="1">
              <a:off x="1231" y="414"/>
              <a:ext cx="179" cy="6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6" name="Freeform 15"/>
            <p:cNvSpPr/>
            <p:nvPr/>
          </p:nvSpPr>
          <p:spPr bwMode="auto">
            <a:xfrm>
              <a:off x="1231" y="433"/>
              <a:ext cx="94" cy="56"/>
            </a:xfrm>
            <a:custGeom>
              <a:avLst/>
              <a:gdLst>
                <a:gd name="T0" fmla="*/ 94 w 94"/>
                <a:gd name="T1" fmla="*/ 38 h 56"/>
                <a:gd name="T2" fmla="*/ 66 w 94"/>
                <a:gd name="T3" fmla="*/ 28 h 56"/>
                <a:gd name="T4" fmla="*/ 75 w 94"/>
                <a:gd name="T5" fmla="*/ 0 h 56"/>
                <a:gd name="T6" fmla="*/ 0 w 94"/>
                <a:gd name="T7" fmla="*/ 56 h 56"/>
                <a:gd name="T8" fmla="*/ 94 w 94"/>
                <a:gd name="T9" fmla="*/ 38 h 56"/>
                <a:gd name="T10" fmla="*/ 0 60000 65536"/>
                <a:gd name="T11" fmla="*/ 0 60000 65536"/>
                <a:gd name="T12" fmla="*/ 0 60000 65536"/>
                <a:gd name="T13" fmla="*/ 0 60000 65536"/>
                <a:gd name="T14" fmla="*/ 0 60000 65536"/>
                <a:gd name="T15" fmla="*/ 0 w 94"/>
                <a:gd name="T16" fmla="*/ 0 h 56"/>
                <a:gd name="T17" fmla="*/ 94 w 94"/>
                <a:gd name="T18" fmla="*/ 56 h 56"/>
              </a:gdLst>
              <a:ahLst/>
              <a:cxnLst>
                <a:cxn ang="T10">
                  <a:pos x="T0" y="T1"/>
                </a:cxn>
                <a:cxn ang="T11">
                  <a:pos x="T2" y="T3"/>
                </a:cxn>
                <a:cxn ang="T12">
                  <a:pos x="T4" y="T5"/>
                </a:cxn>
                <a:cxn ang="T13">
                  <a:pos x="T6" y="T7"/>
                </a:cxn>
                <a:cxn ang="T14">
                  <a:pos x="T8" y="T9"/>
                </a:cxn>
              </a:cxnLst>
              <a:rect l="T15" t="T16" r="T17" b="T18"/>
              <a:pathLst>
                <a:path w="94" h="56">
                  <a:moveTo>
                    <a:pt x="94" y="38"/>
                  </a:moveTo>
                  <a:lnTo>
                    <a:pt x="66" y="28"/>
                  </a:lnTo>
                  <a:lnTo>
                    <a:pt x="75" y="0"/>
                  </a:lnTo>
                  <a:lnTo>
                    <a:pt x="0" y="56"/>
                  </a:lnTo>
                  <a:lnTo>
                    <a:pt x="94" y="38"/>
                  </a:lnTo>
                  <a:close/>
                </a:path>
              </a:pathLst>
            </a:custGeom>
            <a:solidFill>
              <a:srgbClr val="000000"/>
            </a:solidFill>
            <a:ln w="14288">
              <a:solidFill>
                <a:srgbClr val="000000"/>
              </a:solidFill>
              <a:round/>
            </a:ln>
          </p:spPr>
          <p:txBody>
            <a:bodyPr/>
            <a:lstStyle/>
            <a:p>
              <a:endParaRPr lang="zh-CN" altLang="en-US"/>
            </a:p>
          </p:txBody>
        </p:sp>
        <p:sp>
          <p:nvSpPr>
            <p:cNvPr id="25687" name="Line 16"/>
            <p:cNvSpPr>
              <a:spLocks noChangeShapeType="1"/>
            </p:cNvSpPr>
            <p:nvPr/>
          </p:nvSpPr>
          <p:spPr bwMode="auto">
            <a:xfrm>
              <a:off x="1231" y="480"/>
              <a:ext cx="1" cy="14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8" name="Line 17"/>
            <p:cNvSpPr>
              <a:spLocks noChangeShapeType="1"/>
            </p:cNvSpPr>
            <p:nvPr/>
          </p:nvSpPr>
          <p:spPr bwMode="auto">
            <a:xfrm>
              <a:off x="1231" y="0"/>
              <a:ext cx="1" cy="264"/>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89" name="Line 18"/>
            <p:cNvSpPr>
              <a:spLocks noChangeShapeType="1"/>
            </p:cNvSpPr>
            <p:nvPr/>
          </p:nvSpPr>
          <p:spPr bwMode="auto">
            <a:xfrm>
              <a:off x="1400" y="376"/>
              <a:ext cx="1156"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90" name="Line 19"/>
            <p:cNvSpPr>
              <a:spLocks noChangeShapeType="1"/>
            </p:cNvSpPr>
            <p:nvPr/>
          </p:nvSpPr>
          <p:spPr bwMode="auto">
            <a:xfrm>
              <a:off x="338" y="376"/>
              <a:ext cx="226" cy="1"/>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91" name="Rectangle 20"/>
            <p:cNvSpPr>
              <a:spLocks noChangeArrowheads="1"/>
            </p:cNvSpPr>
            <p:nvPr/>
          </p:nvSpPr>
          <p:spPr bwMode="auto">
            <a:xfrm>
              <a:off x="338" y="329"/>
              <a:ext cx="226" cy="85"/>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692" name="Rectangle 21"/>
            <p:cNvSpPr>
              <a:spLocks noChangeArrowheads="1"/>
            </p:cNvSpPr>
            <p:nvPr/>
          </p:nvSpPr>
          <p:spPr bwMode="auto">
            <a:xfrm>
              <a:off x="874" y="301"/>
              <a:ext cx="7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V</a:t>
              </a:r>
              <a:endParaRPr lang="zh-CN" altLang="zh-CN" sz="2800">
                <a:latin typeface="Times New Roman" panose="02020603050405020304" pitchFamily="18" charset="0"/>
              </a:endParaRPr>
            </a:p>
          </p:txBody>
        </p:sp>
        <p:sp>
          <p:nvSpPr>
            <p:cNvPr id="25693" name="Rectangle 22"/>
            <p:cNvSpPr>
              <a:spLocks noChangeArrowheads="1"/>
            </p:cNvSpPr>
            <p:nvPr/>
          </p:nvSpPr>
          <p:spPr bwMode="auto">
            <a:xfrm>
              <a:off x="953" y="358"/>
              <a:ext cx="3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694" name="Rectangle 23"/>
            <p:cNvSpPr>
              <a:spLocks noChangeArrowheads="1"/>
            </p:cNvSpPr>
            <p:nvPr/>
          </p:nvSpPr>
          <p:spPr bwMode="auto">
            <a:xfrm>
              <a:off x="1166" y="301"/>
              <a:ext cx="7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V</a:t>
              </a:r>
              <a:endParaRPr lang="zh-CN" altLang="zh-CN" sz="2800">
                <a:latin typeface="Times New Roman" panose="02020603050405020304" pitchFamily="18" charset="0"/>
              </a:endParaRPr>
            </a:p>
          </p:txBody>
        </p:sp>
        <p:sp>
          <p:nvSpPr>
            <p:cNvPr id="25695" name="Rectangle 24"/>
            <p:cNvSpPr>
              <a:spLocks noChangeArrowheads="1"/>
            </p:cNvSpPr>
            <p:nvPr/>
          </p:nvSpPr>
          <p:spPr bwMode="auto">
            <a:xfrm>
              <a:off x="1245" y="358"/>
              <a:ext cx="3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2</a:t>
              </a:r>
              <a:endParaRPr lang="zh-CN" altLang="zh-CN" sz="2800">
                <a:latin typeface="Times New Roman" panose="02020603050405020304" pitchFamily="18" charset="0"/>
              </a:endParaRPr>
            </a:p>
          </p:txBody>
        </p:sp>
        <p:sp>
          <p:nvSpPr>
            <p:cNvPr id="25696" name="Line 25"/>
            <p:cNvSpPr>
              <a:spLocks noChangeShapeType="1"/>
            </p:cNvSpPr>
            <p:nvPr/>
          </p:nvSpPr>
          <p:spPr bwMode="auto">
            <a:xfrm>
              <a:off x="1053" y="621"/>
              <a:ext cx="1" cy="52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97" name="Freeform 26"/>
            <p:cNvSpPr/>
            <p:nvPr/>
          </p:nvSpPr>
          <p:spPr bwMode="auto">
            <a:xfrm>
              <a:off x="940" y="753"/>
              <a:ext cx="225" cy="216"/>
            </a:xfrm>
            <a:custGeom>
              <a:avLst/>
              <a:gdLst>
                <a:gd name="T0" fmla="*/ 0 w 225"/>
                <a:gd name="T1" fmla="*/ 113 h 216"/>
                <a:gd name="T2" fmla="*/ 9 w 225"/>
                <a:gd name="T3" fmla="*/ 56 h 216"/>
                <a:gd name="T4" fmla="*/ 56 w 225"/>
                <a:gd name="T5" fmla="*/ 9 h 216"/>
                <a:gd name="T6" fmla="*/ 113 w 225"/>
                <a:gd name="T7" fmla="*/ 0 h 216"/>
                <a:gd name="T8" fmla="*/ 169 w 225"/>
                <a:gd name="T9" fmla="*/ 9 h 216"/>
                <a:gd name="T10" fmla="*/ 206 w 225"/>
                <a:gd name="T11" fmla="*/ 56 h 216"/>
                <a:gd name="T12" fmla="*/ 225 w 225"/>
                <a:gd name="T13" fmla="*/ 113 h 216"/>
                <a:gd name="T14" fmla="*/ 206 w 225"/>
                <a:gd name="T15" fmla="*/ 169 h 216"/>
                <a:gd name="T16" fmla="*/ 169 w 225"/>
                <a:gd name="T17" fmla="*/ 207 h 216"/>
                <a:gd name="T18" fmla="*/ 113 w 225"/>
                <a:gd name="T19" fmla="*/ 216 h 216"/>
                <a:gd name="T20" fmla="*/ 56 w 225"/>
                <a:gd name="T21" fmla="*/ 207 h 216"/>
                <a:gd name="T22" fmla="*/ 9 w 225"/>
                <a:gd name="T23" fmla="*/ 169 h 216"/>
                <a:gd name="T24" fmla="*/ 0 w 225"/>
                <a:gd name="T25" fmla="*/ 113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5"/>
                <a:gd name="T40" fmla="*/ 0 h 216"/>
                <a:gd name="T41" fmla="*/ 225 w 225"/>
                <a:gd name="T42" fmla="*/ 216 h 2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5" h="216">
                  <a:moveTo>
                    <a:pt x="0" y="113"/>
                  </a:moveTo>
                  <a:lnTo>
                    <a:pt x="9" y="56"/>
                  </a:lnTo>
                  <a:lnTo>
                    <a:pt x="56" y="9"/>
                  </a:lnTo>
                  <a:lnTo>
                    <a:pt x="113" y="0"/>
                  </a:lnTo>
                  <a:lnTo>
                    <a:pt x="169" y="9"/>
                  </a:lnTo>
                  <a:lnTo>
                    <a:pt x="206" y="56"/>
                  </a:lnTo>
                  <a:lnTo>
                    <a:pt x="225" y="113"/>
                  </a:lnTo>
                  <a:lnTo>
                    <a:pt x="206" y="169"/>
                  </a:lnTo>
                  <a:lnTo>
                    <a:pt x="169" y="207"/>
                  </a:lnTo>
                  <a:lnTo>
                    <a:pt x="113" y="216"/>
                  </a:lnTo>
                  <a:lnTo>
                    <a:pt x="56" y="207"/>
                  </a:lnTo>
                  <a:lnTo>
                    <a:pt x="9" y="169"/>
                  </a:lnTo>
                  <a:lnTo>
                    <a:pt x="0" y="113"/>
                  </a:lnTo>
                  <a:close/>
                </a:path>
              </a:pathLst>
            </a:custGeom>
            <a:solidFill>
              <a:srgbClr val="FFFFFF"/>
            </a:solidFill>
            <a:ln w="14288">
              <a:solidFill>
                <a:srgbClr val="000000"/>
              </a:solidFill>
              <a:round/>
            </a:ln>
          </p:spPr>
          <p:txBody>
            <a:bodyPr/>
            <a:lstStyle/>
            <a:p>
              <a:endParaRPr lang="zh-CN" altLang="en-US"/>
            </a:p>
          </p:txBody>
        </p:sp>
        <p:sp>
          <p:nvSpPr>
            <p:cNvPr id="25698" name="Line 27"/>
            <p:cNvSpPr>
              <a:spLocks noChangeShapeType="1"/>
            </p:cNvSpPr>
            <p:nvPr/>
          </p:nvSpPr>
          <p:spPr bwMode="auto">
            <a:xfrm>
              <a:off x="940" y="866"/>
              <a:ext cx="22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99" name="Freeform 28"/>
            <p:cNvSpPr/>
            <p:nvPr/>
          </p:nvSpPr>
          <p:spPr bwMode="auto">
            <a:xfrm>
              <a:off x="1024" y="1110"/>
              <a:ext cx="47" cy="38"/>
            </a:xfrm>
            <a:custGeom>
              <a:avLst/>
              <a:gdLst>
                <a:gd name="T0" fmla="*/ 0 w 47"/>
                <a:gd name="T1" fmla="*/ 19 h 38"/>
                <a:gd name="T2" fmla="*/ 19 w 47"/>
                <a:gd name="T3" fmla="*/ 0 h 38"/>
                <a:gd name="T4" fmla="*/ 38 w 47"/>
                <a:gd name="T5" fmla="*/ 0 h 38"/>
                <a:gd name="T6" fmla="*/ 47 w 47"/>
                <a:gd name="T7" fmla="*/ 19 h 38"/>
                <a:gd name="T8" fmla="*/ 38 w 47"/>
                <a:gd name="T9" fmla="*/ 38 h 38"/>
                <a:gd name="T10" fmla="*/ 19 w 47"/>
                <a:gd name="T11" fmla="*/ 38 h 38"/>
                <a:gd name="T12" fmla="*/ 0 w 47"/>
                <a:gd name="T13" fmla="*/ 19 h 38"/>
                <a:gd name="T14" fmla="*/ 0 60000 65536"/>
                <a:gd name="T15" fmla="*/ 0 60000 65536"/>
                <a:gd name="T16" fmla="*/ 0 60000 65536"/>
                <a:gd name="T17" fmla="*/ 0 60000 65536"/>
                <a:gd name="T18" fmla="*/ 0 60000 65536"/>
                <a:gd name="T19" fmla="*/ 0 60000 65536"/>
                <a:gd name="T20" fmla="*/ 0 60000 65536"/>
                <a:gd name="T21" fmla="*/ 0 w 47"/>
                <a:gd name="T22" fmla="*/ 0 h 38"/>
                <a:gd name="T23" fmla="*/ 47 w 47"/>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8">
                  <a:moveTo>
                    <a:pt x="0" y="19"/>
                  </a:moveTo>
                  <a:lnTo>
                    <a:pt x="19" y="0"/>
                  </a:lnTo>
                  <a:lnTo>
                    <a:pt x="38" y="0"/>
                  </a:lnTo>
                  <a:lnTo>
                    <a:pt x="47" y="19"/>
                  </a:lnTo>
                  <a:lnTo>
                    <a:pt x="38" y="38"/>
                  </a:lnTo>
                  <a:lnTo>
                    <a:pt x="19" y="38"/>
                  </a:lnTo>
                  <a:lnTo>
                    <a:pt x="0" y="19"/>
                  </a:lnTo>
                  <a:close/>
                </a:path>
              </a:pathLst>
            </a:custGeom>
            <a:solidFill>
              <a:srgbClr val="FFFFFF"/>
            </a:solidFill>
            <a:ln w="14288">
              <a:solidFill>
                <a:srgbClr val="000000"/>
              </a:solidFill>
              <a:round/>
            </a:ln>
          </p:spPr>
          <p:txBody>
            <a:bodyPr/>
            <a:lstStyle/>
            <a:p>
              <a:endParaRPr lang="zh-CN" altLang="en-US"/>
            </a:p>
          </p:txBody>
        </p:sp>
        <p:sp>
          <p:nvSpPr>
            <p:cNvPr id="25700" name="Line 29"/>
            <p:cNvSpPr>
              <a:spLocks noChangeShapeType="1"/>
            </p:cNvSpPr>
            <p:nvPr/>
          </p:nvSpPr>
          <p:spPr bwMode="auto">
            <a:xfrm>
              <a:off x="1579" y="376"/>
              <a:ext cx="1" cy="50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01" name="Line 30"/>
            <p:cNvSpPr>
              <a:spLocks noChangeShapeType="1"/>
            </p:cNvSpPr>
            <p:nvPr/>
          </p:nvSpPr>
          <p:spPr bwMode="auto">
            <a:xfrm>
              <a:off x="1513" y="884"/>
              <a:ext cx="1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02" name="Line 31"/>
            <p:cNvSpPr>
              <a:spLocks noChangeShapeType="1"/>
            </p:cNvSpPr>
            <p:nvPr/>
          </p:nvSpPr>
          <p:spPr bwMode="auto">
            <a:xfrm>
              <a:off x="1579" y="527"/>
              <a:ext cx="1" cy="226"/>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03" name="Rectangle 32"/>
            <p:cNvSpPr>
              <a:spLocks noChangeArrowheads="1"/>
            </p:cNvSpPr>
            <p:nvPr/>
          </p:nvSpPr>
          <p:spPr bwMode="auto">
            <a:xfrm>
              <a:off x="1541" y="527"/>
              <a:ext cx="85" cy="226"/>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704" name="Freeform 33"/>
            <p:cNvSpPr/>
            <p:nvPr/>
          </p:nvSpPr>
          <p:spPr bwMode="auto">
            <a:xfrm>
              <a:off x="1560" y="358"/>
              <a:ext cx="47" cy="37"/>
            </a:xfrm>
            <a:custGeom>
              <a:avLst/>
              <a:gdLst>
                <a:gd name="T0" fmla="*/ 0 w 47"/>
                <a:gd name="T1" fmla="*/ 18 h 37"/>
                <a:gd name="T2" fmla="*/ 9 w 47"/>
                <a:gd name="T3" fmla="*/ 0 h 37"/>
                <a:gd name="T4" fmla="*/ 38 w 47"/>
                <a:gd name="T5" fmla="*/ 0 h 37"/>
                <a:gd name="T6" fmla="*/ 47 w 47"/>
                <a:gd name="T7" fmla="*/ 18 h 37"/>
                <a:gd name="T8" fmla="*/ 38 w 47"/>
                <a:gd name="T9" fmla="*/ 37 h 37"/>
                <a:gd name="T10" fmla="*/ 9 w 47"/>
                <a:gd name="T11" fmla="*/ 37 h 37"/>
                <a:gd name="T12" fmla="*/ 0 w 47"/>
                <a:gd name="T13" fmla="*/ 18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8"/>
                  </a:moveTo>
                  <a:lnTo>
                    <a:pt x="9" y="0"/>
                  </a:lnTo>
                  <a:lnTo>
                    <a:pt x="38" y="0"/>
                  </a:lnTo>
                  <a:lnTo>
                    <a:pt x="47" y="18"/>
                  </a:lnTo>
                  <a:lnTo>
                    <a:pt x="38" y="37"/>
                  </a:lnTo>
                  <a:lnTo>
                    <a:pt x="9" y="37"/>
                  </a:lnTo>
                  <a:lnTo>
                    <a:pt x="0" y="18"/>
                  </a:lnTo>
                  <a:close/>
                </a:path>
              </a:pathLst>
            </a:custGeom>
            <a:solidFill>
              <a:srgbClr val="000000"/>
            </a:solidFill>
            <a:ln w="14288">
              <a:solidFill>
                <a:srgbClr val="000000"/>
              </a:solidFill>
              <a:round/>
            </a:ln>
          </p:spPr>
          <p:txBody>
            <a:bodyPr/>
            <a:lstStyle/>
            <a:p>
              <a:endParaRPr lang="zh-CN" altLang="en-US"/>
            </a:p>
          </p:txBody>
        </p:sp>
        <p:sp>
          <p:nvSpPr>
            <p:cNvPr id="25705" name="Rectangle 34"/>
            <p:cNvSpPr>
              <a:spLocks noChangeArrowheads="1"/>
            </p:cNvSpPr>
            <p:nvPr/>
          </p:nvSpPr>
          <p:spPr bwMode="auto">
            <a:xfrm>
              <a:off x="1386" y="565"/>
              <a:ext cx="67"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706" name="Rectangle 35"/>
            <p:cNvSpPr>
              <a:spLocks noChangeArrowheads="1"/>
            </p:cNvSpPr>
            <p:nvPr/>
          </p:nvSpPr>
          <p:spPr bwMode="auto">
            <a:xfrm>
              <a:off x="1461" y="621"/>
              <a:ext cx="3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707" name="Rectangle 36"/>
            <p:cNvSpPr>
              <a:spLocks noChangeArrowheads="1"/>
            </p:cNvSpPr>
            <p:nvPr/>
          </p:nvSpPr>
          <p:spPr bwMode="auto">
            <a:xfrm>
              <a:off x="407" y="151"/>
              <a:ext cx="68"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708" name="Rectangle 37"/>
            <p:cNvSpPr>
              <a:spLocks noChangeArrowheads="1"/>
            </p:cNvSpPr>
            <p:nvPr/>
          </p:nvSpPr>
          <p:spPr bwMode="auto">
            <a:xfrm>
              <a:off x="484" y="217"/>
              <a:ext cx="3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709" name="Line 38"/>
            <p:cNvSpPr>
              <a:spLocks noChangeShapeType="1"/>
            </p:cNvSpPr>
            <p:nvPr/>
          </p:nvSpPr>
          <p:spPr bwMode="auto">
            <a:xfrm>
              <a:off x="1851" y="376"/>
              <a:ext cx="1" cy="179"/>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10" name="Freeform 39"/>
            <p:cNvSpPr/>
            <p:nvPr/>
          </p:nvSpPr>
          <p:spPr bwMode="auto">
            <a:xfrm>
              <a:off x="1823" y="367"/>
              <a:ext cx="47" cy="113"/>
            </a:xfrm>
            <a:custGeom>
              <a:avLst/>
              <a:gdLst>
                <a:gd name="T0" fmla="*/ 0 w 47"/>
                <a:gd name="T1" fmla="*/ 113 h 113"/>
                <a:gd name="T2" fmla="*/ 28 w 47"/>
                <a:gd name="T3" fmla="*/ 94 h 113"/>
                <a:gd name="T4" fmla="*/ 47 w 47"/>
                <a:gd name="T5" fmla="*/ 113 h 113"/>
                <a:gd name="T6" fmla="*/ 28 w 47"/>
                <a:gd name="T7" fmla="*/ 0 h 113"/>
                <a:gd name="T8" fmla="*/ 0 w 47"/>
                <a:gd name="T9" fmla="*/ 113 h 113"/>
                <a:gd name="T10" fmla="*/ 0 60000 65536"/>
                <a:gd name="T11" fmla="*/ 0 60000 65536"/>
                <a:gd name="T12" fmla="*/ 0 60000 65536"/>
                <a:gd name="T13" fmla="*/ 0 60000 65536"/>
                <a:gd name="T14" fmla="*/ 0 60000 65536"/>
                <a:gd name="T15" fmla="*/ 0 w 47"/>
                <a:gd name="T16" fmla="*/ 0 h 113"/>
                <a:gd name="T17" fmla="*/ 47 w 47"/>
                <a:gd name="T18" fmla="*/ 113 h 113"/>
              </a:gdLst>
              <a:ahLst/>
              <a:cxnLst>
                <a:cxn ang="T10">
                  <a:pos x="T0" y="T1"/>
                </a:cxn>
                <a:cxn ang="T11">
                  <a:pos x="T2" y="T3"/>
                </a:cxn>
                <a:cxn ang="T12">
                  <a:pos x="T4" y="T5"/>
                </a:cxn>
                <a:cxn ang="T13">
                  <a:pos x="T6" y="T7"/>
                </a:cxn>
                <a:cxn ang="T14">
                  <a:pos x="T8" y="T9"/>
                </a:cxn>
              </a:cxnLst>
              <a:rect l="T15" t="T16" r="T17" b="T18"/>
              <a:pathLst>
                <a:path w="47" h="113">
                  <a:moveTo>
                    <a:pt x="0" y="113"/>
                  </a:moveTo>
                  <a:lnTo>
                    <a:pt x="28" y="94"/>
                  </a:lnTo>
                  <a:lnTo>
                    <a:pt x="47" y="113"/>
                  </a:lnTo>
                  <a:lnTo>
                    <a:pt x="28" y="0"/>
                  </a:lnTo>
                  <a:lnTo>
                    <a:pt x="0" y="113"/>
                  </a:lnTo>
                  <a:close/>
                </a:path>
              </a:pathLst>
            </a:custGeom>
            <a:solidFill>
              <a:srgbClr val="000000"/>
            </a:solidFill>
            <a:ln w="14288">
              <a:solidFill>
                <a:srgbClr val="000000"/>
              </a:solidFill>
              <a:round/>
            </a:ln>
          </p:spPr>
          <p:txBody>
            <a:bodyPr/>
            <a:lstStyle/>
            <a:p>
              <a:endParaRPr lang="zh-CN" altLang="en-US"/>
            </a:p>
          </p:txBody>
        </p:sp>
        <p:sp>
          <p:nvSpPr>
            <p:cNvPr id="25711" name="Rectangle 40"/>
            <p:cNvSpPr>
              <a:spLocks noChangeArrowheads="1"/>
            </p:cNvSpPr>
            <p:nvPr/>
          </p:nvSpPr>
          <p:spPr bwMode="auto">
            <a:xfrm>
              <a:off x="1818" y="583"/>
              <a:ext cx="7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5712" name="Rectangle 41"/>
            <p:cNvSpPr>
              <a:spLocks noChangeArrowheads="1"/>
            </p:cNvSpPr>
            <p:nvPr/>
          </p:nvSpPr>
          <p:spPr bwMode="auto">
            <a:xfrm>
              <a:off x="1894" y="649"/>
              <a:ext cx="2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5713" name="Rectangle 42"/>
            <p:cNvSpPr>
              <a:spLocks noChangeArrowheads="1"/>
            </p:cNvSpPr>
            <p:nvPr/>
          </p:nvSpPr>
          <p:spPr bwMode="auto">
            <a:xfrm>
              <a:off x="1866" y="480"/>
              <a:ext cx="2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714" name="Line 43"/>
            <p:cNvSpPr>
              <a:spLocks noChangeShapeType="1"/>
            </p:cNvSpPr>
            <p:nvPr/>
          </p:nvSpPr>
          <p:spPr bwMode="auto">
            <a:xfrm>
              <a:off x="1851" y="725"/>
              <a:ext cx="1" cy="17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15" name="Freeform 44"/>
            <p:cNvSpPr/>
            <p:nvPr/>
          </p:nvSpPr>
          <p:spPr bwMode="auto">
            <a:xfrm>
              <a:off x="1823" y="800"/>
              <a:ext cx="47" cy="113"/>
            </a:xfrm>
            <a:custGeom>
              <a:avLst/>
              <a:gdLst>
                <a:gd name="T0" fmla="*/ 47 w 47"/>
                <a:gd name="T1" fmla="*/ 0 h 113"/>
                <a:gd name="T2" fmla="*/ 28 w 47"/>
                <a:gd name="T3" fmla="*/ 19 h 113"/>
                <a:gd name="T4" fmla="*/ 0 w 47"/>
                <a:gd name="T5" fmla="*/ 0 h 113"/>
                <a:gd name="T6" fmla="*/ 28 w 47"/>
                <a:gd name="T7" fmla="*/ 113 h 113"/>
                <a:gd name="T8" fmla="*/ 47 w 47"/>
                <a:gd name="T9" fmla="*/ 0 h 113"/>
                <a:gd name="T10" fmla="*/ 0 60000 65536"/>
                <a:gd name="T11" fmla="*/ 0 60000 65536"/>
                <a:gd name="T12" fmla="*/ 0 60000 65536"/>
                <a:gd name="T13" fmla="*/ 0 60000 65536"/>
                <a:gd name="T14" fmla="*/ 0 60000 65536"/>
                <a:gd name="T15" fmla="*/ 0 w 47"/>
                <a:gd name="T16" fmla="*/ 0 h 113"/>
                <a:gd name="T17" fmla="*/ 47 w 47"/>
                <a:gd name="T18" fmla="*/ 113 h 113"/>
              </a:gdLst>
              <a:ahLst/>
              <a:cxnLst>
                <a:cxn ang="T10">
                  <a:pos x="T0" y="T1"/>
                </a:cxn>
                <a:cxn ang="T11">
                  <a:pos x="T2" y="T3"/>
                </a:cxn>
                <a:cxn ang="T12">
                  <a:pos x="T4" y="T5"/>
                </a:cxn>
                <a:cxn ang="T13">
                  <a:pos x="T6" y="T7"/>
                </a:cxn>
                <a:cxn ang="T14">
                  <a:pos x="T8" y="T9"/>
                </a:cxn>
              </a:cxnLst>
              <a:rect l="T15" t="T16" r="T17" b="T18"/>
              <a:pathLst>
                <a:path w="47" h="113">
                  <a:moveTo>
                    <a:pt x="47" y="0"/>
                  </a:moveTo>
                  <a:lnTo>
                    <a:pt x="28" y="19"/>
                  </a:lnTo>
                  <a:lnTo>
                    <a:pt x="0" y="0"/>
                  </a:lnTo>
                  <a:lnTo>
                    <a:pt x="28" y="113"/>
                  </a:lnTo>
                  <a:lnTo>
                    <a:pt x="47" y="0"/>
                  </a:lnTo>
                  <a:close/>
                </a:path>
              </a:pathLst>
            </a:custGeom>
            <a:solidFill>
              <a:srgbClr val="000000"/>
            </a:solidFill>
            <a:ln w="14288">
              <a:solidFill>
                <a:srgbClr val="000000"/>
              </a:solidFill>
              <a:round/>
            </a:ln>
          </p:spPr>
          <p:txBody>
            <a:bodyPr/>
            <a:lstStyle/>
            <a:p>
              <a:endParaRPr lang="zh-CN" altLang="en-US"/>
            </a:p>
          </p:txBody>
        </p:sp>
        <p:sp>
          <p:nvSpPr>
            <p:cNvPr id="25716" name="Line 45"/>
            <p:cNvSpPr>
              <a:spLocks noChangeShapeType="1"/>
            </p:cNvSpPr>
            <p:nvPr/>
          </p:nvSpPr>
          <p:spPr bwMode="auto">
            <a:xfrm>
              <a:off x="2030" y="376"/>
              <a:ext cx="216" cy="1"/>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17" name="Rectangle 46"/>
            <p:cNvSpPr>
              <a:spLocks noChangeArrowheads="1"/>
            </p:cNvSpPr>
            <p:nvPr/>
          </p:nvSpPr>
          <p:spPr bwMode="auto">
            <a:xfrm>
              <a:off x="2030" y="329"/>
              <a:ext cx="216" cy="85"/>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718" name="Rectangle 47"/>
            <p:cNvSpPr>
              <a:spLocks noChangeArrowheads="1"/>
            </p:cNvSpPr>
            <p:nvPr/>
          </p:nvSpPr>
          <p:spPr bwMode="auto">
            <a:xfrm>
              <a:off x="2107" y="151"/>
              <a:ext cx="68"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719" name="Rectangle 48"/>
            <p:cNvSpPr>
              <a:spLocks noChangeArrowheads="1"/>
            </p:cNvSpPr>
            <p:nvPr/>
          </p:nvSpPr>
          <p:spPr bwMode="auto">
            <a:xfrm>
              <a:off x="2175" y="217"/>
              <a:ext cx="2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5720" name="Freeform 49"/>
            <p:cNvSpPr/>
            <p:nvPr/>
          </p:nvSpPr>
          <p:spPr bwMode="auto">
            <a:xfrm>
              <a:off x="2377" y="348"/>
              <a:ext cx="123" cy="47"/>
            </a:xfrm>
            <a:custGeom>
              <a:avLst/>
              <a:gdLst>
                <a:gd name="T0" fmla="*/ 123 w 123"/>
                <a:gd name="T1" fmla="*/ 47 h 47"/>
                <a:gd name="T2" fmla="*/ 94 w 123"/>
                <a:gd name="T3" fmla="*/ 28 h 47"/>
                <a:gd name="T4" fmla="*/ 123 w 123"/>
                <a:gd name="T5" fmla="*/ 0 h 47"/>
                <a:gd name="T6" fmla="*/ 0 w 123"/>
                <a:gd name="T7" fmla="*/ 28 h 47"/>
                <a:gd name="T8" fmla="*/ 123 w 123"/>
                <a:gd name="T9" fmla="*/ 47 h 47"/>
                <a:gd name="T10" fmla="*/ 0 60000 65536"/>
                <a:gd name="T11" fmla="*/ 0 60000 65536"/>
                <a:gd name="T12" fmla="*/ 0 60000 65536"/>
                <a:gd name="T13" fmla="*/ 0 60000 65536"/>
                <a:gd name="T14" fmla="*/ 0 60000 65536"/>
                <a:gd name="T15" fmla="*/ 0 w 123"/>
                <a:gd name="T16" fmla="*/ 0 h 47"/>
                <a:gd name="T17" fmla="*/ 123 w 123"/>
                <a:gd name="T18" fmla="*/ 47 h 47"/>
              </a:gdLst>
              <a:ahLst/>
              <a:cxnLst>
                <a:cxn ang="T10">
                  <a:pos x="T0" y="T1"/>
                </a:cxn>
                <a:cxn ang="T11">
                  <a:pos x="T2" y="T3"/>
                </a:cxn>
                <a:cxn ang="T12">
                  <a:pos x="T4" y="T5"/>
                </a:cxn>
                <a:cxn ang="T13">
                  <a:pos x="T6" y="T7"/>
                </a:cxn>
                <a:cxn ang="T14">
                  <a:pos x="T8" y="T9"/>
                </a:cxn>
              </a:cxnLst>
              <a:rect l="T15" t="T16" r="T17" b="T18"/>
              <a:pathLst>
                <a:path w="123" h="47">
                  <a:moveTo>
                    <a:pt x="123" y="47"/>
                  </a:moveTo>
                  <a:lnTo>
                    <a:pt x="94" y="28"/>
                  </a:lnTo>
                  <a:lnTo>
                    <a:pt x="123" y="0"/>
                  </a:lnTo>
                  <a:lnTo>
                    <a:pt x="0" y="28"/>
                  </a:lnTo>
                  <a:lnTo>
                    <a:pt x="123" y="47"/>
                  </a:lnTo>
                  <a:close/>
                </a:path>
              </a:pathLst>
            </a:custGeom>
            <a:solidFill>
              <a:srgbClr val="000000"/>
            </a:solidFill>
            <a:ln w="14288">
              <a:solidFill>
                <a:srgbClr val="000000"/>
              </a:solidFill>
              <a:round/>
            </a:ln>
          </p:spPr>
          <p:txBody>
            <a:bodyPr/>
            <a:lstStyle/>
            <a:p>
              <a:endParaRPr lang="zh-CN" altLang="en-US"/>
            </a:p>
          </p:txBody>
        </p:sp>
        <p:sp>
          <p:nvSpPr>
            <p:cNvPr id="25721" name="Rectangle 50"/>
            <p:cNvSpPr>
              <a:spLocks noChangeArrowheads="1"/>
            </p:cNvSpPr>
            <p:nvPr/>
          </p:nvSpPr>
          <p:spPr bwMode="auto">
            <a:xfrm>
              <a:off x="2411" y="443"/>
              <a:ext cx="203"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反馈</a:t>
              </a:r>
              <a:endParaRPr lang="zh-CN" altLang="zh-CN" sz="2800">
                <a:latin typeface="Times New Roman" panose="02020603050405020304" pitchFamily="18" charset="0"/>
              </a:endParaRPr>
            </a:p>
          </p:txBody>
        </p:sp>
        <p:sp>
          <p:nvSpPr>
            <p:cNvPr id="25722" name="Line 51"/>
            <p:cNvSpPr>
              <a:spLocks noChangeShapeType="1"/>
            </p:cNvSpPr>
            <p:nvPr/>
          </p:nvSpPr>
          <p:spPr bwMode="auto">
            <a:xfrm>
              <a:off x="1231" y="762"/>
              <a:ext cx="1" cy="179"/>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23" name="Freeform 52"/>
            <p:cNvSpPr/>
            <p:nvPr/>
          </p:nvSpPr>
          <p:spPr bwMode="auto">
            <a:xfrm>
              <a:off x="1203" y="884"/>
              <a:ext cx="47" cy="123"/>
            </a:xfrm>
            <a:custGeom>
              <a:avLst/>
              <a:gdLst>
                <a:gd name="T0" fmla="*/ 47 w 47"/>
                <a:gd name="T1" fmla="*/ 0 h 123"/>
                <a:gd name="T2" fmla="*/ 28 w 47"/>
                <a:gd name="T3" fmla="*/ 19 h 123"/>
                <a:gd name="T4" fmla="*/ 0 w 47"/>
                <a:gd name="T5" fmla="*/ 0 h 123"/>
                <a:gd name="T6" fmla="*/ 28 w 47"/>
                <a:gd name="T7" fmla="*/ 123 h 123"/>
                <a:gd name="T8" fmla="*/ 47 w 47"/>
                <a:gd name="T9" fmla="*/ 0 h 123"/>
                <a:gd name="T10" fmla="*/ 0 60000 65536"/>
                <a:gd name="T11" fmla="*/ 0 60000 65536"/>
                <a:gd name="T12" fmla="*/ 0 60000 65536"/>
                <a:gd name="T13" fmla="*/ 0 60000 65536"/>
                <a:gd name="T14" fmla="*/ 0 60000 65536"/>
                <a:gd name="T15" fmla="*/ 0 w 47"/>
                <a:gd name="T16" fmla="*/ 0 h 123"/>
                <a:gd name="T17" fmla="*/ 47 w 47"/>
                <a:gd name="T18" fmla="*/ 123 h 123"/>
              </a:gdLst>
              <a:ahLst/>
              <a:cxnLst>
                <a:cxn ang="T10">
                  <a:pos x="T0" y="T1"/>
                </a:cxn>
                <a:cxn ang="T11">
                  <a:pos x="T2" y="T3"/>
                </a:cxn>
                <a:cxn ang="T12">
                  <a:pos x="T4" y="T5"/>
                </a:cxn>
                <a:cxn ang="T13">
                  <a:pos x="T6" y="T7"/>
                </a:cxn>
                <a:cxn ang="T14">
                  <a:pos x="T8" y="T9"/>
                </a:cxn>
              </a:cxnLst>
              <a:rect l="T15" t="T16" r="T17" b="T18"/>
              <a:pathLst>
                <a:path w="47" h="123">
                  <a:moveTo>
                    <a:pt x="47" y="0"/>
                  </a:moveTo>
                  <a:lnTo>
                    <a:pt x="28" y="19"/>
                  </a:lnTo>
                  <a:lnTo>
                    <a:pt x="0" y="0"/>
                  </a:lnTo>
                  <a:lnTo>
                    <a:pt x="28" y="123"/>
                  </a:lnTo>
                  <a:lnTo>
                    <a:pt x="47" y="0"/>
                  </a:lnTo>
                  <a:close/>
                </a:path>
              </a:pathLst>
            </a:custGeom>
            <a:solidFill>
              <a:srgbClr val="000000"/>
            </a:solidFill>
            <a:ln w="14288">
              <a:solidFill>
                <a:srgbClr val="000000"/>
              </a:solidFill>
              <a:round/>
            </a:ln>
          </p:spPr>
          <p:txBody>
            <a:bodyPr/>
            <a:lstStyle/>
            <a:p>
              <a:endParaRPr lang="zh-CN" altLang="en-US"/>
            </a:p>
          </p:txBody>
        </p:sp>
        <p:sp>
          <p:nvSpPr>
            <p:cNvPr id="25724" name="Rectangle 53"/>
            <p:cNvSpPr>
              <a:spLocks noChangeArrowheads="1"/>
            </p:cNvSpPr>
            <p:nvPr/>
          </p:nvSpPr>
          <p:spPr bwMode="auto">
            <a:xfrm>
              <a:off x="831" y="790"/>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725" name="Rectangle 54"/>
            <p:cNvSpPr>
              <a:spLocks noChangeArrowheads="1"/>
            </p:cNvSpPr>
            <p:nvPr/>
          </p:nvSpPr>
          <p:spPr bwMode="auto">
            <a:xfrm>
              <a:off x="868" y="847"/>
              <a:ext cx="3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5726" name="Line 55"/>
            <p:cNvSpPr>
              <a:spLocks noChangeShapeType="1"/>
            </p:cNvSpPr>
            <p:nvPr/>
          </p:nvSpPr>
          <p:spPr bwMode="auto">
            <a:xfrm>
              <a:off x="160" y="376"/>
              <a:ext cx="1" cy="50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27" name="Rectangle 56"/>
            <p:cNvSpPr>
              <a:spLocks noChangeArrowheads="1"/>
            </p:cNvSpPr>
            <p:nvPr/>
          </p:nvSpPr>
          <p:spPr bwMode="auto">
            <a:xfrm>
              <a:off x="0" y="367"/>
              <a:ext cx="10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728" name="Rectangle 57"/>
            <p:cNvSpPr>
              <a:spLocks noChangeArrowheads="1"/>
            </p:cNvSpPr>
            <p:nvPr/>
          </p:nvSpPr>
          <p:spPr bwMode="auto">
            <a:xfrm>
              <a:off x="0" y="724"/>
              <a:ext cx="101"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729" name="Rectangle 58"/>
            <p:cNvSpPr>
              <a:spLocks noChangeArrowheads="1"/>
            </p:cNvSpPr>
            <p:nvPr/>
          </p:nvSpPr>
          <p:spPr bwMode="auto">
            <a:xfrm>
              <a:off x="352" y="546"/>
              <a:ext cx="73"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5730" name="Rectangle 59"/>
            <p:cNvSpPr>
              <a:spLocks noChangeArrowheads="1"/>
            </p:cNvSpPr>
            <p:nvPr/>
          </p:nvSpPr>
          <p:spPr bwMode="auto">
            <a:xfrm>
              <a:off x="436" y="602"/>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 name="Rectangle 60"/>
            <p:cNvSpPr>
              <a:spLocks noChangeArrowheads="1"/>
            </p:cNvSpPr>
            <p:nvPr/>
          </p:nvSpPr>
          <p:spPr bwMode="auto">
            <a:xfrm>
              <a:off x="408" y="433"/>
              <a:ext cx="2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3" name="Line 61"/>
            <p:cNvSpPr>
              <a:spLocks noChangeShapeType="1"/>
            </p:cNvSpPr>
            <p:nvPr/>
          </p:nvSpPr>
          <p:spPr bwMode="auto">
            <a:xfrm>
              <a:off x="94" y="884"/>
              <a:ext cx="1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33" name="Freeform 62"/>
            <p:cNvSpPr/>
            <p:nvPr/>
          </p:nvSpPr>
          <p:spPr bwMode="auto">
            <a:xfrm>
              <a:off x="1024" y="593"/>
              <a:ext cx="47" cy="37"/>
            </a:xfrm>
            <a:custGeom>
              <a:avLst/>
              <a:gdLst>
                <a:gd name="T0" fmla="*/ 0 w 47"/>
                <a:gd name="T1" fmla="*/ 19 h 37"/>
                <a:gd name="T2" fmla="*/ 10 w 47"/>
                <a:gd name="T3" fmla="*/ 0 h 37"/>
                <a:gd name="T4" fmla="*/ 38 w 47"/>
                <a:gd name="T5" fmla="*/ 0 h 37"/>
                <a:gd name="T6" fmla="*/ 47 w 47"/>
                <a:gd name="T7" fmla="*/ 19 h 37"/>
                <a:gd name="T8" fmla="*/ 38 w 47"/>
                <a:gd name="T9" fmla="*/ 37 h 37"/>
                <a:gd name="T10" fmla="*/ 10 w 47"/>
                <a:gd name="T11" fmla="*/ 37 h 37"/>
                <a:gd name="T12" fmla="*/ 0 w 47"/>
                <a:gd name="T13" fmla="*/ 19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9"/>
                  </a:moveTo>
                  <a:lnTo>
                    <a:pt x="10" y="0"/>
                  </a:lnTo>
                  <a:lnTo>
                    <a:pt x="38" y="0"/>
                  </a:lnTo>
                  <a:lnTo>
                    <a:pt x="47" y="19"/>
                  </a:lnTo>
                  <a:lnTo>
                    <a:pt x="38" y="37"/>
                  </a:lnTo>
                  <a:lnTo>
                    <a:pt x="10" y="37"/>
                  </a:lnTo>
                  <a:lnTo>
                    <a:pt x="0" y="19"/>
                  </a:lnTo>
                  <a:close/>
                </a:path>
              </a:pathLst>
            </a:custGeom>
            <a:solidFill>
              <a:srgbClr val="000000"/>
            </a:solidFill>
            <a:ln w="14288">
              <a:solidFill>
                <a:srgbClr val="000000"/>
              </a:solidFill>
              <a:round/>
            </a:ln>
          </p:spPr>
          <p:txBody>
            <a:bodyPr/>
            <a:lstStyle/>
            <a:p>
              <a:endParaRPr lang="zh-CN" altLang="en-US"/>
            </a:p>
          </p:txBody>
        </p:sp>
      </p:grpSp>
      <p:grpSp>
        <p:nvGrpSpPr>
          <p:cNvPr id="25604" name="Group 63"/>
          <p:cNvGrpSpPr/>
          <p:nvPr/>
        </p:nvGrpSpPr>
        <p:grpSpPr bwMode="auto">
          <a:xfrm>
            <a:off x="1541463" y="2941638"/>
            <a:ext cx="4133850" cy="2914650"/>
            <a:chOff x="0" y="0"/>
            <a:chExt cx="2432" cy="1562"/>
          </a:xfrm>
        </p:grpSpPr>
        <p:sp>
          <p:nvSpPr>
            <p:cNvPr id="25607" name="Freeform 64"/>
            <p:cNvSpPr/>
            <p:nvPr/>
          </p:nvSpPr>
          <p:spPr bwMode="auto">
            <a:xfrm>
              <a:off x="51" y="894"/>
              <a:ext cx="226" cy="226"/>
            </a:xfrm>
            <a:custGeom>
              <a:avLst/>
              <a:gdLst>
                <a:gd name="T0" fmla="*/ 0 w 226"/>
                <a:gd name="T1" fmla="*/ 113 h 226"/>
                <a:gd name="T2" fmla="*/ 19 w 226"/>
                <a:gd name="T3" fmla="*/ 56 h 226"/>
                <a:gd name="T4" fmla="*/ 57 w 226"/>
                <a:gd name="T5" fmla="*/ 19 h 226"/>
                <a:gd name="T6" fmla="*/ 113 w 226"/>
                <a:gd name="T7" fmla="*/ 0 h 226"/>
                <a:gd name="T8" fmla="*/ 169 w 226"/>
                <a:gd name="T9" fmla="*/ 19 h 226"/>
                <a:gd name="T10" fmla="*/ 207 w 226"/>
                <a:gd name="T11" fmla="*/ 56 h 226"/>
                <a:gd name="T12" fmla="*/ 226 w 226"/>
                <a:gd name="T13" fmla="*/ 113 h 226"/>
                <a:gd name="T14" fmla="*/ 207 w 226"/>
                <a:gd name="T15" fmla="*/ 169 h 226"/>
                <a:gd name="T16" fmla="*/ 169 w 226"/>
                <a:gd name="T17" fmla="*/ 216 h 226"/>
                <a:gd name="T18" fmla="*/ 113 w 226"/>
                <a:gd name="T19" fmla="*/ 226 h 226"/>
                <a:gd name="T20" fmla="*/ 57 w 226"/>
                <a:gd name="T21" fmla="*/ 216 h 226"/>
                <a:gd name="T22" fmla="*/ 19 w 226"/>
                <a:gd name="T23" fmla="*/ 169 h 226"/>
                <a:gd name="T24" fmla="*/ 0 w 226"/>
                <a:gd name="T25" fmla="*/ 113 h 2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6"/>
                <a:gd name="T40" fmla="*/ 0 h 226"/>
                <a:gd name="T41" fmla="*/ 226 w 226"/>
                <a:gd name="T42" fmla="*/ 226 h 2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6" h="226">
                  <a:moveTo>
                    <a:pt x="0" y="113"/>
                  </a:moveTo>
                  <a:lnTo>
                    <a:pt x="19" y="56"/>
                  </a:lnTo>
                  <a:lnTo>
                    <a:pt x="57" y="19"/>
                  </a:lnTo>
                  <a:lnTo>
                    <a:pt x="113" y="0"/>
                  </a:lnTo>
                  <a:lnTo>
                    <a:pt x="169" y="19"/>
                  </a:lnTo>
                  <a:lnTo>
                    <a:pt x="207" y="56"/>
                  </a:lnTo>
                  <a:lnTo>
                    <a:pt x="226" y="113"/>
                  </a:lnTo>
                  <a:lnTo>
                    <a:pt x="207" y="169"/>
                  </a:lnTo>
                  <a:lnTo>
                    <a:pt x="169" y="216"/>
                  </a:lnTo>
                  <a:lnTo>
                    <a:pt x="113" y="226"/>
                  </a:lnTo>
                  <a:lnTo>
                    <a:pt x="57" y="216"/>
                  </a:lnTo>
                  <a:lnTo>
                    <a:pt x="19" y="169"/>
                  </a:lnTo>
                  <a:lnTo>
                    <a:pt x="0" y="113"/>
                  </a:lnTo>
                  <a:close/>
                </a:path>
              </a:pathLst>
            </a:custGeom>
            <a:solidFill>
              <a:srgbClr val="FFFFFF"/>
            </a:solidFill>
            <a:ln w="14288">
              <a:solidFill>
                <a:srgbClr val="000000"/>
              </a:solidFill>
              <a:round/>
            </a:ln>
          </p:spPr>
          <p:txBody>
            <a:bodyPr/>
            <a:lstStyle/>
            <a:p>
              <a:endParaRPr lang="zh-CN" altLang="en-US"/>
            </a:p>
          </p:txBody>
        </p:sp>
        <p:sp>
          <p:nvSpPr>
            <p:cNvPr id="25608" name="Line 65"/>
            <p:cNvSpPr>
              <a:spLocks noChangeShapeType="1"/>
            </p:cNvSpPr>
            <p:nvPr/>
          </p:nvSpPr>
          <p:spPr bwMode="auto">
            <a:xfrm>
              <a:off x="164" y="790"/>
              <a:ext cx="1" cy="50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09" name="Rectangle 66"/>
            <p:cNvSpPr>
              <a:spLocks noChangeArrowheads="1"/>
            </p:cNvSpPr>
            <p:nvPr/>
          </p:nvSpPr>
          <p:spPr bwMode="auto">
            <a:xfrm>
              <a:off x="0" y="781"/>
              <a:ext cx="11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10" name="Rectangle 67"/>
            <p:cNvSpPr>
              <a:spLocks noChangeArrowheads="1"/>
            </p:cNvSpPr>
            <p:nvPr/>
          </p:nvSpPr>
          <p:spPr bwMode="auto">
            <a:xfrm>
              <a:off x="0" y="1091"/>
              <a:ext cx="11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11" name="Line 68"/>
            <p:cNvSpPr>
              <a:spLocks noChangeShapeType="1"/>
            </p:cNvSpPr>
            <p:nvPr/>
          </p:nvSpPr>
          <p:spPr bwMode="auto">
            <a:xfrm flipH="1">
              <a:off x="164" y="790"/>
              <a:ext cx="883"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2" name="Line 69"/>
            <p:cNvSpPr>
              <a:spLocks noChangeShapeType="1"/>
            </p:cNvSpPr>
            <p:nvPr/>
          </p:nvSpPr>
          <p:spPr bwMode="auto">
            <a:xfrm>
              <a:off x="1047" y="678"/>
              <a:ext cx="1" cy="21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3" name="Line 70"/>
            <p:cNvSpPr>
              <a:spLocks noChangeShapeType="1"/>
            </p:cNvSpPr>
            <p:nvPr/>
          </p:nvSpPr>
          <p:spPr bwMode="auto">
            <a:xfrm flipV="1">
              <a:off x="1047" y="678"/>
              <a:ext cx="179" cy="6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4" name="Line 71"/>
            <p:cNvSpPr>
              <a:spLocks noChangeShapeType="1"/>
            </p:cNvSpPr>
            <p:nvPr/>
          </p:nvSpPr>
          <p:spPr bwMode="auto">
            <a:xfrm>
              <a:off x="1047" y="828"/>
              <a:ext cx="179" cy="6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5" name="Freeform 72"/>
            <p:cNvSpPr/>
            <p:nvPr/>
          </p:nvSpPr>
          <p:spPr bwMode="auto">
            <a:xfrm>
              <a:off x="1132" y="847"/>
              <a:ext cx="94" cy="56"/>
            </a:xfrm>
            <a:custGeom>
              <a:avLst/>
              <a:gdLst>
                <a:gd name="T0" fmla="*/ 0 w 94"/>
                <a:gd name="T1" fmla="*/ 38 h 56"/>
                <a:gd name="T2" fmla="*/ 28 w 94"/>
                <a:gd name="T3" fmla="*/ 28 h 56"/>
                <a:gd name="T4" fmla="*/ 19 w 94"/>
                <a:gd name="T5" fmla="*/ 0 h 56"/>
                <a:gd name="T6" fmla="*/ 94 w 94"/>
                <a:gd name="T7" fmla="*/ 56 h 56"/>
                <a:gd name="T8" fmla="*/ 0 w 94"/>
                <a:gd name="T9" fmla="*/ 38 h 56"/>
                <a:gd name="T10" fmla="*/ 0 60000 65536"/>
                <a:gd name="T11" fmla="*/ 0 60000 65536"/>
                <a:gd name="T12" fmla="*/ 0 60000 65536"/>
                <a:gd name="T13" fmla="*/ 0 60000 65536"/>
                <a:gd name="T14" fmla="*/ 0 60000 65536"/>
                <a:gd name="T15" fmla="*/ 0 w 94"/>
                <a:gd name="T16" fmla="*/ 0 h 56"/>
                <a:gd name="T17" fmla="*/ 94 w 94"/>
                <a:gd name="T18" fmla="*/ 56 h 56"/>
              </a:gdLst>
              <a:ahLst/>
              <a:cxnLst>
                <a:cxn ang="T10">
                  <a:pos x="T0" y="T1"/>
                </a:cxn>
                <a:cxn ang="T11">
                  <a:pos x="T2" y="T3"/>
                </a:cxn>
                <a:cxn ang="T12">
                  <a:pos x="T4" y="T5"/>
                </a:cxn>
                <a:cxn ang="T13">
                  <a:pos x="T6" y="T7"/>
                </a:cxn>
                <a:cxn ang="T14">
                  <a:pos x="T8" y="T9"/>
                </a:cxn>
              </a:cxnLst>
              <a:rect l="T15" t="T16" r="T17" b="T18"/>
              <a:pathLst>
                <a:path w="94" h="56">
                  <a:moveTo>
                    <a:pt x="0" y="38"/>
                  </a:moveTo>
                  <a:lnTo>
                    <a:pt x="28" y="28"/>
                  </a:lnTo>
                  <a:lnTo>
                    <a:pt x="19" y="0"/>
                  </a:lnTo>
                  <a:lnTo>
                    <a:pt x="94" y="56"/>
                  </a:lnTo>
                  <a:lnTo>
                    <a:pt x="0" y="38"/>
                  </a:lnTo>
                  <a:close/>
                </a:path>
              </a:pathLst>
            </a:custGeom>
            <a:solidFill>
              <a:srgbClr val="000000"/>
            </a:solidFill>
            <a:ln w="14288">
              <a:solidFill>
                <a:srgbClr val="000000"/>
              </a:solidFill>
              <a:round/>
            </a:ln>
          </p:spPr>
          <p:txBody>
            <a:bodyPr/>
            <a:lstStyle/>
            <a:p>
              <a:endParaRPr lang="zh-CN" altLang="en-US"/>
            </a:p>
          </p:txBody>
        </p:sp>
        <p:sp>
          <p:nvSpPr>
            <p:cNvPr id="25616" name="Line 73"/>
            <p:cNvSpPr>
              <a:spLocks noChangeShapeType="1"/>
            </p:cNvSpPr>
            <p:nvPr/>
          </p:nvSpPr>
          <p:spPr bwMode="auto">
            <a:xfrm>
              <a:off x="1226" y="414"/>
              <a:ext cx="1" cy="264"/>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7" name="Line 74"/>
            <p:cNvSpPr>
              <a:spLocks noChangeShapeType="1"/>
            </p:cNvSpPr>
            <p:nvPr/>
          </p:nvSpPr>
          <p:spPr bwMode="auto">
            <a:xfrm>
              <a:off x="784" y="235"/>
              <a:ext cx="1" cy="55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8" name="Line 75"/>
            <p:cNvSpPr>
              <a:spLocks noChangeShapeType="1"/>
            </p:cNvSpPr>
            <p:nvPr/>
          </p:nvSpPr>
          <p:spPr bwMode="auto">
            <a:xfrm>
              <a:off x="784" y="235"/>
              <a:ext cx="133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19" name="Line 76"/>
            <p:cNvSpPr>
              <a:spLocks noChangeShapeType="1"/>
            </p:cNvSpPr>
            <p:nvPr/>
          </p:nvSpPr>
          <p:spPr bwMode="auto">
            <a:xfrm flipH="1">
              <a:off x="1470" y="235"/>
              <a:ext cx="226" cy="1"/>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0" name="Rectangle 77"/>
            <p:cNvSpPr>
              <a:spLocks noChangeArrowheads="1"/>
            </p:cNvSpPr>
            <p:nvPr/>
          </p:nvSpPr>
          <p:spPr bwMode="auto">
            <a:xfrm>
              <a:off x="1470" y="188"/>
              <a:ext cx="226" cy="85"/>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621" name="Freeform 78"/>
            <p:cNvSpPr/>
            <p:nvPr/>
          </p:nvSpPr>
          <p:spPr bwMode="auto">
            <a:xfrm>
              <a:off x="765" y="772"/>
              <a:ext cx="38" cy="37"/>
            </a:xfrm>
            <a:custGeom>
              <a:avLst/>
              <a:gdLst>
                <a:gd name="T0" fmla="*/ 0 w 38"/>
                <a:gd name="T1" fmla="*/ 18 h 37"/>
                <a:gd name="T2" fmla="*/ 10 w 38"/>
                <a:gd name="T3" fmla="*/ 0 h 37"/>
                <a:gd name="T4" fmla="*/ 29 w 38"/>
                <a:gd name="T5" fmla="*/ 0 h 37"/>
                <a:gd name="T6" fmla="*/ 38 w 38"/>
                <a:gd name="T7" fmla="*/ 18 h 37"/>
                <a:gd name="T8" fmla="*/ 29 w 38"/>
                <a:gd name="T9" fmla="*/ 37 h 37"/>
                <a:gd name="T10" fmla="*/ 10 w 38"/>
                <a:gd name="T11" fmla="*/ 37 h 37"/>
                <a:gd name="T12" fmla="*/ 0 w 38"/>
                <a:gd name="T13" fmla="*/ 18 h 37"/>
                <a:gd name="T14" fmla="*/ 0 60000 65536"/>
                <a:gd name="T15" fmla="*/ 0 60000 65536"/>
                <a:gd name="T16" fmla="*/ 0 60000 65536"/>
                <a:gd name="T17" fmla="*/ 0 60000 65536"/>
                <a:gd name="T18" fmla="*/ 0 60000 65536"/>
                <a:gd name="T19" fmla="*/ 0 60000 65536"/>
                <a:gd name="T20" fmla="*/ 0 60000 65536"/>
                <a:gd name="T21" fmla="*/ 0 w 38"/>
                <a:gd name="T22" fmla="*/ 0 h 37"/>
                <a:gd name="T23" fmla="*/ 38 w 38"/>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7">
                  <a:moveTo>
                    <a:pt x="0" y="18"/>
                  </a:moveTo>
                  <a:lnTo>
                    <a:pt x="10" y="0"/>
                  </a:lnTo>
                  <a:lnTo>
                    <a:pt x="29" y="0"/>
                  </a:lnTo>
                  <a:lnTo>
                    <a:pt x="38" y="18"/>
                  </a:lnTo>
                  <a:lnTo>
                    <a:pt x="29" y="37"/>
                  </a:lnTo>
                  <a:lnTo>
                    <a:pt x="10" y="37"/>
                  </a:lnTo>
                  <a:lnTo>
                    <a:pt x="0" y="18"/>
                  </a:lnTo>
                  <a:close/>
                </a:path>
              </a:pathLst>
            </a:custGeom>
            <a:solidFill>
              <a:srgbClr val="000000"/>
            </a:solidFill>
            <a:ln w="14288">
              <a:solidFill>
                <a:srgbClr val="000000"/>
              </a:solidFill>
              <a:round/>
            </a:ln>
          </p:spPr>
          <p:txBody>
            <a:bodyPr/>
            <a:lstStyle/>
            <a:p>
              <a:endParaRPr lang="zh-CN" altLang="en-US"/>
            </a:p>
          </p:txBody>
        </p:sp>
        <p:sp>
          <p:nvSpPr>
            <p:cNvPr id="25622" name="Line 79"/>
            <p:cNvSpPr>
              <a:spLocks noChangeShapeType="1"/>
            </p:cNvSpPr>
            <p:nvPr/>
          </p:nvSpPr>
          <p:spPr bwMode="auto">
            <a:xfrm>
              <a:off x="296" y="790"/>
              <a:ext cx="225" cy="1"/>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23" name="Rectangle 80"/>
            <p:cNvSpPr>
              <a:spLocks noChangeArrowheads="1"/>
            </p:cNvSpPr>
            <p:nvPr/>
          </p:nvSpPr>
          <p:spPr bwMode="auto">
            <a:xfrm>
              <a:off x="296" y="743"/>
              <a:ext cx="225" cy="85"/>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624" name="Freeform 81"/>
            <p:cNvSpPr/>
            <p:nvPr/>
          </p:nvSpPr>
          <p:spPr bwMode="auto">
            <a:xfrm>
              <a:off x="578" y="762"/>
              <a:ext cx="122" cy="47"/>
            </a:xfrm>
            <a:custGeom>
              <a:avLst/>
              <a:gdLst>
                <a:gd name="T0" fmla="*/ 0 w 122"/>
                <a:gd name="T1" fmla="*/ 0 h 47"/>
                <a:gd name="T2" fmla="*/ 28 w 122"/>
                <a:gd name="T3" fmla="*/ 28 h 47"/>
                <a:gd name="T4" fmla="*/ 0 w 122"/>
                <a:gd name="T5" fmla="*/ 47 h 47"/>
                <a:gd name="T6" fmla="*/ 122 w 122"/>
                <a:gd name="T7" fmla="*/ 28 h 47"/>
                <a:gd name="T8" fmla="*/ 0 w 122"/>
                <a:gd name="T9" fmla="*/ 0 h 47"/>
                <a:gd name="T10" fmla="*/ 0 60000 65536"/>
                <a:gd name="T11" fmla="*/ 0 60000 65536"/>
                <a:gd name="T12" fmla="*/ 0 60000 65536"/>
                <a:gd name="T13" fmla="*/ 0 60000 65536"/>
                <a:gd name="T14" fmla="*/ 0 60000 65536"/>
                <a:gd name="T15" fmla="*/ 0 w 122"/>
                <a:gd name="T16" fmla="*/ 0 h 47"/>
                <a:gd name="T17" fmla="*/ 122 w 122"/>
                <a:gd name="T18" fmla="*/ 47 h 47"/>
              </a:gdLst>
              <a:ahLst/>
              <a:cxnLst>
                <a:cxn ang="T10">
                  <a:pos x="T0" y="T1"/>
                </a:cxn>
                <a:cxn ang="T11">
                  <a:pos x="T2" y="T3"/>
                </a:cxn>
                <a:cxn ang="T12">
                  <a:pos x="T4" y="T5"/>
                </a:cxn>
                <a:cxn ang="T13">
                  <a:pos x="T6" y="T7"/>
                </a:cxn>
                <a:cxn ang="T14">
                  <a:pos x="T8" y="T9"/>
                </a:cxn>
              </a:cxnLst>
              <a:rect l="T15" t="T16" r="T17" b="T18"/>
              <a:pathLst>
                <a:path w="122" h="47">
                  <a:moveTo>
                    <a:pt x="0" y="0"/>
                  </a:moveTo>
                  <a:lnTo>
                    <a:pt x="28" y="28"/>
                  </a:lnTo>
                  <a:lnTo>
                    <a:pt x="0" y="47"/>
                  </a:lnTo>
                  <a:lnTo>
                    <a:pt x="122" y="28"/>
                  </a:lnTo>
                  <a:lnTo>
                    <a:pt x="0" y="0"/>
                  </a:lnTo>
                  <a:close/>
                </a:path>
              </a:pathLst>
            </a:custGeom>
            <a:solidFill>
              <a:srgbClr val="000000"/>
            </a:solidFill>
            <a:ln w="14288">
              <a:solidFill>
                <a:srgbClr val="000000"/>
              </a:solidFill>
              <a:round/>
            </a:ln>
          </p:spPr>
          <p:txBody>
            <a:bodyPr/>
            <a:lstStyle/>
            <a:p>
              <a:endParaRPr lang="zh-CN" altLang="en-US"/>
            </a:p>
          </p:txBody>
        </p:sp>
        <p:sp>
          <p:nvSpPr>
            <p:cNvPr id="25625" name="Freeform 82"/>
            <p:cNvSpPr/>
            <p:nvPr/>
          </p:nvSpPr>
          <p:spPr bwMode="auto">
            <a:xfrm>
              <a:off x="765" y="461"/>
              <a:ext cx="38" cy="123"/>
            </a:xfrm>
            <a:custGeom>
              <a:avLst/>
              <a:gdLst>
                <a:gd name="T0" fmla="*/ 0 w 38"/>
                <a:gd name="T1" fmla="*/ 123 h 123"/>
                <a:gd name="T2" fmla="*/ 19 w 38"/>
                <a:gd name="T3" fmla="*/ 94 h 123"/>
                <a:gd name="T4" fmla="*/ 38 w 38"/>
                <a:gd name="T5" fmla="*/ 123 h 123"/>
                <a:gd name="T6" fmla="*/ 19 w 38"/>
                <a:gd name="T7" fmla="*/ 0 h 123"/>
                <a:gd name="T8" fmla="*/ 0 w 38"/>
                <a:gd name="T9" fmla="*/ 123 h 123"/>
                <a:gd name="T10" fmla="*/ 0 60000 65536"/>
                <a:gd name="T11" fmla="*/ 0 60000 65536"/>
                <a:gd name="T12" fmla="*/ 0 60000 65536"/>
                <a:gd name="T13" fmla="*/ 0 60000 65536"/>
                <a:gd name="T14" fmla="*/ 0 60000 65536"/>
                <a:gd name="T15" fmla="*/ 0 w 38"/>
                <a:gd name="T16" fmla="*/ 0 h 123"/>
                <a:gd name="T17" fmla="*/ 38 w 38"/>
                <a:gd name="T18" fmla="*/ 123 h 123"/>
              </a:gdLst>
              <a:ahLst/>
              <a:cxnLst>
                <a:cxn ang="T10">
                  <a:pos x="T0" y="T1"/>
                </a:cxn>
                <a:cxn ang="T11">
                  <a:pos x="T2" y="T3"/>
                </a:cxn>
                <a:cxn ang="T12">
                  <a:pos x="T4" y="T5"/>
                </a:cxn>
                <a:cxn ang="T13">
                  <a:pos x="T6" y="T7"/>
                </a:cxn>
                <a:cxn ang="T14">
                  <a:pos x="T8" y="T9"/>
                </a:cxn>
              </a:cxnLst>
              <a:rect l="T15" t="T16" r="T17" b="T18"/>
              <a:pathLst>
                <a:path w="38" h="123">
                  <a:moveTo>
                    <a:pt x="0" y="123"/>
                  </a:moveTo>
                  <a:lnTo>
                    <a:pt x="19" y="94"/>
                  </a:lnTo>
                  <a:lnTo>
                    <a:pt x="38" y="123"/>
                  </a:lnTo>
                  <a:lnTo>
                    <a:pt x="19" y="0"/>
                  </a:lnTo>
                  <a:lnTo>
                    <a:pt x="0" y="123"/>
                  </a:lnTo>
                  <a:close/>
                </a:path>
              </a:pathLst>
            </a:custGeom>
            <a:solidFill>
              <a:srgbClr val="000000"/>
            </a:solidFill>
            <a:ln w="14288">
              <a:solidFill>
                <a:srgbClr val="000000"/>
              </a:solidFill>
              <a:round/>
            </a:ln>
          </p:spPr>
          <p:txBody>
            <a:bodyPr/>
            <a:lstStyle/>
            <a:p>
              <a:endParaRPr lang="zh-CN" altLang="en-US"/>
            </a:p>
          </p:txBody>
        </p:sp>
        <p:sp>
          <p:nvSpPr>
            <p:cNvPr id="25626" name="Freeform 83"/>
            <p:cNvSpPr/>
            <p:nvPr/>
          </p:nvSpPr>
          <p:spPr bwMode="auto">
            <a:xfrm>
              <a:off x="878" y="762"/>
              <a:ext cx="113" cy="47"/>
            </a:xfrm>
            <a:custGeom>
              <a:avLst/>
              <a:gdLst>
                <a:gd name="T0" fmla="*/ 0 w 113"/>
                <a:gd name="T1" fmla="*/ 0 h 47"/>
                <a:gd name="T2" fmla="*/ 19 w 113"/>
                <a:gd name="T3" fmla="*/ 28 h 47"/>
                <a:gd name="T4" fmla="*/ 0 w 113"/>
                <a:gd name="T5" fmla="*/ 47 h 47"/>
                <a:gd name="T6" fmla="*/ 113 w 113"/>
                <a:gd name="T7" fmla="*/ 28 h 47"/>
                <a:gd name="T8" fmla="*/ 0 w 113"/>
                <a:gd name="T9" fmla="*/ 0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0" y="0"/>
                  </a:moveTo>
                  <a:lnTo>
                    <a:pt x="19" y="28"/>
                  </a:lnTo>
                  <a:lnTo>
                    <a:pt x="0" y="47"/>
                  </a:lnTo>
                  <a:lnTo>
                    <a:pt x="113" y="28"/>
                  </a:lnTo>
                  <a:lnTo>
                    <a:pt x="0" y="0"/>
                  </a:lnTo>
                  <a:close/>
                </a:path>
              </a:pathLst>
            </a:custGeom>
            <a:solidFill>
              <a:srgbClr val="000000"/>
            </a:solidFill>
            <a:ln w="14288">
              <a:solidFill>
                <a:srgbClr val="000000"/>
              </a:solidFill>
              <a:round/>
            </a:ln>
          </p:spPr>
          <p:txBody>
            <a:bodyPr/>
            <a:lstStyle/>
            <a:p>
              <a:endParaRPr lang="zh-CN" altLang="en-US"/>
            </a:p>
          </p:txBody>
        </p:sp>
        <p:sp>
          <p:nvSpPr>
            <p:cNvPr id="25627" name="Rectangle 84"/>
            <p:cNvSpPr>
              <a:spLocks noChangeArrowheads="1"/>
            </p:cNvSpPr>
            <p:nvPr/>
          </p:nvSpPr>
          <p:spPr bwMode="auto">
            <a:xfrm>
              <a:off x="362" y="583"/>
              <a:ext cx="75"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628" name="Rectangle 85"/>
            <p:cNvSpPr>
              <a:spLocks noChangeArrowheads="1"/>
            </p:cNvSpPr>
            <p:nvPr/>
          </p:nvSpPr>
          <p:spPr bwMode="auto">
            <a:xfrm>
              <a:off x="439" y="640"/>
              <a:ext cx="4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629" name="Rectangle 86"/>
            <p:cNvSpPr>
              <a:spLocks noChangeArrowheads="1"/>
            </p:cNvSpPr>
            <p:nvPr/>
          </p:nvSpPr>
          <p:spPr bwMode="auto">
            <a:xfrm>
              <a:off x="626" y="847"/>
              <a:ext cx="44"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30" name="Rectangle 87"/>
            <p:cNvSpPr>
              <a:spLocks noChangeArrowheads="1"/>
            </p:cNvSpPr>
            <p:nvPr/>
          </p:nvSpPr>
          <p:spPr bwMode="auto">
            <a:xfrm>
              <a:off x="665" y="903"/>
              <a:ext cx="2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31" name="Rectangle 88"/>
            <p:cNvSpPr>
              <a:spLocks noChangeArrowheads="1"/>
            </p:cNvSpPr>
            <p:nvPr/>
          </p:nvSpPr>
          <p:spPr bwMode="auto">
            <a:xfrm>
              <a:off x="657" y="734"/>
              <a:ext cx="28"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32" name="Rectangle 89"/>
            <p:cNvSpPr>
              <a:spLocks noChangeArrowheads="1"/>
            </p:cNvSpPr>
            <p:nvPr/>
          </p:nvSpPr>
          <p:spPr bwMode="auto">
            <a:xfrm>
              <a:off x="861" y="847"/>
              <a:ext cx="44"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33" name="Rectangle 90"/>
            <p:cNvSpPr>
              <a:spLocks noChangeArrowheads="1"/>
            </p:cNvSpPr>
            <p:nvPr/>
          </p:nvSpPr>
          <p:spPr bwMode="auto">
            <a:xfrm>
              <a:off x="899" y="903"/>
              <a:ext cx="23"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34" name="Rectangle 91"/>
            <p:cNvSpPr>
              <a:spLocks noChangeArrowheads="1"/>
            </p:cNvSpPr>
            <p:nvPr/>
          </p:nvSpPr>
          <p:spPr bwMode="auto">
            <a:xfrm>
              <a:off x="892" y="734"/>
              <a:ext cx="28"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35" name="Rectangle 92"/>
            <p:cNvSpPr>
              <a:spLocks noChangeArrowheads="1"/>
            </p:cNvSpPr>
            <p:nvPr/>
          </p:nvSpPr>
          <p:spPr bwMode="auto">
            <a:xfrm>
              <a:off x="930" y="819"/>
              <a:ext cx="112"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36" name="Rectangle 93"/>
            <p:cNvSpPr>
              <a:spLocks noChangeArrowheads="1"/>
            </p:cNvSpPr>
            <p:nvPr/>
          </p:nvSpPr>
          <p:spPr bwMode="auto">
            <a:xfrm>
              <a:off x="861" y="480"/>
              <a:ext cx="44"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37" name="Rectangle 94"/>
            <p:cNvSpPr>
              <a:spLocks noChangeArrowheads="1"/>
            </p:cNvSpPr>
            <p:nvPr/>
          </p:nvSpPr>
          <p:spPr bwMode="auto">
            <a:xfrm>
              <a:off x="892" y="537"/>
              <a:ext cx="2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5638" name="Rectangle 95"/>
            <p:cNvSpPr>
              <a:spLocks noChangeArrowheads="1"/>
            </p:cNvSpPr>
            <p:nvPr/>
          </p:nvSpPr>
          <p:spPr bwMode="auto">
            <a:xfrm>
              <a:off x="892" y="367"/>
              <a:ext cx="28"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39" name="Rectangle 96"/>
            <p:cNvSpPr>
              <a:spLocks noChangeArrowheads="1"/>
            </p:cNvSpPr>
            <p:nvPr/>
          </p:nvSpPr>
          <p:spPr bwMode="auto">
            <a:xfrm>
              <a:off x="1575" y="0"/>
              <a:ext cx="74"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640" name="Rectangle 97"/>
            <p:cNvSpPr>
              <a:spLocks noChangeArrowheads="1"/>
            </p:cNvSpPr>
            <p:nvPr/>
          </p:nvSpPr>
          <p:spPr bwMode="auto">
            <a:xfrm>
              <a:off x="1644" y="66"/>
              <a:ext cx="27"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5641" name="Rectangle 98"/>
            <p:cNvSpPr>
              <a:spLocks noChangeArrowheads="1"/>
            </p:cNvSpPr>
            <p:nvPr/>
          </p:nvSpPr>
          <p:spPr bwMode="auto">
            <a:xfrm>
              <a:off x="2207" y="274"/>
              <a:ext cx="225"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反馈</a:t>
              </a:r>
              <a:endParaRPr lang="zh-CN" altLang="zh-CN" sz="2800">
                <a:latin typeface="Times New Roman" panose="02020603050405020304" pitchFamily="18" charset="0"/>
              </a:endParaRPr>
            </a:p>
          </p:txBody>
        </p:sp>
        <p:sp>
          <p:nvSpPr>
            <p:cNvPr id="25642" name="Line 99"/>
            <p:cNvSpPr>
              <a:spLocks noChangeShapeType="1"/>
            </p:cNvSpPr>
            <p:nvPr/>
          </p:nvSpPr>
          <p:spPr bwMode="auto">
            <a:xfrm>
              <a:off x="98" y="1298"/>
              <a:ext cx="13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3" name="Rectangle 100"/>
            <p:cNvSpPr>
              <a:spLocks noChangeArrowheads="1"/>
            </p:cNvSpPr>
            <p:nvPr/>
          </p:nvSpPr>
          <p:spPr bwMode="auto">
            <a:xfrm>
              <a:off x="325" y="960"/>
              <a:ext cx="8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5644" name="Rectangle 101"/>
            <p:cNvSpPr>
              <a:spLocks noChangeArrowheads="1"/>
            </p:cNvSpPr>
            <p:nvPr/>
          </p:nvSpPr>
          <p:spPr bwMode="auto">
            <a:xfrm>
              <a:off x="412" y="1016"/>
              <a:ext cx="2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45" name="Rectangle 102"/>
            <p:cNvSpPr>
              <a:spLocks noChangeArrowheads="1"/>
            </p:cNvSpPr>
            <p:nvPr/>
          </p:nvSpPr>
          <p:spPr bwMode="auto">
            <a:xfrm>
              <a:off x="384" y="856"/>
              <a:ext cx="28"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5646" name="Line 103"/>
            <p:cNvSpPr>
              <a:spLocks noChangeShapeType="1"/>
            </p:cNvSpPr>
            <p:nvPr/>
          </p:nvSpPr>
          <p:spPr bwMode="auto">
            <a:xfrm>
              <a:off x="1226" y="1035"/>
              <a:ext cx="357"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7" name="Line 104"/>
            <p:cNvSpPr>
              <a:spLocks noChangeShapeType="1"/>
            </p:cNvSpPr>
            <p:nvPr/>
          </p:nvSpPr>
          <p:spPr bwMode="auto">
            <a:xfrm>
              <a:off x="1404" y="1035"/>
              <a:ext cx="1" cy="489"/>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48" name="Freeform 105"/>
            <p:cNvSpPr/>
            <p:nvPr/>
          </p:nvSpPr>
          <p:spPr bwMode="auto">
            <a:xfrm>
              <a:off x="1292" y="1167"/>
              <a:ext cx="225" cy="216"/>
            </a:xfrm>
            <a:custGeom>
              <a:avLst/>
              <a:gdLst>
                <a:gd name="T0" fmla="*/ 0 w 225"/>
                <a:gd name="T1" fmla="*/ 113 h 216"/>
                <a:gd name="T2" fmla="*/ 18 w 225"/>
                <a:gd name="T3" fmla="*/ 56 h 216"/>
                <a:gd name="T4" fmla="*/ 56 w 225"/>
                <a:gd name="T5" fmla="*/ 9 h 216"/>
                <a:gd name="T6" fmla="*/ 112 w 225"/>
                <a:gd name="T7" fmla="*/ 0 h 216"/>
                <a:gd name="T8" fmla="*/ 169 w 225"/>
                <a:gd name="T9" fmla="*/ 9 h 216"/>
                <a:gd name="T10" fmla="*/ 206 w 225"/>
                <a:gd name="T11" fmla="*/ 56 h 216"/>
                <a:gd name="T12" fmla="*/ 225 w 225"/>
                <a:gd name="T13" fmla="*/ 113 h 216"/>
                <a:gd name="T14" fmla="*/ 206 w 225"/>
                <a:gd name="T15" fmla="*/ 169 h 216"/>
                <a:gd name="T16" fmla="*/ 169 w 225"/>
                <a:gd name="T17" fmla="*/ 207 h 216"/>
                <a:gd name="T18" fmla="*/ 112 w 225"/>
                <a:gd name="T19" fmla="*/ 216 h 216"/>
                <a:gd name="T20" fmla="*/ 56 w 225"/>
                <a:gd name="T21" fmla="*/ 207 h 216"/>
                <a:gd name="T22" fmla="*/ 18 w 225"/>
                <a:gd name="T23" fmla="*/ 169 h 216"/>
                <a:gd name="T24" fmla="*/ 0 w 225"/>
                <a:gd name="T25" fmla="*/ 113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5"/>
                <a:gd name="T40" fmla="*/ 0 h 216"/>
                <a:gd name="T41" fmla="*/ 225 w 225"/>
                <a:gd name="T42" fmla="*/ 216 h 2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5" h="216">
                  <a:moveTo>
                    <a:pt x="0" y="113"/>
                  </a:moveTo>
                  <a:lnTo>
                    <a:pt x="18" y="56"/>
                  </a:lnTo>
                  <a:lnTo>
                    <a:pt x="56" y="9"/>
                  </a:lnTo>
                  <a:lnTo>
                    <a:pt x="112" y="0"/>
                  </a:lnTo>
                  <a:lnTo>
                    <a:pt x="169" y="9"/>
                  </a:lnTo>
                  <a:lnTo>
                    <a:pt x="206" y="56"/>
                  </a:lnTo>
                  <a:lnTo>
                    <a:pt x="225" y="113"/>
                  </a:lnTo>
                  <a:lnTo>
                    <a:pt x="206" y="169"/>
                  </a:lnTo>
                  <a:lnTo>
                    <a:pt x="169" y="207"/>
                  </a:lnTo>
                  <a:lnTo>
                    <a:pt x="112" y="216"/>
                  </a:lnTo>
                  <a:lnTo>
                    <a:pt x="56" y="207"/>
                  </a:lnTo>
                  <a:lnTo>
                    <a:pt x="18" y="169"/>
                  </a:lnTo>
                  <a:lnTo>
                    <a:pt x="0" y="113"/>
                  </a:lnTo>
                  <a:close/>
                </a:path>
              </a:pathLst>
            </a:custGeom>
            <a:solidFill>
              <a:srgbClr val="FFFFFF"/>
            </a:solidFill>
            <a:ln w="14288">
              <a:solidFill>
                <a:srgbClr val="000000"/>
              </a:solidFill>
              <a:round/>
            </a:ln>
          </p:spPr>
          <p:txBody>
            <a:bodyPr/>
            <a:lstStyle/>
            <a:p>
              <a:endParaRPr lang="zh-CN" altLang="en-US"/>
            </a:p>
          </p:txBody>
        </p:sp>
        <p:sp>
          <p:nvSpPr>
            <p:cNvPr id="25649" name="Line 106"/>
            <p:cNvSpPr>
              <a:spLocks noChangeShapeType="1"/>
            </p:cNvSpPr>
            <p:nvPr/>
          </p:nvSpPr>
          <p:spPr bwMode="auto">
            <a:xfrm>
              <a:off x="1292" y="1280"/>
              <a:ext cx="22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0" name="Freeform 107"/>
            <p:cNvSpPr/>
            <p:nvPr/>
          </p:nvSpPr>
          <p:spPr bwMode="auto">
            <a:xfrm>
              <a:off x="1386" y="1524"/>
              <a:ext cx="47" cy="38"/>
            </a:xfrm>
            <a:custGeom>
              <a:avLst/>
              <a:gdLst>
                <a:gd name="T0" fmla="*/ 0 w 47"/>
                <a:gd name="T1" fmla="*/ 19 h 38"/>
                <a:gd name="T2" fmla="*/ 9 w 47"/>
                <a:gd name="T3" fmla="*/ 0 h 38"/>
                <a:gd name="T4" fmla="*/ 28 w 47"/>
                <a:gd name="T5" fmla="*/ 0 h 38"/>
                <a:gd name="T6" fmla="*/ 47 w 47"/>
                <a:gd name="T7" fmla="*/ 19 h 38"/>
                <a:gd name="T8" fmla="*/ 28 w 47"/>
                <a:gd name="T9" fmla="*/ 38 h 38"/>
                <a:gd name="T10" fmla="*/ 9 w 47"/>
                <a:gd name="T11" fmla="*/ 38 h 38"/>
                <a:gd name="T12" fmla="*/ 0 w 47"/>
                <a:gd name="T13" fmla="*/ 19 h 38"/>
                <a:gd name="T14" fmla="*/ 0 60000 65536"/>
                <a:gd name="T15" fmla="*/ 0 60000 65536"/>
                <a:gd name="T16" fmla="*/ 0 60000 65536"/>
                <a:gd name="T17" fmla="*/ 0 60000 65536"/>
                <a:gd name="T18" fmla="*/ 0 60000 65536"/>
                <a:gd name="T19" fmla="*/ 0 60000 65536"/>
                <a:gd name="T20" fmla="*/ 0 60000 65536"/>
                <a:gd name="T21" fmla="*/ 0 w 47"/>
                <a:gd name="T22" fmla="*/ 0 h 38"/>
                <a:gd name="T23" fmla="*/ 47 w 47"/>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8">
                  <a:moveTo>
                    <a:pt x="0" y="19"/>
                  </a:moveTo>
                  <a:lnTo>
                    <a:pt x="9" y="0"/>
                  </a:lnTo>
                  <a:lnTo>
                    <a:pt x="28" y="0"/>
                  </a:lnTo>
                  <a:lnTo>
                    <a:pt x="47" y="19"/>
                  </a:lnTo>
                  <a:lnTo>
                    <a:pt x="28" y="38"/>
                  </a:lnTo>
                  <a:lnTo>
                    <a:pt x="9" y="38"/>
                  </a:lnTo>
                  <a:lnTo>
                    <a:pt x="0" y="19"/>
                  </a:lnTo>
                  <a:close/>
                </a:path>
              </a:pathLst>
            </a:custGeom>
            <a:solidFill>
              <a:srgbClr val="FFFFFF"/>
            </a:solidFill>
            <a:ln w="14288">
              <a:solidFill>
                <a:srgbClr val="000000"/>
              </a:solidFill>
              <a:round/>
            </a:ln>
          </p:spPr>
          <p:txBody>
            <a:bodyPr/>
            <a:lstStyle/>
            <a:p>
              <a:endParaRPr lang="zh-CN" altLang="en-US"/>
            </a:p>
          </p:txBody>
        </p:sp>
        <p:sp>
          <p:nvSpPr>
            <p:cNvPr id="25651" name="Line 108"/>
            <p:cNvSpPr>
              <a:spLocks noChangeShapeType="1"/>
            </p:cNvSpPr>
            <p:nvPr/>
          </p:nvSpPr>
          <p:spPr bwMode="auto">
            <a:xfrm>
              <a:off x="1583" y="1167"/>
              <a:ext cx="1" cy="179"/>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2" name="Freeform 109"/>
            <p:cNvSpPr/>
            <p:nvPr/>
          </p:nvSpPr>
          <p:spPr bwMode="auto">
            <a:xfrm>
              <a:off x="1564" y="1289"/>
              <a:ext cx="38" cy="113"/>
            </a:xfrm>
            <a:custGeom>
              <a:avLst/>
              <a:gdLst>
                <a:gd name="T0" fmla="*/ 38 w 38"/>
                <a:gd name="T1" fmla="*/ 0 h 113"/>
                <a:gd name="T2" fmla="*/ 19 w 38"/>
                <a:gd name="T3" fmla="*/ 19 h 113"/>
                <a:gd name="T4" fmla="*/ 0 w 38"/>
                <a:gd name="T5" fmla="*/ 0 h 113"/>
                <a:gd name="T6" fmla="*/ 19 w 38"/>
                <a:gd name="T7" fmla="*/ 113 h 113"/>
                <a:gd name="T8" fmla="*/ 38 w 38"/>
                <a:gd name="T9" fmla="*/ 0 h 113"/>
                <a:gd name="T10" fmla="*/ 0 60000 65536"/>
                <a:gd name="T11" fmla="*/ 0 60000 65536"/>
                <a:gd name="T12" fmla="*/ 0 60000 65536"/>
                <a:gd name="T13" fmla="*/ 0 60000 65536"/>
                <a:gd name="T14" fmla="*/ 0 60000 65536"/>
                <a:gd name="T15" fmla="*/ 0 w 38"/>
                <a:gd name="T16" fmla="*/ 0 h 113"/>
                <a:gd name="T17" fmla="*/ 38 w 38"/>
                <a:gd name="T18" fmla="*/ 113 h 113"/>
              </a:gdLst>
              <a:ahLst/>
              <a:cxnLst>
                <a:cxn ang="T10">
                  <a:pos x="T0" y="T1"/>
                </a:cxn>
                <a:cxn ang="T11">
                  <a:pos x="T2" y="T3"/>
                </a:cxn>
                <a:cxn ang="T12">
                  <a:pos x="T4" y="T5"/>
                </a:cxn>
                <a:cxn ang="T13">
                  <a:pos x="T6" y="T7"/>
                </a:cxn>
                <a:cxn ang="T14">
                  <a:pos x="T8" y="T9"/>
                </a:cxn>
              </a:cxnLst>
              <a:rect l="T15" t="T16" r="T17" b="T18"/>
              <a:pathLst>
                <a:path w="38" h="113">
                  <a:moveTo>
                    <a:pt x="38" y="0"/>
                  </a:moveTo>
                  <a:lnTo>
                    <a:pt x="19" y="19"/>
                  </a:lnTo>
                  <a:lnTo>
                    <a:pt x="0" y="0"/>
                  </a:lnTo>
                  <a:lnTo>
                    <a:pt x="19" y="113"/>
                  </a:lnTo>
                  <a:lnTo>
                    <a:pt x="38" y="0"/>
                  </a:lnTo>
                  <a:close/>
                </a:path>
              </a:pathLst>
            </a:custGeom>
            <a:solidFill>
              <a:srgbClr val="000000"/>
            </a:solidFill>
            <a:ln w="14288">
              <a:solidFill>
                <a:srgbClr val="000000"/>
              </a:solidFill>
              <a:round/>
            </a:ln>
          </p:spPr>
          <p:txBody>
            <a:bodyPr/>
            <a:lstStyle/>
            <a:p>
              <a:endParaRPr lang="zh-CN" altLang="en-US"/>
            </a:p>
          </p:txBody>
        </p:sp>
        <p:sp>
          <p:nvSpPr>
            <p:cNvPr id="25653" name="Rectangle 110"/>
            <p:cNvSpPr>
              <a:spLocks noChangeArrowheads="1"/>
            </p:cNvSpPr>
            <p:nvPr/>
          </p:nvSpPr>
          <p:spPr bwMode="auto">
            <a:xfrm>
              <a:off x="1209" y="1176"/>
              <a:ext cx="43"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5654" name="Rectangle 111"/>
            <p:cNvSpPr>
              <a:spLocks noChangeArrowheads="1"/>
            </p:cNvSpPr>
            <p:nvPr/>
          </p:nvSpPr>
          <p:spPr bwMode="auto">
            <a:xfrm>
              <a:off x="1247" y="1242"/>
              <a:ext cx="42"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5655" name="Line 112"/>
            <p:cNvSpPr>
              <a:spLocks noChangeShapeType="1"/>
            </p:cNvSpPr>
            <p:nvPr/>
          </p:nvSpPr>
          <p:spPr bwMode="auto">
            <a:xfrm>
              <a:off x="1761" y="678"/>
              <a:ext cx="1" cy="21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6" name="Line 113"/>
            <p:cNvSpPr>
              <a:spLocks noChangeShapeType="1"/>
            </p:cNvSpPr>
            <p:nvPr/>
          </p:nvSpPr>
          <p:spPr bwMode="auto">
            <a:xfrm flipH="1" flipV="1">
              <a:off x="1583" y="678"/>
              <a:ext cx="178" cy="6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7" name="Line 114"/>
            <p:cNvSpPr>
              <a:spLocks noChangeShapeType="1"/>
            </p:cNvSpPr>
            <p:nvPr/>
          </p:nvSpPr>
          <p:spPr bwMode="auto">
            <a:xfrm flipH="1">
              <a:off x="1583" y="828"/>
              <a:ext cx="178" cy="66"/>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8" name="Freeform 115"/>
            <p:cNvSpPr/>
            <p:nvPr/>
          </p:nvSpPr>
          <p:spPr bwMode="auto">
            <a:xfrm>
              <a:off x="1583" y="847"/>
              <a:ext cx="94" cy="56"/>
            </a:xfrm>
            <a:custGeom>
              <a:avLst/>
              <a:gdLst>
                <a:gd name="T0" fmla="*/ 94 w 94"/>
                <a:gd name="T1" fmla="*/ 38 h 56"/>
                <a:gd name="T2" fmla="*/ 75 w 94"/>
                <a:gd name="T3" fmla="*/ 28 h 56"/>
                <a:gd name="T4" fmla="*/ 85 w 94"/>
                <a:gd name="T5" fmla="*/ 0 h 56"/>
                <a:gd name="T6" fmla="*/ 0 w 94"/>
                <a:gd name="T7" fmla="*/ 56 h 56"/>
                <a:gd name="T8" fmla="*/ 94 w 94"/>
                <a:gd name="T9" fmla="*/ 38 h 56"/>
                <a:gd name="T10" fmla="*/ 0 60000 65536"/>
                <a:gd name="T11" fmla="*/ 0 60000 65536"/>
                <a:gd name="T12" fmla="*/ 0 60000 65536"/>
                <a:gd name="T13" fmla="*/ 0 60000 65536"/>
                <a:gd name="T14" fmla="*/ 0 60000 65536"/>
                <a:gd name="T15" fmla="*/ 0 w 94"/>
                <a:gd name="T16" fmla="*/ 0 h 56"/>
                <a:gd name="T17" fmla="*/ 94 w 94"/>
                <a:gd name="T18" fmla="*/ 56 h 56"/>
              </a:gdLst>
              <a:ahLst/>
              <a:cxnLst>
                <a:cxn ang="T10">
                  <a:pos x="T0" y="T1"/>
                </a:cxn>
                <a:cxn ang="T11">
                  <a:pos x="T2" y="T3"/>
                </a:cxn>
                <a:cxn ang="T12">
                  <a:pos x="T4" y="T5"/>
                </a:cxn>
                <a:cxn ang="T13">
                  <a:pos x="T6" y="T7"/>
                </a:cxn>
                <a:cxn ang="T14">
                  <a:pos x="T8" y="T9"/>
                </a:cxn>
              </a:cxnLst>
              <a:rect l="T15" t="T16" r="T17" b="T18"/>
              <a:pathLst>
                <a:path w="94" h="56">
                  <a:moveTo>
                    <a:pt x="94" y="38"/>
                  </a:moveTo>
                  <a:lnTo>
                    <a:pt x="75" y="28"/>
                  </a:lnTo>
                  <a:lnTo>
                    <a:pt x="85" y="0"/>
                  </a:lnTo>
                  <a:lnTo>
                    <a:pt x="0" y="56"/>
                  </a:lnTo>
                  <a:lnTo>
                    <a:pt x="94" y="38"/>
                  </a:lnTo>
                  <a:close/>
                </a:path>
              </a:pathLst>
            </a:custGeom>
            <a:solidFill>
              <a:srgbClr val="000000"/>
            </a:solidFill>
            <a:ln w="14288">
              <a:solidFill>
                <a:srgbClr val="000000"/>
              </a:solidFill>
              <a:round/>
            </a:ln>
          </p:spPr>
          <p:txBody>
            <a:bodyPr/>
            <a:lstStyle/>
            <a:p>
              <a:endParaRPr lang="zh-CN" altLang="en-US"/>
            </a:p>
          </p:txBody>
        </p:sp>
        <p:sp>
          <p:nvSpPr>
            <p:cNvPr id="25659" name="Line 116"/>
            <p:cNvSpPr>
              <a:spLocks noChangeShapeType="1"/>
            </p:cNvSpPr>
            <p:nvPr/>
          </p:nvSpPr>
          <p:spPr bwMode="auto">
            <a:xfrm>
              <a:off x="1583" y="414"/>
              <a:ext cx="1" cy="264"/>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0" name="Line 117"/>
            <p:cNvSpPr>
              <a:spLocks noChangeShapeType="1"/>
            </p:cNvSpPr>
            <p:nvPr/>
          </p:nvSpPr>
          <p:spPr bwMode="auto">
            <a:xfrm>
              <a:off x="1226" y="894"/>
              <a:ext cx="1" cy="14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1" name="Line 118"/>
            <p:cNvSpPr>
              <a:spLocks noChangeShapeType="1"/>
            </p:cNvSpPr>
            <p:nvPr/>
          </p:nvSpPr>
          <p:spPr bwMode="auto">
            <a:xfrm>
              <a:off x="1583" y="894"/>
              <a:ext cx="1" cy="14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2" name="Line 119"/>
            <p:cNvSpPr>
              <a:spLocks noChangeShapeType="1"/>
            </p:cNvSpPr>
            <p:nvPr/>
          </p:nvSpPr>
          <p:spPr bwMode="auto">
            <a:xfrm>
              <a:off x="1761" y="790"/>
              <a:ext cx="358"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3" name="Line 120"/>
            <p:cNvSpPr>
              <a:spLocks noChangeShapeType="1"/>
            </p:cNvSpPr>
            <p:nvPr/>
          </p:nvSpPr>
          <p:spPr bwMode="auto">
            <a:xfrm>
              <a:off x="2119" y="790"/>
              <a:ext cx="1" cy="50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4" name="Line 121"/>
            <p:cNvSpPr>
              <a:spLocks noChangeShapeType="1"/>
            </p:cNvSpPr>
            <p:nvPr/>
          </p:nvSpPr>
          <p:spPr bwMode="auto">
            <a:xfrm flipV="1">
              <a:off x="2119" y="941"/>
              <a:ext cx="1" cy="226"/>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5" name="Rectangle 122"/>
            <p:cNvSpPr>
              <a:spLocks noChangeArrowheads="1"/>
            </p:cNvSpPr>
            <p:nvPr/>
          </p:nvSpPr>
          <p:spPr bwMode="auto">
            <a:xfrm>
              <a:off x="2072" y="941"/>
              <a:ext cx="94" cy="226"/>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5666" name="Line 123"/>
            <p:cNvSpPr>
              <a:spLocks noChangeShapeType="1"/>
            </p:cNvSpPr>
            <p:nvPr/>
          </p:nvSpPr>
          <p:spPr bwMode="auto">
            <a:xfrm>
              <a:off x="2053" y="1298"/>
              <a:ext cx="131"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67" name="Rectangle 124"/>
            <p:cNvSpPr>
              <a:spLocks noChangeArrowheads="1"/>
            </p:cNvSpPr>
            <p:nvPr/>
          </p:nvSpPr>
          <p:spPr bwMode="auto">
            <a:xfrm>
              <a:off x="1204" y="715"/>
              <a:ext cx="8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V</a:t>
              </a:r>
              <a:endParaRPr lang="zh-CN" altLang="zh-CN" sz="2800">
                <a:latin typeface="Times New Roman" panose="02020603050405020304" pitchFamily="18" charset="0"/>
              </a:endParaRPr>
            </a:p>
          </p:txBody>
        </p:sp>
        <p:sp>
          <p:nvSpPr>
            <p:cNvPr id="25668" name="Rectangle 125"/>
            <p:cNvSpPr>
              <a:spLocks noChangeArrowheads="1"/>
            </p:cNvSpPr>
            <p:nvPr/>
          </p:nvSpPr>
          <p:spPr bwMode="auto">
            <a:xfrm>
              <a:off x="1284" y="772"/>
              <a:ext cx="4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669" name="Rectangle 126"/>
            <p:cNvSpPr>
              <a:spLocks noChangeArrowheads="1"/>
            </p:cNvSpPr>
            <p:nvPr/>
          </p:nvSpPr>
          <p:spPr bwMode="auto">
            <a:xfrm>
              <a:off x="1514" y="715"/>
              <a:ext cx="8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V</a:t>
              </a:r>
              <a:endParaRPr lang="zh-CN" altLang="zh-CN" sz="2800">
                <a:latin typeface="Times New Roman" panose="02020603050405020304" pitchFamily="18" charset="0"/>
              </a:endParaRPr>
            </a:p>
          </p:txBody>
        </p:sp>
        <p:sp>
          <p:nvSpPr>
            <p:cNvPr id="25670" name="Rectangle 127"/>
            <p:cNvSpPr>
              <a:spLocks noChangeArrowheads="1"/>
            </p:cNvSpPr>
            <p:nvPr/>
          </p:nvSpPr>
          <p:spPr bwMode="auto">
            <a:xfrm>
              <a:off x="1595" y="772"/>
              <a:ext cx="4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2</a:t>
              </a:r>
              <a:endParaRPr lang="zh-CN" altLang="zh-CN" sz="2800">
                <a:latin typeface="Times New Roman" panose="02020603050405020304" pitchFamily="18" charset="0"/>
              </a:endParaRPr>
            </a:p>
          </p:txBody>
        </p:sp>
        <p:sp>
          <p:nvSpPr>
            <p:cNvPr id="25671" name="Rectangle 128"/>
            <p:cNvSpPr>
              <a:spLocks noChangeArrowheads="1"/>
            </p:cNvSpPr>
            <p:nvPr/>
          </p:nvSpPr>
          <p:spPr bwMode="auto">
            <a:xfrm>
              <a:off x="2232" y="979"/>
              <a:ext cx="75" cy="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5672" name="Rectangle 129"/>
            <p:cNvSpPr>
              <a:spLocks noChangeArrowheads="1"/>
            </p:cNvSpPr>
            <p:nvPr/>
          </p:nvSpPr>
          <p:spPr bwMode="auto">
            <a:xfrm>
              <a:off x="2309" y="1035"/>
              <a:ext cx="41" cy="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100">
                  <a:solidFill>
                    <a:srgbClr val="000000"/>
                  </a:solidFill>
                  <a:latin typeface="Times New Roman" panose="02020603050405020304" pitchFamily="18" charset="0"/>
                </a:rPr>
                <a:t>1</a:t>
              </a:r>
              <a:endParaRPr lang="zh-CN" altLang="zh-CN" sz="2800">
                <a:latin typeface="Times New Roman" panose="02020603050405020304" pitchFamily="18" charset="0"/>
              </a:endParaRPr>
            </a:p>
          </p:txBody>
        </p:sp>
        <p:sp>
          <p:nvSpPr>
            <p:cNvPr id="25673" name="Freeform 130"/>
            <p:cNvSpPr/>
            <p:nvPr/>
          </p:nvSpPr>
          <p:spPr bwMode="auto">
            <a:xfrm>
              <a:off x="1395" y="1007"/>
              <a:ext cx="38" cy="47"/>
            </a:xfrm>
            <a:custGeom>
              <a:avLst/>
              <a:gdLst>
                <a:gd name="T0" fmla="*/ 0 w 38"/>
                <a:gd name="T1" fmla="*/ 28 h 47"/>
                <a:gd name="T2" fmla="*/ 9 w 38"/>
                <a:gd name="T3" fmla="*/ 0 h 47"/>
                <a:gd name="T4" fmla="*/ 28 w 38"/>
                <a:gd name="T5" fmla="*/ 0 h 47"/>
                <a:gd name="T6" fmla="*/ 38 w 38"/>
                <a:gd name="T7" fmla="*/ 28 h 47"/>
                <a:gd name="T8" fmla="*/ 28 w 38"/>
                <a:gd name="T9" fmla="*/ 47 h 47"/>
                <a:gd name="T10" fmla="*/ 9 w 38"/>
                <a:gd name="T11" fmla="*/ 47 h 47"/>
                <a:gd name="T12" fmla="*/ 0 w 38"/>
                <a:gd name="T13" fmla="*/ 28 h 47"/>
                <a:gd name="T14" fmla="*/ 0 60000 65536"/>
                <a:gd name="T15" fmla="*/ 0 60000 65536"/>
                <a:gd name="T16" fmla="*/ 0 60000 65536"/>
                <a:gd name="T17" fmla="*/ 0 60000 65536"/>
                <a:gd name="T18" fmla="*/ 0 60000 65536"/>
                <a:gd name="T19" fmla="*/ 0 60000 65536"/>
                <a:gd name="T20" fmla="*/ 0 60000 65536"/>
                <a:gd name="T21" fmla="*/ 0 w 38"/>
                <a:gd name="T22" fmla="*/ 0 h 47"/>
                <a:gd name="T23" fmla="*/ 38 w 38"/>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47">
                  <a:moveTo>
                    <a:pt x="0" y="28"/>
                  </a:moveTo>
                  <a:lnTo>
                    <a:pt x="9" y="0"/>
                  </a:lnTo>
                  <a:lnTo>
                    <a:pt x="28" y="0"/>
                  </a:lnTo>
                  <a:lnTo>
                    <a:pt x="38" y="28"/>
                  </a:lnTo>
                  <a:lnTo>
                    <a:pt x="28" y="47"/>
                  </a:lnTo>
                  <a:lnTo>
                    <a:pt x="9" y="47"/>
                  </a:lnTo>
                  <a:lnTo>
                    <a:pt x="0" y="28"/>
                  </a:lnTo>
                  <a:close/>
                </a:path>
              </a:pathLst>
            </a:custGeom>
            <a:solidFill>
              <a:srgbClr val="000000"/>
            </a:solidFill>
            <a:ln w="14288">
              <a:solidFill>
                <a:srgbClr val="000000"/>
              </a:solidFill>
              <a:round/>
            </a:ln>
          </p:spPr>
          <p:txBody>
            <a:bodyPr/>
            <a:lstStyle/>
            <a:p>
              <a:endParaRPr lang="zh-CN" altLang="en-US"/>
            </a:p>
          </p:txBody>
        </p:sp>
      </p:grpSp>
      <p:sp>
        <p:nvSpPr>
          <p:cNvPr id="25731" name="Rectangle 131"/>
          <p:cNvSpPr>
            <a:spLocks noChangeArrowheads="1"/>
          </p:cNvSpPr>
          <p:nvPr/>
        </p:nvSpPr>
        <p:spPr bwMode="auto">
          <a:xfrm>
            <a:off x="6618288" y="1649413"/>
            <a:ext cx="155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串联反馈</a:t>
            </a:r>
            <a:endParaRPr lang="zh-CN" altLang="zh-CN" sz="2400">
              <a:latin typeface="Times New Roman" panose="02020603050405020304" pitchFamily="18" charset="0"/>
            </a:endParaRPr>
          </a:p>
        </p:txBody>
      </p:sp>
      <p:sp>
        <p:nvSpPr>
          <p:cNvPr id="25732" name="Rectangle 132"/>
          <p:cNvSpPr>
            <a:spLocks noChangeArrowheads="1"/>
          </p:cNvSpPr>
          <p:nvPr/>
        </p:nvSpPr>
        <p:spPr bwMode="auto">
          <a:xfrm>
            <a:off x="6646863" y="4125913"/>
            <a:ext cx="1528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并联反馈</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85DB6A0-9F05-498A-99DB-15A45BFF5425}" type="slidenum">
              <a:rPr lang="zh-CN" altLang="zh-CN" sz="1400" smtClean="0"/>
            </a:fld>
            <a:endParaRPr lang="zh-CN" altLang="zh-CN" sz="1400" smtClean="0"/>
          </a:p>
        </p:txBody>
      </p:sp>
      <p:grpSp>
        <p:nvGrpSpPr>
          <p:cNvPr id="26627" name="Group 2"/>
          <p:cNvGrpSpPr/>
          <p:nvPr/>
        </p:nvGrpSpPr>
        <p:grpSpPr bwMode="auto">
          <a:xfrm>
            <a:off x="500063" y="1112838"/>
            <a:ext cx="3906837" cy="1516062"/>
            <a:chOff x="0" y="0"/>
            <a:chExt cx="2461" cy="955"/>
          </a:xfrm>
        </p:grpSpPr>
        <p:sp>
          <p:nvSpPr>
            <p:cNvPr id="26793" name="Rectangle 3"/>
            <p:cNvSpPr>
              <a:spLocks noChangeArrowheads="1"/>
            </p:cNvSpPr>
            <p:nvPr/>
          </p:nvSpPr>
          <p:spPr bwMode="auto">
            <a:xfrm>
              <a:off x="0" y="17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794" name="Rectangle 4"/>
            <p:cNvSpPr>
              <a:spLocks noChangeArrowheads="1"/>
            </p:cNvSpPr>
            <p:nvPr/>
          </p:nvSpPr>
          <p:spPr bwMode="auto">
            <a:xfrm>
              <a:off x="76" y="237"/>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95" name="Rectangle 5"/>
            <p:cNvSpPr>
              <a:spLocks noChangeArrowheads="1"/>
            </p:cNvSpPr>
            <p:nvPr/>
          </p:nvSpPr>
          <p:spPr bwMode="auto">
            <a:xfrm>
              <a:off x="52" y="85"/>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96" name="Line 6"/>
            <p:cNvSpPr>
              <a:spLocks noChangeShapeType="1"/>
            </p:cNvSpPr>
            <p:nvPr/>
          </p:nvSpPr>
          <p:spPr bwMode="auto">
            <a:xfrm>
              <a:off x="16" y="76"/>
              <a:ext cx="84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97" name="Rectangle 7"/>
            <p:cNvSpPr>
              <a:spLocks noChangeArrowheads="1"/>
            </p:cNvSpPr>
            <p:nvPr/>
          </p:nvSpPr>
          <p:spPr bwMode="auto">
            <a:xfrm>
              <a:off x="860" y="0"/>
              <a:ext cx="868" cy="473"/>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798" name="Line 8"/>
            <p:cNvSpPr>
              <a:spLocks noChangeShapeType="1"/>
            </p:cNvSpPr>
            <p:nvPr/>
          </p:nvSpPr>
          <p:spPr bwMode="auto">
            <a:xfrm>
              <a:off x="539" y="397"/>
              <a:ext cx="32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99" name="Line 9"/>
            <p:cNvSpPr>
              <a:spLocks noChangeShapeType="1"/>
            </p:cNvSpPr>
            <p:nvPr/>
          </p:nvSpPr>
          <p:spPr bwMode="auto">
            <a:xfrm>
              <a:off x="1728" y="76"/>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00" name="Line 10"/>
            <p:cNvSpPr>
              <a:spLocks noChangeShapeType="1"/>
            </p:cNvSpPr>
            <p:nvPr/>
          </p:nvSpPr>
          <p:spPr bwMode="auto">
            <a:xfrm>
              <a:off x="1728" y="397"/>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01" name="Line 11"/>
            <p:cNvSpPr>
              <a:spLocks noChangeShapeType="1"/>
            </p:cNvSpPr>
            <p:nvPr/>
          </p:nvSpPr>
          <p:spPr bwMode="auto">
            <a:xfrm>
              <a:off x="1096" y="136"/>
              <a:ext cx="320"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02" name="Freeform 12"/>
            <p:cNvSpPr/>
            <p:nvPr/>
          </p:nvSpPr>
          <p:spPr bwMode="auto">
            <a:xfrm>
              <a:off x="1306" y="119"/>
              <a:ext cx="110" cy="42"/>
            </a:xfrm>
            <a:custGeom>
              <a:avLst/>
              <a:gdLst>
                <a:gd name="T0" fmla="*/ 0 w 110"/>
                <a:gd name="T1" fmla="*/ 0 h 42"/>
                <a:gd name="T2" fmla="*/ 26 w 110"/>
                <a:gd name="T3" fmla="*/ 17 h 42"/>
                <a:gd name="T4" fmla="*/ 0 w 110"/>
                <a:gd name="T5" fmla="*/ 42 h 42"/>
                <a:gd name="T6" fmla="*/ 110 w 110"/>
                <a:gd name="T7" fmla="*/ 17 h 42"/>
                <a:gd name="T8" fmla="*/ 0 w 110"/>
                <a:gd name="T9" fmla="*/ 0 h 42"/>
                <a:gd name="T10" fmla="*/ 0 60000 65536"/>
                <a:gd name="T11" fmla="*/ 0 60000 65536"/>
                <a:gd name="T12" fmla="*/ 0 60000 65536"/>
                <a:gd name="T13" fmla="*/ 0 60000 65536"/>
                <a:gd name="T14" fmla="*/ 0 60000 65536"/>
                <a:gd name="T15" fmla="*/ 0 w 110"/>
                <a:gd name="T16" fmla="*/ 0 h 42"/>
                <a:gd name="T17" fmla="*/ 110 w 110"/>
                <a:gd name="T18" fmla="*/ 42 h 42"/>
              </a:gdLst>
              <a:ahLst/>
              <a:cxnLst>
                <a:cxn ang="T10">
                  <a:pos x="T0" y="T1"/>
                </a:cxn>
                <a:cxn ang="T11">
                  <a:pos x="T2" y="T3"/>
                </a:cxn>
                <a:cxn ang="T12">
                  <a:pos x="T4" y="T5"/>
                </a:cxn>
                <a:cxn ang="T13">
                  <a:pos x="T6" y="T7"/>
                </a:cxn>
                <a:cxn ang="T14">
                  <a:pos x="T8" y="T9"/>
                </a:cxn>
              </a:cxnLst>
              <a:rect l="T15" t="T16" r="T17" b="T18"/>
              <a:pathLst>
                <a:path w="110" h="42">
                  <a:moveTo>
                    <a:pt x="0" y="0"/>
                  </a:moveTo>
                  <a:lnTo>
                    <a:pt x="26" y="17"/>
                  </a:lnTo>
                  <a:lnTo>
                    <a:pt x="0" y="42"/>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6803" name="Rectangle 13"/>
            <p:cNvSpPr>
              <a:spLocks noChangeArrowheads="1"/>
            </p:cNvSpPr>
            <p:nvPr/>
          </p:nvSpPr>
          <p:spPr bwMode="auto">
            <a:xfrm>
              <a:off x="1240" y="187"/>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26804" name="Line 14"/>
            <p:cNvSpPr>
              <a:spLocks noChangeShapeType="1"/>
            </p:cNvSpPr>
            <p:nvPr/>
          </p:nvSpPr>
          <p:spPr bwMode="auto">
            <a:xfrm>
              <a:off x="1138" y="735"/>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05" name="Freeform 15"/>
            <p:cNvSpPr/>
            <p:nvPr/>
          </p:nvSpPr>
          <p:spPr bwMode="auto">
            <a:xfrm>
              <a:off x="1138" y="718"/>
              <a:ext cx="101" cy="42"/>
            </a:xfrm>
            <a:custGeom>
              <a:avLst/>
              <a:gdLst>
                <a:gd name="T0" fmla="*/ 101 w 101"/>
                <a:gd name="T1" fmla="*/ 0 h 42"/>
                <a:gd name="T2" fmla="*/ 84 w 101"/>
                <a:gd name="T3" fmla="*/ 17 h 42"/>
                <a:gd name="T4" fmla="*/ 101 w 101"/>
                <a:gd name="T5" fmla="*/ 42 h 42"/>
                <a:gd name="T6" fmla="*/ 0 w 101"/>
                <a:gd name="T7" fmla="*/ 17 h 42"/>
                <a:gd name="T8" fmla="*/ 101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101" y="0"/>
                  </a:moveTo>
                  <a:lnTo>
                    <a:pt x="84" y="17"/>
                  </a:lnTo>
                  <a:lnTo>
                    <a:pt x="101" y="42"/>
                  </a:lnTo>
                  <a:lnTo>
                    <a:pt x="0" y="17"/>
                  </a:lnTo>
                  <a:lnTo>
                    <a:pt x="101" y="0"/>
                  </a:lnTo>
                  <a:close/>
                </a:path>
              </a:pathLst>
            </a:custGeom>
            <a:solidFill>
              <a:srgbClr val="000000"/>
            </a:solidFill>
            <a:ln w="12700">
              <a:solidFill>
                <a:srgbClr val="000000"/>
              </a:solidFill>
              <a:round/>
            </a:ln>
          </p:spPr>
          <p:txBody>
            <a:bodyPr/>
            <a:lstStyle/>
            <a:p>
              <a:endParaRPr lang="zh-CN" altLang="en-US"/>
            </a:p>
          </p:txBody>
        </p:sp>
        <p:sp>
          <p:nvSpPr>
            <p:cNvPr id="26806" name="Rectangle 16"/>
            <p:cNvSpPr>
              <a:spLocks noChangeArrowheads="1"/>
            </p:cNvSpPr>
            <p:nvPr/>
          </p:nvSpPr>
          <p:spPr bwMode="auto">
            <a:xfrm>
              <a:off x="1274" y="735"/>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807" name="Rectangle 17"/>
            <p:cNvSpPr>
              <a:spLocks noChangeArrowheads="1"/>
            </p:cNvSpPr>
            <p:nvPr/>
          </p:nvSpPr>
          <p:spPr bwMode="auto">
            <a:xfrm>
              <a:off x="978" y="634"/>
              <a:ext cx="632" cy="32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808" name="Line 18"/>
            <p:cNvSpPr>
              <a:spLocks noChangeShapeType="1"/>
            </p:cNvSpPr>
            <p:nvPr/>
          </p:nvSpPr>
          <p:spPr bwMode="auto">
            <a:xfrm>
              <a:off x="1610" y="718"/>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09" name="Line 19"/>
            <p:cNvSpPr>
              <a:spLocks noChangeShapeType="1"/>
            </p:cNvSpPr>
            <p:nvPr/>
          </p:nvSpPr>
          <p:spPr bwMode="auto">
            <a:xfrm>
              <a:off x="1610" y="879"/>
              <a:ext cx="52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10" name="Line 20"/>
            <p:cNvSpPr>
              <a:spLocks noChangeShapeType="1"/>
            </p:cNvSpPr>
            <p:nvPr/>
          </p:nvSpPr>
          <p:spPr bwMode="auto">
            <a:xfrm>
              <a:off x="1888" y="76"/>
              <a:ext cx="1" cy="64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11" name="Freeform 21"/>
            <p:cNvSpPr/>
            <p:nvPr/>
          </p:nvSpPr>
          <p:spPr bwMode="auto">
            <a:xfrm>
              <a:off x="1872" y="60"/>
              <a:ext cx="42" cy="33"/>
            </a:xfrm>
            <a:custGeom>
              <a:avLst/>
              <a:gdLst>
                <a:gd name="T0" fmla="*/ 0 w 42"/>
                <a:gd name="T1" fmla="*/ 16 h 33"/>
                <a:gd name="T2" fmla="*/ 8 w 42"/>
                <a:gd name="T3" fmla="*/ 0 h 33"/>
                <a:gd name="T4" fmla="*/ 33 w 42"/>
                <a:gd name="T5" fmla="*/ 0 h 33"/>
                <a:gd name="T6" fmla="*/ 42 w 42"/>
                <a:gd name="T7" fmla="*/ 16 h 33"/>
                <a:gd name="T8" fmla="*/ 33 w 42"/>
                <a:gd name="T9" fmla="*/ 33 h 33"/>
                <a:gd name="T10" fmla="*/ 8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8" y="0"/>
                  </a:lnTo>
                  <a:lnTo>
                    <a:pt x="33" y="0"/>
                  </a:lnTo>
                  <a:lnTo>
                    <a:pt x="42" y="16"/>
                  </a:lnTo>
                  <a:lnTo>
                    <a:pt x="33" y="33"/>
                  </a:lnTo>
                  <a:lnTo>
                    <a:pt x="8" y="33"/>
                  </a:lnTo>
                  <a:lnTo>
                    <a:pt x="0" y="16"/>
                  </a:lnTo>
                  <a:close/>
                </a:path>
              </a:pathLst>
            </a:custGeom>
            <a:solidFill>
              <a:srgbClr val="000000"/>
            </a:solidFill>
            <a:ln w="12700">
              <a:solidFill>
                <a:srgbClr val="000000"/>
              </a:solidFill>
              <a:round/>
            </a:ln>
          </p:spPr>
          <p:txBody>
            <a:bodyPr/>
            <a:lstStyle/>
            <a:p>
              <a:endParaRPr lang="zh-CN" altLang="en-US"/>
            </a:p>
          </p:txBody>
        </p:sp>
        <p:sp>
          <p:nvSpPr>
            <p:cNvPr id="26812" name="Line 22"/>
            <p:cNvSpPr>
              <a:spLocks noChangeShapeType="1"/>
            </p:cNvSpPr>
            <p:nvPr/>
          </p:nvSpPr>
          <p:spPr bwMode="auto">
            <a:xfrm>
              <a:off x="2133"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13" name="Freeform 23"/>
            <p:cNvSpPr/>
            <p:nvPr/>
          </p:nvSpPr>
          <p:spPr bwMode="auto">
            <a:xfrm>
              <a:off x="2108" y="380"/>
              <a:ext cx="42" cy="34"/>
            </a:xfrm>
            <a:custGeom>
              <a:avLst/>
              <a:gdLst>
                <a:gd name="T0" fmla="*/ 0 w 42"/>
                <a:gd name="T1" fmla="*/ 17 h 34"/>
                <a:gd name="T2" fmla="*/ 17 w 42"/>
                <a:gd name="T3" fmla="*/ 0 h 34"/>
                <a:gd name="T4" fmla="*/ 33 w 42"/>
                <a:gd name="T5" fmla="*/ 0 h 34"/>
                <a:gd name="T6" fmla="*/ 42 w 42"/>
                <a:gd name="T7" fmla="*/ 17 h 34"/>
                <a:gd name="T8" fmla="*/ 33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3" y="0"/>
                  </a:lnTo>
                  <a:lnTo>
                    <a:pt x="42" y="17"/>
                  </a:lnTo>
                  <a:lnTo>
                    <a:pt x="33" y="34"/>
                  </a:lnTo>
                  <a:lnTo>
                    <a:pt x="17" y="34"/>
                  </a:lnTo>
                  <a:lnTo>
                    <a:pt x="0" y="17"/>
                  </a:lnTo>
                  <a:close/>
                </a:path>
              </a:pathLst>
            </a:custGeom>
            <a:solidFill>
              <a:srgbClr val="000000"/>
            </a:solidFill>
            <a:ln w="12700">
              <a:solidFill>
                <a:srgbClr val="000000"/>
              </a:solidFill>
              <a:round/>
            </a:ln>
          </p:spPr>
          <p:txBody>
            <a:bodyPr/>
            <a:lstStyle/>
            <a:p>
              <a:endParaRPr lang="zh-CN" altLang="en-US"/>
            </a:p>
          </p:txBody>
        </p:sp>
        <p:sp>
          <p:nvSpPr>
            <p:cNvPr id="26814" name="Freeform 24"/>
            <p:cNvSpPr/>
            <p:nvPr/>
          </p:nvSpPr>
          <p:spPr bwMode="auto">
            <a:xfrm>
              <a:off x="2369" y="60"/>
              <a:ext cx="42" cy="33"/>
            </a:xfrm>
            <a:custGeom>
              <a:avLst/>
              <a:gdLst>
                <a:gd name="T0" fmla="*/ 0 w 42"/>
                <a:gd name="T1" fmla="*/ 16 h 33"/>
                <a:gd name="T2" fmla="*/ 9 w 42"/>
                <a:gd name="T3" fmla="*/ 0 h 33"/>
                <a:gd name="T4" fmla="*/ 34 w 42"/>
                <a:gd name="T5" fmla="*/ 0 h 33"/>
                <a:gd name="T6" fmla="*/ 42 w 42"/>
                <a:gd name="T7" fmla="*/ 16 h 33"/>
                <a:gd name="T8" fmla="*/ 34 w 42"/>
                <a:gd name="T9" fmla="*/ 33 h 33"/>
                <a:gd name="T10" fmla="*/ 9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9" y="0"/>
                  </a:lnTo>
                  <a:lnTo>
                    <a:pt x="34" y="0"/>
                  </a:lnTo>
                  <a:lnTo>
                    <a:pt x="42" y="16"/>
                  </a:lnTo>
                  <a:lnTo>
                    <a:pt x="34" y="33"/>
                  </a:lnTo>
                  <a:lnTo>
                    <a:pt x="9" y="33"/>
                  </a:lnTo>
                  <a:lnTo>
                    <a:pt x="0" y="16"/>
                  </a:lnTo>
                  <a:close/>
                </a:path>
              </a:pathLst>
            </a:custGeom>
            <a:solidFill>
              <a:srgbClr val="FFFFFF"/>
            </a:solidFill>
            <a:ln w="12700">
              <a:solidFill>
                <a:srgbClr val="000000"/>
              </a:solidFill>
              <a:round/>
            </a:ln>
          </p:spPr>
          <p:txBody>
            <a:bodyPr/>
            <a:lstStyle/>
            <a:p>
              <a:endParaRPr lang="zh-CN" altLang="en-US"/>
            </a:p>
          </p:txBody>
        </p:sp>
        <p:sp>
          <p:nvSpPr>
            <p:cNvPr id="26815" name="Freeform 25"/>
            <p:cNvSpPr/>
            <p:nvPr/>
          </p:nvSpPr>
          <p:spPr bwMode="auto">
            <a:xfrm>
              <a:off x="2369" y="380"/>
              <a:ext cx="42" cy="34"/>
            </a:xfrm>
            <a:custGeom>
              <a:avLst/>
              <a:gdLst>
                <a:gd name="T0" fmla="*/ 0 w 42"/>
                <a:gd name="T1" fmla="*/ 17 h 34"/>
                <a:gd name="T2" fmla="*/ 9 w 42"/>
                <a:gd name="T3" fmla="*/ 0 h 34"/>
                <a:gd name="T4" fmla="*/ 34 w 42"/>
                <a:gd name="T5" fmla="*/ 0 h 34"/>
                <a:gd name="T6" fmla="*/ 42 w 42"/>
                <a:gd name="T7" fmla="*/ 17 h 34"/>
                <a:gd name="T8" fmla="*/ 34 w 42"/>
                <a:gd name="T9" fmla="*/ 34 h 34"/>
                <a:gd name="T10" fmla="*/ 9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9" y="0"/>
                  </a:lnTo>
                  <a:lnTo>
                    <a:pt x="34" y="0"/>
                  </a:lnTo>
                  <a:lnTo>
                    <a:pt x="42" y="17"/>
                  </a:lnTo>
                  <a:lnTo>
                    <a:pt x="34" y="34"/>
                  </a:lnTo>
                  <a:lnTo>
                    <a:pt x="9" y="34"/>
                  </a:lnTo>
                  <a:lnTo>
                    <a:pt x="0" y="17"/>
                  </a:lnTo>
                  <a:close/>
                </a:path>
              </a:pathLst>
            </a:custGeom>
            <a:solidFill>
              <a:srgbClr val="FFFFFF"/>
            </a:solidFill>
            <a:ln w="12700">
              <a:solidFill>
                <a:srgbClr val="000000"/>
              </a:solidFill>
              <a:round/>
            </a:ln>
          </p:spPr>
          <p:txBody>
            <a:bodyPr/>
            <a:lstStyle/>
            <a:p>
              <a:endParaRPr lang="zh-CN" altLang="en-US"/>
            </a:p>
          </p:txBody>
        </p:sp>
        <p:sp>
          <p:nvSpPr>
            <p:cNvPr id="26816" name="Rectangle 26"/>
            <p:cNvSpPr>
              <a:spLocks noChangeArrowheads="1"/>
            </p:cNvSpPr>
            <p:nvPr/>
          </p:nvSpPr>
          <p:spPr bwMode="auto">
            <a:xfrm>
              <a:off x="2345" y="17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817" name="Rectangle 27"/>
            <p:cNvSpPr>
              <a:spLocks noChangeArrowheads="1"/>
            </p:cNvSpPr>
            <p:nvPr/>
          </p:nvSpPr>
          <p:spPr bwMode="auto">
            <a:xfrm>
              <a:off x="2421" y="229"/>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818" name="Rectangle 28"/>
            <p:cNvSpPr>
              <a:spLocks noChangeArrowheads="1"/>
            </p:cNvSpPr>
            <p:nvPr/>
          </p:nvSpPr>
          <p:spPr bwMode="auto">
            <a:xfrm>
              <a:off x="2388" y="68"/>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19" name="Freeform 29"/>
            <p:cNvSpPr/>
            <p:nvPr/>
          </p:nvSpPr>
          <p:spPr bwMode="auto">
            <a:xfrm>
              <a:off x="16" y="60"/>
              <a:ext cx="42" cy="33"/>
            </a:xfrm>
            <a:custGeom>
              <a:avLst/>
              <a:gdLst>
                <a:gd name="T0" fmla="*/ 0 w 42"/>
                <a:gd name="T1" fmla="*/ 16 h 33"/>
                <a:gd name="T2" fmla="*/ 17 w 42"/>
                <a:gd name="T3" fmla="*/ 0 h 33"/>
                <a:gd name="T4" fmla="*/ 34 w 42"/>
                <a:gd name="T5" fmla="*/ 0 h 33"/>
                <a:gd name="T6" fmla="*/ 42 w 42"/>
                <a:gd name="T7" fmla="*/ 16 h 33"/>
                <a:gd name="T8" fmla="*/ 34 w 42"/>
                <a:gd name="T9" fmla="*/ 33 h 33"/>
                <a:gd name="T10" fmla="*/ 17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17" y="0"/>
                  </a:lnTo>
                  <a:lnTo>
                    <a:pt x="34" y="0"/>
                  </a:lnTo>
                  <a:lnTo>
                    <a:pt x="42" y="16"/>
                  </a:lnTo>
                  <a:lnTo>
                    <a:pt x="34" y="33"/>
                  </a:lnTo>
                  <a:lnTo>
                    <a:pt x="17" y="33"/>
                  </a:lnTo>
                  <a:lnTo>
                    <a:pt x="0" y="16"/>
                  </a:lnTo>
                  <a:close/>
                </a:path>
              </a:pathLst>
            </a:custGeom>
            <a:solidFill>
              <a:srgbClr val="FFFFFF"/>
            </a:solidFill>
            <a:ln w="12700">
              <a:solidFill>
                <a:srgbClr val="000000"/>
              </a:solidFill>
              <a:round/>
            </a:ln>
          </p:spPr>
          <p:txBody>
            <a:bodyPr/>
            <a:lstStyle/>
            <a:p>
              <a:endParaRPr lang="zh-CN" altLang="en-US"/>
            </a:p>
          </p:txBody>
        </p:sp>
        <p:sp>
          <p:nvSpPr>
            <p:cNvPr id="26820" name="Line 30"/>
            <p:cNvSpPr>
              <a:spLocks noChangeShapeType="1"/>
            </p:cNvSpPr>
            <p:nvPr/>
          </p:nvSpPr>
          <p:spPr bwMode="auto">
            <a:xfrm>
              <a:off x="16" y="397"/>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21" name="Line 31"/>
            <p:cNvSpPr>
              <a:spLocks noChangeShapeType="1"/>
            </p:cNvSpPr>
            <p:nvPr/>
          </p:nvSpPr>
          <p:spPr bwMode="auto">
            <a:xfrm>
              <a:off x="539" y="718"/>
              <a:ext cx="43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22" name="Line 32"/>
            <p:cNvSpPr>
              <a:spLocks noChangeShapeType="1"/>
            </p:cNvSpPr>
            <p:nvPr/>
          </p:nvSpPr>
          <p:spPr bwMode="auto">
            <a:xfrm>
              <a:off x="539" y="397"/>
              <a:ext cx="1" cy="3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23" name="Line 33"/>
            <p:cNvSpPr>
              <a:spLocks noChangeShapeType="1"/>
            </p:cNvSpPr>
            <p:nvPr/>
          </p:nvSpPr>
          <p:spPr bwMode="auto">
            <a:xfrm>
              <a:off x="294" y="879"/>
              <a:ext cx="68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24" name="Line 34"/>
            <p:cNvSpPr>
              <a:spLocks noChangeShapeType="1"/>
            </p:cNvSpPr>
            <p:nvPr/>
          </p:nvSpPr>
          <p:spPr bwMode="auto">
            <a:xfrm>
              <a:off x="294"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825" name="Freeform 35"/>
            <p:cNvSpPr/>
            <p:nvPr/>
          </p:nvSpPr>
          <p:spPr bwMode="auto">
            <a:xfrm>
              <a:off x="16" y="380"/>
              <a:ext cx="42" cy="34"/>
            </a:xfrm>
            <a:custGeom>
              <a:avLst/>
              <a:gdLst>
                <a:gd name="T0" fmla="*/ 0 w 42"/>
                <a:gd name="T1" fmla="*/ 17 h 34"/>
                <a:gd name="T2" fmla="*/ 17 w 42"/>
                <a:gd name="T3" fmla="*/ 0 h 34"/>
                <a:gd name="T4" fmla="*/ 34 w 42"/>
                <a:gd name="T5" fmla="*/ 0 h 34"/>
                <a:gd name="T6" fmla="*/ 42 w 42"/>
                <a:gd name="T7" fmla="*/ 17 h 34"/>
                <a:gd name="T8" fmla="*/ 34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4" y="0"/>
                  </a:lnTo>
                  <a:lnTo>
                    <a:pt x="42" y="17"/>
                  </a:lnTo>
                  <a:lnTo>
                    <a:pt x="34" y="34"/>
                  </a:lnTo>
                  <a:lnTo>
                    <a:pt x="17" y="34"/>
                  </a:lnTo>
                  <a:lnTo>
                    <a:pt x="0" y="17"/>
                  </a:lnTo>
                  <a:close/>
                </a:path>
              </a:pathLst>
            </a:custGeom>
            <a:solidFill>
              <a:srgbClr val="FFFFFF"/>
            </a:solidFill>
            <a:ln w="12700">
              <a:solidFill>
                <a:srgbClr val="000000"/>
              </a:solidFill>
              <a:round/>
            </a:ln>
          </p:spPr>
          <p:txBody>
            <a:bodyPr/>
            <a:lstStyle/>
            <a:p>
              <a:endParaRPr lang="zh-CN" altLang="en-US"/>
            </a:p>
          </p:txBody>
        </p:sp>
        <p:sp>
          <p:nvSpPr>
            <p:cNvPr id="26826" name="Rectangle 36"/>
            <p:cNvSpPr>
              <a:spLocks noChangeArrowheads="1"/>
            </p:cNvSpPr>
            <p:nvPr/>
          </p:nvSpPr>
          <p:spPr bwMode="auto">
            <a:xfrm>
              <a:off x="61" y="85"/>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27" name="Rectangle 37"/>
            <p:cNvSpPr>
              <a:spLocks noChangeArrowheads="1"/>
            </p:cNvSpPr>
            <p:nvPr/>
          </p:nvSpPr>
          <p:spPr bwMode="auto">
            <a:xfrm>
              <a:off x="61" y="28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28" name="Rectangle 38"/>
            <p:cNvSpPr>
              <a:spLocks noChangeArrowheads="1"/>
            </p:cNvSpPr>
            <p:nvPr/>
          </p:nvSpPr>
          <p:spPr bwMode="auto">
            <a:xfrm>
              <a:off x="146"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29" name="Rectangle 39"/>
            <p:cNvSpPr>
              <a:spLocks noChangeArrowheads="1"/>
            </p:cNvSpPr>
            <p:nvPr/>
          </p:nvSpPr>
          <p:spPr bwMode="auto">
            <a:xfrm>
              <a:off x="559"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30" name="Rectangle 40"/>
            <p:cNvSpPr>
              <a:spLocks noChangeArrowheads="1"/>
            </p:cNvSpPr>
            <p:nvPr/>
          </p:nvSpPr>
          <p:spPr bwMode="auto">
            <a:xfrm>
              <a:off x="388" y="42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831" name="Rectangle 41"/>
            <p:cNvSpPr>
              <a:spLocks noChangeArrowheads="1"/>
            </p:cNvSpPr>
            <p:nvPr/>
          </p:nvSpPr>
          <p:spPr bwMode="auto">
            <a:xfrm>
              <a:off x="458" y="474"/>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832" name="Rectangle 42"/>
            <p:cNvSpPr>
              <a:spLocks noChangeArrowheads="1"/>
            </p:cNvSpPr>
            <p:nvPr/>
          </p:nvSpPr>
          <p:spPr bwMode="auto">
            <a:xfrm>
              <a:off x="432" y="322"/>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33" name="Rectangle 43"/>
            <p:cNvSpPr>
              <a:spLocks noChangeArrowheads="1"/>
            </p:cNvSpPr>
            <p:nvPr/>
          </p:nvSpPr>
          <p:spPr bwMode="auto">
            <a:xfrm>
              <a:off x="658" y="21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834" name="Rectangle 44"/>
            <p:cNvSpPr>
              <a:spLocks noChangeArrowheads="1"/>
            </p:cNvSpPr>
            <p:nvPr/>
          </p:nvSpPr>
          <p:spPr bwMode="auto">
            <a:xfrm>
              <a:off x="734" y="263"/>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835" name="Rectangle 45"/>
            <p:cNvSpPr>
              <a:spLocks noChangeArrowheads="1"/>
            </p:cNvSpPr>
            <p:nvPr/>
          </p:nvSpPr>
          <p:spPr bwMode="auto">
            <a:xfrm>
              <a:off x="718" y="111"/>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836" name="Rectangle 46"/>
            <p:cNvSpPr>
              <a:spLocks noChangeArrowheads="1"/>
            </p:cNvSpPr>
            <p:nvPr/>
          </p:nvSpPr>
          <p:spPr bwMode="auto">
            <a:xfrm>
              <a:off x="728" y="203"/>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grpSp>
        <p:nvGrpSpPr>
          <p:cNvPr id="26628" name="Group 47"/>
          <p:cNvGrpSpPr/>
          <p:nvPr/>
        </p:nvGrpSpPr>
        <p:grpSpPr bwMode="auto">
          <a:xfrm>
            <a:off x="487363" y="3225800"/>
            <a:ext cx="3919537" cy="1808163"/>
            <a:chOff x="0" y="0"/>
            <a:chExt cx="2469" cy="1139"/>
          </a:xfrm>
        </p:grpSpPr>
        <p:sp>
          <p:nvSpPr>
            <p:cNvPr id="26742" name="Line 48"/>
            <p:cNvSpPr>
              <a:spLocks noChangeShapeType="1"/>
            </p:cNvSpPr>
            <p:nvPr/>
          </p:nvSpPr>
          <p:spPr bwMode="auto">
            <a:xfrm>
              <a:off x="24" y="261"/>
              <a:ext cx="84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43" name="Rectangle 49"/>
            <p:cNvSpPr>
              <a:spLocks noChangeArrowheads="1"/>
            </p:cNvSpPr>
            <p:nvPr/>
          </p:nvSpPr>
          <p:spPr bwMode="auto">
            <a:xfrm>
              <a:off x="868" y="185"/>
              <a:ext cx="868" cy="48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744" name="Line 50"/>
            <p:cNvSpPr>
              <a:spLocks noChangeShapeType="1"/>
            </p:cNvSpPr>
            <p:nvPr/>
          </p:nvSpPr>
          <p:spPr bwMode="auto">
            <a:xfrm>
              <a:off x="1736" y="261"/>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45" name="Line 51"/>
            <p:cNvSpPr>
              <a:spLocks noChangeShapeType="1"/>
            </p:cNvSpPr>
            <p:nvPr/>
          </p:nvSpPr>
          <p:spPr bwMode="auto">
            <a:xfrm>
              <a:off x="1736" y="582"/>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46" name="Line 52"/>
            <p:cNvSpPr>
              <a:spLocks noChangeShapeType="1"/>
            </p:cNvSpPr>
            <p:nvPr/>
          </p:nvSpPr>
          <p:spPr bwMode="auto">
            <a:xfrm>
              <a:off x="1104" y="320"/>
              <a:ext cx="320"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47" name="Freeform 53"/>
            <p:cNvSpPr/>
            <p:nvPr/>
          </p:nvSpPr>
          <p:spPr bwMode="auto">
            <a:xfrm>
              <a:off x="1314" y="303"/>
              <a:ext cx="110" cy="43"/>
            </a:xfrm>
            <a:custGeom>
              <a:avLst/>
              <a:gdLst>
                <a:gd name="T0" fmla="*/ 0 w 110"/>
                <a:gd name="T1" fmla="*/ 0 h 43"/>
                <a:gd name="T2" fmla="*/ 26 w 110"/>
                <a:gd name="T3" fmla="*/ 17 h 43"/>
                <a:gd name="T4" fmla="*/ 0 w 110"/>
                <a:gd name="T5" fmla="*/ 43 h 43"/>
                <a:gd name="T6" fmla="*/ 110 w 110"/>
                <a:gd name="T7" fmla="*/ 17 h 43"/>
                <a:gd name="T8" fmla="*/ 0 w 110"/>
                <a:gd name="T9" fmla="*/ 0 h 43"/>
                <a:gd name="T10" fmla="*/ 0 60000 65536"/>
                <a:gd name="T11" fmla="*/ 0 60000 65536"/>
                <a:gd name="T12" fmla="*/ 0 60000 65536"/>
                <a:gd name="T13" fmla="*/ 0 60000 65536"/>
                <a:gd name="T14" fmla="*/ 0 60000 65536"/>
                <a:gd name="T15" fmla="*/ 0 w 110"/>
                <a:gd name="T16" fmla="*/ 0 h 43"/>
                <a:gd name="T17" fmla="*/ 110 w 110"/>
                <a:gd name="T18" fmla="*/ 43 h 43"/>
              </a:gdLst>
              <a:ahLst/>
              <a:cxnLst>
                <a:cxn ang="T10">
                  <a:pos x="T0" y="T1"/>
                </a:cxn>
                <a:cxn ang="T11">
                  <a:pos x="T2" y="T3"/>
                </a:cxn>
                <a:cxn ang="T12">
                  <a:pos x="T4" y="T5"/>
                </a:cxn>
                <a:cxn ang="T13">
                  <a:pos x="T6" y="T7"/>
                </a:cxn>
                <a:cxn ang="T14">
                  <a:pos x="T8" y="T9"/>
                </a:cxn>
              </a:cxnLst>
              <a:rect l="T15" t="T16" r="T17" b="T18"/>
              <a:pathLst>
                <a:path w="110" h="43">
                  <a:moveTo>
                    <a:pt x="0" y="0"/>
                  </a:moveTo>
                  <a:lnTo>
                    <a:pt x="26" y="17"/>
                  </a:lnTo>
                  <a:lnTo>
                    <a:pt x="0" y="43"/>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6748" name="Rectangle 54"/>
            <p:cNvSpPr>
              <a:spLocks noChangeArrowheads="1"/>
            </p:cNvSpPr>
            <p:nvPr/>
          </p:nvSpPr>
          <p:spPr bwMode="auto">
            <a:xfrm>
              <a:off x="1248" y="3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26749" name="Line 55"/>
            <p:cNvSpPr>
              <a:spLocks noChangeShapeType="1"/>
            </p:cNvSpPr>
            <p:nvPr/>
          </p:nvSpPr>
          <p:spPr bwMode="auto">
            <a:xfrm>
              <a:off x="1146" y="920"/>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50" name="Freeform 56"/>
            <p:cNvSpPr/>
            <p:nvPr/>
          </p:nvSpPr>
          <p:spPr bwMode="auto">
            <a:xfrm>
              <a:off x="1146" y="903"/>
              <a:ext cx="101" cy="42"/>
            </a:xfrm>
            <a:custGeom>
              <a:avLst/>
              <a:gdLst>
                <a:gd name="T0" fmla="*/ 101 w 101"/>
                <a:gd name="T1" fmla="*/ 0 h 42"/>
                <a:gd name="T2" fmla="*/ 84 w 101"/>
                <a:gd name="T3" fmla="*/ 17 h 42"/>
                <a:gd name="T4" fmla="*/ 101 w 101"/>
                <a:gd name="T5" fmla="*/ 42 h 42"/>
                <a:gd name="T6" fmla="*/ 0 w 101"/>
                <a:gd name="T7" fmla="*/ 17 h 42"/>
                <a:gd name="T8" fmla="*/ 101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101" y="0"/>
                  </a:moveTo>
                  <a:lnTo>
                    <a:pt x="84" y="17"/>
                  </a:lnTo>
                  <a:lnTo>
                    <a:pt x="101" y="42"/>
                  </a:lnTo>
                  <a:lnTo>
                    <a:pt x="0" y="17"/>
                  </a:lnTo>
                  <a:lnTo>
                    <a:pt x="101" y="0"/>
                  </a:lnTo>
                  <a:close/>
                </a:path>
              </a:pathLst>
            </a:custGeom>
            <a:solidFill>
              <a:srgbClr val="000000"/>
            </a:solidFill>
            <a:ln w="12700">
              <a:solidFill>
                <a:srgbClr val="000000"/>
              </a:solidFill>
              <a:round/>
            </a:ln>
          </p:spPr>
          <p:txBody>
            <a:bodyPr/>
            <a:lstStyle/>
            <a:p>
              <a:endParaRPr lang="zh-CN" altLang="en-US"/>
            </a:p>
          </p:txBody>
        </p:sp>
        <p:sp>
          <p:nvSpPr>
            <p:cNvPr id="26751" name="Rectangle 57"/>
            <p:cNvSpPr>
              <a:spLocks noChangeArrowheads="1"/>
            </p:cNvSpPr>
            <p:nvPr/>
          </p:nvSpPr>
          <p:spPr bwMode="auto">
            <a:xfrm>
              <a:off x="1282" y="92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752" name="Rectangle 58"/>
            <p:cNvSpPr>
              <a:spLocks noChangeArrowheads="1"/>
            </p:cNvSpPr>
            <p:nvPr/>
          </p:nvSpPr>
          <p:spPr bwMode="auto">
            <a:xfrm>
              <a:off x="986" y="818"/>
              <a:ext cx="632" cy="32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753" name="Line 59"/>
            <p:cNvSpPr>
              <a:spLocks noChangeShapeType="1"/>
            </p:cNvSpPr>
            <p:nvPr/>
          </p:nvSpPr>
          <p:spPr bwMode="auto">
            <a:xfrm>
              <a:off x="1618" y="903"/>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54" name="Line 60"/>
            <p:cNvSpPr>
              <a:spLocks noChangeShapeType="1"/>
            </p:cNvSpPr>
            <p:nvPr/>
          </p:nvSpPr>
          <p:spPr bwMode="auto">
            <a:xfrm>
              <a:off x="1618" y="1063"/>
              <a:ext cx="52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55" name="Line 61"/>
            <p:cNvSpPr>
              <a:spLocks noChangeShapeType="1"/>
            </p:cNvSpPr>
            <p:nvPr/>
          </p:nvSpPr>
          <p:spPr bwMode="auto">
            <a:xfrm>
              <a:off x="1896" y="261"/>
              <a:ext cx="1" cy="64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56" name="Freeform 62"/>
            <p:cNvSpPr/>
            <p:nvPr/>
          </p:nvSpPr>
          <p:spPr bwMode="auto">
            <a:xfrm>
              <a:off x="1880" y="244"/>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000000"/>
            </a:solidFill>
            <a:ln w="12700">
              <a:solidFill>
                <a:srgbClr val="000000"/>
              </a:solidFill>
              <a:round/>
            </a:ln>
          </p:spPr>
          <p:txBody>
            <a:bodyPr/>
            <a:lstStyle/>
            <a:p>
              <a:endParaRPr lang="zh-CN" altLang="en-US"/>
            </a:p>
          </p:txBody>
        </p:sp>
        <p:sp>
          <p:nvSpPr>
            <p:cNvPr id="26757" name="Line 63"/>
            <p:cNvSpPr>
              <a:spLocks noChangeShapeType="1"/>
            </p:cNvSpPr>
            <p:nvPr/>
          </p:nvSpPr>
          <p:spPr bwMode="auto">
            <a:xfrm>
              <a:off x="2141" y="582"/>
              <a:ext cx="1" cy="48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58" name="Freeform 64"/>
            <p:cNvSpPr/>
            <p:nvPr/>
          </p:nvSpPr>
          <p:spPr bwMode="auto">
            <a:xfrm>
              <a:off x="2116" y="565"/>
              <a:ext cx="42" cy="34"/>
            </a:xfrm>
            <a:custGeom>
              <a:avLst/>
              <a:gdLst>
                <a:gd name="T0" fmla="*/ 0 w 42"/>
                <a:gd name="T1" fmla="*/ 17 h 34"/>
                <a:gd name="T2" fmla="*/ 17 w 42"/>
                <a:gd name="T3" fmla="*/ 0 h 34"/>
                <a:gd name="T4" fmla="*/ 33 w 42"/>
                <a:gd name="T5" fmla="*/ 0 h 34"/>
                <a:gd name="T6" fmla="*/ 42 w 42"/>
                <a:gd name="T7" fmla="*/ 17 h 34"/>
                <a:gd name="T8" fmla="*/ 33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3" y="0"/>
                  </a:lnTo>
                  <a:lnTo>
                    <a:pt x="42" y="17"/>
                  </a:lnTo>
                  <a:lnTo>
                    <a:pt x="33" y="34"/>
                  </a:lnTo>
                  <a:lnTo>
                    <a:pt x="17" y="34"/>
                  </a:lnTo>
                  <a:lnTo>
                    <a:pt x="0" y="17"/>
                  </a:lnTo>
                  <a:close/>
                </a:path>
              </a:pathLst>
            </a:custGeom>
            <a:solidFill>
              <a:srgbClr val="000000"/>
            </a:solidFill>
            <a:ln w="12700">
              <a:solidFill>
                <a:srgbClr val="000000"/>
              </a:solidFill>
              <a:round/>
            </a:ln>
          </p:spPr>
          <p:txBody>
            <a:bodyPr/>
            <a:lstStyle/>
            <a:p>
              <a:endParaRPr lang="zh-CN" altLang="en-US"/>
            </a:p>
          </p:txBody>
        </p:sp>
        <p:sp>
          <p:nvSpPr>
            <p:cNvPr id="26759" name="Freeform 65"/>
            <p:cNvSpPr/>
            <p:nvPr/>
          </p:nvSpPr>
          <p:spPr bwMode="auto">
            <a:xfrm>
              <a:off x="2377" y="244"/>
              <a:ext cx="42" cy="34"/>
            </a:xfrm>
            <a:custGeom>
              <a:avLst/>
              <a:gdLst>
                <a:gd name="T0" fmla="*/ 0 w 42"/>
                <a:gd name="T1" fmla="*/ 17 h 34"/>
                <a:gd name="T2" fmla="*/ 9 w 42"/>
                <a:gd name="T3" fmla="*/ 0 h 34"/>
                <a:gd name="T4" fmla="*/ 34 w 42"/>
                <a:gd name="T5" fmla="*/ 0 h 34"/>
                <a:gd name="T6" fmla="*/ 42 w 42"/>
                <a:gd name="T7" fmla="*/ 17 h 34"/>
                <a:gd name="T8" fmla="*/ 34 w 42"/>
                <a:gd name="T9" fmla="*/ 34 h 34"/>
                <a:gd name="T10" fmla="*/ 9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9" y="0"/>
                  </a:lnTo>
                  <a:lnTo>
                    <a:pt x="34" y="0"/>
                  </a:lnTo>
                  <a:lnTo>
                    <a:pt x="42" y="17"/>
                  </a:lnTo>
                  <a:lnTo>
                    <a:pt x="34" y="34"/>
                  </a:lnTo>
                  <a:lnTo>
                    <a:pt x="9" y="34"/>
                  </a:lnTo>
                  <a:lnTo>
                    <a:pt x="0" y="17"/>
                  </a:lnTo>
                  <a:close/>
                </a:path>
              </a:pathLst>
            </a:custGeom>
            <a:solidFill>
              <a:srgbClr val="FFFFFF"/>
            </a:solidFill>
            <a:ln w="12700">
              <a:solidFill>
                <a:srgbClr val="000000"/>
              </a:solidFill>
              <a:round/>
            </a:ln>
          </p:spPr>
          <p:txBody>
            <a:bodyPr/>
            <a:lstStyle/>
            <a:p>
              <a:endParaRPr lang="zh-CN" altLang="en-US"/>
            </a:p>
          </p:txBody>
        </p:sp>
        <p:sp>
          <p:nvSpPr>
            <p:cNvPr id="26760" name="Freeform 66"/>
            <p:cNvSpPr/>
            <p:nvPr/>
          </p:nvSpPr>
          <p:spPr bwMode="auto">
            <a:xfrm>
              <a:off x="2377" y="565"/>
              <a:ext cx="42" cy="34"/>
            </a:xfrm>
            <a:custGeom>
              <a:avLst/>
              <a:gdLst>
                <a:gd name="T0" fmla="*/ 0 w 42"/>
                <a:gd name="T1" fmla="*/ 17 h 34"/>
                <a:gd name="T2" fmla="*/ 9 w 42"/>
                <a:gd name="T3" fmla="*/ 0 h 34"/>
                <a:gd name="T4" fmla="*/ 34 w 42"/>
                <a:gd name="T5" fmla="*/ 0 h 34"/>
                <a:gd name="T6" fmla="*/ 42 w 42"/>
                <a:gd name="T7" fmla="*/ 17 h 34"/>
                <a:gd name="T8" fmla="*/ 34 w 42"/>
                <a:gd name="T9" fmla="*/ 34 h 34"/>
                <a:gd name="T10" fmla="*/ 9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9" y="0"/>
                  </a:lnTo>
                  <a:lnTo>
                    <a:pt x="34" y="0"/>
                  </a:lnTo>
                  <a:lnTo>
                    <a:pt x="42" y="17"/>
                  </a:lnTo>
                  <a:lnTo>
                    <a:pt x="34" y="34"/>
                  </a:lnTo>
                  <a:lnTo>
                    <a:pt x="9" y="34"/>
                  </a:lnTo>
                  <a:lnTo>
                    <a:pt x="0" y="17"/>
                  </a:lnTo>
                  <a:close/>
                </a:path>
              </a:pathLst>
            </a:custGeom>
            <a:solidFill>
              <a:srgbClr val="FFFFFF"/>
            </a:solidFill>
            <a:ln w="12700">
              <a:solidFill>
                <a:srgbClr val="000000"/>
              </a:solidFill>
              <a:round/>
            </a:ln>
          </p:spPr>
          <p:txBody>
            <a:bodyPr/>
            <a:lstStyle/>
            <a:p>
              <a:endParaRPr lang="zh-CN" altLang="en-US"/>
            </a:p>
          </p:txBody>
        </p:sp>
        <p:sp>
          <p:nvSpPr>
            <p:cNvPr id="26761" name="Rectangle 67"/>
            <p:cNvSpPr>
              <a:spLocks noChangeArrowheads="1"/>
            </p:cNvSpPr>
            <p:nvPr/>
          </p:nvSpPr>
          <p:spPr bwMode="auto">
            <a:xfrm>
              <a:off x="2353" y="35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762" name="Rectangle 68"/>
            <p:cNvSpPr>
              <a:spLocks noChangeArrowheads="1"/>
            </p:cNvSpPr>
            <p:nvPr/>
          </p:nvSpPr>
          <p:spPr bwMode="auto">
            <a:xfrm>
              <a:off x="2429" y="41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763" name="Rectangle 69"/>
            <p:cNvSpPr>
              <a:spLocks noChangeArrowheads="1"/>
            </p:cNvSpPr>
            <p:nvPr/>
          </p:nvSpPr>
          <p:spPr bwMode="auto">
            <a:xfrm>
              <a:off x="2396" y="253"/>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64" name="Freeform 70"/>
            <p:cNvSpPr/>
            <p:nvPr/>
          </p:nvSpPr>
          <p:spPr bwMode="auto">
            <a:xfrm>
              <a:off x="24" y="244"/>
              <a:ext cx="42" cy="34"/>
            </a:xfrm>
            <a:custGeom>
              <a:avLst/>
              <a:gdLst>
                <a:gd name="T0" fmla="*/ 0 w 42"/>
                <a:gd name="T1" fmla="*/ 17 h 34"/>
                <a:gd name="T2" fmla="*/ 17 w 42"/>
                <a:gd name="T3" fmla="*/ 0 h 34"/>
                <a:gd name="T4" fmla="*/ 34 w 42"/>
                <a:gd name="T5" fmla="*/ 0 h 34"/>
                <a:gd name="T6" fmla="*/ 42 w 42"/>
                <a:gd name="T7" fmla="*/ 17 h 34"/>
                <a:gd name="T8" fmla="*/ 34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4" y="0"/>
                  </a:lnTo>
                  <a:lnTo>
                    <a:pt x="42" y="17"/>
                  </a:lnTo>
                  <a:lnTo>
                    <a:pt x="34" y="34"/>
                  </a:lnTo>
                  <a:lnTo>
                    <a:pt x="17" y="34"/>
                  </a:lnTo>
                  <a:lnTo>
                    <a:pt x="0" y="17"/>
                  </a:lnTo>
                  <a:close/>
                </a:path>
              </a:pathLst>
            </a:custGeom>
            <a:solidFill>
              <a:srgbClr val="FFFFFF"/>
            </a:solidFill>
            <a:ln w="12700">
              <a:solidFill>
                <a:srgbClr val="000000"/>
              </a:solidFill>
              <a:round/>
            </a:ln>
          </p:spPr>
          <p:txBody>
            <a:bodyPr/>
            <a:lstStyle/>
            <a:p>
              <a:endParaRPr lang="zh-CN" altLang="en-US"/>
            </a:p>
          </p:txBody>
        </p:sp>
        <p:sp>
          <p:nvSpPr>
            <p:cNvPr id="26765" name="Line 71"/>
            <p:cNvSpPr>
              <a:spLocks noChangeShapeType="1"/>
            </p:cNvSpPr>
            <p:nvPr/>
          </p:nvSpPr>
          <p:spPr bwMode="auto">
            <a:xfrm>
              <a:off x="24" y="582"/>
              <a:ext cx="84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66" name="Line 72"/>
            <p:cNvSpPr>
              <a:spLocks noChangeShapeType="1"/>
            </p:cNvSpPr>
            <p:nvPr/>
          </p:nvSpPr>
          <p:spPr bwMode="auto">
            <a:xfrm>
              <a:off x="665" y="903"/>
              <a:ext cx="32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67" name="Line 73"/>
            <p:cNvSpPr>
              <a:spLocks noChangeShapeType="1"/>
            </p:cNvSpPr>
            <p:nvPr/>
          </p:nvSpPr>
          <p:spPr bwMode="auto">
            <a:xfrm>
              <a:off x="665" y="261"/>
              <a:ext cx="1" cy="64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68" name="Line 74"/>
            <p:cNvSpPr>
              <a:spLocks noChangeShapeType="1"/>
            </p:cNvSpPr>
            <p:nvPr/>
          </p:nvSpPr>
          <p:spPr bwMode="auto">
            <a:xfrm>
              <a:off x="463" y="1063"/>
              <a:ext cx="52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69" name="Line 75"/>
            <p:cNvSpPr>
              <a:spLocks noChangeShapeType="1"/>
            </p:cNvSpPr>
            <p:nvPr/>
          </p:nvSpPr>
          <p:spPr bwMode="auto">
            <a:xfrm>
              <a:off x="463" y="582"/>
              <a:ext cx="1" cy="48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70" name="Freeform 76"/>
            <p:cNvSpPr/>
            <p:nvPr/>
          </p:nvSpPr>
          <p:spPr bwMode="auto">
            <a:xfrm>
              <a:off x="24" y="565"/>
              <a:ext cx="42" cy="34"/>
            </a:xfrm>
            <a:custGeom>
              <a:avLst/>
              <a:gdLst>
                <a:gd name="T0" fmla="*/ 0 w 42"/>
                <a:gd name="T1" fmla="*/ 17 h 34"/>
                <a:gd name="T2" fmla="*/ 17 w 42"/>
                <a:gd name="T3" fmla="*/ 0 h 34"/>
                <a:gd name="T4" fmla="*/ 34 w 42"/>
                <a:gd name="T5" fmla="*/ 0 h 34"/>
                <a:gd name="T6" fmla="*/ 42 w 42"/>
                <a:gd name="T7" fmla="*/ 17 h 34"/>
                <a:gd name="T8" fmla="*/ 34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4" y="0"/>
                  </a:lnTo>
                  <a:lnTo>
                    <a:pt x="42" y="17"/>
                  </a:lnTo>
                  <a:lnTo>
                    <a:pt x="34" y="34"/>
                  </a:lnTo>
                  <a:lnTo>
                    <a:pt x="17" y="34"/>
                  </a:lnTo>
                  <a:lnTo>
                    <a:pt x="0" y="17"/>
                  </a:lnTo>
                  <a:close/>
                </a:path>
              </a:pathLst>
            </a:custGeom>
            <a:solidFill>
              <a:srgbClr val="FFFFFF"/>
            </a:solidFill>
            <a:ln w="12700">
              <a:solidFill>
                <a:srgbClr val="000000"/>
              </a:solidFill>
              <a:round/>
            </a:ln>
          </p:spPr>
          <p:txBody>
            <a:bodyPr/>
            <a:lstStyle/>
            <a:p>
              <a:endParaRPr lang="zh-CN" altLang="en-US"/>
            </a:p>
          </p:txBody>
        </p:sp>
        <p:sp>
          <p:nvSpPr>
            <p:cNvPr id="26771" name="Rectangle 77"/>
            <p:cNvSpPr>
              <a:spLocks noChangeArrowheads="1"/>
            </p:cNvSpPr>
            <p:nvPr/>
          </p:nvSpPr>
          <p:spPr bwMode="auto">
            <a:xfrm>
              <a:off x="0" y="36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772" name="Rectangle 78"/>
            <p:cNvSpPr>
              <a:spLocks noChangeArrowheads="1"/>
            </p:cNvSpPr>
            <p:nvPr/>
          </p:nvSpPr>
          <p:spPr bwMode="auto">
            <a:xfrm>
              <a:off x="76" y="422"/>
              <a:ext cx="3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s</a:t>
              </a:r>
              <a:endParaRPr lang="zh-CN" altLang="zh-CN" sz="2800">
                <a:latin typeface="Times New Roman" panose="02020603050405020304" pitchFamily="18" charset="0"/>
              </a:endParaRPr>
            </a:p>
          </p:txBody>
        </p:sp>
        <p:sp>
          <p:nvSpPr>
            <p:cNvPr id="26773" name="Rectangle 79"/>
            <p:cNvSpPr>
              <a:spLocks noChangeArrowheads="1"/>
            </p:cNvSpPr>
            <p:nvPr/>
          </p:nvSpPr>
          <p:spPr bwMode="auto">
            <a:xfrm>
              <a:off x="43" y="27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74" name="Freeform 80"/>
            <p:cNvSpPr/>
            <p:nvPr/>
          </p:nvSpPr>
          <p:spPr bwMode="auto">
            <a:xfrm>
              <a:off x="648" y="244"/>
              <a:ext cx="34" cy="34"/>
            </a:xfrm>
            <a:custGeom>
              <a:avLst/>
              <a:gdLst>
                <a:gd name="T0" fmla="*/ 0 w 34"/>
                <a:gd name="T1" fmla="*/ 17 h 34"/>
                <a:gd name="T2" fmla="*/ 9 w 34"/>
                <a:gd name="T3" fmla="*/ 0 h 34"/>
                <a:gd name="T4" fmla="*/ 26 w 34"/>
                <a:gd name="T5" fmla="*/ 0 h 34"/>
                <a:gd name="T6" fmla="*/ 34 w 34"/>
                <a:gd name="T7" fmla="*/ 17 h 34"/>
                <a:gd name="T8" fmla="*/ 26 w 34"/>
                <a:gd name="T9" fmla="*/ 34 h 34"/>
                <a:gd name="T10" fmla="*/ 9 w 34"/>
                <a:gd name="T11" fmla="*/ 34 h 34"/>
                <a:gd name="T12" fmla="*/ 0 w 34"/>
                <a:gd name="T13" fmla="*/ 17 h 34"/>
                <a:gd name="T14" fmla="*/ 0 60000 65536"/>
                <a:gd name="T15" fmla="*/ 0 60000 65536"/>
                <a:gd name="T16" fmla="*/ 0 60000 65536"/>
                <a:gd name="T17" fmla="*/ 0 60000 65536"/>
                <a:gd name="T18" fmla="*/ 0 60000 65536"/>
                <a:gd name="T19" fmla="*/ 0 60000 65536"/>
                <a:gd name="T20" fmla="*/ 0 60000 65536"/>
                <a:gd name="T21" fmla="*/ 0 w 34"/>
                <a:gd name="T22" fmla="*/ 0 h 34"/>
                <a:gd name="T23" fmla="*/ 34 w 34"/>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4">
                  <a:moveTo>
                    <a:pt x="0" y="17"/>
                  </a:moveTo>
                  <a:lnTo>
                    <a:pt x="9" y="0"/>
                  </a:lnTo>
                  <a:lnTo>
                    <a:pt x="26" y="0"/>
                  </a:lnTo>
                  <a:lnTo>
                    <a:pt x="34" y="17"/>
                  </a:lnTo>
                  <a:lnTo>
                    <a:pt x="26" y="34"/>
                  </a:lnTo>
                  <a:lnTo>
                    <a:pt x="9" y="34"/>
                  </a:lnTo>
                  <a:lnTo>
                    <a:pt x="0" y="17"/>
                  </a:lnTo>
                  <a:close/>
                </a:path>
              </a:pathLst>
            </a:custGeom>
            <a:solidFill>
              <a:srgbClr val="000000"/>
            </a:solidFill>
            <a:ln w="12700">
              <a:solidFill>
                <a:srgbClr val="000000"/>
              </a:solidFill>
              <a:round/>
            </a:ln>
          </p:spPr>
          <p:txBody>
            <a:bodyPr/>
            <a:lstStyle/>
            <a:p>
              <a:endParaRPr lang="zh-CN" altLang="en-US"/>
            </a:p>
          </p:txBody>
        </p:sp>
        <p:sp>
          <p:nvSpPr>
            <p:cNvPr id="26775" name="Freeform 81"/>
            <p:cNvSpPr/>
            <p:nvPr/>
          </p:nvSpPr>
          <p:spPr bwMode="auto">
            <a:xfrm>
              <a:off x="724" y="244"/>
              <a:ext cx="101" cy="42"/>
            </a:xfrm>
            <a:custGeom>
              <a:avLst/>
              <a:gdLst>
                <a:gd name="T0" fmla="*/ 0 w 101"/>
                <a:gd name="T1" fmla="*/ 0 h 42"/>
                <a:gd name="T2" fmla="*/ 17 w 101"/>
                <a:gd name="T3" fmla="*/ 17 h 42"/>
                <a:gd name="T4" fmla="*/ 0 w 101"/>
                <a:gd name="T5" fmla="*/ 42 h 42"/>
                <a:gd name="T6" fmla="*/ 101 w 101"/>
                <a:gd name="T7" fmla="*/ 17 h 42"/>
                <a:gd name="T8" fmla="*/ 0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0" y="0"/>
                  </a:moveTo>
                  <a:lnTo>
                    <a:pt x="17" y="17"/>
                  </a:lnTo>
                  <a:lnTo>
                    <a:pt x="0" y="42"/>
                  </a:lnTo>
                  <a:lnTo>
                    <a:pt x="101" y="17"/>
                  </a:lnTo>
                  <a:lnTo>
                    <a:pt x="0" y="0"/>
                  </a:lnTo>
                  <a:close/>
                </a:path>
              </a:pathLst>
            </a:custGeom>
            <a:solidFill>
              <a:srgbClr val="000000"/>
            </a:solidFill>
            <a:ln w="12700">
              <a:solidFill>
                <a:srgbClr val="000000"/>
              </a:solidFill>
              <a:round/>
            </a:ln>
          </p:spPr>
          <p:txBody>
            <a:bodyPr/>
            <a:lstStyle/>
            <a:p>
              <a:endParaRPr lang="zh-CN" altLang="en-US"/>
            </a:p>
          </p:txBody>
        </p:sp>
        <p:sp>
          <p:nvSpPr>
            <p:cNvPr id="26776" name="Freeform 82"/>
            <p:cNvSpPr/>
            <p:nvPr/>
          </p:nvSpPr>
          <p:spPr bwMode="auto">
            <a:xfrm>
              <a:off x="480" y="244"/>
              <a:ext cx="101" cy="42"/>
            </a:xfrm>
            <a:custGeom>
              <a:avLst/>
              <a:gdLst>
                <a:gd name="T0" fmla="*/ 0 w 101"/>
                <a:gd name="T1" fmla="*/ 0 h 42"/>
                <a:gd name="T2" fmla="*/ 16 w 101"/>
                <a:gd name="T3" fmla="*/ 17 h 42"/>
                <a:gd name="T4" fmla="*/ 0 w 101"/>
                <a:gd name="T5" fmla="*/ 42 h 42"/>
                <a:gd name="T6" fmla="*/ 101 w 101"/>
                <a:gd name="T7" fmla="*/ 17 h 42"/>
                <a:gd name="T8" fmla="*/ 0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0" y="0"/>
                  </a:moveTo>
                  <a:lnTo>
                    <a:pt x="16" y="17"/>
                  </a:lnTo>
                  <a:lnTo>
                    <a:pt x="0" y="42"/>
                  </a:lnTo>
                  <a:lnTo>
                    <a:pt x="101" y="17"/>
                  </a:lnTo>
                  <a:lnTo>
                    <a:pt x="0" y="0"/>
                  </a:lnTo>
                  <a:close/>
                </a:path>
              </a:pathLst>
            </a:custGeom>
            <a:solidFill>
              <a:srgbClr val="000000"/>
            </a:solidFill>
            <a:ln w="12700">
              <a:solidFill>
                <a:srgbClr val="000000"/>
              </a:solidFill>
              <a:round/>
            </a:ln>
          </p:spPr>
          <p:txBody>
            <a:bodyPr/>
            <a:lstStyle/>
            <a:p>
              <a:endParaRPr lang="zh-CN" altLang="en-US"/>
            </a:p>
          </p:txBody>
        </p:sp>
        <p:sp>
          <p:nvSpPr>
            <p:cNvPr id="26777" name="Line 83"/>
            <p:cNvSpPr>
              <a:spLocks noChangeShapeType="1"/>
            </p:cNvSpPr>
            <p:nvPr/>
          </p:nvSpPr>
          <p:spPr bwMode="auto">
            <a:xfrm>
              <a:off x="227" y="261"/>
              <a:ext cx="202" cy="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78" name="Rectangle 84"/>
            <p:cNvSpPr>
              <a:spLocks noChangeArrowheads="1"/>
            </p:cNvSpPr>
            <p:nvPr/>
          </p:nvSpPr>
          <p:spPr bwMode="auto">
            <a:xfrm>
              <a:off x="227" y="227"/>
              <a:ext cx="202" cy="76"/>
            </a:xfrm>
            <a:prstGeom prst="rect">
              <a:avLst/>
            </a:prstGeom>
            <a:solidFill>
              <a:srgbClr val="FFFFFF"/>
            </a:solidFill>
            <a:ln w="1270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779" name="Rectangle 85"/>
            <p:cNvSpPr>
              <a:spLocks noChangeArrowheads="1"/>
            </p:cNvSpPr>
            <p:nvPr/>
          </p:nvSpPr>
          <p:spPr bwMode="auto">
            <a:xfrm>
              <a:off x="270" y="5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6780" name="Rectangle 86"/>
            <p:cNvSpPr>
              <a:spLocks noChangeArrowheads="1"/>
            </p:cNvSpPr>
            <p:nvPr/>
          </p:nvSpPr>
          <p:spPr bwMode="auto">
            <a:xfrm>
              <a:off x="337" y="110"/>
              <a:ext cx="3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s</a:t>
              </a:r>
              <a:endParaRPr lang="zh-CN" altLang="zh-CN" sz="2800">
                <a:latin typeface="Times New Roman" panose="02020603050405020304" pitchFamily="18" charset="0"/>
              </a:endParaRPr>
            </a:p>
          </p:txBody>
        </p:sp>
        <p:sp>
          <p:nvSpPr>
            <p:cNvPr id="26781" name="Rectangle 87"/>
            <p:cNvSpPr>
              <a:spLocks noChangeArrowheads="1"/>
            </p:cNvSpPr>
            <p:nvPr/>
          </p:nvSpPr>
          <p:spPr bwMode="auto">
            <a:xfrm>
              <a:off x="521" y="101"/>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82" name="Rectangle 88"/>
            <p:cNvSpPr>
              <a:spLocks noChangeArrowheads="1"/>
            </p:cNvSpPr>
            <p:nvPr/>
          </p:nvSpPr>
          <p:spPr bwMode="auto">
            <a:xfrm>
              <a:off x="557" y="152"/>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83" name="Rectangle 89"/>
            <p:cNvSpPr>
              <a:spLocks noChangeArrowheads="1"/>
            </p:cNvSpPr>
            <p:nvPr/>
          </p:nvSpPr>
          <p:spPr bwMode="auto">
            <a:xfrm>
              <a:off x="549" y="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84" name="Rectangle 90"/>
            <p:cNvSpPr>
              <a:spLocks noChangeArrowheads="1"/>
            </p:cNvSpPr>
            <p:nvPr/>
          </p:nvSpPr>
          <p:spPr bwMode="auto">
            <a:xfrm>
              <a:off x="732" y="388"/>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85" name="Rectangle 91"/>
            <p:cNvSpPr>
              <a:spLocks noChangeArrowheads="1"/>
            </p:cNvSpPr>
            <p:nvPr/>
          </p:nvSpPr>
          <p:spPr bwMode="auto">
            <a:xfrm>
              <a:off x="761" y="439"/>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786" name="Rectangle 92"/>
            <p:cNvSpPr>
              <a:spLocks noChangeArrowheads="1"/>
            </p:cNvSpPr>
            <p:nvPr/>
          </p:nvSpPr>
          <p:spPr bwMode="auto">
            <a:xfrm>
              <a:off x="752" y="287"/>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87" name="Freeform 93"/>
            <p:cNvSpPr/>
            <p:nvPr/>
          </p:nvSpPr>
          <p:spPr bwMode="auto">
            <a:xfrm>
              <a:off x="648" y="379"/>
              <a:ext cx="34" cy="110"/>
            </a:xfrm>
            <a:custGeom>
              <a:avLst/>
              <a:gdLst>
                <a:gd name="T0" fmla="*/ 34 w 34"/>
                <a:gd name="T1" fmla="*/ 0 h 110"/>
                <a:gd name="T2" fmla="*/ 17 w 34"/>
                <a:gd name="T3" fmla="*/ 26 h 110"/>
                <a:gd name="T4" fmla="*/ 0 w 34"/>
                <a:gd name="T5" fmla="*/ 0 h 110"/>
                <a:gd name="T6" fmla="*/ 17 w 34"/>
                <a:gd name="T7" fmla="*/ 110 h 110"/>
                <a:gd name="T8" fmla="*/ 34 w 34"/>
                <a:gd name="T9" fmla="*/ 0 h 110"/>
                <a:gd name="T10" fmla="*/ 0 60000 65536"/>
                <a:gd name="T11" fmla="*/ 0 60000 65536"/>
                <a:gd name="T12" fmla="*/ 0 60000 65536"/>
                <a:gd name="T13" fmla="*/ 0 60000 65536"/>
                <a:gd name="T14" fmla="*/ 0 60000 65536"/>
                <a:gd name="T15" fmla="*/ 0 w 34"/>
                <a:gd name="T16" fmla="*/ 0 h 110"/>
                <a:gd name="T17" fmla="*/ 34 w 34"/>
                <a:gd name="T18" fmla="*/ 110 h 110"/>
              </a:gdLst>
              <a:ahLst/>
              <a:cxnLst>
                <a:cxn ang="T10">
                  <a:pos x="T0" y="T1"/>
                </a:cxn>
                <a:cxn ang="T11">
                  <a:pos x="T2" y="T3"/>
                </a:cxn>
                <a:cxn ang="T12">
                  <a:pos x="T4" y="T5"/>
                </a:cxn>
                <a:cxn ang="T13">
                  <a:pos x="T6" y="T7"/>
                </a:cxn>
                <a:cxn ang="T14">
                  <a:pos x="T8" y="T9"/>
                </a:cxn>
              </a:cxnLst>
              <a:rect l="T15" t="T16" r="T17" b="T18"/>
              <a:pathLst>
                <a:path w="34" h="110">
                  <a:moveTo>
                    <a:pt x="34" y="0"/>
                  </a:moveTo>
                  <a:lnTo>
                    <a:pt x="17" y="26"/>
                  </a:lnTo>
                  <a:lnTo>
                    <a:pt x="0" y="0"/>
                  </a:lnTo>
                  <a:lnTo>
                    <a:pt x="17" y="110"/>
                  </a:lnTo>
                  <a:lnTo>
                    <a:pt x="34" y="0"/>
                  </a:lnTo>
                  <a:close/>
                </a:path>
              </a:pathLst>
            </a:custGeom>
            <a:solidFill>
              <a:srgbClr val="000000"/>
            </a:solidFill>
            <a:ln w="12700">
              <a:solidFill>
                <a:srgbClr val="000000"/>
              </a:solidFill>
              <a:round/>
            </a:ln>
          </p:spPr>
          <p:txBody>
            <a:bodyPr/>
            <a:lstStyle/>
            <a:p>
              <a:endParaRPr lang="zh-CN" altLang="en-US"/>
            </a:p>
          </p:txBody>
        </p:sp>
        <p:sp>
          <p:nvSpPr>
            <p:cNvPr id="26788" name="Freeform 94"/>
            <p:cNvSpPr/>
            <p:nvPr/>
          </p:nvSpPr>
          <p:spPr bwMode="auto">
            <a:xfrm>
              <a:off x="446" y="565"/>
              <a:ext cx="42" cy="34"/>
            </a:xfrm>
            <a:custGeom>
              <a:avLst/>
              <a:gdLst>
                <a:gd name="T0" fmla="*/ 0 w 42"/>
                <a:gd name="T1" fmla="*/ 17 h 34"/>
                <a:gd name="T2" fmla="*/ 8 w 42"/>
                <a:gd name="T3" fmla="*/ 0 h 34"/>
                <a:gd name="T4" fmla="*/ 25 w 42"/>
                <a:gd name="T5" fmla="*/ 0 h 34"/>
                <a:gd name="T6" fmla="*/ 42 w 42"/>
                <a:gd name="T7" fmla="*/ 17 h 34"/>
                <a:gd name="T8" fmla="*/ 25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25" y="0"/>
                  </a:lnTo>
                  <a:lnTo>
                    <a:pt x="42" y="17"/>
                  </a:lnTo>
                  <a:lnTo>
                    <a:pt x="25" y="34"/>
                  </a:lnTo>
                  <a:lnTo>
                    <a:pt x="8" y="34"/>
                  </a:lnTo>
                  <a:lnTo>
                    <a:pt x="0" y="17"/>
                  </a:lnTo>
                  <a:close/>
                </a:path>
              </a:pathLst>
            </a:custGeom>
            <a:solidFill>
              <a:srgbClr val="000000"/>
            </a:solidFill>
            <a:ln w="12700">
              <a:solidFill>
                <a:srgbClr val="000000"/>
              </a:solidFill>
              <a:round/>
            </a:ln>
          </p:spPr>
          <p:txBody>
            <a:bodyPr/>
            <a:lstStyle/>
            <a:p>
              <a:endParaRPr lang="zh-CN" altLang="en-US"/>
            </a:p>
          </p:txBody>
        </p:sp>
        <p:sp>
          <p:nvSpPr>
            <p:cNvPr id="26789" name="Rectangle 95"/>
            <p:cNvSpPr>
              <a:spLocks noChangeArrowheads="1"/>
            </p:cNvSpPr>
            <p:nvPr/>
          </p:nvSpPr>
          <p:spPr bwMode="auto">
            <a:xfrm>
              <a:off x="732" y="101"/>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90" name="Rectangle 96"/>
            <p:cNvSpPr>
              <a:spLocks noChangeArrowheads="1"/>
            </p:cNvSpPr>
            <p:nvPr/>
          </p:nvSpPr>
          <p:spPr bwMode="auto">
            <a:xfrm>
              <a:off x="767" y="152"/>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91" name="Rectangle 97"/>
            <p:cNvSpPr>
              <a:spLocks noChangeArrowheads="1"/>
            </p:cNvSpPr>
            <p:nvPr/>
          </p:nvSpPr>
          <p:spPr bwMode="auto">
            <a:xfrm>
              <a:off x="752" y="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92" name="Rectangle 98"/>
            <p:cNvSpPr>
              <a:spLocks noChangeArrowheads="1"/>
            </p:cNvSpPr>
            <p:nvPr/>
          </p:nvSpPr>
          <p:spPr bwMode="auto">
            <a:xfrm>
              <a:off x="752" y="7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
        <p:nvSpPr>
          <p:cNvPr id="26629" name="Text Box 99"/>
          <p:cNvSpPr txBox="1">
            <a:spLocks noChangeArrowheads="1"/>
          </p:cNvSpPr>
          <p:nvPr/>
        </p:nvSpPr>
        <p:spPr bwMode="auto">
          <a:xfrm>
            <a:off x="2181225" y="6024563"/>
            <a:ext cx="521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图6.1.9   四种典型的负反馈组态电路</a:t>
            </a:r>
            <a:endParaRPr lang="zh-CN" altLang="zh-CN" sz="2400">
              <a:latin typeface="Times New Roman" panose="02020603050405020304" pitchFamily="18" charset="0"/>
            </a:endParaRPr>
          </a:p>
        </p:txBody>
      </p:sp>
      <p:sp>
        <p:nvSpPr>
          <p:cNvPr id="26630" name="Rectangle 100"/>
          <p:cNvSpPr>
            <a:spLocks noChangeArrowheads="1"/>
          </p:cNvSpPr>
          <p:nvPr/>
        </p:nvSpPr>
        <p:spPr bwMode="auto">
          <a:xfrm>
            <a:off x="1101725" y="2714625"/>
            <a:ext cx="2681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(a)串联电压负反馈</a:t>
            </a:r>
            <a:endParaRPr lang="zh-CN" altLang="zh-CN" sz="2400">
              <a:latin typeface="Times New Roman" panose="02020603050405020304" pitchFamily="18" charset="0"/>
            </a:endParaRPr>
          </a:p>
        </p:txBody>
      </p:sp>
      <p:sp>
        <p:nvSpPr>
          <p:cNvPr id="26631" name="Rectangle 101"/>
          <p:cNvSpPr>
            <a:spLocks noChangeArrowheads="1"/>
          </p:cNvSpPr>
          <p:nvPr/>
        </p:nvSpPr>
        <p:spPr bwMode="auto">
          <a:xfrm>
            <a:off x="5335588" y="2740025"/>
            <a:ext cx="269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(b)串联电流负反馈</a:t>
            </a:r>
            <a:endParaRPr lang="zh-CN" altLang="zh-CN" sz="2400">
              <a:latin typeface="Times New Roman" panose="02020603050405020304" pitchFamily="18" charset="0"/>
            </a:endParaRPr>
          </a:p>
        </p:txBody>
      </p:sp>
      <p:sp>
        <p:nvSpPr>
          <p:cNvPr id="26632" name="Rectangle 102"/>
          <p:cNvSpPr>
            <a:spLocks noChangeArrowheads="1"/>
          </p:cNvSpPr>
          <p:nvPr/>
        </p:nvSpPr>
        <p:spPr bwMode="auto">
          <a:xfrm>
            <a:off x="1320800" y="5334000"/>
            <a:ext cx="2805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(c)并联电压负反馈</a:t>
            </a:r>
            <a:endParaRPr lang="zh-CN" altLang="zh-CN" sz="2400">
              <a:latin typeface="Times New Roman" panose="02020603050405020304" pitchFamily="18" charset="0"/>
            </a:endParaRPr>
          </a:p>
        </p:txBody>
      </p:sp>
      <p:sp>
        <p:nvSpPr>
          <p:cNvPr id="26633" name="Rectangle 103"/>
          <p:cNvSpPr>
            <a:spLocks noChangeArrowheads="1"/>
          </p:cNvSpPr>
          <p:nvPr/>
        </p:nvSpPr>
        <p:spPr bwMode="auto">
          <a:xfrm>
            <a:off x="5410200" y="5232400"/>
            <a:ext cx="2738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(d)并联电流负反馈</a:t>
            </a:r>
            <a:endParaRPr lang="zh-CN" altLang="zh-CN" sz="2400">
              <a:latin typeface="Times New Roman" panose="02020603050405020304" pitchFamily="18" charset="0"/>
            </a:endParaRPr>
          </a:p>
        </p:txBody>
      </p:sp>
      <p:grpSp>
        <p:nvGrpSpPr>
          <p:cNvPr id="26634" name="Group 104"/>
          <p:cNvGrpSpPr/>
          <p:nvPr/>
        </p:nvGrpSpPr>
        <p:grpSpPr bwMode="auto">
          <a:xfrm>
            <a:off x="4543425" y="3225800"/>
            <a:ext cx="3919538" cy="1808163"/>
            <a:chOff x="0" y="0"/>
            <a:chExt cx="2469" cy="1139"/>
          </a:xfrm>
        </p:grpSpPr>
        <p:sp>
          <p:nvSpPr>
            <p:cNvPr id="26687" name="Rectangle 105"/>
            <p:cNvSpPr>
              <a:spLocks noChangeArrowheads="1"/>
            </p:cNvSpPr>
            <p:nvPr/>
          </p:nvSpPr>
          <p:spPr bwMode="auto">
            <a:xfrm>
              <a:off x="860" y="185"/>
              <a:ext cx="877" cy="48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688" name="Line 106"/>
            <p:cNvSpPr>
              <a:spLocks noChangeShapeType="1"/>
            </p:cNvSpPr>
            <p:nvPr/>
          </p:nvSpPr>
          <p:spPr bwMode="auto">
            <a:xfrm>
              <a:off x="1737" y="261"/>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9" name="Line 107"/>
            <p:cNvSpPr>
              <a:spLocks noChangeShapeType="1"/>
            </p:cNvSpPr>
            <p:nvPr/>
          </p:nvSpPr>
          <p:spPr bwMode="auto">
            <a:xfrm>
              <a:off x="2133" y="582"/>
              <a:ext cx="24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0" name="Line 108"/>
            <p:cNvSpPr>
              <a:spLocks noChangeShapeType="1"/>
            </p:cNvSpPr>
            <p:nvPr/>
          </p:nvSpPr>
          <p:spPr bwMode="auto">
            <a:xfrm>
              <a:off x="1104" y="320"/>
              <a:ext cx="32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1" name="Freeform 109"/>
            <p:cNvSpPr/>
            <p:nvPr/>
          </p:nvSpPr>
          <p:spPr bwMode="auto">
            <a:xfrm>
              <a:off x="1315" y="303"/>
              <a:ext cx="110" cy="43"/>
            </a:xfrm>
            <a:custGeom>
              <a:avLst/>
              <a:gdLst>
                <a:gd name="T0" fmla="*/ 0 w 110"/>
                <a:gd name="T1" fmla="*/ 0 h 43"/>
                <a:gd name="T2" fmla="*/ 25 w 110"/>
                <a:gd name="T3" fmla="*/ 17 h 43"/>
                <a:gd name="T4" fmla="*/ 0 w 110"/>
                <a:gd name="T5" fmla="*/ 43 h 43"/>
                <a:gd name="T6" fmla="*/ 110 w 110"/>
                <a:gd name="T7" fmla="*/ 17 h 43"/>
                <a:gd name="T8" fmla="*/ 0 w 110"/>
                <a:gd name="T9" fmla="*/ 0 h 43"/>
                <a:gd name="T10" fmla="*/ 0 60000 65536"/>
                <a:gd name="T11" fmla="*/ 0 60000 65536"/>
                <a:gd name="T12" fmla="*/ 0 60000 65536"/>
                <a:gd name="T13" fmla="*/ 0 60000 65536"/>
                <a:gd name="T14" fmla="*/ 0 60000 65536"/>
                <a:gd name="T15" fmla="*/ 0 w 110"/>
                <a:gd name="T16" fmla="*/ 0 h 43"/>
                <a:gd name="T17" fmla="*/ 110 w 110"/>
                <a:gd name="T18" fmla="*/ 43 h 43"/>
              </a:gdLst>
              <a:ahLst/>
              <a:cxnLst>
                <a:cxn ang="T10">
                  <a:pos x="T0" y="T1"/>
                </a:cxn>
                <a:cxn ang="T11">
                  <a:pos x="T2" y="T3"/>
                </a:cxn>
                <a:cxn ang="T12">
                  <a:pos x="T4" y="T5"/>
                </a:cxn>
                <a:cxn ang="T13">
                  <a:pos x="T6" y="T7"/>
                </a:cxn>
                <a:cxn ang="T14">
                  <a:pos x="T8" y="T9"/>
                </a:cxn>
              </a:cxnLst>
              <a:rect l="T15" t="T16" r="T17" b="T18"/>
              <a:pathLst>
                <a:path w="110" h="43">
                  <a:moveTo>
                    <a:pt x="0" y="0"/>
                  </a:moveTo>
                  <a:lnTo>
                    <a:pt x="25" y="17"/>
                  </a:lnTo>
                  <a:lnTo>
                    <a:pt x="0" y="43"/>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6692" name="Rectangle 110"/>
            <p:cNvSpPr>
              <a:spLocks noChangeArrowheads="1"/>
            </p:cNvSpPr>
            <p:nvPr/>
          </p:nvSpPr>
          <p:spPr bwMode="auto">
            <a:xfrm>
              <a:off x="1249" y="38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26693" name="Line 111"/>
            <p:cNvSpPr>
              <a:spLocks noChangeShapeType="1"/>
            </p:cNvSpPr>
            <p:nvPr/>
          </p:nvSpPr>
          <p:spPr bwMode="auto">
            <a:xfrm>
              <a:off x="1146" y="920"/>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4" name="Freeform 112"/>
            <p:cNvSpPr/>
            <p:nvPr/>
          </p:nvSpPr>
          <p:spPr bwMode="auto">
            <a:xfrm>
              <a:off x="1146" y="903"/>
              <a:ext cx="101" cy="42"/>
            </a:xfrm>
            <a:custGeom>
              <a:avLst/>
              <a:gdLst>
                <a:gd name="T0" fmla="*/ 101 w 101"/>
                <a:gd name="T1" fmla="*/ 0 h 42"/>
                <a:gd name="T2" fmla="*/ 85 w 101"/>
                <a:gd name="T3" fmla="*/ 17 h 42"/>
                <a:gd name="T4" fmla="*/ 101 w 101"/>
                <a:gd name="T5" fmla="*/ 42 h 42"/>
                <a:gd name="T6" fmla="*/ 0 w 101"/>
                <a:gd name="T7" fmla="*/ 17 h 42"/>
                <a:gd name="T8" fmla="*/ 101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101" y="0"/>
                  </a:moveTo>
                  <a:lnTo>
                    <a:pt x="85" y="17"/>
                  </a:lnTo>
                  <a:lnTo>
                    <a:pt x="101" y="42"/>
                  </a:lnTo>
                  <a:lnTo>
                    <a:pt x="0" y="17"/>
                  </a:lnTo>
                  <a:lnTo>
                    <a:pt x="101" y="0"/>
                  </a:lnTo>
                  <a:close/>
                </a:path>
              </a:pathLst>
            </a:custGeom>
            <a:solidFill>
              <a:srgbClr val="000000"/>
            </a:solidFill>
            <a:ln w="12700">
              <a:solidFill>
                <a:srgbClr val="000000"/>
              </a:solidFill>
              <a:round/>
            </a:ln>
          </p:spPr>
          <p:txBody>
            <a:bodyPr/>
            <a:lstStyle/>
            <a:p>
              <a:endParaRPr lang="zh-CN" altLang="en-US"/>
            </a:p>
          </p:txBody>
        </p:sp>
        <p:sp>
          <p:nvSpPr>
            <p:cNvPr id="26695" name="Rectangle 113"/>
            <p:cNvSpPr>
              <a:spLocks noChangeArrowheads="1"/>
            </p:cNvSpPr>
            <p:nvPr/>
          </p:nvSpPr>
          <p:spPr bwMode="auto">
            <a:xfrm>
              <a:off x="1282" y="92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696" name="Rectangle 114"/>
            <p:cNvSpPr>
              <a:spLocks noChangeArrowheads="1"/>
            </p:cNvSpPr>
            <p:nvPr/>
          </p:nvSpPr>
          <p:spPr bwMode="auto">
            <a:xfrm>
              <a:off x="986" y="818"/>
              <a:ext cx="633" cy="32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697" name="Line 115"/>
            <p:cNvSpPr>
              <a:spLocks noChangeShapeType="1"/>
            </p:cNvSpPr>
            <p:nvPr/>
          </p:nvSpPr>
          <p:spPr bwMode="auto">
            <a:xfrm>
              <a:off x="1619" y="903"/>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8" name="Line 116"/>
            <p:cNvSpPr>
              <a:spLocks noChangeShapeType="1"/>
            </p:cNvSpPr>
            <p:nvPr/>
          </p:nvSpPr>
          <p:spPr bwMode="auto">
            <a:xfrm>
              <a:off x="1619" y="1063"/>
              <a:ext cx="52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99" name="Line 117"/>
            <p:cNvSpPr>
              <a:spLocks noChangeShapeType="1"/>
            </p:cNvSpPr>
            <p:nvPr/>
          </p:nvSpPr>
          <p:spPr bwMode="auto">
            <a:xfrm>
              <a:off x="1897" y="582"/>
              <a:ext cx="1" cy="3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00" name="Line 118"/>
            <p:cNvSpPr>
              <a:spLocks noChangeShapeType="1"/>
            </p:cNvSpPr>
            <p:nvPr/>
          </p:nvSpPr>
          <p:spPr bwMode="auto">
            <a:xfrm>
              <a:off x="2141" y="582"/>
              <a:ext cx="1" cy="48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01" name="Freeform 119"/>
            <p:cNvSpPr/>
            <p:nvPr/>
          </p:nvSpPr>
          <p:spPr bwMode="auto">
            <a:xfrm>
              <a:off x="2378" y="244"/>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702" name="Freeform 120"/>
            <p:cNvSpPr/>
            <p:nvPr/>
          </p:nvSpPr>
          <p:spPr bwMode="auto">
            <a:xfrm>
              <a:off x="2378" y="565"/>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703" name="Rectangle 121"/>
            <p:cNvSpPr>
              <a:spLocks noChangeArrowheads="1"/>
            </p:cNvSpPr>
            <p:nvPr/>
          </p:nvSpPr>
          <p:spPr bwMode="auto">
            <a:xfrm>
              <a:off x="2353" y="354"/>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704" name="Rectangle 122"/>
            <p:cNvSpPr>
              <a:spLocks noChangeArrowheads="1"/>
            </p:cNvSpPr>
            <p:nvPr/>
          </p:nvSpPr>
          <p:spPr bwMode="auto">
            <a:xfrm>
              <a:off x="2429" y="414"/>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705" name="Rectangle 123"/>
            <p:cNvSpPr>
              <a:spLocks noChangeArrowheads="1"/>
            </p:cNvSpPr>
            <p:nvPr/>
          </p:nvSpPr>
          <p:spPr bwMode="auto">
            <a:xfrm>
              <a:off x="2397" y="253"/>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06" name="Line 124"/>
            <p:cNvSpPr>
              <a:spLocks noChangeShapeType="1"/>
            </p:cNvSpPr>
            <p:nvPr/>
          </p:nvSpPr>
          <p:spPr bwMode="auto">
            <a:xfrm>
              <a:off x="1737" y="582"/>
              <a:ext cx="160"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07" name="Freeform 125"/>
            <p:cNvSpPr/>
            <p:nvPr/>
          </p:nvSpPr>
          <p:spPr bwMode="auto">
            <a:xfrm>
              <a:off x="2107" y="353"/>
              <a:ext cx="137" cy="152"/>
            </a:xfrm>
            <a:custGeom>
              <a:avLst/>
              <a:gdLst>
                <a:gd name="T0" fmla="*/ 0 w 211"/>
                <a:gd name="T1" fmla="*/ 108 h 161"/>
                <a:gd name="T2" fmla="*/ 3 w 211"/>
                <a:gd name="T3" fmla="*/ 96 h 161"/>
                <a:gd name="T4" fmla="*/ 5 w 211"/>
                <a:gd name="T5" fmla="*/ 85 h 161"/>
                <a:gd name="T6" fmla="*/ 6 w 211"/>
                <a:gd name="T7" fmla="*/ 79 h 161"/>
                <a:gd name="T8" fmla="*/ 9 w 211"/>
                <a:gd name="T9" fmla="*/ 68 h 161"/>
                <a:gd name="T10" fmla="*/ 9 w 211"/>
                <a:gd name="T11" fmla="*/ 57 h 161"/>
                <a:gd name="T12" fmla="*/ 10 w 211"/>
                <a:gd name="T13" fmla="*/ 45 h 161"/>
                <a:gd name="T14" fmla="*/ 10 w 211"/>
                <a:gd name="T15" fmla="*/ 40 h 161"/>
                <a:gd name="T16" fmla="*/ 10 w 211"/>
                <a:gd name="T17" fmla="*/ 29 h 161"/>
                <a:gd name="T18" fmla="*/ 10 w 211"/>
                <a:gd name="T19" fmla="*/ 19 h 161"/>
                <a:gd name="T20" fmla="*/ 9 w 211"/>
                <a:gd name="T21" fmla="*/ 8 h 161"/>
                <a:gd name="T22" fmla="*/ 8 w 211"/>
                <a:gd name="T23" fmla="*/ 0 h 161"/>
                <a:gd name="T24" fmla="*/ 6 w 211"/>
                <a:gd name="T25" fmla="*/ 0 h 161"/>
                <a:gd name="T26" fmla="*/ 4 w 211"/>
                <a:gd name="T27" fmla="*/ 0 h 161"/>
                <a:gd name="T28" fmla="*/ 2 w 211"/>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1"/>
                <a:gd name="T46" fmla="*/ 0 h 161"/>
                <a:gd name="T47" fmla="*/ 211 w 211"/>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1" h="161">
                  <a:moveTo>
                    <a:pt x="0" y="161"/>
                  </a:moveTo>
                  <a:lnTo>
                    <a:pt x="59" y="144"/>
                  </a:lnTo>
                  <a:lnTo>
                    <a:pt x="101" y="127"/>
                  </a:lnTo>
                  <a:lnTo>
                    <a:pt x="143" y="119"/>
                  </a:lnTo>
                  <a:lnTo>
                    <a:pt x="177" y="102"/>
                  </a:lnTo>
                  <a:lnTo>
                    <a:pt x="194" y="85"/>
                  </a:lnTo>
                  <a:lnTo>
                    <a:pt x="211" y="68"/>
                  </a:lnTo>
                  <a:lnTo>
                    <a:pt x="211" y="60"/>
                  </a:lnTo>
                  <a:lnTo>
                    <a:pt x="211" y="43"/>
                  </a:lnTo>
                  <a:lnTo>
                    <a:pt x="202" y="26"/>
                  </a:lnTo>
                  <a:lnTo>
                    <a:pt x="177" y="9"/>
                  </a:lnTo>
                  <a:lnTo>
                    <a:pt x="152" y="0"/>
                  </a:lnTo>
                  <a:lnTo>
                    <a:pt x="126" y="0"/>
                  </a:lnTo>
                  <a:lnTo>
                    <a:pt x="84" y="0"/>
                  </a:lnTo>
                  <a:lnTo>
                    <a:pt x="42"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708" name="Freeform 126"/>
            <p:cNvSpPr/>
            <p:nvPr/>
          </p:nvSpPr>
          <p:spPr bwMode="auto">
            <a:xfrm>
              <a:off x="2051" y="328"/>
              <a:ext cx="102" cy="42"/>
            </a:xfrm>
            <a:custGeom>
              <a:avLst/>
              <a:gdLst>
                <a:gd name="T0" fmla="*/ 102 w 102"/>
                <a:gd name="T1" fmla="*/ 33 h 42"/>
                <a:gd name="T2" fmla="*/ 76 w 102"/>
                <a:gd name="T3" fmla="*/ 25 h 42"/>
                <a:gd name="T4" fmla="*/ 93 w 102"/>
                <a:gd name="T5" fmla="*/ 0 h 42"/>
                <a:gd name="T6" fmla="*/ 0 w 102"/>
                <a:gd name="T7" fmla="*/ 42 h 42"/>
                <a:gd name="T8" fmla="*/ 102 w 102"/>
                <a:gd name="T9" fmla="*/ 33 h 42"/>
                <a:gd name="T10" fmla="*/ 0 60000 65536"/>
                <a:gd name="T11" fmla="*/ 0 60000 65536"/>
                <a:gd name="T12" fmla="*/ 0 60000 65536"/>
                <a:gd name="T13" fmla="*/ 0 60000 65536"/>
                <a:gd name="T14" fmla="*/ 0 60000 65536"/>
                <a:gd name="T15" fmla="*/ 0 w 102"/>
                <a:gd name="T16" fmla="*/ 0 h 42"/>
                <a:gd name="T17" fmla="*/ 102 w 102"/>
                <a:gd name="T18" fmla="*/ 42 h 42"/>
              </a:gdLst>
              <a:ahLst/>
              <a:cxnLst>
                <a:cxn ang="T10">
                  <a:pos x="T0" y="T1"/>
                </a:cxn>
                <a:cxn ang="T11">
                  <a:pos x="T2" y="T3"/>
                </a:cxn>
                <a:cxn ang="T12">
                  <a:pos x="T4" y="T5"/>
                </a:cxn>
                <a:cxn ang="T13">
                  <a:pos x="T6" y="T7"/>
                </a:cxn>
                <a:cxn ang="T14">
                  <a:pos x="T8" y="T9"/>
                </a:cxn>
              </a:cxnLst>
              <a:rect l="T15" t="T16" r="T17" b="T18"/>
              <a:pathLst>
                <a:path w="102" h="42">
                  <a:moveTo>
                    <a:pt x="102" y="33"/>
                  </a:moveTo>
                  <a:lnTo>
                    <a:pt x="76" y="25"/>
                  </a:lnTo>
                  <a:lnTo>
                    <a:pt x="93" y="0"/>
                  </a:lnTo>
                  <a:lnTo>
                    <a:pt x="0" y="42"/>
                  </a:lnTo>
                  <a:lnTo>
                    <a:pt x="102" y="33"/>
                  </a:lnTo>
                  <a:close/>
                </a:path>
              </a:pathLst>
            </a:custGeom>
            <a:solidFill>
              <a:schemeClr val="hlink"/>
            </a:solidFill>
            <a:ln w="12700">
              <a:solidFill>
                <a:schemeClr val="hlink"/>
              </a:solidFill>
              <a:round/>
            </a:ln>
          </p:spPr>
          <p:txBody>
            <a:bodyPr/>
            <a:lstStyle/>
            <a:p>
              <a:endParaRPr lang="zh-CN" altLang="en-US"/>
            </a:p>
          </p:txBody>
        </p:sp>
        <p:sp>
          <p:nvSpPr>
            <p:cNvPr id="26709" name="Rectangle 127"/>
            <p:cNvSpPr>
              <a:spLocks noChangeArrowheads="1"/>
            </p:cNvSpPr>
            <p:nvPr/>
          </p:nvSpPr>
          <p:spPr bwMode="auto">
            <a:xfrm>
              <a:off x="1925" y="336"/>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10" name="Rectangle 128"/>
            <p:cNvSpPr>
              <a:spLocks noChangeArrowheads="1"/>
            </p:cNvSpPr>
            <p:nvPr/>
          </p:nvSpPr>
          <p:spPr bwMode="auto">
            <a:xfrm>
              <a:off x="1961" y="396"/>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711" name="Line 129"/>
            <p:cNvSpPr>
              <a:spLocks noChangeShapeType="1"/>
            </p:cNvSpPr>
            <p:nvPr/>
          </p:nvSpPr>
          <p:spPr bwMode="auto">
            <a:xfrm>
              <a:off x="25" y="261"/>
              <a:ext cx="83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2" name="Freeform 130"/>
            <p:cNvSpPr/>
            <p:nvPr/>
          </p:nvSpPr>
          <p:spPr bwMode="auto">
            <a:xfrm>
              <a:off x="25" y="244"/>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713" name="Line 131"/>
            <p:cNvSpPr>
              <a:spLocks noChangeShapeType="1"/>
            </p:cNvSpPr>
            <p:nvPr/>
          </p:nvSpPr>
          <p:spPr bwMode="auto">
            <a:xfrm>
              <a:off x="25" y="582"/>
              <a:ext cx="83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4" name="Line 132"/>
            <p:cNvSpPr>
              <a:spLocks noChangeShapeType="1"/>
            </p:cNvSpPr>
            <p:nvPr/>
          </p:nvSpPr>
          <p:spPr bwMode="auto">
            <a:xfrm>
              <a:off x="666" y="903"/>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5" name="Line 133"/>
            <p:cNvSpPr>
              <a:spLocks noChangeShapeType="1"/>
            </p:cNvSpPr>
            <p:nvPr/>
          </p:nvSpPr>
          <p:spPr bwMode="auto">
            <a:xfrm>
              <a:off x="666" y="261"/>
              <a:ext cx="1" cy="64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6" name="Line 134"/>
            <p:cNvSpPr>
              <a:spLocks noChangeShapeType="1"/>
            </p:cNvSpPr>
            <p:nvPr/>
          </p:nvSpPr>
          <p:spPr bwMode="auto">
            <a:xfrm>
              <a:off x="463" y="1063"/>
              <a:ext cx="5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7" name="Line 135"/>
            <p:cNvSpPr>
              <a:spLocks noChangeShapeType="1"/>
            </p:cNvSpPr>
            <p:nvPr/>
          </p:nvSpPr>
          <p:spPr bwMode="auto">
            <a:xfrm>
              <a:off x="463" y="582"/>
              <a:ext cx="1" cy="48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18" name="Freeform 136"/>
            <p:cNvSpPr/>
            <p:nvPr/>
          </p:nvSpPr>
          <p:spPr bwMode="auto">
            <a:xfrm>
              <a:off x="25" y="565"/>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719" name="Rectangle 137"/>
            <p:cNvSpPr>
              <a:spLocks noChangeArrowheads="1"/>
            </p:cNvSpPr>
            <p:nvPr/>
          </p:nvSpPr>
          <p:spPr bwMode="auto">
            <a:xfrm>
              <a:off x="0" y="36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720" name="Rectangle 138"/>
            <p:cNvSpPr>
              <a:spLocks noChangeArrowheads="1"/>
            </p:cNvSpPr>
            <p:nvPr/>
          </p:nvSpPr>
          <p:spPr bwMode="auto">
            <a:xfrm>
              <a:off x="76" y="422"/>
              <a:ext cx="3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s</a:t>
              </a:r>
              <a:endParaRPr lang="zh-CN" altLang="zh-CN" sz="2800">
                <a:latin typeface="Times New Roman" panose="02020603050405020304" pitchFamily="18" charset="0"/>
              </a:endParaRPr>
            </a:p>
          </p:txBody>
        </p:sp>
        <p:sp>
          <p:nvSpPr>
            <p:cNvPr id="26721" name="Rectangle 139"/>
            <p:cNvSpPr>
              <a:spLocks noChangeArrowheads="1"/>
            </p:cNvSpPr>
            <p:nvPr/>
          </p:nvSpPr>
          <p:spPr bwMode="auto">
            <a:xfrm>
              <a:off x="44" y="27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22" name="Freeform 140"/>
            <p:cNvSpPr/>
            <p:nvPr/>
          </p:nvSpPr>
          <p:spPr bwMode="auto">
            <a:xfrm>
              <a:off x="640" y="244"/>
              <a:ext cx="42" cy="34"/>
            </a:xfrm>
            <a:custGeom>
              <a:avLst/>
              <a:gdLst>
                <a:gd name="T0" fmla="*/ 0 w 42"/>
                <a:gd name="T1" fmla="*/ 17 h 34"/>
                <a:gd name="T2" fmla="*/ 9 w 42"/>
                <a:gd name="T3" fmla="*/ 0 h 34"/>
                <a:gd name="T4" fmla="*/ 34 w 42"/>
                <a:gd name="T5" fmla="*/ 0 h 34"/>
                <a:gd name="T6" fmla="*/ 42 w 42"/>
                <a:gd name="T7" fmla="*/ 17 h 34"/>
                <a:gd name="T8" fmla="*/ 34 w 42"/>
                <a:gd name="T9" fmla="*/ 34 h 34"/>
                <a:gd name="T10" fmla="*/ 9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9" y="0"/>
                  </a:lnTo>
                  <a:lnTo>
                    <a:pt x="34" y="0"/>
                  </a:lnTo>
                  <a:lnTo>
                    <a:pt x="42" y="17"/>
                  </a:lnTo>
                  <a:lnTo>
                    <a:pt x="34" y="34"/>
                  </a:lnTo>
                  <a:lnTo>
                    <a:pt x="9" y="34"/>
                  </a:lnTo>
                  <a:lnTo>
                    <a:pt x="0" y="17"/>
                  </a:lnTo>
                  <a:close/>
                </a:path>
              </a:pathLst>
            </a:custGeom>
            <a:solidFill>
              <a:srgbClr val="000000"/>
            </a:solidFill>
            <a:ln w="12700">
              <a:solidFill>
                <a:srgbClr val="000000"/>
              </a:solidFill>
              <a:round/>
            </a:ln>
          </p:spPr>
          <p:txBody>
            <a:bodyPr/>
            <a:lstStyle/>
            <a:p>
              <a:endParaRPr lang="zh-CN" altLang="en-US"/>
            </a:p>
          </p:txBody>
        </p:sp>
        <p:sp>
          <p:nvSpPr>
            <p:cNvPr id="26723" name="Freeform 141"/>
            <p:cNvSpPr/>
            <p:nvPr/>
          </p:nvSpPr>
          <p:spPr bwMode="auto">
            <a:xfrm>
              <a:off x="716" y="244"/>
              <a:ext cx="110" cy="42"/>
            </a:xfrm>
            <a:custGeom>
              <a:avLst/>
              <a:gdLst>
                <a:gd name="T0" fmla="*/ 0 w 110"/>
                <a:gd name="T1" fmla="*/ 0 h 42"/>
                <a:gd name="T2" fmla="*/ 17 w 110"/>
                <a:gd name="T3" fmla="*/ 17 h 42"/>
                <a:gd name="T4" fmla="*/ 0 w 110"/>
                <a:gd name="T5" fmla="*/ 42 h 42"/>
                <a:gd name="T6" fmla="*/ 110 w 110"/>
                <a:gd name="T7" fmla="*/ 17 h 42"/>
                <a:gd name="T8" fmla="*/ 0 w 110"/>
                <a:gd name="T9" fmla="*/ 0 h 42"/>
                <a:gd name="T10" fmla="*/ 0 60000 65536"/>
                <a:gd name="T11" fmla="*/ 0 60000 65536"/>
                <a:gd name="T12" fmla="*/ 0 60000 65536"/>
                <a:gd name="T13" fmla="*/ 0 60000 65536"/>
                <a:gd name="T14" fmla="*/ 0 60000 65536"/>
                <a:gd name="T15" fmla="*/ 0 w 110"/>
                <a:gd name="T16" fmla="*/ 0 h 42"/>
                <a:gd name="T17" fmla="*/ 110 w 110"/>
                <a:gd name="T18" fmla="*/ 42 h 42"/>
              </a:gdLst>
              <a:ahLst/>
              <a:cxnLst>
                <a:cxn ang="T10">
                  <a:pos x="T0" y="T1"/>
                </a:cxn>
                <a:cxn ang="T11">
                  <a:pos x="T2" y="T3"/>
                </a:cxn>
                <a:cxn ang="T12">
                  <a:pos x="T4" y="T5"/>
                </a:cxn>
                <a:cxn ang="T13">
                  <a:pos x="T6" y="T7"/>
                </a:cxn>
                <a:cxn ang="T14">
                  <a:pos x="T8" y="T9"/>
                </a:cxn>
              </a:cxnLst>
              <a:rect l="T15" t="T16" r="T17" b="T18"/>
              <a:pathLst>
                <a:path w="110" h="42">
                  <a:moveTo>
                    <a:pt x="0" y="0"/>
                  </a:moveTo>
                  <a:lnTo>
                    <a:pt x="17" y="17"/>
                  </a:lnTo>
                  <a:lnTo>
                    <a:pt x="0" y="42"/>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6724" name="Freeform 142"/>
            <p:cNvSpPr/>
            <p:nvPr/>
          </p:nvSpPr>
          <p:spPr bwMode="auto">
            <a:xfrm>
              <a:off x="480" y="244"/>
              <a:ext cx="101" cy="42"/>
            </a:xfrm>
            <a:custGeom>
              <a:avLst/>
              <a:gdLst>
                <a:gd name="T0" fmla="*/ 0 w 101"/>
                <a:gd name="T1" fmla="*/ 0 h 42"/>
                <a:gd name="T2" fmla="*/ 17 w 101"/>
                <a:gd name="T3" fmla="*/ 17 h 42"/>
                <a:gd name="T4" fmla="*/ 0 w 101"/>
                <a:gd name="T5" fmla="*/ 42 h 42"/>
                <a:gd name="T6" fmla="*/ 101 w 101"/>
                <a:gd name="T7" fmla="*/ 17 h 42"/>
                <a:gd name="T8" fmla="*/ 0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0" y="0"/>
                  </a:moveTo>
                  <a:lnTo>
                    <a:pt x="17" y="17"/>
                  </a:lnTo>
                  <a:lnTo>
                    <a:pt x="0" y="42"/>
                  </a:lnTo>
                  <a:lnTo>
                    <a:pt x="101" y="17"/>
                  </a:lnTo>
                  <a:lnTo>
                    <a:pt x="0" y="0"/>
                  </a:lnTo>
                  <a:close/>
                </a:path>
              </a:pathLst>
            </a:custGeom>
            <a:solidFill>
              <a:srgbClr val="000000"/>
            </a:solidFill>
            <a:ln w="12700">
              <a:solidFill>
                <a:srgbClr val="000000"/>
              </a:solidFill>
              <a:round/>
            </a:ln>
          </p:spPr>
          <p:txBody>
            <a:bodyPr/>
            <a:lstStyle/>
            <a:p>
              <a:endParaRPr lang="zh-CN" altLang="en-US"/>
            </a:p>
          </p:txBody>
        </p:sp>
        <p:sp>
          <p:nvSpPr>
            <p:cNvPr id="26725" name="Line 143"/>
            <p:cNvSpPr>
              <a:spLocks noChangeShapeType="1"/>
            </p:cNvSpPr>
            <p:nvPr/>
          </p:nvSpPr>
          <p:spPr bwMode="auto">
            <a:xfrm>
              <a:off x="227" y="261"/>
              <a:ext cx="194" cy="1"/>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726" name="Rectangle 144"/>
            <p:cNvSpPr>
              <a:spLocks noChangeArrowheads="1"/>
            </p:cNvSpPr>
            <p:nvPr/>
          </p:nvSpPr>
          <p:spPr bwMode="auto">
            <a:xfrm>
              <a:off x="227" y="227"/>
              <a:ext cx="194" cy="76"/>
            </a:xfrm>
            <a:prstGeom prst="rect">
              <a:avLst/>
            </a:prstGeom>
            <a:solidFill>
              <a:srgbClr val="FFFFFF"/>
            </a:solidFill>
            <a:ln w="12700">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727" name="Rectangle 145"/>
            <p:cNvSpPr>
              <a:spLocks noChangeArrowheads="1"/>
            </p:cNvSpPr>
            <p:nvPr/>
          </p:nvSpPr>
          <p:spPr bwMode="auto">
            <a:xfrm>
              <a:off x="270" y="5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R</a:t>
              </a:r>
              <a:endParaRPr lang="zh-CN" altLang="zh-CN" sz="2800">
                <a:latin typeface="Times New Roman" panose="02020603050405020304" pitchFamily="18" charset="0"/>
              </a:endParaRPr>
            </a:p>
          </p:txBody>
        </p:sp>
        <p:sp>
          <p:nvSpPr>
            <p:cNvPr id="26728" name="Rectangle 146"/>
            <p:cNvSpPr>
              <a:spLocks noChangeArrowheads="1"/>
            </p:cNvSpPr>
            <p:nvPr/>
          </p:nvSpPr>
          <p:spPr bwMode="auto">
            <a:xfrm>
              <a:off x="338" y="110"/>
              <a:ext cx="3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s</a:t>
              </a:r>
              <a:endParaRPr lang="zh-CN" altLang="zh-CN" sz="2800">
                <a:latin typeface="Times New Roman" panose="02020603050405020304" pitchFamily="18" charset="0"/>
              </a:endParaRPr>
            </a:p>
          </p:txBody>
        </p:sp>
        <p:sp>
          <p:nvSpPr>
            <p:cNvPr id="26729" name="Rectangle 147"/>
            <p:cNvSpPr>
              <a:spLocks noChangeArrowheads="1"/>
            </p:cNvSpPr>
            <p:nvPr/>
          </p:nvSpPr>
          <p:spPr bwMode="auto">
            <a:xfrm>
              <a:off x="521" y="101"/>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30" name="Rectangle 148"/>
            <p:cNvSpPr>
              <a:spLocks noChangeArrowheads="1"/>
            </p:cNvSpPr>
            <p:nvPr/>
          </p:nvSpPr>
          <p:spPr bwMode="auto">
            <a:xfrm>
              <a:off x="557" y="152"/>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31" name="Rectangle 149"/>
            <p:cNvSpPr>
              <a:spLocks noChangeArrowheads="1"/>
            </p:cNvSpPr>
            <p:nvPr/>
          </p:nvSpPr>
          <p:spPr bwMode="auto">
            <a:xfrm>
              <a:off x="550" y="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32" name="Rectangle 150"/>
            <p:cNvSpPr>
              <a:spLocks noChangeArrowheads="1"/>
            </p:cNvSpPr>
            <p:nvPr/>
          </p:nvSpPr>
          <p:spPr bwMode="auto">
            <a:xfrm>
              <a:off x="724" y="101"/>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33" name="Rectangle 151"/>
            <p:cNvSpPr>
              <a:spLocks noChangeArrowheads="1"/>
            </p:cNvSpPr>
            <p:nvPr/>
          </p:nvSpPr>
          <p:spPr bwMode="auto">
            <a:xfrm>
              <a:off x="759" y="152"/>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34" name="Rectangle 152"/>
            <p:cNvSpPr>
              <a:spLocks noChangeArrowheads="1"/>
            </p:cNvSpPr>
            <p:nvPr/>
          </p:nvSpPr>
          <p:spPr bwMode="auto">
            <a:xfrm>
              <a:off x="752" y="0"/>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35" name="Rectangle 153"/>
            <p:cNvSpPr>
              <a:spLocks noChangeArrowheads="1"/>
            </p:cNvSpPr>
            <p:nvPr/>
          </p:nvSpPr>
          <p:spPr bwMode="auto">
            <a:xfrm>
              <a:off x="753" y="5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36" name="Rectangle 154"/>
            <p:cNvSpPr>
              <a:spLocks noChangeArrowheads="1"/>
            </p:cNvSpPr>
            <p:nvPr/>
          </p:nvSpPr>
          <p:spPr bwMode="auto">
            <a:xfrm>
              <a:off x="732" y="388"/>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737" name="Rectangle 155"/>
            <p:cNvSpPr>
              <a:spLocks noChangeArrowheads="1"/>
            </p:cNvSpPr>
            <p:nvPr/>
          </p:nvSpPr>
          <p:spPr bwMode="auto">
            <a:xfrm>
              <a:off x="762" y="439"/>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738" name="Rectangle 156"/>
            <p:cNvSpPr>
              <a:spLocks noChangeArrowheads="1"/>
            </p:cNvSpPr>
            <p:nvPr/>
          </p:nvSpPr>
          <p:spPr bwMode="auto">
            <a:xfrm>
              <a:off x="752" y="287"/>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739" name="Freeform 157"/>
            <p:cNvSpPr/>
            <p:nvPr/>
          </p:nvSpPr>
          <p:spPr bwMode="auto">
            <a:xfrm>
              <a:off x="640" y="379"/>
              <a:ext cx="42" cy="110"/>
            </a:xfrm>
            <a:custGeom>
              <a:avLst/>
              <a:gdLst>
                <a:gd name="T0" fmla="*/ 42 w 42"/>
                <a:gd name="T1" fmla="*/ 0 h 110"/>
                <a:gd name="T2" fmla="*/ 26 w 42"/>
                <a:gd name="T3" fmla="*/ 26 h 110"/>
                <a:gd name="T4" fmla="*/ 0 w 42"/>
                <a:gd name="T5" fmla="*/ 0 h 110"/>
                <a:gd name="T6" fmla="*/ 26 w 42"/>
                <a:gd name="T7" fmla="*/ 110 h 110"/>
                <a:gd name="T8" fmla="*/ 42 w 42"/>
                <a:gd name="T9" fmla="*/ 0 h 110"/>
                <a:gd name="T10" fmla="*/ 0 60000 65536"/>
                <a:gd name="T11" fmla="*/ 0 60000 65536"/>
                <a:gd name="T12" fmla="*/ 0 60000 65536"/>
                <a:gd name="T13" fmla="*/ 0 60000 65536"/>
                <a:gd name="T14" fmla="*/ 0 60000 65536"/>
                <a:gd name="T15" fmla="*/ 0 w 42"/>
                <a:gd name="T16" fmla="*/ 0 h 110"/>
                <a:gd name="T17" fmla="*/ 42 w 42"/>
                <a:gd name="T18" fmla="*/ 110 h 110"/>
              </a:gdLst>
              <a:ahLst/>
              <a:cxnLst>
                <a:cxn ang="T10">
                  <a:pos x="T0" y="T1"/>
                </a:cxn>
                <a:cxn ang="T11">
                  <a:pos x="T2" y="T3"/>
                </a:cxn>
                <a:cxn ang="T12">
                  <a:pos x="T4" y="T5"/>
                </a:cxn>
                <a:cxn ang="T13">
                  <a:pos x="T6" y="T7"/>
                </a:cxn>
                <a:cxn ang="T14">
                  <a:pos x="T8" y="T9"/>
                </a:cxn>
              </a:cxnLst>
              <a:rect l="T15" t="T16" r="T17" b="T18"/>
              <a:pathLst>
                <a:path w="42" h="110">
                  <a:moveTo>
                    <a:pt x="42" y="0"/>
                  </a:moveTo>
                  <a:lnTo>
                    <a:pt x="26" y="26"/>
                  </a:lnTo>
                  <a:lnTo>
                    <a:pt x="0" y="0"/>
                  </a:lnTo>
                  <a:lnTo>
                    <a:pt x="26" y="110"/>
                  </a:lnTo>
                  <a:lnTo>
                    <a:pt x="42" y="0"/>
                  </a:lnTo>
                  <a:close/>
                </a:path>
              </a:pathLst>
            </a:custGeom>
            <a:solidFill>
              <a:srgbClr val="000000"/>
            </a:solidFill>
            <a:ln w="12700">
              <a:solidFill>
                <a:srgbClr val="000000"/>
              </a:solidFill>
              <a:round/>
            </a:ln>
          </p:spPr>
          <p:txBody>
            <a:bodyPr/>
            <a:lstStyle/>
            <a:p>
              <a:endParaRPr lang="zh-CN" altLang="en-US"/>
            </a:p>
          </p:txBody>
        </p:sp>
        <p:sp>
          <p:nvSpPr>
            <p:cNvPr id="26740" name="Freeform 158"/>
            <p:cNvSpPr/>
            <p:nvPr/>
          </p:nvSpPr>
          <p:spPr bwMode="auto">
            <a:xfrm>
              <a:off x="446" y="565"/>
              <a:ext cx="34" cy="34"/>
            </a:xfrm>
            <a:custGeom>
              <a:avLst/>
              <a:gdLst>
                <a:gd name="T0" fmla="*/ 0 w 34"/>
                <a:gd name="T1" fmla="*/ 17 h 34"/>
                <a:gd name="T2" fmla="*/ 9 w 34"/>
                <a:gd name="T3" fmla="*/ 0 h 34"/>
                <a:gd name="T4" fmla="*/ 26 w 34"/>
                <a:gd name="T5" fmla="*/ 0 h 34"/>
                <a:gd name="T6" fmla="*/ 34 w 34"/>
                <a:gd name="T7" fmla="*/ 17 h 34"/>
                <a:gd name="T8" fmla="*/ 26 w 34"/>
                <a:gd name="T9" fmla="*/ 34 h 34"/>
                <a:gd name="T10" fmla="*/ 9 w 34"/>
                <a:gd name="T11" fmla="*/ 34 h 34"/>
                <a:gd name="T12" fmla="*/ 0 w 34"/>
                <a:gd name="T13" fmla="*/ 17 h 34"/>
                <a:gd name="T14" fmla="*/ 0 60000 65536"/>
                <a:gd name="T15" fmla="*/ 0 60000 65536"/>
                <a:gd name="T16" fmla="*/ 0 60000 65536"/>
                <a:gd name="T17" fmla="*/ 0 60000 65536"/>
                <a:gd name="T18" fmla="*/ 0 60000 65536"/>
                <a:gd name="T19" fmla="*/ 0 60000 65536"/>
                <a:gd name="T20" fmla="*/ 0 60000 65536"/>
                <a:gd name="T21" fmla="*/ 0 w 34"/>
                <a:gd name="T22" fmla="*/ 0 h 34"/>
                <a:gd name="T23" fmla="*/ 34 w 34"/>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34">
                  <a:moveTo>
                    <a:pt x="0" y="17"/>
                  </a:moveTo>
                  <a:lnTo>
                    <a:pt x="9" y="0"/>
                  </a:lnTo>
                  <a:lnTo>
                    <a:pt x="26" y="0"/>
                  </a:lnTo>
                  <a:lnTo>
                    <a:pt x="34" y="17"/>
                  </a:lnTo>
                  <a:lnTo>
                    <a:pt x="26" y="34"/>
                  </a:lnTo>
                  <a:lnTo>
                    <a:pt x="9" y="34"/>
                  </a:lnTo>
                  <a:lnTo>
                    <a:pt x="0" y="17"/>
                  </a:lnTo>
                  <a:close/>
                </a:path>
              </a:pathLst>
            </a:custGeom>
            <a:solidFill>
              <a:srgbClr val="000000"/>
            </a:solidFill>
            <a:ln w="12700">
              <a:solidFill>
                <a:srgbClr val="000000"/>
              </a:solidFill>
              <a:round/>
            </a:ln>
          </p:spPr>
          <p:txBody>
            <a:bodyPr/>
            <a:lstStyle/>
            <a:p>
              <a:endParaRPr lang="zh-CN" altLang="en-US"/>
            </a:p>
          </p:txBody>
        </p:sp>
        <p:sp>
          <p:nvSpPr>
            <p:cNvPr id="26741" name="Rectangle 159"/>
            <p:cNvSpPr>
              <a:spLocks noChangeArrowheads="1"/>
            </p:cNvSpPr>
            <p:nvPr/>
          </p:nvSpPr>
          <p:spPr bwMode="auto">
            <a:xfrm>
              <a:off x="1942" y="216"/>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grpSp>
        <p:nvGrpSpPr>
          <p:cNvPr id="26635" name="Group 160"/>
          <p:cNvGrpSpPr/>
          <p:nvPr/>
        </p:nvGrpSpPr>
        <p:grpSpPr bwMode="auto">
          <a:xfrm>
            <a:off x="4551363" y="1112838"/>
            <a:ext cx="3905250" cy="1516062"/>
            <a:chOff x="0" y="0"/>
            <a:chExt cx="2460" cy="955"/>
          </a:xfrm>
        </p:grpSpPr>
        <p:sp>
          <p:nvSpPr>
            <p:cNvPr id="26637" name="Line 161"/>
            <p:cNvSpPr>
              <a:spLocks noChangeShapeType="1"/>
            </p:cNvSpPr>
            <p:nvPr/>
          </p:nvSpPr>
          <p:spPr bwMode="auto">
            <a:xfrm>
              <a:off x="16" y="76"/>
              <a:ext cx="83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38" name="Rectangle 162"/>
            <p:cNvSpPr>
              <a:spLocks noChangeArrowheads="1"/>
            </p:cNvSpPr>
            <p:nvPr/>
          </p:nvSpPr>
          <p:spPr bwMode="auto">
            <a:xfrm>
              <a:off x="851" y="0"/>
              <a:ext cx="877" cy="473"/>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639" name="Line 163"/>
            <p:cNvSpPr>
              <a:spLocks noChangeShapeType="1"/>
            </p:cNvSpPr>
            <p:nvPr/>
          </p:nvSpPr>
          <p:spPr bwMode="auto">
            <a:xfrm>
              <a:off x="538" y="397"/>
              <a:ext cx="31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0" name="Line 164"/>
            <p:cNvSpPr>
              <a:spLocks noChangeShapeType="1"/>
            </p:cNvSpPr>
            <p:nvPr/>
          </p:nvSpPr>
          <p:spPr bwMode="auto">
            <a:xfrm>
              <a:off x="1728" y="76"/>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1" name="Line 165"/>
            <p:cNvSpPr>
              <a:spLocks noChangeShapeType="1"/>
            </p:cNvSpPr>
            <p:nvPr/>
          </p:nvSpPr>
          <p:spPr bwMode="auto">
            <a:xfrm>
              <a:off x="2124" y="397"/>
              <a:ext cx="24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2" name="Line 166"/>
            <p:cNvSpPr>
              <a:spLocks noChangeShapeType="1"/>
            </p:cNvSpPr>
            <p:nvPr/>
          </p:nvSpPr>
          <p:spPr bwMode="auto">
            <a:xfrm>
              <a:off x="1095" y="136"/>
              <a:ext cx="32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3" name="Freeform 167"/>
            <p:cNvSpPr/>
            <p:nvPr/>
          </p:nvSpPr>
          <p:spPr bwMode="auto">
            <a:xfrm>
              <a:off x="1306" y="119"/>
              <a:ext cx="110" cy="42"/>
            </a:xfrm>
            <a:custGeom>
              <a:avLst/>
              <a:gdLst>
                <a:gd name="T0" fmla="*/ 0 w 110"/>
                <a:gd name="T1" fmla="*/ 0 h 42"/>
                <a:gd name="T2" fmla="*/ 25 w 110"/>
                <a:gd name="T3" fmla="*/ 17 h 42"/>
                <a:gd name="T4" fmla="*/ 0 w 110"/>
                <a:gd name="T5" fmla="*/ 42 h 42"/>
                <a:gd name="T6" fmla="*/ 110 w 110"/>
                <a:gd name="T7" fmla="*/ 17 h 42"/>
                <a:gd name="T8" fmla="*/ 0 w 110"/>
                <a:gd name="T9" fmla="*/ 0 h 42"/>
                <a:gd name="T10" fmla="*/ 0 60000 65536"/>
                <a:gd name="T11" fmla="*/ 0 60000 65536"/>
                <a:gd name="T12" fmla="*/ 0 60000 65536"/>
                <a:gd name="T13" fmla="*/ 0 60000 65536"/>
                <a:gd name="T14" fmla="*/ 0 60000 65536"/>
                <a:gd name="T15" fmla="*/ 0 w 110"/>
                <a:gd name="T16" fmla="*/ 0 h 42"/>
                <a:gd name="T17" fmla="*/ 110 w 110"/>
                <a:gd name="T18" fmla="*/ 42 h 42"/>
              </a:gdLst>
              <a:ahLst/>
              <a:cxnLst>
                <a:cxn ang="T10">
                  <a:pos x="T0" y="T1"/>
                </a:cxn>
                <a:cxn ang="T11">
                  <a:pos x="T2" y="T3"/>
                </a:cxn>
                <a:cxn ang="T12">
                  <a:pos x="T4" y="T5"/>
                </a:cxn>
                <a:cxn ang="T13">
                  <a:pos x="T6" y="T7"/>
                </a:cxn>
                <a:cxn ang="T14">
                  <a:pos x="T8" y="T9"/>
                </a:cxn>
              </a:cxnLst>
              <a:rect l="T15" t="T16" r="T17" b="T18"/>
              <a:pathLst>
                <a:path w="110" h="42">
                  <a:moveTo>
                    <a:pt x="0" y="0"/>
                  </a:moveTo>
                  <a:lnTo>
                    <a:pt x="25" y="17"/>
                  </a:lnTo>
                  <a:lnTo>
                    <a:pt x="0" y="42"/>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6644" name="Rectangle 168"/>
            <p:cNvSpPr>
              <a:spLocks noChangeArrowheads="1"/>
            </p:cNvSpPr>
            <p:nvPr/>
          </p:nvSpPr>
          <p:spPr bwMode="auto">
            <a:xfrm>
              <a:off x="1240" y="187"/>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26645" name="Line 169"/>
            <p:cNvSpPr>
              <a:spLocks noChangeShapeType="1"/>
            </p:cNvSpPr>
            <p:nvPr/>
          </p:nvSpPr>
          <p:spPr bwMode="auto">
            <a:xfrm>
              <a:off x="1137" y="735"/>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46" name="Freeform 170"/>
            <p:cNvSpPr/>
            <p:nvPr/>
          </p:nvSpPr>
          <p:spPr bwMode="auto">
            <a:xfrm>
              <a:off x="1137" y="718"/>
              <a:ext cx="101" cy="42"/>
            </a:xfrm>
            <a:custGeom>
              <a:avLst/>
              <a:gdLst>
                <a:gd name="T0" fmla="*/ 101 w 101"/>
                <a:gd name="T1" fmla="*/ 0 h 42"/>
                <a:gd name="T2" fmla="*/ 85 w 101"/>
                <a:gd name="T3" fmla="*/ 17 h 42"/>
                <a:gd name="T4" fmla="*/ 101 w 101"/>
                <a:gd name="T5" fmla="*/ 42 h 42"/>
                <a:gd name="T6" fmla="*/ 0 w 101"/>
                <a:gd name="T7" fmla="*/ 17 h 42"/>
                <a:gd name="T8" fmla="*/ 101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101" y="0"/>
                  </a:moveTo>
                  <a:lnTo>
                    <a:pt x="85" y="17"/>
                  </a:lnTo>
                  <a:lnTo>
                    <a:pt x="101" y="42"/>
                  </a:lnTo>
                  <a:lnTo>
                    <a:pt x="0" y="17"/>
                  </a:lnTo>
                  <a:lnTo>
                    <a:pt x="101" y="0"/>
                  </a:lnTo>
                  <a:close/>
                </a:path>
              </a:pathLst>
            </a:custGeom>
            <a:solidFill>
              <a:srgbClr val="000000"/>
            </a:solidFill>
            <a:ln w="12700">
              <a:solidFill>
                <a:srgbClr val="000000"/>
              </a:solidFill>
              <a:round/>
            </a:ln>
          </p:spPr>
          <p:txBody>
            <a:bodyPr/>
            <a:lstStyle/>
            <a:p>
              <a:endParaRPr lang="zh-CN" altLang="en-US"/>
            </a:p>
          </p:txBody>
        </p:sp>
        <p:sp>
          <p:nvSpPr>
            <p:cNvPr id="26647" name="Rectangle 171"/>
            <p:cNvSpPr>
              <a:spLocks noChangeArrowheads="1"/>
            </p:cNvSpPr>
            <p:nvPr/>
          </p:nvSpPr>
          <p:spPr bwMode="auto">
            <a:xfrm>
              <a:off x="1273" y="735"/>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648" name="Rectangle 172"/>
            <p:cNvSpPr>
              <a:spLocks noChangeArrowheads="1"/>
            </p:cNvSpPr>
            <p:nvPr/>
          </p:nvSpPr>
          <p:spPr bwMode="auto">
            <a:xfrm>
              <a:off x="977" y="634"/>
              <a:ext cx="633" cy="32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6649" name="Line 173"/>
            <p:cNvSpPr>
              <a:spLocks noChangeShapeType="1"/>
            </p:cNvSpPr>
            <p:nvPr/>
          </p:nvSpPr>
          <p:spPr bwMode="auto">
            <a:xfrm>
              <a:off x="1610" y="718"/>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0" name="Line 174"/>
            <p:cNvSpPr>
              <a:spLocks noChangeShapeType="1"/>
            </p:cNvSpPr>
            <p:nvPr/>
          </p:nvSpPr>
          <p:spPr bwMode="auto">
            <a:xfrm>
              <a:off x="1610" y="879"/>
              <a:ext cx="52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1" name="Line 175"/>
            <p:cNvSpPr>
              <a:spLocks noChangeShapeType="1"/>
            </p:cNvSpPr>
            <p:nvPr/>
          </p:nvSpPr>
          <p:spPr bwMode="auto">
            <a:xfrm>
              <a:off x="1888" y="397"/>
              <a:ext cx="1" cy="3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2" name="Line 176"/>
            <p:cNvSpPr>
              <a:spLocks noChangeShapeType="1"/>
            </p:cNvSpPr>
            <p:nvPr/>
          </p:nvSpPr>
          <p:spPr bwMode="auto">
            <a:xfrm>
              <a:off x="2132"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53" name="Freeform 177"/>
            <p:cNvSpPr/>
            <p:nvPr/>
          </p:nvSpPr>
          <p:spPr bwMode="auto">
            <a:xfrm>
              <a:off x="2369" y="60"/>
              <a:ext cx="42" cy="33"/>
            </a:xfrm>
            <a:custGeom>
              <a:avLst/>
              <a:gdLst>
                <a:gd name="T0" fmla="*/ 0 w 42"/>
                <a:gd name="T1" fmla="*/ 16 h 33"/>
                <a:gd name="T2" fmla="*/ 8 w 42"/>
                <a:gd name="T3" fmla="*/ 0 h 33"/>
                <a:gd name="T4" fmla="*/ 33 w 42"/>
                <a:gd name="T5" fmla="*/ 0 h 33"/>
                <a:gd name="T6" fmla="*/ 42 w 42"/>
                <a:gd name="T7" fmla="*/ 16 h 33"/>
                <a:gd name="T8" fmla="*/ 33 w 42"/>
                <a:gd name="T9" fmla="*/ 33 h 33"/>
                <a:gd name="T10" fmla="*/ 8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8" y="0"/>
                  </a:lnTo>
                  <a:lnTo>
                    <a:pt x="33" y="0"/>
                  </a:lnTo>
                  <a:lnTo>
                    <a:pt x="42" y="16"/>
                  </a:lnTo>
                  <a:lnTo>
                    <a:pt x="33" y="33"/>
                  </a:lnTo>
                  <a:lnTo>
                    <a:pt x="8" y="33"/>
                  </a:lnTo>
                  <a:lnTo>
                    <a:pt x="0" y="16"/>
                  </a:lnTo>
                  <a:close/>
                </a:path>
              </a:pathLst>
            </a:custGeom>
            <a:solidFill>
              <a:srgbClr val="FFFFFF"/>
            </a:solidFill>
            <a:ln w="12700">
              <a:solidFill>
                <a:srgbClr val="000000"/>
              </a:solidFill>
              <a:round/>
            </a:ln>
          </p:spPr>
          <p:txBody>
            <a:bodyPr/>
            <a:lstStyle/>
            <a:p>
              <a:endParaRPr lang="zh-CN" altLang="en-US"/>
            </a:p>
          </p:txBody>
        </p:sp>
        <p:sp>
          <p:nvSpPr>
            <p:cNvPr id="26654" name="Freeform 178"/>
            <p:cNvSpPr/>
            <p:nvPr/>
          </p:nvSpPr>
          <p:spPr bwMode="auto">
            <a:xfrm>
              <a:off x="2369" y="380"/>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655" name="Rectangle 179"/>
            <p:cNvSpPr>
              <a:spLocks noChangeArrowheads="1"/>
            </p:cNvSpPr>
            <p:nvPr/>
          </p:nvSpPr>
          <p:spPr bwMode="auto">
            <a:xfrm>
              <a:off x="2344" y="17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656" name="Rectangle 180"/>
            <p:cNvSpPr>
              <a:spLocks noChangeArrowheads="1"/>
            </p:cNvSpPr>
            <p:nvPr/>
          </p:nvSpPr>
          <p:spPr bwMode="auto">
            <a:xfrm>
              <a:off x="2420" y="229"/>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657" name="Rectangle 181"/>
            <p:cNvSpPr>
              <a:spLocks noChangeArrowheads="1"/>
            </p:cNvSpPr>
            <p:nvPr/>
          </p:nvSpPr>
          <p:spPr bwMode="auto">
            <a:xfrm>
              <a:off x="2388" y="68"/>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58" name="Freeform 182"/>
            <p:cNvSpPr/>
            <p:nvPr/>
          </p:nvSpPr>
          <p:spPr bwMode="auto">
            <a:xfrm>
              <a:off x="16" y="60"/>
              <a:ext cx="42" cy="33"/>
            </a:xfrm>
            <a:custGeom>
              <a:avLst/>
              <a:gdLst>
                <a:gd name="T0" fmla="*/ 0 w 42"/>
                <a:gd name="T1" fmla="*/ 16 h 33"/>
                <a:gd name="T2" fmla="*/ 8 w 42"/>
                <a:gd name="T3" fmla="*/ 0 h 33"/>
                <a:gd name="T4" fmla="*/ 33 w 42"/>
                <a:gd name="T5" fmla="*/ 0 h 33"/>
                <a:gd name="T6" fmla="*/ 42 w 42"/>
                <a:gd name="T7" fmla="*/ 16 h 33"/>
                <a:gd name="T8" fmla="*/ 33 w 42"/>
                <a:gd name="T9" fmla="*/ 33 h 33"/>
                <a:gd name="T10" fmla="*/ 8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8" y="0"/>
                  </a:lnTo>
                  <a:lnTo>
                    <a:pt x="33" y="0"/>
                  </a:lnTo>
                  <a:lnTo>
                    <a:pt x="42" y="16"/>
                  </a:lnTo>
                  <a:lnTo>
                    <a:pt x="33" y="33"/>
                  </a:lnTo>
                  <a:lnTo>
                    <a:pt x="8" y="33"/>
                  </a:lnTo>
                  <a:lnTo>
                    <a:pt x="0" y="16"/>
                  </a:lnTo>
                  <a:close/>
                </a:path>
              </a:pathLst>
            </a:custGeom>
            <a:solidFill>
              <a:srgbClr val="FFFFFF"/>
            </a:solidFill>
            <a:ln w="12700">
              <a:solidFill>
                <a:srgbClr val="000000"/>
              </a:solidFill>
              <a:round/>
            </a:ln>
          </p:spPr>
          <p:txBody>
            <a:bodyPr/>
            <a:lstStyle/>
            <a:p>
              <a:endParaRPr lang="zh-CN" altLang="en-US"/>
            </a:p>
          </p:txBody>
        </p:sp>
        <p:sp>
          <p:nvSpPr>
            <p:cNvPr id="26659" name="Line 183"/>
            <p:cNvSpPr>
              <a:spLocks noChangeShapeType="1"/>
            </p:cNvSpPr>
            <p:nvPr/>
          </p:nvSpPr>
          <p:spPr bwMode="auto">
            <a:xfrm>
              <a:off x="16" y="397"/>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60" name="Line 184"/>
            <p:cNvSpPr>
              <a:spLocks noChangeShapeType="1"/>
            </p:cNvSpPr>
            <p:nvPr/>
          </p:nvSpPr>
          <p:spPr bwMode="auto">
            <a:xfrm>
              <a:off x="538" y="718"/>
              <a:ext cx="43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61" name="Line 185"/>
            <p:cNvSpPr>
              <a:spLocks noChangeShapeType="1"/>
            </p:cNvSpPr>
            <p:nvPr/>
          </p:nvSpPr>
          <p:spPr bwMode="auto">
            <a:xfrm>
              <a:off x="538" y="397"/>
              <a:ext cx="1" cy="3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62" name="Line 186"/>
            <p:cNvSpPr>
              <a:spLocks noChangeShapeType="1"/>
            </p:cNvSpPr>
            <p:nvPr/>
          </p:nvSpPr>
          <p:spPr bwMode="auto">
            <a:xfrm>
              <a:off x="294" y="879"/>
              <a:ext cx="68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63" name="Line 187"/>
            <p:cNvSpPr>
              <a:spLocks noChangeShapeType="1"/>
            </p:cNvSpPr>
            <p:nvPr/>
          </p:nvSpPr>
          <p:spPr bwMode="auto">
            <a:xfrm>
              <a:off x="294"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64" name="Freeform 188"/>
            <p:cNvSpPr/>
            <p:nvPr/>
          </p:nvSpPr>
          <p:spPr bwMode="auto">
            <a:xfrm>
              <a:off x="16" y="380"/>
              <a:ext cx="42" cy="34"/>
            </a:xfrm>
            <a:custGeom>
              <a:avLst/>
              <a:gdLst>
                <a:gd name="T0" fmla="*/ 0 w 42"/>
                <a:gd name="T1" fmla="*/ 17 h 34"/>
                <a:gd name="T2" fmla="*/ 8 w 42"/>
                <a:gd name="T3" fmla="*/ 0 h 34"/>
                <a:gd name="T4" fmla="*/ 33 w 42"/>
                <a:gd name="T5" fmla="*/ 0 h 34"/>
                <a:gd name="T6" fmla="*/ 42 w 42"/>
                <a:gd name="T7" fmla="*/ 17 h 34"/>
                <a:gd name="T8" fmla="*/ 33 w 42"/>
                <a:gd name="T9" fmla="*/ 34 h 34"/>
                <a:gd name="T10" fmla="*/ 8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8" y="0"/>
                  </a:lnTo>
                  <a:lnTo>
                    <a:pt x="33" y="0"/>
                  </a:lnTo>
                  <a:lnTo>
                    <a:pt x="42" y="17"/>
                  </a:lnTo>
                  <a:lnTo>
                    <a:pt x="33" y="34"/>
                  </a:lnTo>
                  <a:lnTo>
                    <a:pt x="8" y="34"/>
                  </a:lnTo>
                  <a:lnTo>
                    <a:pt x="0" y="17"/>
                  </a:lnTo>
                  <a:close/>
                </a:path>
              </a:pathLst>
            </a:custGeom>
            <a:solidFill>
              <a:srgbClr val="FFFFFF"/>
            </a:solidFill>
            <a:ln w="12700">
              <a:solidFill>
                <a:srgbClr val="000000"/>
              </a:solidFill>
              <a:round/>
            </a:ln>
          </p:spPr>
          <p:txBody>
            <a:bodyPr/>
            <a:lstStyle/>
            <a:p>
              <a:endParaRPr lang="zh-CN" altLang="en-US"/>
            </a:p>
          </p:txBody>
        </p:sp>
        <p:sp>
          <p:nvSpPr>
            <p:cNvPr id="26665" name="Rectangle 189"/>
            <p:cNvSpPr>
              <a:spLocks noChangeArrowheads="1"/>
            </p:cNvSpPr>
            <p:nvPr/>
          </p:nvSpPr>
          <p:spPr bwMode="auto">
            <a:xfrm>
              <a:off x="88" y="67"/>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66" name="Rectangle 190"/>
            <p:cNvSpPr>
              <a:spLocks noChangeArrowheads="1"/>
            </p:cNvSpPr>
            <p:nvPr/>
          </p:nvSpPr>
          <p:spPr bwMode="auto">
            <a:xfrm>
              <a:off x="88" y="28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67" name="Rectangle 191"/>
            <p:cNvSpPr>
              <a:spLocks noChangeArrowheads="1"/>
            </p:cNvSpPr>
            <p:nvPr/>
          </p:nvSpPr>
          <p:spPr bwMode="auto">
            <a:xfrm>
              <a:off x="0" y="17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668" name="Rectangle 192"/>
            <p:cNvSpPr>
              <a:spLocks noChangeArrowheads="1"/>
            </p:cNvSpPr>
            <p:nvPr/>
          </p:nvSpPr>
          <p:spPr bwMode="auto">
            <a:xfrm>
              <a:off x="112" y="237"/>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669" name="Rectangle 193"/>
            <p:cNvSpPr>
              <a:spLocks noChangeArrowheads="1"/>
            </p:cNvSpPr>
            <p:nvPr/>
          </p:nvSpPr>
          <p:spPr bwMode="auto">
            <a:xfrm>
              <a:off x="42" y="67"/>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0" name="Rectangle 194"/>
            <p:cNvSpPr>
              <a:spLocks noChangeArrowheads="1"/>
            </p:cNvSpPr>
            <p:nvPr/>
          </p:nvSpPr>
          <p:spPr bwMode="auto">
            <a:xfrm>
              <a:off x="145"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1" name="Rectangle 195"/>
            <p:cNvSpPr>
              <a:spLocks noChangeArrowheads="1"/>
            </p:cNvSpPr>
            <p:nvPr/>
          </p:nvSpPr>
          <p:spPr bwMode="auto">
            <a:xfrm>
              <a:off x="558"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2" name="Rectangle 196"/>
            <p:cNvSpPr>
              <a:spLocks noChangeArrowheads="1"/>
            </p:cNvSpPr>
            <p:nvPr/>
          </p:nvSpPr>
          <p:spPr bwMode="auto">
            <a:xfrm>
              <a:off x="388" y="42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673" name="Rectangle 197"/>
            <p:cNvSpPr>
              <a:spLocks noChangeArrowheads="1"/>
            </p:cNvSpPr>
            <p:nvPr/>
          </p:nvSpPr>
          <p:spPr bwMode="auto">
            <a:xfrm>
              <a:off x="485" y="483"/>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6674" name="Rectangle 198"/>
            <p:cNvSpPr>
              <a:spLocks noChangeArrowheads="1"/>
            </p:cNvSpPr>
            <p:nvPr/>
          </p:nvSpPr>
          <p:spPr bwMode="auto">
            <a:xfrm>
              <a:off x="431" y="322"/>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5" name="Rectangle 199"/>
            <p:cNvSpPr>
              <a:spLocks noChangeArrowheads="1"/>
            </p:cNvSpPr>
            <p:nvPr/>
          </p:nvSpPr>
          <p:spPr bwMode="auto">
            <a:xfrm>
              <a:off x="622" y="21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6676" name="Rectangle 200"/>
            <p:cNvSpPr>
              <a:spLocks noChangeArrowheads="1"/>
            </p:cNvSpPr>
            <p:nvPr/>
          </p:nvSpPr>
          <p:spPr bwMode="auto">
            <a:xfrm>
              <a:off x="725" y="263"/>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677" name="Rectangle 201"/>
            <p:cNvSpPr>
              <a:spLocks noChangeArrowheads="1"/>
            </p:cNvSpPr>
            <p:nvPr/>
          </p:nvSpPr>
          <p:spPr bwMode="auto">
            <a:xfrm>
              <a:off x="664" y="93"/>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8" name="Rectangle 202"/>
            <p:cNvSpPr>
              <a:spLocks noChangeArrowheads="1"/>
            </p:cNvSpPr>
            <p:nvPr/>
          </p:nvSpPr>
          <p:spPr bwMode="auto">
            <a:xfrm>
              <a:off x="736" y="185"/>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79" name="Line 203"/>
            <p:cNvSpPr>
              <a:spLocks noChangeShapeType="1"/>
            </p:cNvSpPr>
            <p:nvPr/>
          </p:nvSpPr>
          <p:spPr bwMode="auto">
            <a:xfrm>
              <a:off x="1728" y="397"/>
              <a:ext cx="160"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680" name="Freeform 204"/>
            <p:cNvSpPr/>
            <p:nvPr/>
          </p:nvSpPr>
          <p:spPr bwMode="auto">
            <a:xfrm>
              <a:off x="2096" y="178"/>
              <a:ext cx="211" cy="160"/>
            </a:xfrm>
            <a:custGeom>
              <a:avLst/>
              <a:gdLst>
                <a:gd name="T0" fmla="*/ 0 w 211"/>
                <a:gd name="T1" fmla="*/ 160 h 160"/>
                <a:gd name="T2" fmla="*/ 59 w 211"/>
                <a:gd name="T3" fmla="*/ 143 h 160"/>
                <a:gd name="T4" fmla="*/ 101 w 211"/>
                <a:gd name="T5" fmla="*/ 126 h 160"/>
                <a:gd name="T6" fmla="*/ 143 w 211"/>
                <a:gd name="T7" fmla="*/ 118 h 160"/>
                <a:gd name="T8" fmla="*/ 177 w 211"/>
                <a:gd name="T9" fmla="*/ 101 h 160"/>
                <a:gd name="T10" fmla="*/ 194 w 211"/>
                <a:gd name="T11" fmla="*/ 84 h 160"/>
                <a:gd name="T12" fmla="*/ 211 w 211"/>
                <a:gd name="T13" fmla="*/ 67 h 160"/>
                <a:gd name="T14" fmla="*/ 211 w 211"/>
                <a:gd name="T15" fmla="*/ 59 h 160"/>
                <a:gd name="T16" fmla="*/ 211 w 211"/>
                <a:gd name="T17" fmla="*/ 42 h 160"/>
                <a:gd name="T18" fmla="*/ 202 w 211"/>
                <a:gd name="T19" fmla="*/ 25 h 160"/>
                <a:gd name="T20" fmla="*/ 177 w 211"/>
                <a:gd name="T21" fmla="*/ 8 h 160"/>
                <a:gd name="T22" fmla="*/ 152 w 211"/>
                <a:gd name="T23" fmla="*/ 0 h 160"/>
                <a:gd name="T24" fmla="*/ 126 w 211"/>
                <a:gd name="T25" fmla="*/ 0 h 160"/>
                <a:gd name="T26" fmla="*/ 84 w 211"/>
                <a:gd name="T27" fmla="*/ 0 h 160"/>
                <a:gd name="T28" fmla="*/ 42 w 211"/>
                <a:gd name="T29" fmla="*/ 0 h 1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1"/>
                <a:gd name="T46" fmla="*/ 0 h 160"/>
                <a:gd name="T47" fmla="*/ 211 w 211"/>
                <a:gd name="T48" fmla="*/ 160 h 1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1" h="160">
                  <a:moveTo>
                    <a:pt x="0" y="160"/>
                  </a:moveTo>
                  <a:lnTo>
                    <a:pt x="59" y="143"/>
                  </a:lnTo>
                  <a:lnTo>
                    <a:pt x="101" y="126"/>
                  </a:lnTo>
                  <a:lnTo>
                    <a:pt x="143" y="118"/>
                  </a:lnTo>
                  <a:lnTo>
                    <a:pt x="177" y="101"/>
                  </a:lnTo>
                  <a:lnTo>
                    <a:pt x="194" y="84"/>
                  </a:lnTo>
                  <a:lnTo>
                    <a:pt x="211" y="67"/>
                  </a:lnTo>
                  <a:lnTo>
                    <a:pt x="211" y="59"/>
                  </a:lnTo>
                  <a:lnTo>
                    <a:pt x="211" y="42"/>
                  </a:lnTo>
                  <a:lnTo>
                    <a:pt x="202" y="25"/>
                  </a:lnTo>
                  <a:lnTo>
                    <a:pt x="177" y="8"/>
                  </a:lnTo>
                  <a:lnTo>
                    <a:pt x="152" y="0"/>
                  </a:lnTo>
                  <a:lnTo>
                    <a:pt x="126" y="0"/>
                  </a:lnTo>
                  <a:lnTo>
                    <a:pt x="84" y="0"/>
                  </a:lnTo>
                  <a:lnTo>
                    <a:pt x="42"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1" name="Freeform 205"/>
            <p:cNvSpPr/>
            <p:nvPr/>
          </p:nvSpPr>
          <p:spPr bwMode="auto">
            <a:xfrm>
              <a:off x="2051" y="152"/>
              <a:ext cx="102" cy="42"/>
            </a:xfrm>
            <a:custGeom>
              <a:avLst/>
              <a:gdLst>
                <a:gd name="T0" fmla="*/ 102 w 102"/>
                <a:gd name="T1" fmla="*/ 34 h 42"/>
                <a:gd name="T2" fmla="*/ 76 w 102"/>
                <a:gd name="T3" fmla="*/ 25 h 42"/>
                <a:gd name="T4" fmla="*/ 93 w 102"/>
                <a:gd name="T5" fmla="*/ 0 h 42"/>
                <a:gd name="T6" fmla="*/ 0 w 102"/>
                <a:gd name="T7" fmla="*/ 42 h 42"/>
                <a:gd name="T8" fmla="*/ 102 w 102"/>
                <a:gd name="T9" fmla="*/ 34 h 42"/>
                <a:gd name="T10" fmla="*/ 0 60000 65536"/>
                <a:gd name="T11" fmla="*/ 0 60000 65536"/>
                <a:gd name="T12" fmla="*/ 0 60000 65536"/>
                <a:gd name="T13" fmla="*/ 0 60000 65536"/>
                <a:gd name="T14" fmla="*/ 0 60000 65536"/>
                <a:gd name="T15" fmla="*/ 0 w 102"/>
                <a:gd name="T16" fmla="*/ 0 h 42"/>
                <a:gd name="T17" fmla="*/ 102 w 102"/>
                <a:gd name="T18" fmla="*/ 42 h 42"/>
              </a:gdLst>
              <a:ahLst/>
              <a:cxnLst>
                <a:cxn ang="T10">
                  <a:pos x="T0" y="T1"/>
                </a:cxn>
                <a:cxn ang="T11">
                  <a:pos x="T2" y="T3"/>
                </a:cxn>
                <a:cxn ang="T12">
                  <a:pos x="T4" y="T5"/>
                </a:cxn>
                <a:cxn ang="T13">
                  <a:pos x="T6" y="T7"/>
                </a:cxn>
                <a:cxn ang="T14">
                  <a:pos x="T8" y="T9"/>
                </a:cxn>
              </a:cxnLst>
              <a:rect l="T15" t="T16" r="T17" b="T18"/>
              <a:pathLst>
                <a:path w="102" h="42">
                  <a:moveTo>
                    <a:pt x="102" y="34"/>
                  </a:moveTo>
                  <a:lnTo>
                    <a:pt x="76" y="25"/>
                  </a:lnTo>
                  <a:lnTo>
                    <a:pt x="93" y="0"/>
                  </a:lnTo>
                  <a:lnTo>
                    <a:pt x="0" y="42"/>
                  </a:lnTo>
                  <a:lnTo>
                    <a:pt x="102" y="34"/>
                  </a:lnTo>
                  <a:close/>
                </a:path>
              </a:pathLst>
            </a:custGeom>
            <a:solidFill>
              <a:schemeClr val="hlink"/>
            </a:solidFill>
            <a:ln w="12700">
              <a:solidFill>
                <a:schemeClr val="hlink"/>
              </a:solidFill>
              <a:round/>
            </a:ln>
          </p:spPr>
          <p:txBody>
            <a:bodyPr/>
            <a:lstStyle/>
            <a:p>
              <a:endParaRPr lang="zh-CN" altLang="en-US"/>
            </a:p>
          </p:txBody>
        </p:sp>
        <p:sp>
          <p:nvSpPr>
            <p:cNvPr id="26682" name="Rectangle 206"/>
            <p:cNvSpPr>
              <a:spLocks noChangeArrowheads="1"/>
            </p:cNvSpPr>
            <p:nvPr/>
          </p:nvSpPr>
          <p:spPr bwMode="auto">
            <a:xfrm>
              <a:off x="1916" y="152"/>
              <a:ext cx="4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6683" name="Rectangle 207"/>
            <p:cNvSpPr>
              <a:spLocks noChangeArrowheads="1"/>
            </p:cNvSpPr>
            <p:nvPr/>
          </p:nvSpPr>
          <p:spPr bwMode="auto">
            <a:xfrm>
              <a:off x="1952" y="211"/>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6684" name="Rectangle 208"/>
            <p:cNvSpPr>
              <a:spLocks noChangeArrowheads="1"/>
            </p:cNvSpPr>
            <p:nvPr/>
          </p:nvSpPr>
          <p:spPr bwMode="auto">
            <a:xfrm>
              <a:off x="735" y="77"/>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85" name="Rectangle 209"/>
            <p:cNvSpPr>
              <a:spLocks noChangeArrowheads="1"/>
            </p:cNvSpPr>
            <p:nvPr/>
          </p:nvSpPr>
          <p:spPr bwMode="auto">
            <a:xfrm>
              <a:off x="769" y="28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6686" name="Rectangle 210"/>
            <p:cNvSpPr>
              <a:spLocks noChangeArrowheads="1"/>
            </p:cNvSpPr>
            <p:nvPr/>
          </p:nvSpPr>
          <p:spPr bwMode="auto">
            <a:xfrm>
              <a:off x="1929" y="35"/>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
        <p:nvSpPr>
          <p:cNvPr id="26636" name="Rectangle 211"/>
          <p:cNvSpPr>
            <a:spLocks noChangeArrowheads="1"/>
          </p:cNvSpPr>
          <p:nvPr/>
        </p:nvSpPr>
        <p:spPr bwMode="auto">
          <a:xfrm>
            <a:off x="412750" y="252413"/>
            <a:ext cx="5319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三、四种基本反馈类型</a:t>
            </a:r>
            <a:endParaRPr lang="zh-CN" altLang="zh-CN">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DB2B907-B07F-410C-9A91-B537DC65A6BF}" type="slidenum">
              <a:rPr lang="zh-CN" altLang="zh-CN" sz="1400" smtClean="0"/>
            </a:fld>
            <a:endParaRPr lang="zh-CN" altLang="zh-CN" sz="1400" smtClean="0"/>
          </a:p>
        </p:txBody>
      </p:sp>
      <p:grpSp>
        <p:nvGrpSpPr>
          <p:cNvPr id="27651" name="Group 2"/>
          <p:cNvGrpSpPr/>
          <p:nvPr/>
        </p:nvGrpSpPr>
        <p:grpSpPr bwMode="auto">
          <a:xfrm>
            <a:off x="2535238" y="427038"/>
            <a:ext cx="3906837" cy="1516062"/>
            <a:chOff x="0" y="0"/>
            <a:chExt cx="2461" cy="955"/>
          </a:xfrm>
        </p:grpSpPr>
        <p:sp>
          <p:nvSpPr>
            <p:cNvPr id="27662" name="Rectangle 3"/>
            <p:cNvSpPr>
              <a:spLocks noChangeArrowheads="1"/>
            </p:cNvSpPr>
            <p:nvPr/>
          </p:nvSpPr>
          <p:spPr bwMode="auto">
            <a:xfrm>
              <a:off x="0" y="178"/>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7663" name="Rectangle 4"/>
            <p:cNvSpPr>
              <a:spLocks noChangeArrowheads="1"/>
            </p:cNvSpPr>
            <p:nvPr/>
          </p:nvSpPr>
          <p:spPr bwMode="auto">
            <a:xfrm>
              <a:off x="76" y="237"/>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7664" name="Rectangle 5"/>
            <p:cNvSpPr>
              <a:spLocks noChangeArrowheads="1"/>
            </p:cNvSpPr>
            <p:nvPr/>
          </p:nvSpPr>
          <p:spPr bwMode="auto">
            <a:xfrm>
              <a:off x="52" y="85"/>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65" name="Line 6"/>
            <p:cNvSpPr>
              <a:spLocks noChangeShapeType="1"/>
            </p:cNvSpPr>
            <p:nvPr/>
          </p:nvSpPr>
          <p:spPr bwMode="auto">
            <a:xfrm>
              <a:off x="16" y="76"/>
              <a:ext cx="84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6" name="Rectangle 7"/>
            <p:cNvSpPr>
              <a:spLocks noChangeArrowheads="1"/>
            </p:cNvSpPr>
            <p:nvPr/>
          </p:nvSpPr>
          <p:spPr bwMode="auto">
            <a:xfrm>
              <a:off x="860" y="0"/>
              <a:ext cx="868" cy="473"/>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7667" name="Line 8"/>
            <p:cNvSpPr>
              <a:spLocks noChangeShapeType="1"/>
            </p:cNvSpPr>
            <p:nvPr/>
          </p:nvSpPr>
          <p:spPr bwMode="auto">
            <a:xfrm>
              <a:off x="539" y="397"/>
              <a:ext cx="32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8" name="Line 9"/>
            <p:cNvSpPr>
              <a:spLocks noChangeShapeType="1"/>
            </p:cNvSpPr>
            <p:nvPr/>
          </p:nvSpPr>
          <p:spPr bwMode="auto">
            <a:xfrm>
              <a:off x="1728" y="76"/>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9" name="Line 10"/>
            <p:cNvSpPr>
              <a:spLocks noChangeShapeType="1"/>
            </p:cNvSpPr>
            <p:nvPr/>
          </p:nvSpPr>
          <p:spPr bwMode="auto">
            <a:xfrm>
              <a:off x="1728" y="397"/>
              <a:ext cx="6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0" name="Line 11"/>
            <p:cNvSpPr>
              <a:spLocks noChangeShapeType="1"/>
            </p:cNvSpPr>
            <p:nvPr/>
          </p:nvSpPr>
          <p:spPr bwMode="auto">
            <a:xfrm>
              <a:off x="1096" y="136"/>
              <a:ext cx="320"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1" name="Freeform 12"/>
            <p:cNvSpPr/>
            <p:nvPr/>
          </p:nvSpPr>
          <p:spPr bwMode="auto">
            <a:xfrm>
              <a:off x="1306" y="119"/>
              <a:ext cx="110" cy="42"/>
            </a:xfrm>
            <a:custGeom>
              <a:avLst/>
              <a:gdLst>
                <a:gd name="T0" fmla="*/ 0 w 110"/>
                <a:gd name="T1" fmla="*/ 0 h 42"/>
                <a:gd name="T2" fmla="*/ 26 w 110"/>
                <a:gd name="T3" fmla="*/ 17 h 42"/>
                <a:gd name="T4" fmla="*/ 0 w 110"/>
                <a:gd name="T5" fmla="*/ 42 h 42"/>
                <a:gd name="T6" fmla="*/ 110 w 110"/>
                <a:gd name="T7" fmla="*/ 17 h 42"/>
                <a:gd name="T8" fmla="*/ 0 w 110"/>
                <a:gd name="T9" fmla="*/ 0 h 42"/>
                <a:gd name="T10" fmla="*/ 0 60000 65536"/>
                <a:gd name="T11" fmla="*/ 0 60000 65536"/>
                <a:gd name="T12" fmla="*/ 0 60000 65536"/>
                <a:gd name="T13" fmla="*/ 0 60000 65536"/>
                <a:gd name="T14" fmla="*/ 0 60000 65536"/>
                <a:gd name="T15" fmla="*/ 0 w 110"/>
                <a:gd name="T16" fmla="*/ 0 h 42"/>
                <a:gd name="T17" fmla="*/ 110 w 110"/>
                <a:gd name="T18" fmla="*/ 42 h 42"/>
              </a:gdLst>
              <a:ahLst/>
              <a:cxnLst>
                <a:cxn ang="T10">
                  <a:pos x="T0" y="T1"/>
                </a:cxn>
                <a:cxn ang="T11">
                  <a:pos x="T2" y="T3"/>
                </a:cxn>
                <a:cxn ang="T12">
                  <a:pos x="T4" y="T5"/>
                </a:cxn>
                <a:cxn ang="T13">
                  <a:pos x="T6" y="T7"/>
                </a:cxn>
                <a:cxn ang="T14">
                  <a:pos x="T8" y="T9"/>
                </a:cxn>
              </a:cxnLst>
              <a:rect l="T15" t="T16" r="T17" b="T18"/>
              <a:pathLst>
                <a:path w="110" h="42">
                  <a:moveTo>
                    <a:pt x="0" y="0"/>
                  </a:moveTo>
                  <a:lnTo>
                    <a:pt x="26" y="17"/>
                  </a:lnTo>
                  <a:lnTo>
                    <a:pt x="0" y="42"/>
                  </a:lnTo>
                  <a:lnTo>
                    <a:pt x="110" y="17"/>
                  </a:lnTo>
                  <a:lnTo>
                    <a:pt x="0" y="0"/>
                  </a:lnTo>
                  <a:close/>
                </a:path>
              </a:pathLst>
            </a:custGeom>
            <a:solidFill>
              <a:srgbClr val="000000"/>
            </a:solidFill>
            <a:ln w="12700">
              <a:solidFill>
                <a:srgbClr val="000000"/>
              </a:solidFill>
              <a:round/>
            </a:ln>
          </p:spPr>
          <p:txBody>
            <a:bodyPr/>
            <a:lstStyle/>
            <a:p>
              <a:endParaRPr lang="zh-CN" altLang="en-US"/>
            </a:p>
          </p:txBody>
        </p:sp>
        <p:sp>
          <p:nvSpPr>
            <p:cNvPr id="27672" name="Rectangle 13"/>
            <p:cNvSpPr>
              <a:spLocks noChangeArrowheads="1"/>
            </p:cNvSpPr>
            <p:nvPr/>
          </p:nvSpPr>
          <p:spPr bwMode="auto">
            <a:xfrm>
              <a:off x="1240" y="187"/>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27673" name="Line 14"/>
            <p:cNvSpPr>
              <a:spLocks noChangeShapeType="1"/>
            </p:cNvSpPr>
            <p:nvPr/>
          </p:nvSpPr>
          <p:spPr bwMode="auto">
            <a:xfrm>
              <a:off x="1138" y="735"/>
              <a:ext cx="31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4" name="Freeform 15"/>
            <p:cNvSpPr/>
            <p:nvPr/>
          </p:nvSpPr>
          <p:spPr bwMode="auto">
            <a:xfrm>
              <a:off x="1138" y="718"/>
              <a:ext cx="101" cy="42"/>
            </a:xfrm>
            <a:custGeom>
              <a:avLst/>
              <a:gdLst>
                <a:gd name="T0" fmla="*/ 101 w 101"/>
                <a:gd name="T1" fmla="*/ 0 h 42"/>
                <a:gd name="T2" fmla="*/ 84 w 101"/>
                <a:gd name="T3" fmla="*/ 17 h 42"/>
                <a:gd name="T4" fmla="*/ 101 w 101"/>
                <a:gd name="T5" fmla="*/ 42 h 42"/>
                <a:gd name="T6" fmla="*/ 0 w 101"/>
                <a:gd name="T7" fmla="*/ 17 h 42"/>
                <a:gd name="T8" fmla="*/ 101 w 101"/>
                <a:gd name="T9" fmla="*/ 0 h 42"/>
                <a:gd name="T10" fmla="*/ 0 60000 65536"/>
                <a:gd name="T11" fmla="*/ 0 60000 65536"/>
                <a:gd name="T12" fmla="*/ 0 60000 65536"/>
                <a:gd name="T13" fmla="*/ 0 60000 65536"/>
                <a:gd name="T14" fmla="*/ 0 60000 65536"/>
                <a:gd name="T15" fmla="*/ 0 w 101"/>
                <a:gd name="T16" fmla="*/ 0 h 42"/>
                <a:gd name="T17" fmla="*/ 101 w 101"/>
                <a:gd name="T18" fmla="*/ 42 h 42"/>
              </a:gdLst>
              <a:ahLst/>
              <a:cxnLst>
                <a:cxn ang="T10">
                  <a:pos x="T0" y="T1"/>
                </a:cxn>
                <a:cxn ang="T11">
                  <a:pos x="T2" y="T3"/>
                </a:cxn>
                <a:cxn ang="T12">
                  <a:pos x="T4" y="T5"/>
                </a:cxn>
                <a:cxn ang="T13">
                  <a:pos x="T6" y="T7"/>
                </a:cxn>
                <a:cxn ang="T14">
                  <a:pos x="T8" y="T9"/>
                </a:cxn>
              </a:cxnLst>
              <a:rect l="T15" t="T16" r="T17" b="T18"/>
              <a:pathLst>
                <a:path w="101" h="42">
                  <a:moveTo>
                    <a:pt x="101" y="0"/>
                  </a:moveTo>
                  <a:lnTo>
                    <a:pt x="84" y="17"/>
                  </a:lnTo>
                  <a:lnTo>
                    <a:pt x="101" y="42"/>
                  </a:lnTo>
                  <a:lnTo>
                    <a:pt x="0" y="17"/>
                  </a:lnTo>
                  <a:lnTo>
                    <a:pt x="101" y="0"/>
                  </a:lnTo>
                  <a:close/>
                </a:path>
              </a:pathLst>
            </a:custGeom>
            <a:solidFill>
              <a:srgbClr val="000000"/>
            </a:solidFill>
            <a:ln w="12700">
              <a:solidFill>
                <a:srgbClr val="000000"/>
              </a:solidFill>
              <a:round/>
            </a:ln>
          </p:spPr>
          <p:txBody>
            <a:bodyPr/>
            <a:lstStyle/>
            <a:p>
              <a:endParaRPr lang="zh-CN" altLang="en-US"/>
            </a:p>
          </p:txBody>
        </p:sp>
        <p:sp>
          <p:nvSpPr>
            <p:cNvPr id="27675" name="Rectangle 16"/>
            <p:cNvSpPr>
              <a:spLocks noChangeArrowheads="1"/>
            </p:cNvSpPr>
            <p:nvPr/>
          </p:nvSpPr>
          <p:spPr bwMode="auto">
            <a:xfrm>
              <a:off x="1274" y="735"/>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7676" name="Rectangle 17"/>
            <p:cNvSpPr>
              <a:spLocks noChangeArrowheads="1"/>
            </p:cNvSpPr>
            <p:nvPr/>
          </p:nvSpPr>
          <p:spPr bwMode="auto">
            <a:xfrm>
              <a:off x="978" y="634"/>
              <a:ext cx="632" cy="321"/>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7677" name="Line 18"/>
            <p:cNvSpPr>
              <a:spLocks noChangeShapeType="1"/>
            </p:cNvSpPr>
            <p:nvPr/>
          </p:nvSpPr>
          <p:spPr bwMode="auto">
            <a:xfrm>
              <a:off x="1610" y="718"/>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8" name="Line 19"/>
            <p:cNvSpPr>
              <a:spLocks noChangeShapeType="1"/>
            </p:cNvSpPr>
            <p:nvPr/>
          </p:nvSpPr>
          <p:spPr bwMode="auto">
            <a:xfrm>
              <a:off x="1610" y="879"/>
              <a:ext cx="52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79" name="Line 20"/>
            <p:cNvSpPr>
              <a:spLocks noChangeShapeType="1"/>
            </p:cNvSpPr>
            <p:nvPr/>
          </p:nvSpPr>
          <p:spPr bwMode="auto">
            <a:xfrm>
              <a:off x="1888" y="76"/>
              <a:ext cx="1" cy="64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0" name="Freeform 21"/>
            <p:cNvSpPr/>
            <p:nvPr/>
          </p:nvSpPr>
          <p:spPr bwMode="auto">
            <a:xfrm>
              <a:off x="1872" y="60"/>
              <a:ext cx="42" cy="33"/>
            </a:xfrm>
            <a:custGeom>
              <a:avLst/>
              <a:gdLst>
                <a:gd name="T0" fmla="*/ 0 w 42"/>
                <a:gd name="T1" fmla="*/ 16 h 33"/>
                <a:gd name="T2" fmla="*/ 8 w 42"/>
                <a:gd name="T3" fmla="*/ 0 h 33"/>
                <a:gd name="T4" fmla="*/ 33 w 42"/>
                <a:gd name="T5" fmla="*/ 0 h 33"/>
                <a:gd name="T6" fmla="*/ 42 w 42"/>
                <a:gd name="T7" fmla="*/ 16 h 33"/>
                <a:gd name="T8" fmla="*/ 33 w 42"/>
                <a:gd name="T9" fmla="*/ 33 h 33"/>
                <a:gd name="T10" fmla="*/ 8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8" y="0"/>
                  </a:lnTo>
                  <a:lnTo>
                    <a:pt x="33" y="0"/>
                  </a:lnTo>
                  <a:lnTo>
                    <a:pt x="42" y="16"/>
                  </a:lnTo>
                  <a:lnTo>
                    <a:pt x="33" y="33"/>
                  </a:lnTo>
                  <a:lnTo>
                    <a:pt x="8" y="33"/>
                  </a:lnTo>
                  <a:lnTo>
                    <a:pt x="0" y="16"/>
                  </a:lnTo>
                  <a:close/>
                </a:path>
              </a:pathLst>
            </a:custGeom>
            <a:solidFill>
              <a:srgbClr val="000000"/>
            </a:solidFill>
            <a:ln w="12700">
              <a:solidFill>
                <a:srgbClr val="000000"/>
              </a:solidFill>
              <a:round/>
            </a:ln>
          </p:spPr>
          <p:txBody>
            <a:bodyPr/>
            <a:lstStyle/>
            <a:p>
              <a:endParaRPr lang="zh-CN" altLang="en-US"/>
            </a:p>
          </p:txBody>
        </p:sp>
        <p:sp>
          <p:nvSpPr>
            <p:cNvPr id="27681" name="Line 22"/>
            <p:cNvSpPr>
              <a:spLocks noChangeShapeType="1"/>
            </p:cNvSpPr>
            <p:nvPr/>
          </p:nvSpPr>
          <p:spPr bwMode="auto">
            <a:xfrm>
              <a:off x="2133"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82" name="Freeform 23"/>
            <p:cNvSpPr/>
            <p:nvPr/>
          </p:nvSpPr>
          <p:spPr bwMode="auto">
            <a:xfrm>
              <a:off x="2108" y="380"/>
              <a:ext cx="42" cy="34"/>
            </a:xfrm>
            <a:custGeom>
              <a:avLst/>
              <a:gdLst>
                <a:gd name="T0" fmla="*/ 0 w 42"/>
                <a:gd name="T1" fmla="*/ 17 h 34"/>
                <a:gd name="T2" fmla="*/ 17 w 42"/>
                <a:gd name="T3" fmla="*/ 0 h 34"/>
                <a:gd name="T4" fmla="*/ 33 w 42"/>
                <a:gd name="T5" fmla="*/ 0 h 34"/>
                <a:gd name="T6" fmla="*/ 42 w 42"/>
                <a:gd name="T7" fmla="*/ 17 h 34"/>
                <a:gd name="T8" fmla="*/ 33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3" y="0"/>
                  </a:lnTo>
                  <a:lnTo>
                    <a:pt x="42" y="17"/>
                  </a:lnTo>
                  <a:lnTo>
                    <a:pt x="33" y="34"/>
                  </a:lnTo>
                  <a:lnTo>
                    <a:pt x="17" y="34"/>
                  </a:lnTo>
                  <a:lnTo>
                    <a:pt x="0" y="17"/>
                  </a:lnTo>
                  <a:close/>
                </a:path>
              </a:pathLst>
            </a:custGeom>
            <a:solidFill>
              <a:srgbClr val="000000"/>
            </a:solidFill>
            <a:ln w="12700">
              <a:solidFill>
                <a:srgbClr val="000000"/>
              </a:solidFill>
              <a:round/>
            </a:ln>
          </p:spPr>
          <p:txBody>
            <a:bodyPr/>
            <a:lstStyle/>
            <a:p>
              <a:endParaRPr lang="zh-CN" altLang="en-US"/>
            </a:p>
          </p:txBody>
        </p:sp>
        <p:sp>
          <p:nvSpPr>
            <p:cNvPr id="27683" name="Freeform 24"/>
            <p:cNvSpPr/>
            <p:nvPr/>
          </p:nvSpPr>
          <p:spPr bwMode="auto">
            <a:xfrm>
              <a:off x="2369" y="60"/>
              <a:ext cx="42" cy="33"/>
            </a:xfrm>
            <a:custGeom>
              <a:avLst/>
              <a:gdLst>
                <a:gd name="T0" fmla="*/ 0 w 42"/>
                <a:gd name="T1" fmla="*/ 16 h 33"/>
                <a:gd name="T2" fmla="*/ 9 w 42"/>
                <a:gd name="T3" fmla="*/ 0 h 33"/>
                <a:gd name="T4" fmla="*/ 34 w 42"/>
                <a:gd name="T5" fmla="*/ 0 h 33"/>
                <a:gd name="T6" fmla="*/ 42 w 42"/>
                <a:gd name="T7" fmla="*/ 16 h 33"/>
                <a:gd name="T8" fmla="*/ 34 w 42"/>
                <a:gd name="T9" fmla="*/ 33 h 33"/>
                <a:gd name="T10" fmla="*/ 9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9" y="0"/>
                  </a:lnTo>
                  <a:lnTo>
                    <a:pt x="34" y="0"/>
                  </a:lnTo>
                  <a:lnTo>
                    <a:pt x="42" y="16"/>
                  </a:lnTo>
                  <a:lnTo>
                    <a:pt x="34" y="33"/>
                  </a:lnTo>
                  <a:lnTo>
                    <a:pt x="9" y="33"/>
                  </a:lnTo>
                  <a:lnTo>
                    <a:pt x="0" y="16"/>
                  </a:lnTo>
                  <a:close/>
                </a:path>
              </a:pathLst>
            </a:custGeom>
            <a:solidFill>
              <a:srgbClr val="FFFFFF"/>
            </a:solidFill>
            <a:ln w="12700">
              <a:solidFill>
                <a:srgbClr val="000000"/>
              </a:solidFill>
              <a:round/>
            </a:ln>
          </p:spPr>
          <p:txBody>
            <a:bodyPr/>
            <a:lstStyle/>
            <a:p>
              <a:endParaRPr lang="zh-CN" altLang="en-US"/>
            </a:p>
          </p:txBody>
        </p:sp>
        <p:sp>
          <p:nvSpPr>
            <p:cNvPr id="27684" name="Freeform 25"/>
            <p:cNvSpPr/>
            <p:nvPr/>
          </p:nvSpPr>
          <p:spPr bwMode="auto">
            <a:xfrm>
              <a:off x="2369" y="380"/>
              <a:ext cx="42" cy="34"/>
            </a:xfrm>
            <a:custGeom>
              <a:avLst/>
              <a:gdLst>
                <a:gd name="T0" fmla="*/ 0 w 42"/>
                <a:gd name="T1" fmla="*/ 17 h 34"/>
                <a:gd name="T2" fmla="*/ 9 w 42"/>
                <a:gd name="T3" fmla="*/ 0 h 34"/>
                <a:gd name="T4" fmla="*/ 34 w 42"/>
                <a:gd name="T5" fmla="*/ 0 h 34"/>
                <a:gd name="T6" fmla="*/ 42 w 42"/>
                <a:gd name="T7" fmla="*/ 17 h 34"/>
                <a:gd name="T8" fmla="*/ 34 w 42"/>
                <a:gd name="T9" fmla="*/ 34 h 34"/>
                <a:gd name="T10" fmla="*/ 9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9" y="0"/>
                  </a:lnTo>
                  <a:lnTo>
                    <a:pt x="34" y="0"/>
                  </a:lnTo>
                  <a:lnTo>
                    <a:pt x="42" y="17"/>
                  </a:lnTo>
                  <a:lnTo>
                    <a:pt x="34" y="34"/>
                  </a:lnTo>
                  <a:lnTo>
                    <a:pt x="9" y="34"/>
                  </a:lnTo>
                  <a:lnTo>
                    <a:pt x="0" y="17"/>
                  </a:lnTo>
                  <a:close/>
                </a:path>
              </a:pathLst>
            </a:custGeom>
            <a:solidFill>
              <a:srgbClr val="FFFFFF"/>
            </a:solidFill>
            <a:ln w="12700">
              <a:solidFill>
                <a:srgbClr val="000000"/>
              </a:solidFill>
              <a:round/>
            </a:ln>
          </p:spPr>
          <p:txBody>
            <a:bodyPr/>
            <a:lstStyle/>
            <a:p>
              <a:endParaRPr lang="zh-CN" altLang="en-US"/>
            </a:p>
          </p:txBody>
        </p:sp>
        <p:sp>
          <p:nvSpPr>
            <p:cNvPr id="27685" name="Rectangle 26"/>
            <p:cNvSpPr>
              <a:spLocks noChangeArrowheads="1"/>
            </p:cNvSpPr>
            <p:nvPr/>
          </p:nvSpPr>
          <p:spPr bwMode="auto">
            <a:xfrm>
              <a:off x="2345" y="170"/>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7686" name="Rectangle 27"/>
            <p:cNvSpPr>
              <a:spLocks noChangeArrowheads="1"/>
            </p:cNvSpPr>
            <p:nvPr/>
          </p:nvSpPr>
          <p:spPr bwMode="auto">
            <a:xfrm>
              <a:off x="2421" y="229"/>
              <a:ext cx="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27687" name="Rectangle 28"/>
            <p:cNvSpPr>
              <a:spLocks noChangeArrowheads="1"/>
            </p:cNvSpPr>
            <p:nvPr/>
          </p:nvSpPr>
          <p:spPr bwMode="auto">
            <a:xfrm>
              <a:off x="2388" y="68"/>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88" name="Freeform 29"/>
            <p:cNvSpPr/>
            <p:nvPr/>
          </p:nvSpPr>
          <p:spPr bwMode="auto">
            <a:xfrm>
              <a:off x="16" y="60"/>
              <a:ext cx="42" cy="33"/>
            </a:xfrm>
            <a:custGeom>
              <a:avLst/>
              <a:gdLst>
                <a:gd name="T0" fmla="*/ 0 w 42"/>
                <a:gd name="T1" fmla="*/ 16 h 33"/>
                <a:gd name="T2" fmla="*/ 17 w 42"/>
                <a:gd name="T3" fmla="*/ 0 h 33"/>
                <a:gd name="T4" fmla="*/ 34 w 42"/>
                <a:gd name="T5" fmla="*/ 0 h 33"/>
                <a:gd name="T6" fmla="*/ 42 w 42"/>
                <a:gd name="T7" fmla="*/ 16 h 33"/>
                <a:gd name="T8" fmla="*/ 34 w 42"/>
                <a:gd name="T9" fmla="*/ 33 h 33"/>
                <a:gd name="T10" fmla="*/ 17 w 42"/>
                <a:gd name="T11" fmla="*/ 33 h 33"/>
                <a:gd name="T12" fmla="*/ 0 w 42"/>
                <a:gd name="T13" fmla="*/ 16 h 33"/>
                <a:gd name="T14" fmla="*/ 0 60000 65536"/>
                <a:gd name="T15" fmla="*/ 0 60000 65536"/>
                <a:gd name="T16" fmla="*/ 0 60000 65536"/>
                <a:gd name="T17" fmla="*/ 0 60000 65536"/>
                <a:gd name="T18" fmla="*/ 0 60000 65536"/>
                <a:gd name="T19" fmla="*/ 0 60000 65536"/>
                <a:gd name="T20" fmla="*/ 0 60000 65536"/>
                <a:gd name="T21" fmla="*/ 0 w 42"/>
                <a:gd name="T22" fmla="*/ 0 h 33"/>
                <a:gd name="T23" fmla="*/ 42 w 4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3">
                  <a:moveTo>
                    <a:pt x="0" y="16"/>
                  </a:moveTo>
                  <a:lnTo>
                    <a:pt x="17" y="0"/>
                  </a:lnTo>
                  <a:lnTo>
                    <a:pt x="34" y="0"/>
                  </a:lnTo>
                  <a:lnTo>
                    <a:pt x="42" y="16"/>
                  </a:lnTo>
                  <a:lnTo>
                    <a:pt x="34" y="33"/>
                  </a:lnTo>
                  <a:lnTo>
                    <a:pt x="17" y="33"/>
                  </a:lnTo>
                  <a:lnTo>
                    <a:pt x="0" y="16"/>
                  </a:lnTo>
                  <a:close/>
                </a:path>
              </a:pathLst>
            </a:custGeom>
            <a:solidFill>
              <a:srgbClr val="FFFFFF"/>
            </a:solidFill>
            <a:ln w="12700">
              <a:solidFill>
                <a:srgbClr val="000000"/>
              </a:solidFill>
              <a:round/>
            </a:ln>
          </p:spPr>
          <p:txBody>
            <a:bodyPr/>
            <a:lstStyle/>
            <a:p>
              <a:endParaRPr lang="zh-CN" altLang="en-US"/>
            </a:p>
          </p:txBody>
        </p:sp>
        <p:sp>
          <p:nvSpPr>
            <p:cNvPr id="27689" name="Line 30"/>
            <p:cNvSpPr>
              <a:spLocks noChangeShapeType="1"/>
            </p:cNvSpPr>
            <p:nvPr/>
          </p:nvSpPr>
          <p:spPr bwMode="auto">
            <a:xfrm>
              <a:off x="16" y="397"/>
              <a:ext cx="278"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0" name="Line 31"/>
            <p:cNvSpPr>
              <a:spLocks noChangeShapeType="1"/>
            </p:cNvSpPr>
            <p:nvPr/>
          </p:nvSpPr>
          <p:spPr bwMode="auto">
            <a:xfrm>
              <a:off x="539" y="718"/>
              <a:ext cx="43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1" name="Line 32"/>
            <p:cNvSpPr>
              <a:spLocks noChangeShapeType="1"/>
            </p:cNvSpPr>
            <p:nvPr/>
          </p:nvSpPr>
          <p:spPr bwMode="auto">
            <a:xfrm>
              <a:off x="539" y="397"/>
              <a:ext cx="1" cy="3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2" name="Line 33"/>
            <p:cNvSpPr>
              <a:spLocks noChangeShapeType="1"/>
            </p:cNvSpPr>
            <p:nvPr/>
          </p:nvSpPr>
          <p:spPr bwMode="auto">
            <a:xfrm>
              <a:off x="294" y="879"/>
              <a:ext cx="68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3" name="Line 34"/>
            <p:cNvSpPr>
              <a:spLocks noChangeShapeType="1"/>
            </p:cNvSpPr>
            <p:nvPr/>
          </p:nvSpPr>
          <p:spPr bwMode="auto">
            <a:xfrm>
              <a:off x="294" y="397"/>
              <a:ext cx="1" cy="48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94" name="Freeform 35"/>
            <p:cNvSpPr/>
            <p:nvPr/>
          </p:nvSpPr>
          <p:spPr bwMode="auto">
            <a:xfrm>
              <a:off x="16" y="380"/>
              <a:ext cx="42" cy="34"/>
            </a:xfrm>
            <a:custGeom>
              <a:avLst/>
              <a:gdLst>
                <a:gd name="T0" fmla="*/ 0 w 42"/>
                <a:gd name="T1" fmla="*/ 17 h 34"/>
                <a:gd name="T2" fmla="*/ 17 w 42"/>
                <a:gd name="T3" fmla="*/ 0 h 34"/>
                <a:gd name="T4" fmla="*/ 34 w 42"/>
                <a:gd name="T5" fmla="*/ 0 h 34"/>
                <a:gd name="T6" fmla="*/ 42 w 42"/>
                <a:gd name="T7" fmla="*/ 17 h 34"/>
                <a:gd name="T8" fmla="*/ 34 w 42"/>
                <a:gd name="T9" fmla="*/ 34 h 34"/>
                <a:gd name="T10" fmla="*/ 17 w 42"/>
                <a:gd name="T11" fmla="*/ 34 h 34"/>
                <a:gd name="T12" fmla="*/ 0 w 42"/>
                <a:gd name="T13" fmla="*/ 17 h 34"/>
                <a:gd name="T14" fmla="*/ 0 60000 65536"/>
                <a:gd name="T15" fmla="*/ 0 60000 65536"/>
                <a:gd name="T16" fmla="*/ 0 60000 65536"/>
                <a:gd name="T17" fmla="*/ 0 60000 65536"/>
                <a:gd name="T18" fmla="*/ 0 60000 65536"/>
                <a:gd name="T19" fmla="*/ 0 60000 65536"/>
                <a:gd name="T20" fmla="*/ 0 60000 65536"/>
                <a:gd name="T21" fmla="*/ 0 w 42"/>
                <a:gd name="T22" fmla="*/ 0 h 34"/>
                <a:gd name="T23" fmla="*/ 42 w 42"/>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4">
                  <a:moveTo>
                    <a:pt x="0" y="17"/>
                  </a:moveTo>
                  <a:lnTo>
                    <a:pt x="17" y="0"/>
                  </a:lnTo>
                  <a:lnTo>
                    <a:pt x="34" y="0"/>
                  </a:lnTo>
                  <a:lnTo>
                    <a:pt x="42" y="17"/>
                  </a:lnTo>
                  <a:lnTo>
                    <a:pt x="34" y="34"/>
                  </a:lnTo>
                  <a:lnTo>
                    <a:pt x="17" y="34"/>
                  </a:lnTo>
                  <a:lnTo>
                    <a:pt x="0" y="17"/>
                  </a:lnTo>
                  <a:close/>
                </a:path>
              </a:pathLst>
            </a:custGeom>
            <a:solidFill>
              <a:srgbClr val="FFFFFF"/>
            </a:solidFill>
            <a:ln w="12700">
              <a:solidFill>
                <a:srgbClr val="000000"/>
              </a:solidFill>
              <a:round/>
            </a:ln>
          </p:spPr>
          <p:txBody>
            <a:bodyPr/>
            <a:lstStyle/>
            <a:p>
              <a:endParaRPr lang="zh-CN" altLang="en-US"/>
            </a:p>
          </p:txBody>
        </p:sp>
        <p:sp>
          <p:nvSpPr>
            <p:cNvPr id="27695" name="Rectangle 36"/>
            <p:cNvSpPr>
              <a:spLocks noChangeArrowheads="1"/>
            </p:cNvSpPr>
            <p:nvPr/>
          </p:nvSpPr>
          <p:spPr bwMode="auto">
            <a:xfrm>
              <a:off x="61" y="85"/>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96" name="Rectangle 37"/>
            <p:cNvSpPr>
              <a:spLocks noChangeArrowheads="1"/>
            </p:cNvSpPr>
            <p:nvPr/>
          </p:nvSpPr>
          <p:spPr bwMode="auto">
            <a:xfrm>
              <a:off x="61" y="288"/>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97" name="Rectangle 38"/>
            <p:cNvSpPr>
              <a:spLocks noChangeArrowheads="1"/>
            </p:cNvSpPr>
            <p:nvPr/>
          </p:nvSpPr>
          <p:spPr bwMode="auto">
            <a:xfrm>
              <a:off x="146"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98" name="Rectangle 39"/>
            <p:cNvSpPr>
              <a:spLocks noChangeArrowheads="1"/>
            </p:cNvSpPr>
            <p:nvPr/>
          </p:nvSpPr>
          <p:spPr bwMode="auto">
            <a:xfrm>
              <a:off x="559" y="40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699" name="Rectangle 40"/>
            <p:cNvSpPr>
              <a:spLocks noChangeArrowheads="1"/>
            </p:cNvSpPr>
            <p:nvPr/>
          </p:nvSpPr>
          <p:spPr bwMode="auto">
            <a:xfrm>
              <a:off x="388" y="42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27700" name="Rectangle 41"/>
            <p:cNvSpPr>
              <a:spLocks noChangeArrowheads="1"/>
            </p:cNvSpPr>
            <p:nvPr/>
          </p:nvSpPr>
          <p:spPr bwMode="auto">
            <a:xfrm>
              <a:off x="458" y="474"/>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2" name="Rectangle 42"/>
            <p:cNvSpPr>
              <a:spLocks noChangeArrowheads="1"/>
            </p:cNvSpPr>
            <p:nvPr/>
          </p:nvSpPr>
          <p:spPr bwMode="auto">
            <a:xfrm>
              <a:off x="432" y="322"/>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3" name="Rectangle 43"/>
            <p:cNvSpPr>
              <a:spLocks noChangeArrowheads="1"/>
            </p:cNvSpPr>
            <p:nvPr/>
          </p:nvSpPr>
          <p:spPr bwMode="auto">
            <a:xfrm>
              <a:off x="658" y="212"/>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4" name="Rectangle 44"/>
            <p:cNvSpPr>
              <a:spLocks noChangeArrowheads="1"/>
            </p:cNvSpPr>
            <p:nvPr/>
          </p:nvSpPr>
          <p:spPr bwMode="auto">
            <a:xfrm>
              <a:off x="734" y="263"/>
              <a:ext cx="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0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27704" name="Rectangle 45"/>
            <p:cNvSpPr>
              <a:spLocks noChangeArrowheads="1"/>
            </p:cNvSpPr>
            <p:nvPr/>
          </p:nvSpPr>
          <p:spPr bwMode="auto">
            <a:xfrm>
              <a:off x="718" y="111"/>
              <a:ext cx="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27705" name="Rectangle 46"/>
            <p:cNvSpPr>
              <a:spLocks noChangeArrowheads="1"/>
            </p:cNvSpPr>
            <p:nvPr/>
          </p:nvSpPr>
          <p:spPr bwMode="auto">
            <a:xfrm>
              <a:off x="728" y="203"/>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
        <p:nvSpPr>
          <p:cNvPr id="27652" name="Rectangle 47"/>
          <p:cNvSpPr>
            <a:spLocks noChangeArrowheads="1"/>
          </p:cNvSpPr>
          <p:nvPr/>
        </p:nvSpPr>
        <p:spPr bwMode="auto">
          <a:xfrm>
            <a:off x="3136900" y="2028825"/>
            <a:ext cx="288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(a)串联电压负反馈</a:t>
            </a:r>
            <a:endParaRPr lang="zh-CN" altLang="zh-CN" sz="2400">
              <a:latin typeface="Times New Roman" panose="02020603050405020304" pitchFamily="18" charset="0"/>
            </a:endParaRPr>
          </a:p>
        </p:txBody>
      </p:sp>
      <p:sp>
        <p:nvSpPr>
          <p:cNvPr id="27653" name="Rectangle 48"/>
          <p:cNvSpPr>
            <a:spLocks noChangeArrowheads="1"/>
          </p:cNvSpPr>
          <p:nvPr/>
        </p:nvSpPr>
        <p:spPr bwMode="auto">
          <a:xfrm>
            <a:off x="1308100" y="2874963"/>
            <a:ext cx="1998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i="1">
                <a:latin typeface="Times New Roman" panose="02020603050405020304" pitchFamily="18" charset="0"/>
              </a:rPr>
              <a:t>U </a:t>
            </a:r>
            <a:r>
              <a:rPr lang="zh-CN" altLang="zh-CN" sz="2800" i="1" baseline="-25000">
                <a:latin typeface="Times New Roman" panose="02020603050405020304" pitchFamily="18" charset="0"/>
              </a:rPr>
              <a:t>i</a:t>
            </a:r>
            <a:r>
              <a:rPr lang="zh-CN" altLang="zh-CN" sz="2800" i="1">
                <a:latin typeface="Times New Roman" panose="02020603050405020304" pitchFamily="18" charset="0"/>
              </a:rPr>
              <a:t>’</a:t>
            </a:r>
            <a:r>
              <a:rPr lang="zh-CN" altLang="zh-CN" sz="2800">
                <a:latin typeface="Times New Roman" panose="02020603050405020304" pitchFamily="18" charset="0"/>
              </a:rPr>
              <a:t>=</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i</a:t>
            </a:r>
            <a:r>
              <a:rPr lang="zh-CN" altLang="zh-CN" sz="2800">
                <a:latin typeface="Times New Roman" panose="02020603050405020304" pitchFamily="18" charset="0"/>
              </a:rPr>
              <a:t>－</a:t>
            </a:r>
            <a:r>
              <a:rPr lang="zh-CN" altLang="zh-CN" sz="2800" i="1">
                <a:latin typeface="Times New Roman" panose="02020603050405020304" pitchFamily="18" charset="0"/>
              </a:rPr>
              <a:t>U</a:t>
            </a:r>
            <a:r>
              <a:rPr lang="zh-CN" altLang="zh-CN" sz="2800" i="1" baseline="-25000">
                <a:latin typeface="Times New Roman" panose="02020603050405020304" pitchFamily="18" charset="0"/>
              </a:rPr>
              <a:t>f</a:t>
            </a:r>
            <a:r>
              <a:rPr lang="zh-CN" altLang="zh-CN" sz="2800" baseline="-25000">
                <a:latin typeface="Times New Roman" panose="02020603050405020304" pitchFamily="18" charset="0"/>
              </a:rPr>
              <a:t> </a:t>
            </a:r>
            <a:endParaRPr lang="zh-CN" altLang="zh-CN" sz="2800" baseline="-25000">
              <a:latin typeface="Times New Roman" panose="02020603050405020304" pitchFamily="18" charset="0"/>
            </a:endParaRPr>
          </a:p>
        </p:txBody>
      </p:sp>
      <p:sp>
        <p:nvSpPr>
          <p:cNvPr id="27654" name="Rectangle 49"/>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27655" name="Object 50"/>
          <p:cNvGraphicFramePr>
            <a:graphicFrameLocks noChangeAspect="1"/>
          </p:cNvGraphicFramePr>
          <p:nvPr/>
        </p:nvGraphicFramePr>
        <p:xfrm>
          <a:off x="5626100" y="2589213"/>
          <a:ext cx="1484313" cy="1187450"/>
        </p:xfrm>
        <a:graphic>
          <a:graphicData uri="http://schemas.openxmlformats.org/presentationml/2006/ole">
            <mc:AlternateContent xmlns:mc="http://schemas.openxmlformats.org/markup-compatibility/2006">
              <mc:Choice xmlns:v="urn:schemas-microsoft-com:vml" Requires="v">
                <p:oleObj spid="_x0000_s27830" name="" r:id="rId1" imgW="572135" imgH="457835" progId="Equation.3">
                  <p:embed/>
                </p:oleObj>
              </mc:Choice>
              <mc:Fallback>
                <p:oleObj name="" r:id="rId1" imgW="572135" imgH="457835" progId="Equation.3">
                  <p:embed/>
                  <p:pic>
                    <p:nvPicPr>
                      <p:cNvPr id="0" name="Object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6100" y="2589213"/>
                        <a:ext cx="14843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6" name="Rectangle 51"/>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graphicFrame>
        <p:nvGraphicFramePr>
          <p:cNvPr id="27657" name="Object 52"/>
          <p:cNvGraphicFramePr>
            <a:graphicFrameLocks noChangeAspect="1"/>
          </p:cNvGraphicFramePr>
          <p:nvPr/>
        </p:nvGraphicFramePr>
        <p:xfrm>
          <a:off x="854075" y="3717925"/>
          <a:ext cx="7242175" cy="1128713"/>
        </p:xfrm>
        <a:graphic>
          <a:graphicData uri="http://schemas.openxmlformats.org/presentationml/2006/ole">
            <mc:AlternateContent xmlns:mc="http://schemas.openxmlformats.org/markup-compatibility/2006">
              <mc:Choice xmlns:v="urn:schemas-microsoft-com:vml" Requires="v">
                <p:oleObj spid="_x0000_s27831" name="" r:id="rId3" imgW="2933700" imgH="457200" progId="Equation.3">
                  <p:embed/>
                </p:oleObj>
              </mc:Choice>
              <mc:Fallback>
                <p:oleObj name="" r:id="rId3" imgW="2933700" imgH="457200"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075" y="3717925"/>
                        <a:ext cx="7242175" cy="112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701" name="Object 53"/>
          <p:cNvGraphicFramePr>
            <a:graphicFrameLocks noChangeAspect="1"/>
          </p:cNvGraphicFramePr>
          <p:nvPr/>
        </p:nvGraphicFramePr>
        <p:xfrm>
          <a:off x="2747963" y="5149850"/>
          <a:ext cx="1617662" cy="1214438"/>
        </p:xfrm>
        <a:graphic>
          <a:graphicData uri="http://schemas.openxmlformats.org/presentationml/2006/ole">
            <mc:AlternateContent xmlns:mc="http://schemas.openxmlformats.org/markup-compatibility/2006">
              <mc:Choice xmlns:v="urn:schemas-microsoft-com:vml" Requires="v">
                <p:oleObj spid="_x0000_s27832" name="" r:id="rId5" imgW="572135" imgH="432435" progId="Equation.3">
                  <p:embed/>
                </p:oleObj>
              </mc:Choice>
              <mc:Fallback>
                <p:oleObj name="" r:id="rId5" imgW="572135" imgH="432435" progId="Equation.3">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7963" y="5149850"/>
                        <a:ext cx="1617662"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702" name="Rectangle 54"/>
          <p:cNvSpPr>
            <a:spLocks noChangeArrowheads="1"/>
          </p:cNvSpPr>
          <p:nvPr/>
        </p:nvSpPr>
        <p:spPr bwMode="auto">
          <a:xfrm>
            <a:off x="4629150" y="5384800"/>
            <a:ext cx="35829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cs typeface="Times New Roman" panose="02020603050405020304" pitchFamily="18" charset="0"/>
              </a:rPr>
              <a:t>电压串联负反馈稳定的增益是闭环电压放大倍数</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
        <p:nvSpPr>
          <p:cNvPr id="27703" name="Rectangle 55"/>
          <p:cNvSpPr>
            <a:spLocks noChangeArrowheads="1"/>
          </p:cNvSpPr>
          <p:nvPr/>
        </p:nvSpPr>
        <p:spPr bwMode="auto">
          <a:xfrm>
            <a:off x="541338" y="4962525"/>
            <a:ext cx="271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深度负反馈条件下 </a:t>
            </a:r>
            <a:endParaRPr lang="zh-CN" altLang="zh-CN" sz="2400">
              <a:latin typeface="Times New Roman" panose="02020603050405020304" pitchFamily="18" charset="0"/>
            </a:endParaRPr>
          </a:p>
        </p:txBody>
      </p:sp>
      <p:graphicFrame>
        <p:nvGraphicFramePr>
          <p:cNvPr id="27661" name="Object 56"/>
          <p:cNvGraphicFramePr>
            <a:graphicFrameLocks noChangeAspect="1"/>
          </p:cNvGraphicFramePr>
          <p:nvPr/>
        </p:nvGraphicFramePr>
        <p:xfrm>
          <a:off x="3735388" y="2606675"/>
          <a:ext cx="1401762" cy="1082675"/>
        </p:xfrm>
        <a:graphic>
          <a:graphicData uri="http://schemas.openxmlformats.org/presentationml/2006/ole">
            <mc:AlternateContent xmlns:mc="http://schemas.openxmlformats.org/markup-compatibility/2006">
              <mc:Choice xmlns:v="urn:schemas-microsoft-com:vml" Requires="v">
                <p:oleObj spid="_x0000_s27833" name="" r:id="rId7" imgW="559435" imgH="432435" progId="Equation.3">
                  <p:embed/>
                </p:oleObj>
              </mc:Choice>
              <mc:Fallback>
                <p:oleObj name="" r:id="rId7" imgW="559435" imgH="432435" progId="Equation.3">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5388" y="2606675"/>
                        <a:ext cx="1401762"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A3A9E35-EB9D-4FA6-97D7-3287AB080F80}" type="slidenum">
              <a:rPr lang="zh-CN" altLang="zh-CN" sz="1400" smtClean="0"/>
            </a:fld>
            <a:endParaRPr lang="zh-CN" altLang="zh-CN" sz="1400" smtClean="0"/>
          </a:p>
        </p:txBody>
      </p:sp>
      <p:sp>
        <p:nvSpPr>
          <p:cNvPr id="28675"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8676"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28677" name="Rectangle 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8678" name="Rectangle 5"/>
          <p:cNvSpPr>
            <a:spLocks noChangeArrowheads="1"/>
          </p:cNvSpPr>
          <p:nvPr/>
        </p:nvSpPr>
        <p:spPr bwMode="auto">
          <a:xfrm>
            <a:off x="1978025" y="187325"/>
            <a:ext cx="523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表 6.1.1   负反馈放大电路参数的意义</a:t>
            </a:r>
            <a:endParaRPr lang="zh-CN" altLang="zh-CN" sz="2400">
              <a:latin typeface="Times New Roman" panose="02020603050405020304" pitchFamily="18" charset="0"/>
            </a:endParaRPr>
          </a:p>
        </p:txBody>
      </p:sp>
      <p:pic>
        <p:nvPicPr>
          <p:cNvPr id="2867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7319" y="644525"/>
            <a:ext cx="6927554"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649288" y="5511800"/>
            <a:ext cx="7894637" cy="1108075"/>
          </a:xfrm>
          <a:prstGeom prst="rect">
            <a:avLst/>
          </a:prstGeom>
          <a:solidFill>
            <a:schemeClr val="bg1">
              <a:lumMod val="75000"/>
            </a:schemeClr>
          </a:solidFill>
        </p:spPr>
        <p:txBody>
          <a:bodyPr>
            <a:spAutoFit/>
          </a:bodyPr>
          <a:lstStyle/>
          <a:p>
            <a:pPr>
              <a:lnSpc>
                <a:spcPct val="150000"/>
              </a:lnSpc>
              <a:defRPr/>
            </a:pPr>
            <a:r>
              <a:rPr lang="zh-CN" altLang="en-US" sz="2200" dirty="0">
                <a:solidFill>
                  <a:srgbClr val="FF0000"/>
                </a:solidFill>
              </a:rPr>
              <a:t>注：</a:t>
            </a:r>
            <a:r>
              <a:rPr lang="zh-CN" altLang="en-US" sz="2200" dirty="0"/>
              <a:t>串联负反馈的输入信号源是理想恒流源，负反馈不起作用</a:t>
            </a:r>
            <a:endParaRPr lang="en-US" altLang="zh-CN" sz="2200" dirty="0"/>
          </a:p>
          <a:p>
            <a:pPr>
              <a:lnSpc>
                <a:spcPct val="150000"/>
              </a:lnSpc>
              <a:defRPr/>
            </a:pPr>
            <a:r>
              <a:rPr lang="zh-CN" altLang="en-US" sz="2200" dirty="0"/>
              <a:t>        并联负反馈的输入信号源为理想恒压源，负反馈不起作用</a:t>
            </a:r>
            <a:endParaRPr lang="zh-CN" altLang="en-US" sz="22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BFDA500-E605-4079-BC17-88C23C6B22F1}" type="slidenum">
              <a:rPr lang="zh-CN" altLang="zh-CN" sz="1400" smtClean="0"/>
            </a:fld>
            <a:endParaRPr lang="zh-CN" altLang="zh-CN" sz="1400" smtClean="0"/>
          </a:p>
        </p:txBody>
      </p:sp>
      <p:sp>
        <p:nvSpPr>
          <p:cNvPr id="61443" name="Text Box 2"/>
          <p:cNvSpPr txBox="1">
            <a:spLocks noChangeArrowheads="1"/>
          </p:cNvSpPr>
          <p:nvPr/>
        </p:nvSpPr>
        <p:spPr bwMode="auto">
          <a:xfrm>
            <a:off x="307975" y="1106836"/>
            <a:ext cx="8204790" cy="5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None/>
            </a:pPr>
            <a:r>
              <a:rPr lang="zh-CN" altLang="en-US" sz="2800" dirty="0" smtClean="0">
                <a:latin typeface="Times New Roman" panose="02020603050405020304" pitchFamily="18" charset="0"/>
              </a:rPr>
              <a:t>反馈极性判断方法：</a:t>
            </a:r>
            <a:r>
              <a:rPr lang="zh-CN" altLang="zh-CN" sz="2800" dirty="0">
                <a:solidFill>
                  <a:srgbClr val="CC0099"/>
                </a:solidFill>
                <a:latin typeface="Times New Roman" panose="02020603050405020304" pitchFamily="18" charset="0"/>
              </a:rPr>
              <a:t>瞬时极性法：</a:t>
            </a:r>
            <a:r>
              <a:rPr lang="zh-CN" altLang="en-US" sz="2800" dirty="0">
                <a:solidFill>
                  <a:srgbClr val="CC0099"/>
                </a:solidFill>
                <a:latin typeface="Times New Roman" panose="02020603050405020304" pitchFamily="18" charset="0"/>
              </a:rPr>
              <a:t>三个</a:t>
            </a:r>
            <a:r>
              <a:rPr lang="zh-CN" altLang="en-US" sz="2800" dirty="0" smtClean="0">
                <a:solidFill>
                  <a:srgbClr val="CC0099"/>
                </a:solidFill>
                <a:latin typeface="Times New Roman" panose="02020603050405020304" pitchFamily="18" charset="0"/>
              </a:rPr>
              <a:t>步骤</a:t>
            </a:r>
            <a:endParaRPr lang="zh-CN" altLang="zh-CN" sz="2800" dirty="0">
              <a:latin typeface="Times New Roman" panose="02020603050405020304" pitchFamily="18" charset="0"/>
            </a:endParaRPr>
          </a:p>
        </p:txBody>
      </p:sp>
      <p:sp>
        <p:nvSpPr>
          <p:cNvPr id="61445" name="矩形 2"/>
          <p:cNvSpPr>
            <a:spLocks noChangeArrowheads="1"/>
          </p:cNvSpPr>
          <p:nvPr/>
        </p:nvSpPr>
        <p:spPr bwMode="auto">
          <a:xfrm>
            <a:off x="209845" y="1865313"/>
            <a:ext cx="8401050"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 typeface="Wingdings" panose="05000000000000000000" pitchFamily="2" charset="2"/>
              <a:buChar char="l"/>
            </a:pPr>
            <a:r>
              <a:rPr lang="zh-CN" altLang="en-US" sz="2200" dirty="0">
                <a:solidFill>
                  <a:srgbClr val="FF0000"/>
                </a:solidFill>
                <a:latin typeface="Times New Roman" panose="02020603050405020304" pitchFamily="18" charset="0"/>
              </a:rPr>
              <a:t>基本电路：</a:t>
            </a:r>
            <a:r>
              <a:rPr lang="zh-CN" altLang="en-US" sz="2200" dirty="0">
                <a:latin typeface="Times New Roman" panose="02020603050405020304" pitchFamily="18" charset="0"/>
              </a:rPr>
              <a:t>规定电路输入信号在某一时刻对地的极性，逐级判断电路中各相关的电流和电压的极性，从而得到</a:t>
            </a:r>
            <a:r>
              <a:rPr lang="zh-CN" altLang="en-US" sz="2200" dirty="0">
                <a:solidFill>
                  <a:srgbClr val="FF0000"/>
                </a:solidFill>
                <a:latin typeface="Times New Roman" panose="02020603050405020304" pitchFamily="18" charset="0"/>
              </a:rPr>
              <a:t>输出信号的极性</a:t>
            </a:r>
            <a:r>
              <a:rPr lang="zh-CN" altLang="en-US" sz="2200" dirty="0">
                <a:latin typeface="Times New Roman" panose="02020603050405020304" pitchFamily="18" charset="0"/>
              </a:rPr>
              <a:t>。</a:t>
            </a:r>
            <a:endParaRPr lang="en-US" altLang="zh-CN" sz="2200" dirty="0">
              <a:latin typeface="Times New Roman" panose="02020603050405020304" pitchFamily="18" charset="0"/>
            </a:endParaRPr>
          </a:p>
          <a:p>
            <a:pPr>
              <a:lnSpc>
                <a:spcPct val="150000"/>
              </a:lnSpc>
              <a:spcBef>
                <a:spcPct val="0"/>
              </a:spcBef>
              <a:buClrTx/>
              <a:buSzTx/>
              <a:buFont typeface="Wingdings" panose="05000000000000000000" pitchFamily="2" charset="2"/>
              <a:buChar char="l"/>
            </a:pPr>
            <a:r>
              <a:rPr lang="zh-CN" altLang="en-US" sz="2200" dirty="0">
                <a:solidFill>
                  <a:srgbClr val="FF0000"/>
                </a:solidFill>
                <a:latin typeface="Times New Roman" panose="02020603050405020304" pitchFamily="18" charset="0"/>
              </a:rPr>
              <a:t>反馈网络：</a:t>
            </a:r>
            <a:r>
              <a:rPr lang="zh-CN" altLang="en-US" sz="2200" dirty="0">
                <a:latin typeface="Times New Roman" panose="02020603050405020304" pitchFamily="18" charset="0"/>
              </a:rPr>
              <a:t>只考虑输出信号对反馈网络的作用，根据输出信号的反馈网络极性，判断</a:t>
            </a:r>
            <a:r>
              <a:rPr lang="zh-CN" altLang="en-US" sz="2200" dirty="0">
                <a:solidFill>
                  <a:srgbClr val="FF0000"/>
                </a:solidFill>
                <a:latin typeface="Times New Roman" panose="02020603050405020304" pitchFamily="18" charset="0"/>
              </a:rPr>
              <a:t>反馈信号的极性</a:t>
            </a:r>
            <a:r>
              <a:rPr lang="zh-CN" altLang="en-US" sz="2200" dirty="0">
                <a:latin typeface="Times New Roman" panose="02020603050405020304" pitchFamily="18" charset="0"/>
              </a:rPr>
              <a:t>。</a:t>
            </a:r>
            <a:endParaRPr lang="en-US" altLang="zh-CN" sz="2200" dirty="0">
              <a:latin typeface="Times New Roman" panose="02020603050405020304" pitchFamily="18" charset="0"/>
            </a:endParaRPr>
          </a:p>
          <a:p>
            <a:pPr>
              <a:lnSpc>
                <a:spcPct val="150000"/>
              </a:lnSpc>
              <a:spcBef>
                <a:spcPct val="0"/>
              </a:spcBef>
              <a:buClrTx/>
              <a:buSzTx/>
              <a:buFont typeface="Wingdings" panose="05000000000000000000" pitchFamily="2" charset="2"/>
              <a:buChar char="l"/>
            </a:pPr>
            <a:r>
              <a:rPr lang="zh-CN" altLang="en-US" sz="2200" dirty="0">
                <a:solidFill>
                  <a:srgbClr val="FF0000"/>
                </a:solidFill>
                <a:latin typeface="Times New Roman" panose="02020603050405020304" pitchFamily="18" charset="0"/>
              </a:rPr>
              <a:t>反馈极性判断：</a:t>
            </a:r>
            <a:r>
              <a:rPr lang="zh-CN" altLang="en-US" sz="2200" dirty="0">
                <a:latin typeface="Times New Roman" panose="02020603050405020304" pitchFamily="18" charset="0"/>
              </a:rPr>
              <a:t>分析输入信号与反馈量对净输入量的影响效果。若两者的影响效果相同，净输入量经两者叠加后增大，则说明引入了正反馈</a:t>
            </a:r>
            <a:r>
              <a:rPr lang="en-US" altLang="zh-CN" sz="2200" dirty="0">
                <a:latin typeface="Times New Roman" panose="02020603050405020304" pitchFamily="18" charset="0"/>
              </a:rPr>
              <a:t>;</a:t>
            </a:r>
            <a:r>
              <a:rPr lang="zh-CN" altLang="en-US" sz="2200" dirty="0">
                <a:latin typeface="Times New Roman" panose="02020603050405020304" pitchFamily="18" charset="0"/>
              </a:rPr>
              <a:t>若两者的影响效果相反，净输入量经两者相减后减小，则说明引入了负反馈。</a:t>
            </a:r>
            <a:endParaRPr lang="zh-CN" altLang="en-US" sz="2200" dirty="0">
              <a:latin typeface="Times New Roman" panose="02020603050405020304" pitchFamily="18" charset="0"/>
            </a:endParaRPr>
          </a:p>
        </p:txBody>
      </p:sp>
      <p:sp>
        <p:nvSpPr>
          <p:cNvPr id="6" name="Rectangle 4"/>
          <p:cNvSpPr>
            <a:spLocks noChangeArrowheads="1"/>
          </p:cNvSpPr>
          <p:nvPr/>
        </p:nvSpPr>
        <p:spPr bwMode="auto">
          <a:xfrm>
            <a:off x="0" y="154549"/>
            <a:ext cx="5319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dirty="0">
                <a:latin typeface="Times New Roman" panose="02020603050405020304" pitchFamily="18" charset="0"/>
              </a:rPr>
              <a:t>四、负反馈放大电路举例</a:t>
            </a:r>
            <a:endParaRPr lang="zh-CN" altLang="zh-CN"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A764D76-A49D-4FBE-A09A-529152AAC9BE}" type="slidenum">
              <a:rPr lang="zh-CN" altLang="zh-CN" sz="1400" smtClean="0"/>
            </a:fld>
            <a:endParaRPr lang="zh-CN" altLang="zh-CN" sz="1400" smtClean="0"/>
          </a:p>
        </p:txBody>
      </p:sp>
      <p:graphicFrame>
        <p:nvGraphicFramePr>
          <p:cNvPr id="62467" name="Object 2"/>
          <p:cNvGraphicFramePr>
            <a:graphicFrameLocks noChangeAspect="1"/>
          </p:cNvGraphicFramePr>
          <p:nvPr/>
        </p:nvGraphicFramePr>
        <p:xfrm>
          <a:off x="271463" y="771525"/>
          <a:ext cx="8442325" cy="4673600"/>
        </p:xfrm>
        <a:graphic>
          <a:graphicData uri="http://schemas.openxmlformats.org/presentationml/2006/ole">
            <mc:AlternateContent xmlns:mc="http://schemas.openxmlformats.org/markup-compatibility/2006">
              <mc:Choice xmlns:v="urn:schemas-microsoft-com:vml" Requires="v">
                <p:oleObj spid="_x0000_s103457" name="" r:id="rId1" imgW="3300730" imgH="1868805" progId="Visio.Drawing.11">
                  <p:embed/>
                </p:oleObj>
              </mc:Choice>
              <mc:Fallback>
                <p:oleObj name="" r:id="rId1" imgW="3300730" imgH="186880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2034" t="6625" r="4758" b="2208"/>
                      <a:stretch>
                        <a:fillRect/>
                      </a:stretch>
                    </p:blipFill>
                    <p:spPr bwMode="auto">
                      <a:xfrm>
                        <a:off x="271463" y="771525"/>
                        <a:ext cx="8442325"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3"/>
          <p:cNvSpPr txBox="1">
            <a:spLocks noChangeArrowheads="1"/>
          </p:cNvSpPr>
          <p:nvPr/>
        </p:nvSpPr>
        <p:spPr bwMode="auto">
          <a:xfrm>
            <a:off x="3805238" y="5499100"/>
            <a:ext cx="13858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负反馈</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94FA626-1FE8-4A1E-8029-96C559779CC8}" type="slidenum">
              <a:rPr lang="zh-CN" altLang="zh-CN" sz="1400" smtClean="0"/>
            </a:fld>
            <a:endParaRPr lang="zh-CN" altLang="zh-CN" sz="1400" smtClean="0"/>
          </a:p>
        </p:txBody>
      </p:sp>
      <p:graphicFrame>
        <p:nvGraphicFramePr>
          <p:cNvPr id="63491" name="Object 2"/>
          <p:cNvGraphicFramePr>
            <a:graphicFrameLocks noChangeAspect="1"/>
          </p:cNvGraphicFramePr>
          <p:nvPr/>
        </p:nvGraphicFramePr>
        <p:xfrm>
          <a:off x="427038" y="909638"/>
          <a:ext cx="8024812" cy="5032375"/>
        </p:xfrm>
        <a:graphic>
          <a:graphicData uri="http://schemas.openxmlformats.org/presentationml/2006/ole">
            <mc:AlternateContent xmlns:mc="http://schemas.openxmlformats.org/markup-compatibility/2006">
              <mc:Choice xmlns:v="urn:schemas-microsoft-com:vml" Requires="v">
                <p:oleObj spid="_x0000_s104481" name="" r:id="rId1" imgW="3103245" imgH="1941195" progId="Visio.Drawing.11">
                  <p:embed/>
                </p:oleObj>
              </mc:Choice>
              <mc:Fallback>
                <p:oleObj name="" r:id="rId1" imgW="3103245" imgH="194119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2176" t="6958" r="4628" b="-412"/>
                      <a:stretch>
                        <a:fillRect/>
                      </a:stretch>
                    </p:blipFill>
                    <p:spPr bwMode="auto">
                      <a:xfrm>
                        <a:off x="427038" y="909638"/>
                        <a:ext cx="8024812" cy="503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3"/>
          <p:cNvSpPr txBox="1">
            <a:spLocks noChangeArrowheads="1"/>
          </p:cNvSpPr>
          <p:nvPr/>
        </p:nvSpPr>
        <p:spPr bwMode="auto">
          <a:xfrm>
            <a:off x="3805238" y="5641975"/>
            <a:ext cx="13446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负反馈</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4CE3CDF-A0AA-4654-8174-2BA27EB4066E}" type="slidenum">
              <a:rPr lang="zh-CN" altLang="zh-CN" sz="1400" smtClean="0"/>
            </a:fld>
            <a:endParaRPr lang="zh-CN" altLang="zh-CN" sz="1400" smtClean="0"/>
          </a:p>
        </p:txBody>
      </p:sp>
      <p:graphicFrame>
        <p:nvGraphicFramePr>
          <p:cNvPr id="64515" name="Object 2"/>
          <p:cNvGraphicFramePr>
            <a:graphicFrameLocks noChangeAspect="1"/>
          </p:cNvGraphicFramePr>
          <p:nvPr/>
        </p:nvGraphicFramePr>
        <p:xfrm>
          <a:off x="1069975" y="747713"/>
          <a:ext cx="6921500" cy="4743450"/>
        </p:xfrm>
        <a:graphic>
          <a:graphicData uri="http://schemas.openxmlformats.org/presentationml/2006/ole">
            <mc:AlternateContent xmlns:mc="http://schemas.openxmlformats.org/markup-compatibility/2006">
              <mc:Choice xmlns:v="urn:schemas-microsoft-com:vml" Requires="v">
                <p:oleObj spid="_x0000_s105505" name="" r:id="rId1" imgW="2598420" imgH="1874520" progId="Visio.Drawing.11">
                  <p:embed/>
                </p:oleObj>
              </mc:Choice>
              <mc:Fallback>
                <p:oleObj name="" r:id="rId1" imgW="2598420" imgH="187452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1675" t="7889" r="5367" b="3708"/>
                      <a:stretch>
                        <a:fillRect/>
                      </a:stretch>
                    </p:blipFill>
                    <p:spPr bwMode="auto">
                      <a:xfrm>
                        <a:off x="1069975" y="747713"/>
                        <a:ext cx="6921500" cy="474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3"/>
          <p:cNvSpPr txBox="1">
            <a:spLocks noChangeArrowheads="1"/>
          </p:cNvSpPr>
          <p:nvPr/>
        </p:nvSpPr>
        <p:spPr bwMode="auto">
          <a:xfrm>
            <a:off x="4213225" y="5653088"/>
            <a:ext cx="1358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正反馈</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D4BFF3C-8280-4D64-9E4D-D390F0083C9A}" type="slidenum">
              <a:rPr lang="zh-CN" altLang="zh-CN" sz="1400" smtClean="0"/>
            </a:fld>
            <a:endParaRPr lang="zh-CN" altLang="zh-CN" sz="1400" smtClean="0"/>
          </a:p>
        </p:txBody>
      </p:sp>
      <p:graphicFrame>
        <p:nvGraphicFramePr>
          <p:cNvPr id="65539" name="Object 2"/>
          <p:cNvGraphicFramePr>
            <a:graphicFrameLocks noChangeAspect="1"/>
          </p:cNvGraphicFramePr>
          <p:nvPr/>
        </p:nvGraphicFramePr>
        <p:xfrm>
          <a:off x="398463" y="908050"/>
          <a:ext cx="8286750" cy="4660900"/>
        </p:xfrm>
        <a:graphic>
          <a:graphicData uri="http://schemas.openxmlformats.org/presentationml/2006/ole">
            <mc:AlternateContent xmlns:mc="http://schemas.openxmlformats.org/markup-compatibility/2006">
              <mc:Choice xmlns:v="urn:schemas-microsoft-com:vml" Requires="v">
                <p:oleObj spid="_x0000_s106529" name="" r:id="rId1" imgW="3192780" imgH="1798320" progId="Visio.Drawing.11">
                  <p:embed/>
                </p:oleObj>
              </mc:Choice>
              <mc:Fallback>
                <p:oleObj name="" r:id="rId1" imgW="3192780" imgH="179832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3993" t="6668" r="4478" b="1791"/>
                      <a:stretch>
                        <a:fillRect/>
                      </a:stretch>
                    </p:blipFill>
                    <p:spPr bwMode="auto">
                      <a:xfrm>
                        <a:off x="398463" y="908050"/>
                        <a:ext cx="8286750" cy="466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3"/>
          <p:cNvSpPr txBox="1">
            <a:spLocks noChangeArrowheads="1"/>
          </p:cNvSpPr>
          <p:nvPr/>
        </p:nvSpPr>
        <p:spPr bwMode="auto">
          <a:xfrm>
            <a:off x="3805238" y="5499100"/>
            <a:ext cx="1397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负反馈</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9448FA7-F795-4BBE-993E-8872DEAED9C1}" type="slidenum">
              <a:rPr lang="zh-CN" altLang="zh-CN" sz="1400" smtClean="0"/>
            </a:fld>
            <a:endParaRPr lang="zh-CN" altLang="zh-CN" sz="1400" smtClean="0"/>
          </a:p>
        </p:txBody>
      </p:sp>
      <p:sp>
        <p:nvSpPr>
          <p:cNvPr id="29699"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29700"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2" name="Rectangle 5"/>
          <p:cNvSpPr>
            <a:spLocks noChangeArrowheads="1"/>
          </p:cNvSpPr>
          <p:nvPr/>
        </p:nvSpPr>
        <p:spPr bwMode="auto">
          <a:xfrm>
            <a:off x="351655" y="585789"/>
            <a:ext cx="33131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lr>
                <a:schemeClr val="hlink"/>
              </a:buClr>
              <a:buSzPct val="70000"/>
              <a:buFont typeface="Wingdings" panose="05000000000000000000" pitchFamily="2" charset="2"/>
              <a:buChar char="v"/>
              <a:tabLst>
                <a:tab pos="533400" algn="l"/>
              </a:tabLst>
              <a:defRPr sz="3200">
                <a:solidFill>
                  <a:schemeClr val="tx1"/>
                </a:solidFill>
                <a:latin typeface="Arial" panose="020B0604020202020204" pitchFamily="34" charset="0"/>
                <a:ea typeface="宋体" panose="02010600030101010101" pitchFamily="2" charset="-122"/>
              </a:defRPr>
            </a:lvl1pPr>
            <a:lvl2pPr marL="179705" indent="1905">
              <a:spcBef>
                <a:spcPct val="20000"/>
              </a:spcBef>
              <a:buClr>
                <a:schemeClr val="accent2"/>
              </a:buClr>
              <a:buSzPct val="85000"/>
              <a:buFont typeface="Wingdings" panose="05000000000000000000" pitchFamily="2" charset="2"/>
              <a:buChar char=""/>
              <a:tabLst>
                <a:tab pos="5334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tabLst>
                <a:tab pos="5334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5334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Pct val="100000"/>
              <a:buFont typeface="Arial" panose="020B0604020202020204" pitchFamily="34" charset="0"/>
              <a:buAutoNum type="arabicPeriod"/>
            </a:pPr>
            <a:r>
              <a:rPr lang="zh-CN" altLang="zh-CN" dirty="0">
                <a:latin typeface="Times New Roman" panose="02020603050405020304" pitchFamily="18" charset="0"/>
              </a:rPr>
              <a:t>电压串联负反馈</a:t>
            </a:r>
            <a:endParaRPr lang="zh-CN" altLang="zh-CN" dirty="0">
              <a:latin typeface="Times New Roman" panose="02020603050405020304" pitchFamily="18" charset="0"/>
            </a:endParaRPr>
          </a:p>
        </p:txBody>
      </p:sp>
      <p:pic>
        <p:nvPicPr>
          <p:cNvPr id="2970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3288" y="1684338"/>
            <a:ext cx="52355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Rectangle 7"/>
          <p:cNvSpPr>
            <a:spLocks noChangeArrowheads="1"/>
          </p:cNvSpPr>
          <p:nvPr/>
        </p:nvSpPr>
        <p:spPr bwMode="auto">
          <a:xfrm>
            <a:off x="3063875" y="5697538"/>
            <a:ext cx="3170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5D27AFA-D36E-4DAB-A295-9E4C912EE2DD}" type="slidenum">
              <a:rPr lang="zh-CN" altLang="zh-CN" sz="1400" smtClean="0"/>
            </a:fld>
            <a:endParaRPr lang="zh-CN" altLang="zh-CN" sz="1400" smtClean="0"/>
          </a:p>
        </p:txBody>
      </p:sp>
      <p:sp>
        <p:nvSpPr>
          <p:cNvPr id="30723"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0724" name="Rectangle 3"/>
          <p:cNvSpPr>
            <a:spLocks noChangeArrowheads="1"/>
          </p:cNvSpPr>
          <p:nvPr/>
        </p:nvSpPr>
        <p:spPr bwMode="auto">
          <a:xfrm>
            <a:off x="3387725" y="59213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pic>
        <p:nvPicPr>
          <p:cNvPr id="3072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6475" y="361950"/>
            <a:ext cx="52355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5"/>
          <p:cNvSpPr>
            <a:spLocks noChangeArrowheads="1"/>
          </p:cNvSpPr>
          <p:nvPr/>
        </p:nvSpPr>
        <p:spPr bwMode="auto">
          <a:xfrm>
            <a:off x="3167063" y="4375150"/>
            <a:ext cx="3170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sp>
        <p:nvSpPr>
          <p:cNvPr id="30727" name="Rectangle 6"/>
          <p:cNvSpPr>
            <a:spLocks noChangeArrowheads="1"/>
          </p:cNvSpPr>
          <p:nvPr/>
        </p:nvSpPr>
        <p:spPr bwMode="auto">
          <a:xfrm>
            <a:off x="692150" y="1641475"/>
            <a:ext cx="134461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电压</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串联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0728" name="Rectangle 7"/>
          <p:cNvSpPr>
            <a:spLocks noChangeArrowheads="1"/>
          </p:cNvSpPr>
          <p:nvPr/>
        </p:nvSpPr>
        <p:spPr bwMode="auto">
          <a:xfrm>
            <a:off x="0"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0729" name="Freeform 8"/>
          <p:cNvSpPr/>
          <p:nvPr/>
        </p:nvSpPr>
        <p:spPr bwMode="auto">
          <a:xfrm>
            <a:off x="2892425" y="5468938"/>
            <a:ext cx="4645025" cy="627062"/>
          </a:xfrm>
          <a:custGeom>
            <a:avLst/>
            <a:gdLst>
              <a:gd name="T0" fmla="*/ 2147483646 w 1874"/>
              <a:gd name="T1" fmla="*/ 0 h 330"/>
              <a:gd name="T2" fmla="*/ 2147483646 w 1874"/>
              <a:gd name="T3" fmla="*/ 2147483646 h 330"/>
              <a:gd name="T4" fmla="*/ 0 w 1874"/>
              <a:gd name="T5" fmla="*/ 2147483646 h 330"/>
              <a:gd name="T6" fmla="*/ 0 60000 65536"/>
              <a:gd name="T7" fmla="*/ 0 60000 65536"/>
              <a:gd name="T8" fmla="*/ 0 60000 65536"/>
              <a:gd name="T9" fmla="*/ 0 w 1874"/>
              <a:gd name="T10" fmla="*/ 0 h 330"/>
              <a:gd name="T11" fmla="*/ 1874 w 1874"/>
              <a:gd name="T12" fmla="*/ 330 h 330"/>
            </a:gdLst>
            <a:ahLst/>
            <a:cxnLst>
              <a:cxn ang="T6">
                <a:pos x="T0" y="T1"/>
              </a:cxn>
              <a:cxn ang="T7">
                <a:pos x="T2" y="T3"/>
              </a:cxn>
              <a:cxn ang="T8">
                <a:pos x="T4" y="T5"/>
              </a:cxn>
            </a:cxnLst>
            <a:rect l="T9" t="T10" r="T11" b="T12"/>
            <a:pathLst>
              <a:path w="1874" h="330">
                <a:moveTo>
                  <a:pt x="1874" y="0"/>
                </a:moveTo>
                <a:lnTo>
                  <a:pt x="1874" y="330"/>
                </a:lnTo>
                <a:lnTo>
                  <a:pt x="0" y="330"/>
                </a:lnTo>
              </a:path>
            </a:pathLst>
          </a:custGeom>
          <a:noFill/>
          <a:ln w="28575">
            <a:solidFill>
              <a:srgbClr val="000000"/>
            </a:solidFill>
            <a:round/>
            <a:tailEnd type="arrow"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30" name="Rectangle 9"/>
          <p:cNvSpPr>
            <a:spLocks noChangeArrowheads="1"/>
          </p:cNvSpPr>
          <p:nvPr/>
        </p:nvSpPr>
        <p:spPr bwMode="auto">
          <a:xfrm>
            <a:off x="1717675" y="4913313"/>
            <a:ext cx="6373813"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67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i="1">
                <a:latin typeface="Times New Roman" panose="02020603050405020304" pitchFamily="18" charset="0"/>
              </a:rPr>
              <a:t>U</a:t>
            </a:r>
            <a:r>
              <a:rPr lang="zh-CN" altLang="zh-CN" sz="2800" i="1" baseline="-30000">
                <a:latin typeface="Times New Roman" panose="02020603050405020304" pitchFamily="18" charset="0"/>
              </a:rPr>
              <a:t>o</a:t>
            </a:r>
            <a:r>
              <a:rPr lang="zh-CN" altLang="zh-CN" sz="2800">
                <a:latin typeface="Times New Roman" panose="02020603050405020304" pitchFamily="18" charset="0"/>
              </a:rPr>
              <a:t>↑</a:t>
            </a:r>
            <a:r>
              <a:rPr lang="zh-CN" altLang="zh-CN" sz="2800">
                <a:latin typeface="Times New Roman" panose="02020603050405020304" pitchFamily="18" charset="0"/>
                <a:sym typeface="Wingdings" panose="05000000000000000000" pitchFamily="2" charset="2"/>
              </a:rPr>
              <a:t></a:t>
            </a:r>
            <a:r>
              <a:rPr lang="zh-CN" altLang="zh-CN" sz="2800">
                <a:latin typeface="Times New Roman" panose="02020603050405020304" pitchFamily="18" charset="0"/>
              </a:rPr>
              <a:t> </a:t>
            </a:r>
            <a:r>
              <a:rPr lang="zh-CN" altLang="zh-CN" sz="2800" i="1">
                <a:latin typeface="Times New Roman" panose="02020603050405020304" pitchFamily="18" charset="0"/>
                <a:sym typeface="Wingdings" panose="05000000000000000000" pitchFamily="2" charset="2"/>
              </a:rPr>
              <a:t>U</a:t>
            </a:r>
            <a:r>
              <a:rPr lang="zh-CN" altLang="zh-CN" sz="2800" i="1" baseline="-30000">
                <a:latin typeface="Times New Roman" panose="02020603050405020304" pitchFamily="18" charset="0"/>
                <a:sym typeface="Wingdings" panose="05000000000000000000" pitchFamily="2" charset="2"/>
              </a:rPr>
              <a:t>f</a:t>
            </a:r>
            <a:r>
              <a:rPr lang="zh-CN" altLang="zh-CN" sz="2800">
                <a:latin typeface="Times New Roman" panose="02020603050405020304" pitchFamily="18" charset="0"/>
                <a:sym typeface="Wingdings" panose="05000000000000000000" pitchFamily="2" charset="2"/>
              </a:rPr>
              <a:t>↑</a:t>
            </a:r>
            <a:r>
              <a:rPr lang="zh-CN" altLang="zh-CN" sz="2800" i="1">
                <a:latin typeface="Times New Roman" panose="02020603050405020304" pitchFamily="18" charset="0"/>
              </a:rPr>
              <a:t> </a:t>
            </a:r>
            <a:r>
              <a:rPr lang="zh-CN" altLang="zh-CN" sz="2800">
                <a:latin typeface="Times New Roman" panose="02020603050405020304" pitchFamily="18" charset="0"/>
                <a:sym typeface="Wingdings" panose="05000000000000000000" pitchFamily="2" charset="2"/>
              </a:rPr>
              <a:t>(</a:t>
            </a:r>
            <a:r>
              <a:rPr lang="zh-CN" altLang="zh-CN" sz="2800" i="1">
                <a:latin typeface="Times New Roman" panose="02020603050405020304" pitchFamily="18" charset="0"/>
                <a:sym typeface="Wingdings" panose="05000000000000000000" pitchFamily="2" charset="2"/>
              </a:rPr>
              <a:t>U</a:t>
            </a:r>
            <a:r>
              <a:rPr lang="zh-CN" altLang="zh-CN" sz="2800" i="1" baseline="-30000">
                <a:latin typeface="Times New Roman" panose="02020603050405020304" pitchFamily="18" charset="0"/>
                <a:sym typeface="Wingdings" panose="05000000000000000000" pitchFamily="2" charset="2"/>
              </a:rPr>
              <a:t>i</a:t>
            </a:r>
            <a:r>
              <a:rPr lang="zh-CN" altLang="zh-CN" sz="2800" i="1">
                <a:latin typeface="Times New Roman" panose="02020603050405020304" pitchFamily="18" charset="0"/>
                <a:sym typeface="Wingdings" panose="05000000000000000000" pitchFamily="2" charset="2"/>
              </a:rPr>
              <a:t>’</a:t>
            </a:r>
            <a:r>
              <a:rPr lang="zh-CN" altLang="zh-CN" sz="2800">
                <a:latin typeface="Times New Roman" panose="02020603050405020304" pitchFamily="18" charset="0"/>
                <a:sym typeface="Wingdings" panose="05000000000000000000" pitchFamily="2" charset="2"/>
              </a:rPr>
              <a:t>)</a:t>
            </a:r>
            <a:r>
              <a:rPr lang="zh-CN" altLang="zh-CN" sz="2800" i="1">
                <a:latin typeface="Times New Roman" panose="02020603050405020304" pitchFamily="18" charset="0"/>
                <a:sym typeface="Wingdings" panose="05000000000000000000" pitchFamily="2" charset="2"/>
              </a:rPr>
              <a:t>U</a:t>
            </a:r>
            <a:r>
              <a:rPr lang="zh-CN" altLang="zh-CN" sz="2800" i="1" baseline="-30000">
                <a:latin typeface="Times New Roman" panose="02020603050405020304" pitchFamily="18" charset="0"/>
                <a:sym typeface="Wingdings" panose="05000000000000000000" pitchFamily="2" charset="2"/>
              </a:rPr>
              <a:t>be</a:t>
            </a:r>
            <a:r>
              <a:rPr lang="zh-CN" altLang="zh-CN" sz="2800">
                <a:latin typeface="Times New Roman" panose="02020603050405020304" pitchFamily="18" charset="0"/>
                <a:sym typeface="Wingdings" panose="05000000000000000000" pitchFamily="2" charset="2"/>
              </a:rPr>
              <a:t>↓</a:t>
            </a:r>
            <a:r>
              <a:rPr lang="zh-CN" altLang="zh-CN" sz="2800" i="1">
                <a:latin typeface="Times New Roman" panose="02020603050405020304" pitchFamily="18" charset="0"/>
              </a:rPr>
              <a:t> I</a:t>
            </a:r>
            <a:r>
              <a:rPr lang="zh-CN" altLang="zh-CN" sz="2800" i="1" baseline="-30000">
                <a:latin typeface="Times New Roman" panose="02020603050405020304" pitchFamily="18" charset="0"/>
                <a:sym typeface="Wingdings" panose="05000000000000000000" pitchFamily="2" charset="2"/>
              </a:rPr>
              <a:t>b</a:t>
            </a:r>
            <a:r>
              <a:rPr lang="zh-CN" altLang="zh-CN" sz="2800">
                <a:latin typeface="Times New Roman" panose="02020603050405020304" pitchFamily="18" charset="0"/>
                <a:sym typeface="Wingdings" panose="05000000000000000000" pitchFamily="2" charset="2"/>
              </a:rPr>
              <a:t>↓</a:t>
            </a:r>
            <a:r>
              <a:rPr lang="zh-CN" altLang="zh-CN" sz="2800" i="1">
                <a:latin typeface="Times New Roman" panose="02020603050405020304" pitchFamily="18" charset="0"/>
              </a:rPr>
              <a:t> I</a:t>
            </a:r>
            <a:r>
              <a:rPr lang="zh-CN" altLang="zh-CN" sz="2800" i="1" baseline="-30000">
                <a:latin typeface="Times New Roman" panose="02020603050405020304" pitchFamily="18" charset="0"/>
                <a:sym typeface="Wingdings" panose="05000000000000000000" pitchFamily="2" charset="2"/>
              </a:rPr>
              <a:t>c</a:t>
            </a:r>
            <a:r>
              <a:rPr lang="zh-CN" altLang="zh-CN" sz="2800">
                <a:latin typeface="Times New Roman" panose="02020603050405020304" pitchFamily="18" charset="0"/>
                <a:sym typeface="Wingdings" panose="05000000000000000000" pitchFamily="2" charset="2"/>
              </a:rPr>
              <a:t>↓</a:t>
            </a:r>
            <a:endParaRPr lang="zh-CN" altLang="zh-CN" sz="2800">
              <a:latin typeface="Times New Roman" panose="02020603050405020304" pitchFamily="18" charset="0"/>
              <a:sym typeface="Wingdings" panose="05000000000000000000" pitchFamily="2" charset="2"/>
            </a:endParaRPr>
          </a:p>
          <a:p>
            <a:pPr eaLnBrk="1" hangingPunct="1">
              <a:spcBef>
                <a:spcPct val="0"/>
              </a:spcBef>
              <a:buClrTx/>
              <a:buSzTx/>
              <a:buFont typeface="Arial" panose="020B0604020202020204" pitchFamily="34" charset="0"/>
              <a:buNone/>
            </a:pPr>
            <a:endParaRPr lang="zh-CN" altLang="zh-CN" sz="2800">
              <a:latin typeface="Times New Roman" panose="02020603050405020304" pitchFamily="18" charset="0"/>
              <a:sym typeface="Wingdings" panose="05000000000000000000" pitchFamily="2" charset="2"/>
            </a:endParaRPr>
          </a:p>
          <a:p>
            <a:pPr>
              <a:spcBef>
                <a:spcPct val="0"/>
              </a:spcBef>
              <a:buClrTx/>
              <a:buSzTx/>
              <a:buFont typeface="Arial" panose="020B0604020202020204" pitchFamily="34" charset="0"/>
              <a:buNone/>
            </a:pPr>
            <a:r>
              <a:rPr lang="zh-CN" altLang="zh-CN" sz="2800" i="1">
                <a:latin typeface="Times New Roman" panose="02020603050405020304" pitchFamily="18" charset="0"/>
                <a:sym typeface="Wingdings" panose="05000000000000000000" pitchFamily="2" charset="2"/>
              </a:rPr>
              <a:t>U</a:t>
            </a:r>
            <a:r>
              <a:rPr lang="zh-CN" altLang="zh-CN" sz="2800" i="1" baseline="-30000">
                <a:latin typeface="Times New Roman" panose="02020603050405020304" pitchFamily="18" charset="0"/>
                <a:sym typeface="Wingdings" panose="05000000000000000000" pitchFamily="2" charset="2"/>
              </a:rPr>
              <a:t>o</a:t>
            </a:r>
            <a:r>
              <a:rPr lang="zh-CN" altLang="zh-CN" sz="2800" i="1">
                <a:latin typeface="Times New Roman" panose="02020603050405020304" pitchFamily="18" charset="0"/>
                <a:sym typeface="Wingdings" panose="05000000000000000000" pitchFamily="2" charset="2"/>
              </a:rPr>
              <a:t> </a:t>
            </a:r>
            <a:r>
              <a:rPr lang="zh-CN" altLang="zh-CN" sz="2800">
                <a:latin typeface="Times New Roman" panose="02020603050405020304" pitchFamily="18" charset="0"/>
                <a:sym typeface="Wingdings" panose="05000000000000000000" pitchFamily="2" charset="2"/>
              </a:rPr>
              <a:t>↓</a:t>
            </a:r>
            <a:endParaRPr lang="zh-CN" altLang="zh-CN" sz="2800">
              <a:latin typeface="Times New Roman" panose="02020603050405020304" pitchFamily="18" charset="0"/>
              <a:sym typeface="Wingdings" panose="05000000000000000000" pitchFamily="2" charset="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B01E7B7-5AF6-44D5-A381-D971E899DB54}" type="slidenum">
              <a:rPr lang="zh-CN" altLang="zh-CN" sz="1400" smtClean="0"/>
            </a:fld>
            <a:endParaRPr lang="zh-CN" altLang="zh-CN" sz="1400" smtClean="0"/>
          </a:p>
        </p:txBody>
      </p:sp>
      <p:sp>
        <p:nvSpPr>
          <p:cNvPr id="31747"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3174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6475" y="361950"/>
            <a:ext cx="52355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Rectangle 4"/>
          <p:cNvSpPr>
            <a:spLocks noChangeArrowheads="1"/>
          </p:cNvSpPr>
          <p:nvPr/>
        </p:nvSpPr>
        <p:spPr bwMode="auto">
          <a:xfrm>
            <a:off x="692150" y="1641475"/>
            <a:ext cx="134461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电压</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串联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1750" name="Rectangle 5"/>
          <p:cNvSpPr>
            <a:spLocks noChangeArrowheads="1"/>
          </p:cNvSpPr>
          <p:nvPr/>
        </p:nvSpPr>
        <p:spPr bwMode="auto">
          <a:xfrm>
            <a:off x="0"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1751"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1752" name="Object 7"/>
          <p:cNvGraphicFramePr>
            <a:graphicFrameLocks noChangeAspect="1"/>
          </p:cNvGraphicFramePr>
          <p:nvPr/>
        </p:nvGraphicFramePr>
        <p:xfrm>
          <a:off x="927100" y="4475163"/>
          <a:ext cx="1962150" cy="1177925"/>
        </p:xfrm>
        <a:graphic>
          <a:graphicData uri="http://schemas.openxmlformats.org/presentationml/2006/ole">
            <mc:AlternateContent xmlns:mc="http://schemas.openxmlformats.org/markup-compatibility/2006">
              <mc:Choice xmlns:v="urn:schemas-microsoft-com:vml" Requires="v">
                <p:oleObj spid="_x0000_s31817" name="" r:id="rId2" imgW="763270" imgH="457835" progId="Equation.3">
                  <p:embed/>
                </p:oleObj>
              </mc:Choice>
              <mc:Fallback>
                <p:oleObj name="" r:id="rId2" imgW="763270" imgH="45783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100" y="4475163"/>
                        <a:ext cx="1962150"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3"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1754" name="Object 9"/>
          <p:cNvGraphicFramePr>
            <a:graphicFrameLocks noChangeAspect="1"/>
          </p:cNvGraphicFramePr>
          <p:nvPr/>
        </p:nvGraphicFramePr>
        <p:xfrm>
          <a:off x="3670300" y="4489450"/>
          <a:ext cx="2563813" cy="1173163"/>
        </p:xfrm>
        <a:graphic>
          <a:graphicData uri="http://schemas.openxmlformats.org/presentationml/2006/ole">
            <mc:AlternateContent xmlns:mc="http://schemas.openxmlformats.org/markup-compatibility/2006">
              <mc:Choice xmlns:v="urn:schemas-microsoft-com:vml" Requires="v">
                <p:oleObj spid="_x0000_s31818" name="" r:id="rId4" imgW="1003935" imgH="457835" progId="Equation.3">
                  <p:embed/>
                </p:oleObj>
              </mc:Choice>
              <mc:Fallback>
                <p:oleObj name="" r:id="rId4" imgW="1003935" imgH="457835"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0300" y="4489450"/>
                        <a:ext cx="2563813"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E2A9E94-73BB-4A70-BA28-923490CF289F}" type="slidenum">
              <a:rPr lang="zh-CN" altLang="zh-CN" sz="1400" smtClean="0"/>
            </a:fld>
            <a:endParaRPr lang="zh-CN" altLang="zh-CN" sz="1400" smtClean="0"/>
          </a:p>
        </p:txBody>
      </p:sp>
      <p:sp>
        <p:nvSpPr>
          <p:cNvPr id="32771"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2772"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32773" name="Rectangle 4"/>
          <p:cNvSpPr>
            <a:spLocks noChangeArrowheads="1"/>
          </p:cNvSpPr>
          <p:nvPr/>
        </p:nvSpPr>
        <p:spPr bwMode="auto">
          <a:xfrm>
            <a:off x="3141663" y="4157663"/>
            <a:ext cx="347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（b）集成运放反馈电路 </a:t>
            </a:r>
            <a:endParaRPr lang="zh-CN" altLang="zh-CN" sz="2400">
              <a:latin typeface="Times New Roman" panose="02020603050405020304" pitchFamily="18" charset="0"/>
            </a:endParaRPr>
          </a:p>
        </p:txBody>
      </p:sp>
      <p:sp>
        <p:nvSpPr>
          <p:cNvPr id="2" name="Rectangle 5"/>
          <p:cNvSpPr>
            <a:spLocks noChangeArrowheads="1"/>
          </p:cNvSpPr>
          <p:nvPr/>
        </p:nvSpPr>
        <p:spPr bwMode="auto">
          <a:xfrm>
            <a:off x="588963" y="1565275"/>
            <a:ext cx="13398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电压</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串联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pic>
        <p:nvPicPr>
          <p:cNvPr id="3277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6925" y="376238"/>
            <a:ext cx="5716588"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 name="Object 8"/>
          <p:cNvGraphicFramePr>
            <a:graphicFrameLocks noChangeAspect="1"/>
          </p:cNvGraphicFramePr>
          <p:nvPr/>
        </p:nvGraphicFramePr>
        <p:xfrm>
          <a:off x="823913" y="4876800"/>
          <a:ext cx="2655887" cy="973138"/>
        </p:xfrm>
        <a:graphic>
          <a:graphicData uri="http://schemas.openxmlformats.org/presentationml/2006/ole">
            <mc:AlternateContent xmlns:mc="http://schemas.openxmlformats.org/markup-compatibility/2006">
              <mc:Choice xmlns:v="urn:schemas-microsoft-com:vml" Requires="v">
                <p:oleObj spid="_x0000_s32842" name="" r:id="rId2" imgW="1246505" imgH="457835" progId="Equation.3">
                  <p:embed/>
                </p:oleObj>
              </mc:Choice>
              <mc:Fallback>
                <p:oleObj name="" r:id="rId2" imgW="1246505" imgH="457835"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13" y="4876800"/>
                        <a:ext cx="2655887"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8" name="Rectangle 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4" name="Object 10"/>
          <p:cNvGraphicFramePr>
            <a:graphicFrameLocks noChangeAspect="1"/>
          </p:cNvGraphicFramePr>
          <p:nvPr/>
        </p:nvGraphicFramePr>
        <p:xfrm>
          <a:off x="4032250" y="4800600"/>
          <a:ext cx="4232275" cy="1052513"/>
        </p:xfrm>
        <a:graphic>
          <a:graphicData uri="http://schemas.openxmlformats.org/presentationml/2006/ole">
            <mc:AlternateContent xmlns:mc="http://schemas.openxmlformats.org/markup-compatibility/2006">
              <mc:Choice xmlns:v="urn:schemas-microsoft-com:vml" Requires="v">
                <p:oleObj spid="_x0000_s32843" name="" r:id="rId4" imgW="1804035" imgH="444500" progId="Equation.3">
                  <p:embed/>
                </p:oleObj>
              </mc:Choice>
              <mc:Fallback>
                <p:oleObj name="" r:id="rId4" imgW="1804035" imgH="4445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0" y="4800600"/>
                        <a:ext cx="423227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94E4D89-AA4E-4CCB-991C-4C6900B5EDE7}" type="slidenum">
              <a:rPr lang="zh-CN" altLang="zh-CN" sz="1400" smtClean="0"/>
            </a:fld>
            <a:endParaRPr lang="zh-CN" altLang="zh-CN" sz="1400" smtClean="0"/>
          </a:p>
        </p:txBody>
      </p:sp>
      <p:sp>
        <p:nvSpPr>
          <p:cNvPr id="33795"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3796"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2" name="Rectangle 4"/>
          <p:cNvSpPr>
            <a:spLocks noChangeArrowheads="1"/>
          </p:cNvSpPr>
          <p:nvPr/>
        </p:nvSpPr>
        <p:spPr bwMode="auto">
          <a:xfrm>
            <a:off x="344488" y="1033463"/>
            <a:ext cx="3376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lr>
                <a:schemeClr val="hlink"/>
              </a:buClr>
              <a:buSzPct val="70000"/>
              <a:buFont typeface="Wingdings" panose="05000000000000000000" pitchFamily="2" charset="2"/>
              <a:buChar char="v"/>
              <a:tabLst>
                <a:tab pos="533400" algn="l"/>
              </a:tabLst>
              <a:defRPr sz="3200">
                <a:solidFill>
                  <a:schemeClr val="tx1"/>
                </a:solidFill>
                <a:latin typeface="Arial" panose="020B0604020202020204" pitchFamily="34" charset="0"/>
                <a:ea typeface="宋体" panose="02010600030101010101" pitchFamily="2" charset="-122"/>
              </a:defRPr>
            </a:lvl1pPr>
            <a:lvl2pPr marL="179705" indent="1905">
              <a:spcBef>
                <a:spcPct val="20000"/>
              </a:spcBef>
              <a:buClr>
                <a:schemeClr val="accent2"/>
              </a:buClr>
              <a:buSzPct val="85000"/>
              <a:buFont typeface="Wingdings" panose="05000000000000000000" pitchFamily="2" charset="2"/>
              <a:buChar char=""/>
              <a:tabLst>
                <a:tab pos="5334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tabLst>
                <a:tab pos="5334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5334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Pct val="100000"/>
              <a:buFont typeface="Arial" panose="020B0604020202020204" pitchFamily="34" charset="0"/>
              <a:buNone/>
            </a:pPr>
            <a:r>
              <a:rPr lang="zh-CN" altLang="zh-CN">
                <a:latin typeface="Times New Roman" panose="02020603050405020304" pitchFamily="18" charset="0"/>
              </a:rPr>
              <a:t>2.电压并联负反馈</a:t>
            </a:r>
            <a:endParaRPr lang="zh-CN" altLang="zh-CN">
              <a:latin typeface="Times New Roman" panose="02020603050405020304" pitchFamily="18" charset="0"/>
            </a:endParaRPr>
          </a:p>
        </p:txBody>
      </p:sp>
      <p:sp>
        <p:nvSpPr>
          <p:cNvPr id="33798" name="Rectangle 5"/>
          <p:cNvSpPr>
            <a:spLocks noChangeArrowheads="1"/>
          </p:cNvSpPr>
          <p:nvPr/>
        </p:nvSpPr>
        <p:spPr bwMode="auto">
          <a:xfrm>
            <a:off x="3063875" y="5697538"/>
            <a:ext cx="3170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pic>
        <p:nvPicPr>
          <p:cNvPr id="3379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5450" y="1663700"/>
            <a:ext cx="6205538"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236C768-F607-4F1F-B2FE-DE901E406DAF}" type="slidenum">
              <a:rPr lang="zh-CN" altLang="zh-CN" sz="1400" smtClean="0"/>
            </a:fld>
            <a:endParaRPr lang="zh-CN" altLang="zh-CN" sz="1400" smtClean="0"/>
          </a:p>
        </p:txBody>
      </p:sp>
      <p:sp>
        <p:nvSpPr>
          <p:cNvPr id="34819"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4820" name="Rectangle 3"/>
          <p:cNvSpPr>
            <a:spLocks noChangeArrowheads="1"/>
          </p:cNvSpPr>
          <p:nvPr/>
        </p:nvSpPr>
        <p:spPr bwMode="auto">
          <a:xfrm>
            <a:off x="3387725" y="59213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34821" name="Rectangle 4"/>
          <p:cNvSpPr>
            <a:spLocks noChangeArrowheads="1"/>
          </p:cNvSpPr>
          <p:nvPr/>
        </p:nvSpPr>
        <p:spPr bwMode="auto">
          <a:xfrm>
            <a:off x="3167063" y="4540250"/>
            <a:ext cx="315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sp>
        <p:nvSpPr>
          <p:cNvPr id="34822" name="Rectangle 5"/>
          <p:cNvSpPr>
            <a:spLocks noChangeArrowheads="1"/>
          </p:cNvSpPr>
          <p:nvPr/>
        </p:nvSpPr>
        <p:spPr bwMode="auto">
          <a:xfrm>
            <a:off x="331788" y="1730375"/>
            <a:ext cx="13398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电压</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并联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4823" name="Rectangle 6"/>
          <p:cNvSpPr>
            <a:spLocks noChangeArrowheads="1"/>
          </p:cNvSpPr>
          <p:nvPr/>
        </p:nvSpPr>
        <p:spPr bwMode="auto">
          <a:xfrm>
            <a:off x="0"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3482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8950" y="542925"/>
            <a:ext cx="6205538"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4826" name="Object 9"/>
          <p:cNvGraphicFramePr>
            <a:graphicFrameLocks noChangeAspect="1"/>
          </p:cNvGraphicFramePr>
          <p:nvPr/>
        </p:nvGraphicFramePr>
        <p:xfrm>
          <a:off x="560388" y="5130800"/>
          <a:ext cx="3052762" cy="1147763"/>
        </p:xfrm>
        <a:graphic>
          <a:graphicData uri="http://schemas.openxmlformats.org/presentationml/2006/ole">
            <mc:AlternateContent xmlns:mc="http://schemas.openxmlformats.org/markup-compatibility/2006">
              <mc:Choice xmlns:v="urn:schemas-microsoft-com:vml" Requires="v">
                <p:oleObj spid="_x0000_s34891" name="" r:id="rId2" imgW="1221105" imgH="457835" progId="Equation.3">
                  <p:embed/>
                </p:oleObj>
              </mc:Choice>
              <mc:Fallback>
                <p:oleObj name="" r:id="rId2" imgW="1221105" imgH="457835"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5130800"/>
                        <a:ext cx="3052762"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7" name="Rectangle 10"/>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4828" name="Object 11"/>
          <p:cNvGraphicFramePr>
            <a:graphicFrameLocks noChangeAspect="1"/>
          </p:cNvGraphicFramePr>
          <p:nvPr/>
        </p:nvGraphicFramePr>
        <p:xfrm>
          <a:off x="4237038" y="5162550"/>
          <a:ext cx="3289300" cy="1198563"/>
        </p:xfrm>
        <a:graphic>
          <a:graphicData uri="http://schemas.openxmlformats.org/presentationml/2006/ole">
            <mc:AlternateContent xmlns:mc="http://schemas.openxmlformats.org/markup-compatibility/2006">
              <mc:Choice xmlns:v="urn:schemas-microsoft-com:vml" Requires="v">
                <p:oleObj spid="_x0000_s34892" name="" r:id="rId4" imgW="1233170" imgH="445135" progId="Equation.3">
                  <p:embed/>
                </p:oleObj>
              </mc:Choice>
              <mc:Fallback>
                <p:oleObj name="" r:id="rId4" imgW="1233170" imgH="445135"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7038" y="5162550"/>
                        <a:ext cx="328930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3007BE7-E5E5-48DB-B3DD-41D9C51A5FDC}" type="slidenum">
              <a:rPr lang="zh-CN" altLang="zh-CN" sz="1400" smtClean="0"/>
            </a:fld>
            <a:endParaRPr lang="zh-CN" altLang="zh-CN" sz="1400" smtClean="0"/>
          </a:p>
        </p:txBody>
      </p:sp>
      <p:sp>
        <p:nvSpPr>
          <p:cNvPr id="35843"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5844"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35845" name="Rectangle 4"/>
          <p:cNvSpPr>
            <a:spLocks noChangeArrowheads="1"/>
          </p:cNvSpPr>
          <p:nvPr/>
        </p:nvSpPr>
        <p:spPr bwMode="auto">
          <a:xfrm>
            <a:off x="3141663" y="4310063"/>
            <a:ext cx="346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（a）集成运放反馈电路 </a:t>
            </a:r>
            <a:endParaRPr lang="zh-CN" altLang="zh-CN" sz="2400">
              <a:latin typeface="Times New Roman" panose="02020603050405020304" pitchFamily="18" charset="0"/>
            </a:endParaRPr>
          </a:p>
        </p:txBody>
      </p:sp>
      <p:sp>
        <p:nvSpPr>
          <p:cNvPr id="2" name="Rectangle 5"/>
          <p:cNvSpPr>
            <a:spLocks noChangeArrowheads="1"/>
          </p:cNvSpPr>
          <p:nvPr/>
        </p:nvSpPr>
        <p:spPr bwMode="auto">
          <a:xfrm>
            <a:off x="588963" y="1717675"/>
            <a:ext cx="13398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电压</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并联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5847"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5848" name="Rectangle 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35849"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3463" y="458788"/>
            <a:ext cx="5692775"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9"/>
          <p:cNvGraphicFramePr>
            <a:graphicFrameLocks noChangeAspect="1"/>
          </p:cNvGraphicFramePr>
          <p:nvPr/>
        </p:nvGraphicFramePr>
        <p:xfrm>
          <a:off x="946150" y="4989513"/>
          <a:ext cx="3054350" cy="1147762"/>
        </p:xfrm>
        <a:graphic>
          <a:graphicData uri="http://schemas.openxmlformats.org/presentationml/2006/ole">
            <mc:AlternateContent xmlns:mc="http://schemas.openxmlformats.org/markup-compatibility/2006">
              <mc:Choice xmlns:v="urn:schemas-microsoft-com:vml" Requires="v">
                <p:oleObj spid="_x0000_s35914" name="" r:id="rId2" imgW="1221105" imgH="457835" progId="Equation.3">
                  <p:embed/>
                </p:oleObj>
              </mc:Choice>
              <mc:Fallback>
                <p:oleObj name="" r:id="rId2" imgW="1221105" imgH="457835"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150" y="4989513"/>
                        <a:ext cx="3054350"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0" name="Object 10"/>
          <p:cNvGraphicFramePr>
            <a:graphicFrameLocks noChangeAspect="1"/>
          </p:cNvGraphicFramePr>
          <p:nvPr/>
        </p:nvGraphicFramePr>
        <p:xfrm>
          <a:off x="4610100" y="4983163"/>
          <a:ext cx="3289300" cy="1198562"/>
        </p:xfrm>
        <a:graphic>
          <a:graphicData uri="http://schemas.openxmlformats.org/presentationml/2006/ole">
            <mc:AlternateContent xmlns:mc="http://schemas.openxmlformats.org/markup-compatibility/2006">
              <mc:Choice xmlns:v="urn:schemas-microsoft-com:vml" Requires="v">
                <p:oleObj spid="_x0000_s35915" name="" r:id="rId4" imgW="1233170" imgH="445135" progId="Equation.3">
                  <p:embed/>
                </p:oleObj>
              </mc:Choice>
              <mc:Fallback>
                <p:oleObj name="" r:id="rId4" imgW="1233170" imgH="445135"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4983163"/>
                        <a:ext cx="3289300" cy="119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852C929-3252-4BF3-8ECC-DA505D927649}" type="slidenum">
              <a:rPr lang="zh-CN" altLang="zh-CN" sz="1400" smtClean="0"/>
            </a:fld>
            <a:endParaRPr lang="zh-CN" altLang="zh-CN" sz="1400" smtClean="0"/>
          </a:p>
        </p:txBody>
      </p:sp>
      <p:sp>
        <p:nvSpPr>
          <p:cNvPr id="36867"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6868"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2" name="Rectangle 4"/>
          <p:cNvSpPr>
            <a:spLocks noChangeArrowheads="1"/>
          </p:cNvSpPr>
          <p:nvPr/>
        </p:nvSpPr>
        <p:spPr bwMode="auto">
          <a:xfrm>
            <a:off x="344488" y="868363"/>
            <a:ext cx="3429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lr>
                <a:schemeClr val="hlink"/>
              </a:buClr>
              <a:buSzPct val="70000"/>
              <a:buFont typeface="Wingdings" panose="05000000000000000000" pitchFamily="2" charset="2"/>
              <a:buChar char="v"/>
              <a:tabLst>
                <a:tab pos="533400" algn="l"/>
              </a:tabLst>
              <a:defRPr sz="3200">
                <a:solidFill>
                  <a:schemeClr val="tx1"/>
                </a:solidFill>
                <a:latin typeface="Arial" panose="020B0604020202020204" pitchFamily="34" charset="0"/>
                <a:ea typeface="宋体" panose="02010600030101010101" pitchFamily="2" charset="-122"/>
              </a:defRPr>
            </a:lvl1pPr>
            <a:lvl2pPr marL="179705" indent="1905">
              <a:spcBef>
                <a:spcPct val="20000"/>
              </a:spcBef>
              <a:buClr>
                <a:schemeClr val="accent2"/>
              </a:buClr>
              <a:buSzPct val="85000"/>
              <a:buFont typeface="Wingdings" panose="05000000000000000000" pitchFamily="2" charset="2"/>
              <a:buChar char=""/>
              <a:tabLst>
                <a:tab pos="5334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tabLst>
                <a:tab pos="5334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5334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Pct val="100000"/>
              <a:buFont typeface="Arial" panose="020B0604020202020204" pitchFamily="34" charset="0"/>
              <a:buNone/>
            </a:pPr>
            <a:r>
              <a:rPr lang="zh-CN" altLang="zh-CN">
                <a:latin typeface="Times New Roman" panose="02020603050405020304" pitchFamily="18" charset="0"/>
              </a:rPr>
              <a:t>3.电流串联负反馈</a:t>
            </a:r>
            <a:endParaRPr lang="zh-CN" altLang="zh-CN">
              <a:latin typeface="Times New Roman" panose="02020603050405020304" pitchFamily="18" charset="0"/>
            </a:endParaRPr>
          </a:p>
        </p:txBody>
      </p:sp>
      <p:sp>
        <p:nvSpPr>
          <p:cNvPr id="36870" name="Rectangle 5"/>
          <p:cNvSpPr>
            <a:spLocks noChangeArrowheads="1"/>
          </p:cNvSpPr>
          <p:nvPr/>
        </p:nvSpPr>
        <p:spPr bwMode="auto">
          <a:xfrm>
            <a:off x="3063875" y="5697538"/>
            <a:ext cx="3170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pic>
        <p:nvPicPr>
          <p:cNvPr id="3687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3863" y="1546225"/>
            <a:ext cx="6203950"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AB45469-9792-4F7E-B305-CA767EFB358A}" type="slidenum">
              <a:rPr lang="zh-CN" altLang="zh-CN" sz="1400" smtClean="0"/>
            </a:fld>
            <a:endParaRPr lang="zh-CN" altLang="zh-CN" sz="1400" smtClean="0"/>
          </a:p>
        </p:txBody>
      </p:sp>
      <p:sp>
        <p:nvSpPr>
          <p:cNvPr id="37891"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7892" name="Rectangle 3"/>
          <p:cNvSpPr>
            <a:spLocks noChangeArrowheads="1"/>
          </p:cNvSpPr>
          <p:nvPr/>
        </p:nvSpPr>
        <p:spPr bwMode="auto">
          <a:xfrm>
            <a:off x="3387725" y="5921375"/>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37893" name="Rectangle 4"/>
          <p:cNvSpPr>
            <a:spLocks noChangeArrowheads="1"/>
          </p:cNvSpPr>
          <p:nvPr/>
        </p:nvSpPr>
        <p:spPr bwMode="auto">
          <a:xfrm>
            <a:off x="3319463" y="4451350"/>
            <a:ext cx="315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（a）晶体管反馈电路 </a:t>
            </a:r>
            <a:endParaRPr lang="zh-CN" altLang="zh-CN" sz="2400">
              <a:latin typeface="Times New Roman" panose="02020603050405020304" pitchFamily="18" charset="0"/>
            </a:endParaRPr>
          </a:p>
        </p:txBody>
      </p:sp>
      <p:sp>
        <p:nvSpPr>
          <p:cNvPr id="37894" name="Rectangle 5"/>
          <p:cNvSpPr>
            <a:spLocks noChangeArrowheads="1"/>
          </p:cNvSpPr>
          <p:nvPr/>
        </p:nvSpPr>
        <p:spPr bwMode="auto">
          <a:xfrm>
            <a:off x="331788" y="1641475"/>
            <a:ext cx="134461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电流</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串联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7895" name="Rectangle 6"/>
          <p:cNvSpPr>
            <a:spLocks noChangeArrowheads="1"/>
          </p:cNvSpPr>
          <p:nvPr/>
        </p:nvSpPr>
        <p:spPr bwMode="auto">
          <a:xfrm>
            <a:off x="0"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7896"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7897" name="Rectangle 8"/>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37898"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4050" y="334963"/>
            <a:ext cx="6203950"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9" name="Rectangle 1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7900" name="Object 11"/>
          <p:cNvGraphicFramePr>
            <a:graphicFrameLocks noChangeAspect="1"/>
          </p:cNvGraphicFramePr>
          <p:nvPr/>
        </p:nvGraphicFramePr>
        <p:xfrm>
          <a:off x="708025" y="5145088"/>
          <a:ext cx="2887663" cy="1074737"/>
        </p:xfrm>
        <a:graphic>
          <a:graphicData uri="http://schemas.openxmlformats.org/presentationml/2006/ole">
            <mc:AlternateContent xmlns:mc="http://schemas.openxmlformats.org/markup-compatibility/2006">
              <mc:Choice xmlns:v="urn:schemas-microsoft-com:vml" Requires="v">
                <p:oleObj spid="_x0000_s37965" name="" r:id="rId2" imgW="1233805" imgH="457835" progId="Equation.3">
                  <p:embed/>
                </p:oleObj>
              </mc:Choice>
              <mc:Fallback>
                <p:oleObj name="" r:id="rId2" imgW="1233805" imgH="457835"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025" y="5145088"/>
                        <a:ext cx="2887663"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1" name="Rectangle 1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7902" name="Object 13"/>
          <p:cNvGraphicFramePr>
            <a:graphicFrameLocks noChangeAspect="1"/>
          </p:cNvGraphicFramePr>
          <p:nvPr/>
        </p:nvGraphicFramePr>
        <p:xfrm>
          <a:off x="4530725" y="5106988"/>
          <a:ext cx="2678113" cy="1233487"/>
        </p:xfrm>
        <a:graphic>
          <a:graphicData uri="http://schemas.openxmlformats.org/presentationml/2006/ole">
            <mc:AlternateContent xmlns:mc="http://schemas.openxmlformats.org/markup-compatibility/2006">
              <mc:Choice xmlns:v="urn:schemas-microsoft-com:vml" Requires="v">
                <p:oleObj spid="_x0000_s37966" name="" r:id="rId4" imgW="927735" imgH="432435" progId="Equation.3">
                  <p:embed/>
                </p:oleObj>
              </mc:Choice>
              <mc:Fallback>
                <p:oleObj name="" r:id="rId4" imgW="927735" imgH="432435"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0725" y="5106988"/>
                        <a:ext cx="2678113"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2A8F1BC-059A-43A9-A8C3-51CD8D56E23F}" type="slidenum">
              <a:rPr lang="zh-CN" altLang="zh-CN" sz="1400" smtClean="0"/>
            </a:fld>
            <a:endParaRPr lang="zh-CN" altLang="zh-CN" sz="1400" smtClean="0"/>
          </a:p>
        </p:txBody>
      </p:sp>
      <p:sp>
        <p:nvSpPr>
          <p:cNvPr id="38915"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8916"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38917" name="Rectangle 4"/>
          <p:cNvSpPr>
            <a:spLocks noChangeArrowheads="1"/>
          </p:cNvSpPr>
          <p:nvPr/>
        </p:nvSpPr>
        <p:spPr bwMode="auto">
          <a:xfrm>
            <a:off x="3141663" y="4246563"/>
            <a:ext cx="346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（a）集成运放反馈电路 </a:t>
            </a:r>
            <a:endParaRPr lang="zh-CN" altLang="zh-CN" sz="2400">
              <a:latin typeface="Times New Roman" panose="02020603050405020304" pitchFamily="18" charset="0"/>
            </a:endParaRPr>
          </a:p>
        </p:txBody>
      </p:sp>
      <p:sp>
        <p:nvSpPr>
          <p:cNvPr id="2" name="Rectangle 5"/>
          <p:cNvSpPr>
            <a:spLocks noChangeArrowheads="1"/>
          </p:cNvSpPr>
          <p:nvPr/>
        </p:nvSpPr>
        <p:spPr bwMode="auto">
          <a:xfrm>
            <a:off x="855663" y="1654175"/>
            <a:ext cx="13398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电流</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串联</a:t>
            </a:r>
            <a:endParaRPr lang="zh-CN" altLang="zh-CN" sz="280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负反馈 </a:t>
            </a:r>
            <a:endParaRPr lang="zh-CN" altLang="zh-CN" sz="2800">
              <a:solidFill>
                <a:schemeClr val="tx2"/>
              </a:solidFill>
              <a:latin typeface="Times New Roman" panose="02020603050405020304" pitchFamily="18" charset="0"/>
            </a:endParaRPr>
          </a:p>
        </p:txBody>
      </p:sp>
      <p:sp>
        <p:nvSpPr>
          <p:cNvPr id="38919"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8920" name="Rectangle 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38921"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74938" y="508000"/>
            <a:ext cx="4760912"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2" name="Rectangle 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 name="Object 10"/>
          <p:cNvGraphicFramePr>
            <a:graphicFrameLocks noChangeAspect="1"/>
          </p:cNvGraphicFramePr>
          <p:nvPr/>
        </p:nvGraphicFramePr>
        <p:xfrm>
          <a:off x="695325" y="4926013"/>
          <a:ext cx="3559175" cy="1177925"/>
        </p:xfrm>
        <a:graphic>
          <a:graphicData uri="http://schemas.openxmlformats.org/presentationml/2006/ole">
            <mc:AlternateContent xmlns:mc="http://schemas.openxmlformats.org/markup-compatibility/2006">
              <mc:Choice xmlns:v="urn:schemas-microsoft-com:vml" Requires="v">
                <p:oleObj spid="_x0000_s38987" name="" r:id="rId2" imgW="1386205" imgH="457835" progId="Equation.3">
                  <p:embed/>
                </p:oleObj>
              </mc:Choice>
              <mc:Fallback>
                <p:oleObj name="" r:id="rId2" imgW="1386205" imgH="457835"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4926013"/>
                        <a:ext cx="355917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23" name="Object 11"/>
          <p:cNvGraphicFramePr>
            <a:graphicFrameLocks noChangeAspect="1"/>
          </p:cNvGraphicFramePr>
          <p:nvPr/>
        </p:nvGraphicFramePr>
        <p:xfrm>
          <a:off x="4908550" y="4938713"/>
          <a:ext cx="2641600" cy="1233487"/>
        </p:xfrm>
        <a:graphic>
          <a:graphicData uri="http://schemas.openxmlformats.org/presentationml/2006/ole">
            <mc:AlternateContent xmlns:mc="http://schemas.openxmlformats.org/markup-compatibility/2006">
              <mc:Choice xmlns:v="urn:schemas-microsoft-com:vml" Requires="v">
                <p:oleObj spid="_x0000_s38988" name="" r:id="rId4" imgW="915035" imgH="432435" progId="Equation.3">
                  <p:embed/>
                </p:oleObj>
              </mc:Choice>
              <mc:Fallback>
                <p:oleObj name="" r:id="rId4" imgW="915035" imgH="432435"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8550" y="4938713"/>
                        <a:ext cx="2641600"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1DD3B4D-C3D8-4E11-BE7B-CCBB81227F20}" type="slidenum">
              <a:rPr lang="zh-CN" altLang="zh-CN" sz="1400" smtClean="0"/>
            </a:fld>
            <a:endParaRPr lang="zh-CN" altLang="zh-CN" sz="1400" smtClean="0"/>
          </a:p>
        </p:txBody>
      </p:sp>
      <p:sp>
        <p:nvSpPr>
          <p:cNvPr id="39939"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39940"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2" name="Rectangle 4"/>
          <p:cNvSpPr>
            <a:spLocks noChangeArrowheads="1"/>
          </p:cNvSpPr>
          <p:nvPr/>
        </p:nvSpPr>
        <p:spPr bwMode="auto">
          <a:xfrm>
            <a:off x="344488" y="969963"/>
            <a:ext cx="33639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lr>
                <a:schemeClr val="hlink"/>
              </a:buClr>
              <a:buSzPct val="70000"/>
              <a:buFont typeface="Wingdings" panose="05000000000000000000" pitchFamily="2" charset="2"/>
              <a:buChar char="v"/>
              <a:tabLst>
                <a:tab pos="533400" algn="l"/>
              </a:tabLst>
              <a:defRPr sz="3200">
                <a:solidFill>
                  <a:schemeClr val="tx1"/>
                </a:solidFill>
                <a:latin typeface="Arial" panose="020B0604020202020204" pitchFamily="34" charset="0"/>
                <a:ea typeface="宋体" panose="02010600030101010101" pitchFamily="2" charset="-122"/>
              </a:defRPr>
            </a:lvl1pPr>
            <a:lvl2pPr marL="179705" indent="1905">
              <a:spcBef>
                <a:spcPct val="20000"/>
              </a:spcBef>
              <a:buClr>
                <a:schemeClr val="accent2"/>
              </a:buClr>
              <a:buSzPct val="85000"/>
              <a:buFont typeface="Wingdings" panose="05000000000000000000" pitchFamily="2" charset="2"/>
              <a:buChar char=""/>
              <a:tabLst>
                <a:tab pos="5334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tabLst>
                <a:tab pos="5334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5334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Pct val="100000"/>
              <a:buFont typeface="Arial" panose="020B0604020202020204" pitchFamily="34" charset="0"/>
              <a:buNone/>
            </a:pPr>
            <a:r>
              <a:rPr lang="zh-CN" altLang="zh-CN">
                <a:latin typeface="Times New Roman" panose="02020603050405020304" pitchFamily="18" charset="0"/>
              </a:rPr>
              <a:t>4.电流并联负反馈</a:t>
            </a:r>
            <a:endParaRPr lang="zh-CN" altLang="zh-CN">
              <a:latin typeface="Times New Roman" panose="02020603050405020304" pitchFamily="18" charset="0"/>
            </a:endParaRPr>
          </a:p>
        </p:txBody>
      </p:sp>
      <p:pic>
        <p:nvPicPr>
          <p:cNvPr id="3994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5125" y="1519238"/>
            <a:ext cx="6153150"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C01345B-861D-4D51-8CDB-7DC0651C4F86}" type="slidenum">
              <a:rPr lang="zh-CN" altLang="zh-CN" sz="1400" smtClean="0"/>
            </a:fld>
            <a:endParaRPr lang="zh-CN" altLang="zh-CN" sz="1400" smtClean="0"/>
          </a:p>
        </p:txBody>
      </p:sp>
      <p:sp>
        <p:nvSpPr>
          <p:cNvPr id="40963" name="Rectangle 2"/>
          <p:cNvSpPr>
            <a:spLocks noChangeArrowheads="1"/>
          </p:cNvSpPr>
          <p:nvPr/>
        </p:nvSpPr>
        <p:spPr bwMode="auto">
          <a:xfrm>
            <a:off x="0" y="3078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0964" name="Rectangle 3"/>
          <p:cNvSpPr>
            <a:spLocks noChangeArrowheads="1"/>
          </p:cNvSpPr>
          <p:nvPr/>
        </p:nvSpPr>
        <p:spPr bwMode="auto">
          <a:xfrm>
            <a:off x="0" y="3535363"/>
            <a:ext cx="244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1000" b="0">
                <a:latin typeface="Times New Roman" panose="02020603050405020304" pitchFamily="18" charset="0"/>
              </a:rPr>
              <a:t> </a:t>
            </a:r>
            <a:r>
              <a:rPr lang="zh-CN" altLang="zh-CN" sz="900" b="0">
                <a:latin typeface="Times New Roman" panose="02020603050405020304" pitchFamily="18" charset="0"/>
              </a:rPr>
              <a:t> </a:t>
            </a:r>
            <a:endParaRPr lang="zh-CN" altLang="zh-CN" sz="2400" b="0">
              <a:latin typeface="Times New Roman" panose="02020603050405020304" pitchFamily="18" charset="0"/>
            </a:endParaRPr>
          </a:p>
        </p:txBody>
      </p:sp>
      <p:sp>
        <p:nvSpPr>
          <p:cNvPr id="40965" name="Rectangle 4"/>
          <p:cNvSpPr>
            <a:spLocks noChangeArrowheads="1"/>
          </p:cNvSpPr>
          <p:nvPr/>
        </p:nvSpPr>
        <p:spPr bwMode="auto">
          <a:xfrm>
            <a:off x="190500" y="1931988"/>
            <a:ext cx="155098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lr>
                <a:schemeClr val="hlink"/>
              </a:buClr>
              <a:buSzPct val="70000"/>
              <a:buFont typeface="Wingdings" panose="05000000000000000000" pitchFamily="2" charset="2"/>
              <a:buChar char="v"/>
              <a:tabLst>
                <a:tab pos="533400" algn="l"/>
              </a:tabLst>
              <a:defRPr sz="3200">
                <a:solidFill>
                  <a:schemeClr val="tx1"/>
                </a:solidFill>
                <a:latin typeface="Arial" panose="020B0604020202020204" pitchFamily="34" charset="0"/>
                <a:ea typeface="宋体" panose="02010600030101010101" pitchFamily="2" charset="-122"/>
              </a:defRPr>
            </a:lvl1pPr>
            <a:lvl2pPr marL="179705" indent="1905">
              <a:spcBef>
                <a:spcPct val="20000"/>
              </a:spcBef>
              <a:buClr>
                <a:schemeClr val="accent2"/>
              </a:buClr>
              <a:buSzPct val="85000"/>
              <a:buFont typeface="Wingdings" panose="05000000000000000000" pitchFamily="2" charset="2"/>
              <a:buChar char=""/>
              <a:tabLst>
                <a:tab pos="5334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tabLst>
                <a:tab pos="5334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tabLst>
                <a:tab pos="5334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tabLst>
                <a:tab pos="533400" algn="l"/>
              </a:tabLst>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ClrTx/>
              <a:buSzPct val="100000"/>
              <a:buFont typeface="Arial" panose="020B0604020202020204" pitchFamily="34" charset="0"/>
              <a:buNone/>
            </a:pPr>
            <a:r>
              <a:rPr lang="zh-CN" altLang="zh-CN">
                <a:solidFill>
                  <a:schemeClr val="tx2"/>
                </a:solidFill>
                <a:latin typeface="Times New Roman" panose="02020603050405020304" pitchFamily="18" charset="0"/>
              </a:rPr>
              <a:t>电流</a:t>
            </a:r>
            <a:endParaRPr lang="zh-CN" altLang="zh-CN">
              <a:solidFill>
                <a:schemeClr val="tx2"/>
              </a:solidFill>
              <a:latin typeface="Times New Roman" panose="02020603050405020304" pitchFamily="18" charset="0"/>
            </a:endParaRPr>
          </a:p>
          <a:p>
            <a:pPr lvl="1" eaLnBrk="1" hangingPunct="1">
              <a:spcBef>
                <a:spcPct val="0"/>
              </a:spcBef>
              <a:buClrTx/>
              <a:buSzPct val="100000"/>
              <a:buFont typeface="Arial" panose="020B0604020202020204" pitchFamily="34" charset="0"/>
              <a:buNone/>
            </a:pPr>
            <a:r>
              <a:rPr lang="zh-CN" altLang="zh-CN">
                <a:solidFill>
                  <a:schemeClr val="tx2"/>
                </a:solidFill>
                <a:latin typeface="Times New Roman" panose="02020603050405020304" pitchFamily="18" charset="0"/>
              </a:rPr>
              <a:t>并联</a:t>
            </a:r>
            <a:endParaRPr lang="zh-CN" altLang="zh-CN">
              <a:solidFill>
                <a:schemeClr val="tx2"/>
              </a:solidFill>
              <a:latin typeface="Times New Roman" panose="02020603050405020304" pitchFamily="18" charset="0"/>
            </a:endParaRPr>
          </a:p>
          <a:p>
            <a:pPr lvl="1" eaLnBrk="1" hangingPunct="1">
              <a:spcBef>
                <a:spcPct val="0"/>
              </a:spcBef>
              <a:buClrTx/>
              <a:buSzPct val="100000"/>
              <a:buFont typeface="Arial" panose="020B0604020202020204" pitchFamily="34" charset="0"/>
              <a:buNone/>
            </a:pPr>
            <a:r>
              <a:rPr lang="zh-CN" altLang="zh-CN">
                <a:solidFill>
                  <a:schemeClr val="tx2"/>
                </a:solidFill>
                <a:latin typeface="Times New Roman" panose="02020603050405020304" pitchFamily="18" charset="0"/>
              </a:rPr>
              <a:t>负反馈</a:t>
            </a:r>
            <a:endParaRPr lang="zh-CN" altLang="zh-CN">
              <a:solidFill>
                <a:schemeClr val="tx2"/>
              </a:solidFill>
              <a:latin typeface="Times New Roman" panose="02020603050405020304" pitchFamily="18" charset="0"/>
            </a:endParaRPr>
          </a:p>
        </p:txBody>
      </p:sp>
      <p:pic>
        <p:nvPicPr>
          <p:cNvPr id="40966"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5625" y="681038"/>
            <a:ext cx="6153150"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40968" name="Object 7"/>
          <p:cNvGraphicFramePr>
            <a:graphicFrameLocks noChangeAspect="1"/>
          </p:cNvGraphicFramePr>
          <p:nvPr/>
        </p:nvGraphicFramePr>
        <p:xfrm>
          <a:off x="849313" y="5222875"/>
          <a:ext cx="2808287" cy="1087438"/>
        </p:xfrm>
        <a:graphic>
          <a:graphicData uri="http://schemas.openxmlformats.org/presentationml/2006/ole">
            <mc:AlternateContent xmlns:mc="http://schemas.openxmlformats.org/markup-compatibility/2006">
              <mc:Choice xmlns:v="urn:schemas-microsoft-com:vml" Requires="v">
                <p:oleObj spid="_x0000_s41033" name="" r:id="rId2" imgW="1182370" imgH="457835" progId="Equation.3">
                  <p:embed/>
                </p:oleObj>
              </mc:Choice>
              <mc:Fallback>
                <p:oleObj name="" r:id="rId2" imgW="1182370" imgH="457835"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313" y="5222875"/>
                        <a:ext cx="2808287"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9" name="Rectangle 8"/>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40970" name="Object 9"/>
          <p:cNvGraphicFramePr>
            <a:graphicFrameLocks noChangeAspect="1"/>
          </p:cNvGraphicFramePr>
          <p:nvPr/>
        </p:nvGraphicFramePr>
        <p:xfrm>
          <a:off x="4325938" y="5208588"/>
          <a:ext cx="3244850" cy="1182687"/>
        </p:xfrm>
        <a:graphic>
          <a:graphicData uri="http://schemas.openxmlformats.org/presentationml/2006/ole">
            <mc:AlternateContent xmlns:mc="http://schemas.openxmlformats.org/markup-compatibility/2006">
              <mc:Choice xmlns:v="urn:schemas-microsoft-com:vml" Requires="v">
                <p:oleObj spid="_x0000_s41034" name="" r:id="rId4" imgW="1335405" imgH="483235" progId="Equation.3">
                  <p:embed/>
                </p:oleObj>
              </mc:Choice>
              <mc:Fallback>
                <p:oleObj name="" r:id="rId4" imgW="1335405" imgH="483235"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5938" y="5208588"/>
                        <a:ext cx="3244850"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1DEDC69-3012-42D8-9B81-575A33342BB6}" type="slidenum">
              <a:rPr lang="zh-CN" altLang="zh-CN" sz="1400" smtClean="0"/>
            </a:fld>
            <a:endParaRPr lang="zh-CN" altLang="zh-CN" sz="1400" smtClean="0"/>
          </a:p>
        </p:txBody>
      </p:sp>
      <p:sp>
        <p:nvSpPr>
          <p:cNvPr id="41987" name="Rectangle 2"/>
          <p:cNvSpPr>
            <a:spLocks noChangeArrowheads="1"/>
          </p:cNvSpPr>
          <p:nvPr/>
        </p:nvSpPr>
        <p:spPr bwMode="auto">
          <a:xfrm>
            <a:off x="1371600" y="422275"/>
            <a:ext cx="6248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dirty="0">
                <a:latin typeface="Times New Roman" panose="02020603050405020304" pitchFamily="18" charset="0"/>
              </a:rPr>
              <a:t>6.2  负反馈对放大器性能的影响 </a:t>
            </a:r>
            <a:endParaRPr lang="zh-CN" altLang="zh-CN" sz="2400" dirty="0">
              <a:latin typeface="Times New Roman" panose="02020603050405020304" pitchFamily="18" charset="0"/>
            </a:endParaRPr>
          </a:p>
        </p:txBody>
      </p:sp>
      <p:sp>
        <p:nvSpPr>
          <p:cNvPr id="41988" name="Rectangle 3"/>
          <p:cNvSpPr>
            <a:spLocks noChangeArrowheads="1"/>
          </p:cNvSpPr>
          <p:nvPr/>
        </p:nvSpPr>
        <p:spPr bwMode="auto">
          <a:xfrm>
            <a:off x="606425" y="1092200"/>
            <a:ext cx="711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dirty="0">
                <a:latin typeface="Times New Roman" panose="02020603050405020304" pitchFamily="18" charset="0"/>
              </a:rPr>
              <a:t> 6.2.1  负反馈使放大倍数稳定度提高</a:t>
            </a:r>
            <a:endParaRPr lang="zh-CN" altLang="zh-CN" dirty="0">
              <a:latin typeface="Times New Roman" panose="02020603050405020304" pitchFamily="18" charset="0"/>
            </a:endParaRPr>
          </a:p>
        </p:txBody>
      </p:sp>
      <p:grpSp>
        <p:nvGrpSpPr>
          <p:cNvPr id="41989" name="Group 4"/>
          <p:cNvGrpSpPr/>
          <p:nvPr/>
        </p:nvGrpSpPr>
        <p:grpSpPr bwMode="auto">
          <a:xfrm>
            <a:off x="646113" y="1782763"/>
            <a:ext cx="7593012" cy="4029075"/>
            <a:chOff x="0" y="0"/>
            <a:chExt cx="4783" cy="2538"/>
          </a:xfrm>
        </p:grpSpPr>
        <p:sp>
          <p:nvSpPr>
            <p:cNvPr id="41990" name="Line 5"/>
            <p:cNvSpPr>
              <a:spLocks noChangeShapeType="1"/>
            </p:cNvSpPr>
            <p:nvPr/>
          </p:nvSpPr>
          <p:spPr bwMode="auto">
            <a:xfrm>
              <a:off x="248"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1" name="Line 6"/>
            <p:cNvSpPr>
              <a:spLocks noChangeShapeType="1"/>
            </p:cNvSpPr>
            <p:nvPr/>
          </p:nvSpPr>
          <p:spPr bwMode="auto">
            <a:xfrm>
              <a:off x="354"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2" name="Line 7"/>
            <p:cNvSpPr>
              <a:spLocks noChangeShapeType="1"/>
            </p:cNvSpPr>
            <p:nvPr/>
          </p:nvSpPr>
          <p:spPr bwMode="auto">
            <a:xfrm>
              <a:off x="460"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3" name="Line 8"/>
            <p:cNvSpPr>
              <a:spLocks noChangeShapeType="1"/>
            </p:cNvSpPr>
            <p:nvPr/>
          </p:nvSpPr>
          <p:spPr bwMode="auto">
            <a:xfrm>
              <a:off x="566"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4" name="Line 9"/>
            <p:cNvSpPr>
              <a:spLocks noChangeShapeType="1"/>
            </p:cNvSpPr>
            <p:nvPr/>
          </p:nvSpPr>
          <p:spPr bwMode="auto">
            <a:xfrm>
              <a:off x="672"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5" name="Line 10"/>
            <p:cNvSpPr>
              <a:spLocks noChangeShapeType="1"/>
            </p:cNvSpPr>
            <p:nvPr/>
          </p:nvSpPr>
          <p:spPr bwMode="auto">
            <a:xfrm>
              <a:off x="779"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6" name="Line 11"/>
            <p:cNvSpPr>
              <a:spLocks noChangeShapeType="1"/>
            </p:cNvSpPr>
            <p:nvPr/>
          </p:nvSpPr>
          <p:spPr bwMode="auto">
            <a:xfrm>
              <a:off x="885"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7" name="Line 12"/>
            <p:cNvSpPr>
              <a:spLocks noChangeShapeType="1"/>
            </p:cNvSpPr>
            <p:nvPr/>
          </p:nvSpPr>
          <p:spPr bwMode="auto">
            <a:xfrm>
              <a:off x="991"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8" name="Line 13"/>
            <p:cNvSpPr>
              <a:spLocks noChangeShapeType="1"/>
            </p:cNvSpPr>
            <p:nvPr/>
          </p:nvSpPr>
          <p:spPr bwMode="auto">
            <a:xfrm>
              <a:off x="1097"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999" name="Line 14"/>
            <p:cNvSpPr>
              <a:spLocks noChangeShapeType="1"/>
            </p:cNvSpPr>
            <p:nvPr/>
          </p:nvSpPr>
          <p:spPr bwMode="auto">
            <a:xfrm>
              <a:off x="1203"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0" name="Line 15"/>
            <p:cNvSpPr>
              <a:spLocks noChangeShapeType="1"/>
            </p:cNvSpPr>
            <p:nvPr/>
          </p:nvSpPr>
          <p:spPr bwMode="auto">
            <a:xfrm>
              <a:off x="1309" y="2537"/>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Line 16"/>
            <p:cNvSpPr>
              <a:spLocks noChangeShapeType="1"/>
            </p:cNvSpPr>
            <p:nvPr/>
          </p:nvSpPr>
          <p:spPr bwMode="auto">
            <a:xfrm>
              <a:off x="1416"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Line 17"/>
            <p:cNvSpPr>
              <a:spLocks noChangeShapeType="1"/>
            </p:cNvSpPr>
            <p:nvPr/>
          </p:nvSpPr>
          <p:spPr bwMode="auto">
            <a:xfrm>
              <a:off x="1522"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3" name="Line 18"/>
            <p:cNvSpPr>
              <a:spLocks noChangeShapeType="1"/>
            </p:cNvSpPr>
            <p:nvPr/>
          </p:nvSpPr>
          <p:spPr bwMode="auto">
            <a:xfrm>
              <a:off x="1628"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4" name="Line 19"/>
            <p:cNvSpPr>
              <a:spLocks noChangeShapeType="1"/>
            </p:cNvSpPr>
            <p:nvPr/>
          </p:nvSpPr>
          <p:spPr bwMode="auto">
            <a:xfrm>
              <a:off x="1734"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5" name="Line 20"/>
            <p:cNvSpPr>
              <a:spLocks noChangeShapeType="1"/>
            </p:cNvSpPr>
            <p:nvPr/>
          </p:nvSpPr>
          <p:spPr bwMode="auto">
            <a:xfrm>
              <a:off x="1840"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6" name="Line 21"/>
            <p:cNvSpPr>
              <a:spLocks noChangeShapeType="1"/>
            </p:cNvSpPr>
            <p:nvPr/>
          </p:nvSpPr>
          <p:spPr bwMode="auto">
            <a:xfrm>
              <a:off x="1946" y="2537"/>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7" name="Line 22"/>
            <p:cNvSpPr>
              <a:spLocks noChangeShapeType="1"/>
            </p:cNvSpPr>
            <p:nvPr/>
          </p:nvSpPr>
          <p:spPr bwMode="auto">
            <a:xfrm>
              <a:off x="2053"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8" name="Line 23"/>
            <p:cNvSpPr>
              <a:spLocks noChangeShapeType="1"/>
            </p:cNvSpPr>
            <p:nvPr/>
          </p:nvSpPr>
          <p:spPr bwMode="auto">
            <a:xfrm>
              <a:off x="2159"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9" name="Line 24"/>
            <p:cNvSpPr>
              <a:spLocks noChangeShapeType="1"/>
            </p:cNvSpPr>
            <p:nvPr/>
          </p:nvSpPr>
          <p:spPr bwMode="auto">
            <a:xfrm>
              <a:off x="2265"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0" name="Line 25"/>
            <p:cNvSpPr>
              <a:spLocks noChangeShapeType="1"/>
            </p:cNvSpPr>
            <p:nvPr/>
          </p:nvSpPr>
          <p:spPr bwMode="auto">
            <a:xfrm>
              <a:off x="2371"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1" name="Line 26"/>
            <p:cNvSpPr>
              <a:spLocks noChangeShapeType="1"/>
            </p:cNvSpPr>
            <p:nvPr/>
          </p:nvSpPr>
          <p:spPr bwMode="auto">
            <a:xfrm>
              <a:off x="2477"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2" name="Line 27"/>
            <p:cNvSpPr>
              <a:spLocks noChangeShapeType="1"/>
            </p:cNvSpPr>
            <p:nvPr/>
          </p:nvSpPr>
          <p:spPr bwMode="auto">
            <a:xfrm>
              <a:off x="2584"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3" name="Line 28"/>
            <p:cNvSpPr>
              <a:spLocks noChangeShapeType="1"/>
            </p:cNvSpPr>
            <p:nvPr/>
          </p:nvSpPr>
          <p:spPr bwMode="auto">
            <a:xfrm>
              <a:off x="2690"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4" name="Line 29"/>
            <p:cNvSpPr>
              <a:spLocks noChangeShapeType="1"/>
            </p:cNvSpPr>
            <p:nvPr/>
          </p:nvSpPr>
          <p:spPr bwMode="auto">
            <a:xfrm>
              <a:off x="2796"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5" name="Line 30"/>
            <p:cNvSpPr>
              <a:spLocks noChangeShapeType="1"/>
            </p:cNvSpPr>
            <p:nvPr/>
          </p:nvSpPr>
          <p:spPr bwMode="auto">
            <a:xfrm>
              <a:off x="2902"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6" name="Line 31"/>
            <p:cNvSpPr>
              <a:spLocks noChangeShapeType="1"/>
            </p:cNvSpPr>
            <p:nvPr/>
          </p:nvSpPr>
          <p:spPr bwMode="auto">
            <a:xfrm>
              <a:off x="3008"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7" name="Line 32"/>
            <p:cNvSpPr>
              <a:spLocks noChangeShapeType="1"/>
            </p:cNvSpPr>
            <p:nvPr/>
          </p:nvSpPr>
          <p:spPr bwMode="auto">
            <a:xfrm>
              <a:off x="3114"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8" name="Line 33"/>
            <p:cNvSpPr>
              <a:spLocks noChangeShapeType="1"/>
            </p:cNvSpPr>
            <p:nvPr/>
          </p:nvSpPr>
          <p:spPr bwMode="auto">
            <a:xfrm>
              <a:off x="3221"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9" name="Line 34"/>
            <p:cNvSpPr>
              <a:spLocks noChangeShapeType="1"/>
            </p:cNvSpPr>
            <p:nvPr/>
          </p:nvSpPr>
          <p:spPr bwMode="auto">
            <a:xfrm>
              <a:off x="3327"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0" name="Line 35"/>
            <p:cNvSpPr>
              <a:spLocks noChangeShapeType="1"/>
            </p:cNvSpPr>
            <p:nvPr/>
          </p:nvSpPr>
          <p:spPr bwMode="auto">
            <a:xfrm>
              <a:off x="3433"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1" name="Line 36"/>
            <p:cNvSpPr>
              <a:spLocks noChangeShapeType="1"/>
            </p:cNvSpPr>
            <p:nvPr/>
          </p:nvSpPr>
          <p:spPr bwMode="auto">
            <a:xfrm>
              <a:off x="3539"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2" name="Line 37"/>
            <p:cNvSpPr>
              <a:spLocks noChangeShapeType="1"/>
            </p:cNvSpPr>
            <p:nvPr/>
          </p:nvSpPr>
          <p:spPr bwMode="auto">
            <a:xfrm>
              <a:off x="3645"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3" name="Line 38"/>
            <p:cNvSpPr>
              <a:spLocks noChangeShapeType="1"/>
            </p:cNvSpPr>
            <p:nvPr/>
          </p:nvSpPr>
          <p:spPr bwMode="auto">
            <a:xfrm>
              <a:off x="3751" y="2537"/>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Line 39"/>
            <p:cNvSpPr>
              <a:spLocks noChangeShapeType="1"/>
            </p:cNvSpPr>
            <p:nvPr/>
          </p:nvSpPr>
          <p:spPr bwMode="auto">
            <a:xfrm>
              <a:off x="3858"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5" name="Line 40"/>
            <p:cNvSpPr>
              <a:spLocks noChangeShapeType="1"/>
            </p:cNvSpPr>
            <p:nvPr/>
          </p:nvSpPr>
          <p:spPr bwMode="auto">
            <a:xfrm>
              <a:off x="3964"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41"/>
            <p:cNvSpPr>
              <a:spLocks noChangeShapeType="1"/>
            </p:cNvSpPr>
            <p:nvPr/>
          </p:nvSpPr>
          <p:spPr bwMode="auto">
            <a:xfrm>
              <a:off x="4070"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Line 42"/>
            <p:cNvSpPr>
              <a:spLocks noChangeShapeType="1"/>
            </p:cNvSpPr>
            <p:nvPr/>
          </p:nvSpPr>
          <p:spPr bwMode="auto">
            <a:xfrm>
              <a:off x="4176"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8" name="Line 43"/>
            <p:cNvSpPr>
              <a:spLocks noChangeShapeType="1"/>
            </p:cNvSpPr>
            <p:nvPr/>
          </p:nvSpPr>
          <p:spPr bwMode="auto">
            <a:xfrm>
              <a:off x="4282" y="2537"/>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9" name="Line 44"/>
            <p:cNvSpPr>
              <a:spLocks noChangeShapeType="1"/>
            </p:cNvSpPr>
            <p:nvPr/>
          </p:nvSpPr>
          <p:spPr bwMode="auto">
            <a:xfrm flipV="1">
              <a:off x="4335" y="2431"/>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0" name="Line 45"/>
            <p:cNvSpPr>
              <a:spLocks noChangeShapeType="1"/>
            </p:cNvSpPr>
            <p:nvPr/>
          </p:nvSpPr>
          <p:spPr bwMode="auto">
            <a:xfrm flipV="1">
              <a:off x="4335" y="2325"/>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1" name="Line 46"/>
            <p:cNvSpPr>
              <a:spLocks noChangeShapeType="1"/>
            </p:cNvSpPr>
            <p:nvPr/>
          </p:nvSpPr>
          <p:spPr bwMode="auto">
            <a:xfrm flipV="1">
              <a:off x="4335" y="221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2" name="Line 47"/>
            <p:cNvSpPr>
              <a:spLocks noChangeShapeType="1"/>
            </p:cNvSpPr>
            <p:nvPr/>
          </p:nvSpPr>
          <p:spPr bwMode="auto">
            <a:xfrm flipV="1">
              <a:off x="4335" y="2112"/>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3" name="Line 48"/>
            <p:cNvSpPr>
              <a:spLocks noChangeShapeType="1"/>
            </p:cNvSpPr>
            <p:nvPr/>
          </p:nvSpPr>
          <p:spPr bwMode="auto">
            <a:xfrm flipV="1">
              <a:off x="4335" y="2006"/>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4" name="Line 49"/>
            <p:cNvSpPr>
              <a:spLocks noChangeShapeType="1"/>
            </p:cNvSpPr>
            <p:nvPr/>
          </p:nvSpPr>
          <p:spPr bwMode="auto">
            <a:xfrm flipV="1">
              <a:off x="4335" y="1900"/>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5" name="Line 50"/>
            <p:cNvSpPr>
              <a:spLocks noChangeShapeType="1"/>
            </p:cNvSpPr>
            <p:nvPr/>
          </p:nvSpPr>
          <p:spPr bwMode="auto">
            <a:xfrm flipV="1">
              <a:off x="4335" y="1793"/>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6" name="Line 51"/>
            <p:cNvSpPr>
              <a:spLocks noChangeShapeType="1"/>
            </p:cNvSpPr>
            <p:nvPr/>
          </p:nvSpPr>
          <p:spPr bwMode="auto">
            <a:xfrm flipV="1">
              <a:off x="4335" y="1687"/>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7" name="Line 52"/>
            <p:cNvSpPr>
              <a:spLocks noChangeShapeType="1"/>
            </p:cNvSpPr>
            <p:nvPr/>
          </p:nvSpPr>
          <p:spPr bwMode="auto">
            <a:xfrm flipV="1">
              <a:off x="4335" y="1581"/>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8" name="Line 53"/>
            <p:cNvSpPr>
              <a:spLocks noChangeShapeType="1"/>
            </p:cNvSpPr>
            <p:nvPr/>
          </p:nvSpPr>
          <p:spPr bwMode="auto">
            <a:xfrm flipV="1">
              <a:off x="4335" y="1474"/>
              <a:ext cx="1" cy="54"/>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9" name="Line 54"/>
            <p:cNvSpPr>
              <a:spLocks noChangeShapeType="1"/>
            </p:cNvSpPr>
            <p:nvPr/>
          </p:nvSpPr>
          <p:spPr bwMode="auto">
            <a:xfrm flipV="1">
              <a:off x="4335" y="136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0" name="Line 55"/>
            <p:cNvSpPr>
              <a:spLocks noChangeShapeType="1"/>
            </p:cNvSpPr>
            <p:nvPr/>
          </p:nvSpPr>
          <p:spPr bwMode="auto">
            <a:xfrm flipV="1">
              <a:off x="4335" y="1262"/>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1" name="Line 56"/>
            <p:cNvSpPr>
              <a:spLocks noChangeShapeType="1"/>
            </p:cNvSpPr>
            <p:nvPr/>
          </p:nvSpPr>
          <p:spPr bwMode="auto">
            <a:xfrm flipV="1">
              <a:off x="4335" y="1156"/>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2" name="Line 57"/>
            <p:cNvSpPr>
              <a:spLocks noChangeShapeType="1"/>
            </p:cNvSpPr>
            <p:nvPr/>
          </p:nvSpPr>
          <p:spPr bwMode="auto">
            <a:xfrm flipV="1">
              <a:off x="4335" y="1049"/>
              <a:ext cx="1" cy="54"/>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3" name="Line 58"/>
            <p:cNvSpPr>
              <a:spLocks noChangeShapeType="1"/>
            </p:cNvSpPr>
            <p:nvPr/>
          </p:nvSpPr>
          <p:spPr bwMode="auto">
            <a:xfrm flipV="1">
              <a:off x="4335" y="943"/>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4" name="Line 59"/>
            <p:cNvSpPr>
              <a:spLocks noChangeShapeType="1"/>
            </p:cNvSpPr>
            <p:nvPr/>
          </p:nvSpPr>
          <p:spPr bwMode="auto">
            <a:xfrm flipV="1">
              <a:off x="4335" y="837"/>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5" name="Line 60"/>
            <p:cNvSpPr>
              <a:spLocks noChangeShapeType="1"/>
            </p:cNvSpPr>
            <p:nvPr/>
          </p:nvSpPr>
          <p:spPr bwMode="auto">
            <a:xfrm flipV="1">
              <a:off x="4335" y="731"/>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6" name="Line 61"/>
            <p:cNvSpPr>
              <a:spLocks noChangeShapeType="1"/>
            </p:cNvSpPr>
            <p:nvPr/>
          </p:nvSpPr>
          <p:spPr bwMode="auto">
            <a:xfrm flipV="1">
              <a:off x="4335" y="624"/>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7" name="Line 62"/>
            <p:cNvSpPr>
              <a:spLocks noChangeShapeType="1"/>
            </p:cNvSpPr>
            <p:nvPr/>
          </p:nvSpPr>
          <p:spPr bwMode="auto">
            <a:xfrm flipV="1">
              <a:off x="4335" y="51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8" name="Line 63"/>
            <p:cNvSpPr>
              <a:spLocks noChangeShapeType="1"/>
            </p:cNvSpPr>
            <p:nvPr/>
          </p:nvSpPr>
          <p:spPr bwMode="auto">
            <a:xfrm flipV="1">
              <a:off x="4335" y="412"/>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9" name="Line 64"/>
            <p:cNvSpPr>
              <a:spLocks noChangeShapeType="1"/>
            </p:cNvSpPr>
            <p:nvPr/>
          </p:nvSpPr>
          <p:spPr bwMode="auto">
            <a:xfrm flipH="1">
              <a:off x="4243"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0" name="Line 65"/>
            <p:cNvSpPr>
              <a:spLocks noChangeShapeType="1"/>
            </p:cNvSpPr>
            <p:nvPr/>
          </p:nvSpPr>
          <p:spPr bwMode="auto">
            <a:xfrm flipH="1">
              <a:off x="4136"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1" name="Line 66"/>
            <p:cNvSpPr>
              <a:spLocks noChangeShapeType="1"/>
            </p:cNvSpPr>
            <p:nvPr/>
          </p:nvSpPr>
          <p:spPr bwMode="auto">
            <a:xfrm flipH="1">
              <a:off x="4030"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2" name="Line 67"/>
            <p:cNvSpPr>
              <a:spLocks noChangeShapeType="1"/>
            </p:cNvSpPr>
            <p:nvPr/>
          </p:nvSpPr>
          <p:spPr bwMode="auto">
            <a:xfrm flipH="1">
              <a:off x="3924"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3" name="Line 68"/>
            <p:cNvSpPr>
              <a:spLocks noChangeShapeType="1"/>
            </p:cNvSpPr>
            <p:nvPr/>
          </p:nvSpPr>
          <p:spPr bwMode="auto">
            <a:xfrm flipH="1">
              <a:off x="3818"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4" name="Line 69"/>
            <p:cNvSpPr>
              <a:spLocks noChangeShapeType="1"/>
            </p:cNvSpPr>
            <p:nvPr/>
          </p:nvSpPr>
          <p:spPr bwMode="auto">
            <a:xfrm flipH="1">
              <a:off x="3712"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5" name="Line 70"/>
            <p:cNvSpPr>
              <a:spLocks noChangeShapeType="1"/>
            </p:cNvSpPr>
            <p:nvPr/>
          </p:nvSpPr>
          <p:spPr bwMode="auto">
            <a:xfrm flipH="1">
              <a:off x="3605" y="398"/>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6" name="Line 71"/>
            <p:cNvSpPr>
              <a:spLocks noChangeShapeType="1"/>
            </p:cNvSpPr>
            <p:nvPr/>
          </p:nvSpPr>
          <p:spPr bwMode="auto">
            <a:xfrm flipH="1">
              <a:off x="3499"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7" name="Line 72"/>
            <p:cNvSpPr>
              <a:spLocks noChangeShapeType="1"/>
            </p:cNvSpPr>
            <p:nvPr/>
          </p:nvSpPr>
          <p:spPr bwMode="auto">
            <a:xfrm flipH="1">
              <a:off x="3393"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8" name="Line 73"/>
            <p:cNvSpPr>
              <a:spLocks noChangeShapeType="1"/>
            </p:cNvSpPr>
            <p:nvPr/>
          </p:nvSpPr>
          <p:spPr bwMode="auto">
            <a:xfrm flipH="1">
              <a:off x="3287"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9" name="Line 74"/>
            <p:cNvSpPr>
              <a:spLocks noChangeShapeType="1"/>
            </p:cNvSpPr>
            <p:nvPr/>
          </p:nvSpPr>
          <p:spPr bwMode="auto">
            <a:xfrm flipH="1">
              <a:off x="3181"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0" name="Line 75"/>
            <p:cNvSpPr>
              <a:spLocks noChangeShapeType="1"/>
            </p:cNvSpPr>
            <p:nvPr/>
          </p:nvSpPr>
          <p:spPr bwMode="auto">
            <a:xfrm flipH="1">
              <a:off x="3075"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1" name="Line 76"/>
            <p:cNvSpPr>
              <a:spLocks noChangeShapeType="1"/>
            </p:cNvSpPr>
            <p:nvPr/>
          </p:nvSpPr>
          <p:spPr bwMode="auto">
            <a:xfrm flipH="1">
              <a:off x="2968"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2" name="Line 77"/>
            <p:cNvSpPr>
              <a:spLocks noChangeShapeType="1"/>
            </p:cNvSpPr>
            <p:nvPr/>
          </p:nvSpPr>
          <p:spPr bwMode="auto">
            <a:xfrm flipH="1">
              <a:off x="2862"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3" name="Line 78"/>
            <p:cNvSpPr>
              <a:spLocks noChangeShapeType="1"/>
            </p:cNvSpPr>
            <p:nvPr/>
          </p:nvSpPr>
          <p:spPr bwMode="auto">
            <a:xfrm flipH="1">
              <a:off x="2756"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4" name="Line 79"/>
            <p:cNvSpPr>
              <a:spLocks noChangeShapeType="1"/>
            </p:cNvSpPr>
            <p:nvPr/>
          </p:nvSpPr>
          <p:spPr bwMode="auto">
            <a:xfrm flipH="1">
              <a:off x="2650"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5" name="Line 80"/>
            <p:cNvSpPr>
              <a:spLocks noChangeShapeType="1"/>
            </p:cNvSpPr>
            <p:nvPr/>
          </p:nvSpPr>
          <p:spPr bwMode="auto">
            <a:xfrm flipH="1">
              <a:off x="2544"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6" name="Line 81"/>
            <p:cNvSpPr>
              <a:spLocks noChangeShapeType="1"/>
            </p:cNvSpPr>
            <p:nvPr/>
          </p:nvSpPr>
          <p:spPr bwMode="auto">
            <a:xfrm flipH="1">
              <a:off x="2438"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7" name="Line 82"/>
            <p:cNvSpPr>
              <a:spLocks noChangeShapeType="1"/>
            </p:cNvSpPr>
            <p:nvPr/>
          </p:nvSpPr>
          <p:spPr bwMode="auto">
            <a:xfrm flipH="1">
              <a:off x="2331"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8" name="Line 83"/>
            <p:cNvSpPr>
              <a:spLocks noChangeShapeType="1"/>
            </p:cNvSpPr>
            <p:nvPr/>
          </p:nvSpPr>
          <p:spPr bwMode="auto">
            <a:xfrm flipH="1">
              <a:off x="2225"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9" name="Line 84"/>
            <p:cNvSpPr>
              <a:spLocks noChangeShapeType="1"/>
            </p:cNvSpPr>
            <p:nvPr/>
          </p:nvSpPr>
          <p:spPr bwMode="auto">
            <a:xfrm flipH="1">
              <a:off x="2119"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0" name="Line 85"/>
            <p:cNvSpPr>
              <a:spLocks noChangeShapeType="1"/>
            </p:cNvSpPr>
            <p:nvPr/>
          </p:nvSpPr>
          <p:spPr bwMode="auto">
            <a:xfrm flipH="1">
              <a:off x="2013"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1" name="Line 86"/>
            <p:cNvSpPr>
              <a:spLocks noChangeShapeType="1"/>
            </p:cNvSpPr>
            <p:nvPr/>
          </p:nvSpPr>
          <p:spPr bwMode="auto">
            <a:xfrm flipH="1">
              <a:off x="1907"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2" name="Line 87"/>
            <p:cNvSpPr>
              <a:spLocks noChangeShapeType="1"/>
            </p:cNvSpPr>
            <p:nvPr/>
          </p:nvSpPr>
          <p:spPr bwMode="auto">
            <a:xfrm flipH="1">
              <a:off x="1800" y="398"/>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3" name="Line 88"/>
            <p:cNvSpPr>
              <a:spLocks noChangeShapeType="1"/>
            </p:cNvSpPr>
            <p:nvPr/>
          </p:nvSpPr>
          <p:spPr bwMode="auto">
            <a:xfrm flipH="1">
              <a:off x="1694"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4" name="Line 89"/>
            <p:cNvSpPr>
              <a:spLocks noChangeShapeType="1"/>
            </p:cNvSpPr>
            <p:nvPr/>
          </p:nvSpPr>
          <p:spPr bwMode="auto">
            <a:xfrm flipH="1">
              <a:off x="1588"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5" name="Line 90"/>
            <p:cNvSpPr>
              <a:spLocks noChangeShapeType="1"/>
            </p:cNvSpPr>
            <p:nvPr/>
          </p:nvSpPr>
          <p:spPr bwMode="auto">
            <a:xfrm flipH="1">
              <a:off x="1482"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6" name="Line 91"/>
            <p:cNvSpPr>
              <a:spLocks noChangeShapeType="1"/>
            </p:cNvSpPr>
            <p:nvPr/>
          </p:nvSpPr>
          <p:spPr bwMode="auto">
            <a:xfrm flipH="1">
              <a:off x="1376"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7" name="Line 92"/>
            <p:cNvSpPr>
              <a:spLocks noChangeShapeType="1"/>
            </p:cNvSpPr>
            <p:nvPr/>
          </p:nvSpPr>
          <p:spPr bwMode="auto">
            <a:xfrm flipH="1">
              <a:off x="1270"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8" name="Line 93"/>
            <p:cNvSpPr>
              <a:spLocks noChangeShapeType="1"/>
            </p:cNvSpPr>
            <p:nvPr/>
          </p:nvSpPr>
          <p:spPr bwMode="auto">
            <a:xfrm flipH="1">
              <a:off x="1163" y="398"/>
              <a:ext cx="5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9" name="Line 94"/>
            <p:cNvSpPr>
              <a:spLocks noChangeShapeType="1"/>
            </p:cNvSpPr>
            <p:nvPr/>
          </p:nvSpPr>
          <p:spPr bwMode="auto">
            <a:xfrm flipH="1">
              <a:off x="1057"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0" name="Line 95"/>
            <p:cNvSpPr>
              <a:spLocks noChangeShapeType="1"/>
            </p:cNvSpPr>
            <p:nvPr/>
          </p:nvSpPr>
          <p:spPr bwMode="auto">
            <a:xfrm flipH="1">
              <a:off x="951"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1" name="Line 96"/>
            <p:cNvSpPr>
              <a:spLocks noChangeShapeType="1"/>
            </p:cNvSpPr>
            <p:nvPr/>
          </p:nvSpPr>
          <p:spPr bwMode="auto">
            <a:xfrm flipH="1">
              <a:off x="845"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2" name="Line 97"/>
            <p:cNvSpPr>
              <a:spLocks noChangeShapeType="1"/>
            </p:cNvSpPr>
            <p:nvPr/>
          </p:nvSpPr>
          <p:spPr bwMode="auto">
            <a:xfrm flipH="1">
              <a:off x="739"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3" name="Line 98"/>
            <p:cNvSpPr>
              <a:spLocks noChangeShapeType="1"/>
            </p:cNvSpPr>
            <p:nvPr/>
          </p:nvSpPr>
          <p:spPr bwMode="auto">
            <a:xfrm flipH="1">
              <a:off x="633"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4" name="Line 99"/>
            <p:cNvSpPr>
              <a:spLocks noChangeShapeType="1"/>
            </p:cNvSpPr>
            <p:nvPr/>
          </p:nvSpPr>
          <p:spPr bwMode="auto">
            <a:xfrm flipH="1">
              <a:off x="526"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5" name="Line 100"/>
            <p:cNvSpPr>
              <a:spLocks noChangeShapeType="1"/>
            </p:cNvSpPr>
            <p:nvPr/>
          </p:nvSpPr>
          <p:spPr bwMode="auto">
            <a:xfrm flipH="1">
              <a:off x="420"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6" name="Line 101"/>
            <p:cNvSpPr>
              <a:spLocks noChangeShapeType="1"/>
            </p:cNvSpPr>
            <p:nvPr/>
          </p:nvSpPr>
          <p:spPr bwMode="auto">
            <a:xfrm flipH="1">
              <a:off x="314" y="398"/>
              <a:ext cx="53"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7" name="Freeform 102"/>
            <p:cNvSpPr/>
            <p:nvPr/>
          </p:nvSpPr>
          <p:spPr bwMode="auto">
            <a:xfrm>
              <a:off x="248" y="398"/>
              <a:ext cx="13" cy="40"/>
            </a:xfrm>
            <a:custGeom>
              <a:avLst/>
              <a:gdLst>
                <a:gd name="T0" fmla="*/ 62748517 w 1"/>
                <a:gd name="T1" fmla="*/ 0 h 3"/>
                <a:gd name="T2" fmla="*/ 0 w 1"/>
                <a:gd name="T3" fmla="*/ 0 h 3"/>
                <a:gd name="T4" fmla="*/ 0 w 1"/>
                <a:gd name="T5" fmla="*/ 224616360 h 3"/>
                <a:gd name="T6" fmla="*/ 0 60000 65536"/>
                <a:gd name="T7" fmla="*/ 0 60000 65536"/>
                <a:gd name="T8" fmla="*/ 0 60000 65536"/>
                <a:gd name="T9" fmla="*/ 0 w 1"/>
                <a:gd name="T10" fmla="*/ 0 h 3"/>
                <a:gd name="T11" fmla="*/ 1 w 1"/>
                <a:gd name="T12" fmla="*/ 3 h 3"/>
              </a:gdLst>
              <a:ahLst/>
              <a:cxnLst>
                <a:cxn ang="T6">
                  <a:pos x="T0" y="T1"/>
                </a:cxn>
                <a:cxn ang="T7">
                  <a:pos x="T2" y="T3"/>
                </a:cxn>
                <a:cxn ang="T8">
                  <a:pos x="T4" y="T5"/>
                </a:cxn>
              </a:cxnLst>
              <a:rect l="T9" t="T10" r="T11" b="T12"/>
              <a:pathLst>
                <a:path w="1" h="3">
                  <a:moveTo>
                    <a:pt x="1" y="0"/>
                  </a:moveTo>
                  <a:lnTo>
                    <a:pt x="0" y="0"/>
                  </a:lnTo>
                  <a:lnTo>
                    <a:pt x="0" y="3"/>
                  </a:lnTo>
                </a:path>
              </a:pathLst>
            </a:custGeom>
            <a:noFill/>
            <a:ln w="20638">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088" name="Line 103"/>
            <p:cNvSpPr>
              <a:spLocks noChangeShapeType="1"/>
            </p:cNvSpPr>
            <p:nvPr/>
          </p:nvSpPr>
          <p:spPr bwMode="auto">
            <a:xfrm>
              <a:off x="248" y="491"/>
              <a:ext cx="1" cy="54"/>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9" name="Line 104"/>
            <p:cNvSpPr>
              <a:spLocks noChangeShapeType="1"/>
            </p:cNvSpPr>
            <p:nvPr/>
          </p:nvSpPr>
          <p:spPr bwMode="auto">
            <a:xfrm>
              <a:off x="248" y="59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0" name="Line 105"/>
            <p:cNvSpPr>
              <a:spLocks noChangeShapeType="1"/>
            </p:cNvSpPr>
            <p:nvPr/>
          </p:nvSpPr>
          <p:spPr bwMode="auto">
            <a:xfrm>
              <a:off x="248" y="704"/>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1" name="Line 106"/>
            <p:cNvSpPr>
              <a:spLocks noChangeShapeType="1"/>
            </p:cNvSpPr>
            <p:nvPr/>
          </p:nvSpPr>
          <p:spPr bwMode="auto">
            <a:xfrm>
              <a:off x="248" y="810"/>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2" name="Line 107"/>
            <p:cNvSpPr>
              <a:spLocks noChangeShapeType="1"/>
            </p:cNvSpPr>
            <p:nvPr/>
          </p:nvSpPr>
          <p:spPr bwMode="auto">
            <a:xfrm>
              <a:off x="248" y="917"/>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3" name="Line 108"/>
            <p:cNvSpPr>
              <a:spLocks noChangeShapeType="1"/>
            </p:cNvSpPr>
            <p:nvPr/>
          </p:nvSpPr>
          <p:spPr bwMode="auto">
            <a:xfrm>
              <a:off x="248" y="1023"/>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4" name="Line 109"/>
            <p:cNvSpPr>
              <a:spLocks noChangeShapeType="1"/>
            </p:cNvSpPr>
            <p:nvPr/>
          </p:nvSpPr>
          <p:spPr bwMode="auto">
            <a:xfrm>
              <a:off x="248" y="1129"/>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5" name="Line 110"/>
            <p:cNvSpPr>
              <a:spLocks noChangeShapeType="1"/>
            </p:cNvSpPr>
            <p:nvPr/>
          </p:nvSpPr>
          <p:spPr bwMode="auto">
            <a:xfrm>
              <a:off x="248" y="1235"/>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6" name="Line 111"/>
            <p:cNvSpPr>
              <a:spLocks noChangeShapeType="1"/>
            </p:cNvSpPr>
            <p:nvPr/>
          </p:nvSpPr>
          <p:spPr bwMode="auto">
            <a:xfrm>
              <a:off x="248" y="1342"/>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7" name="Line 112"/>
            <p:cNvSpPr>
              <a:spLocks noChangeShapeType="1"/>
            </p:cNvSpPr>
            <p:nvPr/>
          </p:nvSpPr>
          <p:spPr bwMode="auto">
            <a:xfrm>
              <a:off x="248" y="144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8" name="Line 113"/>
            <p:cNvSpPr>
              <a:spLocks noChangeShapeType="1"/>
            </p:cNvSpPr>
            <p:nvPr/>
          </p:nvSpPr>
          <p:spPr bwMode="auto">
            <a:xfrm>
              <a:off x="248" y="1554"/>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9" name="Line 114"/>
            <p:cNvSpPr>
              <a:spLocks noChangeShapeType="1"/>
            </p:cNvSpPr>
            <p:nvPr/>
          </p:nvSpPr>
          <p:spPr bwMode="auto">
            <a:xfrm>
              <a:off x="248" y="1660"/>
              <a:ext cx="1" cy="54"/>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0" name="Line 115"/>
            <p:cNvSpPr>
              <a:spLocks noChangeShapeType="1"/>
            </p:cNvSpPr>
            <p:nvPr/>
          </p:nvSpPr>
          <p:spPr bwMode="auto">
            <a:xfrm>
              <a:off x="248" y="1767"/>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1" name="Line 116"/>
            <p:cNvSpPr>
              <a:spLocks noChangeShapeType="1"/>
            </p:cNvSpPr>
            <p:nvPr/>
          </p:nvSpPr>
          <p:spPr bwMode="auto">
            <a:xfrm>
              <a:off x="248" y="1873"/>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2" name="Line 117"/>
            <p:cNvSpPr>
              <a:spLocks noChangeShapeType="1"/>
            </p:cNvSpPr>
            <p:nvPr/>
          </p:nvSpPr>
          <p:spPr bwMode="auto">
            <a:xfrm>
              <a:off x="248" y="1979"/>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3" name="Line 118"/>
            <p:cNvSpPr>
              <a:spLocks noChangeShapeType="1"/>
            </p:cNvSpPr>
            <p:nvPr/>
          </p:nvSpPr>
          <p:spPr bwMode="auto">
            <a:xfrm>
              <a:off x="248" y="2086"/>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4" name="Line 119"/>
            <p:cNvSpPr>
              <a:spLocks noChangeShapeType="1"/>
            </p:cNvSpPr>
            <p:nvPr/>
          </p:nvSpPr>
          <p:spPr bwMode="auto">
            <a:xfrm>
              <a:off x="248" y="2192"/>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5" name="Line 120"/>
            <p:cNvSpPr>
              <a:spLocks noChangeShapeType="1"/>
            </p:cNvSpPr>
            <p:nvPr/>
          </p:nvSpPr>
          <p:spPr bwMode="auto">
            <a:xfrm>
              <a:off x="248" y="2298"/>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6" name="Line 121"/>
            <p:cNvSpPr>
              <a:spLocks noChangeShapeType="1"/>
            </p:cNvSpPr>
            <p:nvPr/>
          </p:nvSpPr>
          <p:spPr bwMode="auto">
            <a:xfrm>
              <a:off x="248" y="2404"/>
              <a:ext cx="1" cy="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7" name="Line 122"/>
            <p:cNvSpPr>
              <a:spLocks noChangeShapeType="1"/>
            </p:cNvSpPr>
            <p:nvPr/>
          </p:nvSpPr>
          <p:spPr bwMode="auto">
            <a:xfrm>
              <a:off x="248" y="2511"/>
              <a:ext cx="1" cy="26"/>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8" name="Rectangle 123"/>
            <p:cNvSpPr>
              <a:spLocks noChangeArrowheads="1"/>
            </p:cNvSpPr>
            <p:nvPr/>
          </p:nvSpPr>
          <p:spPr bwMode="auto">
            <a:xfrm>
              <a:off x="1960" y="784"/>
              <a:ext cx="1247" cy="744"/>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2109" name="Line 124"/>
            <p:cNvSpPr>
              <a:spLocks noChangeShapeType="1"/>
            </p:cNvSpPr>
            <p:nvPr/>
          </p:nvSpPr>
          <p:spPr bwMode="auto">
            <a:xfrm>
              <a:off x="2331" y="1156"/>
              <a:ext cx="505"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0" name="Rectangle 125"/>
            <p:cNvSpPr>
              <a:spLocks noChangeArrowheads="1"/>
            </p:cNvSpPr>
            <p:nvPr/>
          </p:nvSpPr>
          <p:spPr bwMode="auto">
            <a:xfrm>
              <a:off x="2184" y="877"/>
              <a:ext cx="8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基本放大器</a:t>
              </a:r>
              <a:endParaRPr lang="zh-CN" altLang="zh-CN" sz="2800">
                <a:latin typeface="Times New Roman" panose="02020603050405020304" pitchFamily="18" charset="0"/>
              </a:endParaRPr>
            </a:p>
          </p:txBody>
        </p:sp>
        <p:sp>
          <p:nvSpPr>
            <p:cNvPr id="42111" name="Freeform 126"/>
            <p:cNvSpPr/>
            <p:nvPr/>
          </p:nvSpPr>
          <p:spPr bwMode="auto">
            <a:xfrm>
              <a:off x="2663" y="1129"/>
              <a:ext cx="173" cy="53"/>
            </a:xfrm>
            <a:custGeom>
              <a:avLst/>
              <a:gdLst>
                <a:gd name="T0" fmla="*/ 0 w 173"/>
                <a:gd name="T1" fmla="*/ 0 h 53"/>
                <a:gd name="T2" fmla="*/ 40 w 173"/>
                <a:gd name="T3" fmla="*/ 27 h 53"/>
                <a:gd name="T4" fmla="*/ 0 w 173"/>
                <a:gd name="T5" fmla="*/ 53 h 53"/>
                <a:gd name="T6" fmla="*/ 173 w 173"/>
                <a:gd name="T7" fmla="*/ 27 h 53"/>
                <a:gd name="T8" fmla="*/ 0 w 173"/>
                <a:gd name="T9" fmla="*/ 0 h 53"/>
                <a:gd name="T10" fmla="*/ 0 60000 65536"/>
                <a:gd name="T11" fmla="*/ 0 60000 65536"/>
                <a:gd name="T12" fmla="*/ 0 60000 65536"/>
                <a:gd name="T13" fmla="*/ 0 60000 65536"/>
                <a:gd name="T14" fmla="*/ 0 60000 65536"/>
                <a:gd name="T15" fmla="*/ 0 w 173"/>
                <a:gd name="T16" fmla="*/ 0 h 53"/>
                <a:gd name="T17" fmla="*/ 173 w 173"/>
                <a:gd name="T18" fmla="*/ 53 h 53"/>
              </a:gdLst>
              <a:ahLst/>
              <a:cxnLst>
                <a:cxn ang="T10">
                  <a:pos x="T0" y="T1"/>
                </a:cxn>
                <a:cxn ang="T11">
                  <a:pos x="T2" y="T3"/>
                </a:cxn>
                <a:cxn ang="T12">
                  <a:pos x="T4" y="T5"/>
                </a:cxn>
                <a:cxn ang="T13">
                  <a:pos x="T6" y="T7"/>
                </a:cxn>
                <a:cxn ang="T14">
                  <a:pos x="T8" y="T9"/>
                </a:cxn>
              </a:cxnLst>
              <a:rect l="T15" t="T16" r="T17" b="T18"/>
              <a:pathLst>
                <a:path w="173" h="53">
                  <a:moveTo>
                    <a:pt x="0" y="0"/>
                  </a:moveTo>
                  <a:lnTo>
                    <a:pt x="40" y="27"/>
                  </a:lnTo>
                  <a:lnTo>
                    <a:pt x="0" y="53"/>
                  </a:lnTo>
                  <a:lnTo>
                    <a:pt x="173" y="27"/>
                  </a:lnTo>
                  <a:lnTo>
                    <a:pt x="0" y="0"/>
                  </a:lnTo>
                  <a:close/>
                </a:path>
              </a:pathLst>
            </a:custGeom>
            <a:solidFill>
              <a:srgbClr val="000000"/>
            </a:solidFill>
            <a:ln w="20638">
              <a:solidFill>
                <a:srgbClr val="000000"/>
              </a:solidFill>
              <a:round/>
            </a:ln>
          </p:spPr>
          <p:txBody>
            <a:bodyPr/>
            <a:lstStyle/>
            <a:p>
              <a:endParaRPr lang="zh-CN" altLang="en-US"/>
            </a:p>
          </p:txBody>
        </p:sp>
        <p:sp>
          <p:nvSpPr>
            <p:cNvPr id="42112" name="Rectangle 127"/>
            <p:cNvSpPr>
              <a:spLocks noChangeArrowheads="1"/>
            </p:cNvSpPr>
            <p:nvPr/>
          </p:nvSpPr>
          <p:spPr bwMode="auto">
            <a:xfrm>
              <a:off x="2558" y="1236"/>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2113" name="Line 128"/>
            <p:cNvSpPr>
              <a:spLocks noChangeShapeType="1"/>
            </p:cNvSpPr>
            <p:nvPr/>
          </p:nvSpPr>
          <p:spPr bwMode="auto">
            <a:xfrm>
              <a:off x="3207" y="1156"/>
              <a:ext cx="1462" cy="1"/>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4" name="Rectangle 129"/>
            <p:cNvSpPr>
              <a:spLocks noChangeArrowheads="1"/>
            </p:cNvSpPr>
            <p:nvPr/>
          </p:nvSpPr>
          <p:spPr bwMode="auto">
            <a:xfrm>
              <a:off x="3712" y="651"/>
              <a:ext cx="504" cy="252"/>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2115" name="Rectangle 130"/>
            <p:cNvSpPr>
              <a:spLocks noChangeArrowheads="1"/>
            </p:cNvSpPr>
            <p:nvPr/>
          </p:nvSpPr>
          <p:spPr bwMode="auto">
            <a:xfrm>
              <a:off x="3802" y="659"/>
              <a:ext cx="35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取样</a:t>
              </a:r>
              <a:endParaRPr lang="zh-CN" altLang="zh-CN" sz="2800">
                <a:latin typeface="Times New Roman" panose="02020603050405020304" pitchFamily="18" charset="0"/>
              </a:endParaRPr>
            </a:p>
          </p:txBody>
        </p:sp>
        <p:sp>
          <p:nvSpPr>
            <p:cNvPr id="42116" name="Freeform 131"/>
            <p:cNvSpPr/>
            <p:nvPr/>
          </p:nvSpPr>
          <p:spPr bwMode="auto">
            <a:xfrm>
              <a:off x="3420" y="1129"/>
              <a:ext cx="159" cy="53"/>
            </a:xfrm>
            <a:custGeom>
              <a:avLst/>
              <a:gdLst>
                <a:gd name="T0" fmla="*/ 0 w 159"/>
                <a:gd name="T1" fmla="*/ 0 h 53"/>
                <a:gd name="T2" fmla="*/ 26 w 159"/>
                <a:gd name="T3" fmla="*/ 27 h 53"/>
                <a:gd name="T4" fmla="*/ 0 w 159"/>
                <a:gd name="T5" fmla="*/ 53 h 53"/>
                <a:gd name="T6" fmla="*/ 159 w 159"/>
                <a:gd name="T7" fmla="*/ 27 h 53"/>
                <a:gd name="T8" fmla="*/ 0 w 159"/>
                <a:gd name="T9" fmla="*/ 0 h 53"/>
                <a:gd name="T10" fmla="*/ 0 60000 65536"/>
                <a:gd name="T11" fmla="*/ 0 60000 65536"/>
                <a:gd name="T12" fmla="*/ 0 60000 65536"/>
                <a:gd name="T13" fmla="*/ 0 60000 65536"/>
                <a:gd name="T14" fmla="*/ 0 60000 65536"/>
                <a:gd name="T15" fmla="*/ 0 w 159"/>
                <a:gd name="T16" fmla="*/ 0 h 53"/>
                <a:gd name="T17" fmla="*/ 159 w 159"/>
                <a:gd name="T18" fmla="*/ 53 h 53"/>
              </a:gdLst>
              <a:ahLst/>
              <a:cxnLst>
                <a:cxn ang="T10">
                  <a:pos x="T0" y="T1"/>
                </a:cxn>
                <a:cxn ang="T11">
                  <a:pos x="T2" y="T3"/>
                </a:cxn>
                <a:cxn ang="T12">
                  <a:pos x="T4" y="T5"/>
                </a:cxn>
                <a:cxn ang="T13">
                  <a:pos x="T6" y="T7"/>
                </a:cxn>
                <a:cxn ang="T14">
                  <a:pos x="T8" y="T9"/>
                </a:cxn>
              </a:cxnLst>
              <a:rect l="T15" t="T16" r="T17" b="T18"/>
              <a:pathLst>
                <a:path w="159" h="53">
                  <a:moveTo>
                    <a:pt x="0" y="0"/>
                  </a:moveTo>
                  <a:lnTo>
                    <a:pt x="26" y="27"/>
                  </a:lnTo>
                  <a:lnTo>
                    <a:pt x="0" y="53"/>
                  </a:lnTo>
                  <a:lnTo>
                    <a:pt x="159" y="27"/>
                  </a:lnTo>
                  <a:lnTo>
                    <a:pt x="0" y="0"/>
                  </a:lnTo>
                  <a:close/>
                </a:path>
              </a:pathLst>
            </a:custGeom>
            <a:solidFill>
              <a:schemeClr val="tx1"/>
            </a:solidFill>
            <a:ln w="20701">
              <a:solidFill>
                <a:schemeClr val="tx1"/>
              </a:solidFill>
              <a:round/>
            </a:ln>
          </p:spPr>
          <p:txBody>
            <a:bodyPr/>
            <a:lstStyle/>
            <a:p>
              <a:endParaRPr lang="zh-CN" altLang="en-US"/>
            </a:p>
          </p:txBody>
        </p:sp>
        <p:sp>
          <p:nvSpPr>
            <p:cNvPr id="42117" name="Line 132"/>
            <p:cNvSpPr>
              <a:spLocks noChangeShapeType="1"/>
            </p:cNvSpPr>
            <p:nvPr/>
          </p:nvSpPr>
          <p:spPr bwMode="auto">
            <a:xfrm>
              <a:off x="3964" y="903"/>
              <a:ext cx="1" cy="1142"/>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8" name="Freeform 133"/>
            <p:cNvSpPr/>
            <p:nvPr/>
          </p:nvSpPr>
          <p:spPr bwMode="auto">
            <a:xfrm>
              <a:off x="3924" y="1129"/>
              <a:ext cx="66" cy="53"/>
            </a:xfrm>
            <a:custGeom>
              <a:avLst/>
              <a:gdLst>
                <a:gd name="T0" fmla="*/ 0 w 66"/>
                <a:gd name="T1" fmla="*/ 27 h 53"/>
                <a:gd name="T2" fmla="*/ 27 w 66"/>
                <a:gd name="T3" fmla="*/ 0 h 53"/>
                <a:gd name="T4" fmla="*/ 53 w 66"/>
                <a:gd name="T5" fmla="*/ 0 h 53"/>
                <a:gd name="T6" fmla="*/ 66 w 66"/>
                <a:gd name="T7" fmla="*/ 27 h 53"/>
                <a:gd name="T8" fmla="*/ 53 w 66"/>
                <a:gd name="T9" fmla="*/ 53 h 53"/>
                <a:gd name="T10" fmla="*/ 27 w 66"/>
                <a:gd name="T11" fmla="*/ 53 h 53"/>
                <a:gd name="T12" fmla="*/ 0 w 66"/>
                <a:gd name="T13" fmla="*/ 27 h 53"/>
                <a:gd name="T14" fmla="*/ 0 60000 65536"/>
                <a:gd name="T15" fmla="*/ 0 60000 65536"/>
                <a:gd name="T16" fmla="*/ 0 60000 65536"/>
                <a:gd name="T17" fmla="*/ 0 60000 65536"/>
                <a:gd name="T18" fmla="*/ 0 60000 65536"/>
                <a:gd name="T19" fmla="*/ 0 60000 65536"/>
                <a:gd name="T20" fmla="*/ 0 60000 65536"/>
                <a:gd name="T21" fmla="*/ 0 w 66"/>
                <a:gd name="T22" fmla="*/ 0 h 53"/>
                <a:gd name="T23" fmla="*/ 66 w 66"/>
                <a:gd name="T24" fmla="*/ 53 h 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53">
                  <a:moveTo>
                    <a:pt x="0" y="27"/>
                  </a:moveTo>
                  <a:lnTo>
                    <a:pt x="27" y="0"/>
                  </a:lnTo>
                  <a:lnTo>
                    <a:pt x="53" y="0"/>
                  </a:lnTo>
                  <a:lnTo>
                    <a:pt x="66" y="27"/>
                  </a:lnTo>
                  <a:lnTo>
                    <a:pt x="53" y="53"/>
                  </a:lnTo>
                  <a:lnTo>
                    <a:pt x="27" y="53"/>
                  </a:lnTo>
                  <a:lnTo>
                    <a:pt x="0" y="27"/>
                  </a:lnTo>
                  <a:close/>
                </a:path>
              </a:pathLst>
            </a:custGeom>
            <a:solidFill>
              <a:srgbClr val="000000"/>
            </a:solidFill>
            <a:ln w="20638">
              <a:solidFill>
                <a:srgbClr val="000000"/>
              </a:solidFill>
              <a:round/>
            </a:ln>
          </p:spPr>
          <p:txBody>
            <a:bodyPr/>
            <a:lstStyle/>
            <a:p>
              <a:endParaRPr lang="zh-CN" altLang="en-US"/>
            </a:p>
          </p:txBody>
        </p:sp>
        <p:sp>
          <p:nvSpPr>
            <p:cNvPr id="42119" name="Rectangle 134"/>
            <p:cNvSpPr>
              <a:spLocks noChangeArrowheads="1"/>
            </p:cNvSpPr>
            <p:nvPr/>
          </p:nvSpPr>
          <p:spPr bwMode="auto">
            <a:xfrm>
              <a:off x="2277" y="1820"/>
              <a:ext cx="7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反馈网络</a:t>
              </a:r>
              <a:endParaRPr lang="zh-CN" altLang="zh-CN" sz="2800">
                <a:latin typeface="Times New Roman" panose="02020603050405020304" pitchFamily="18" charset="0"/>
              </a:endParaRPr>
            </a:p>
          </p:txBody>
        </p:sp>
        <p:sp>
          <p:nvSpPr>
            <p:cNvPr id="42120" name="Rectangle 135"/>
            <p:cNvSpPr>
              <a:spLocks noChangeArrowheads="1"/>
            </p:cNvSpPr>
            <p:nvPr/>
          </p:nvSpPr>
          <p:spPr bwMode="auto">
            <a:xfrm>
              <a:off x="2079" y="1780"/>
              <a:ext cx="1009" cy="505"/>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2121" name="Line 136"/>
            <p:cNvSpPr>
              <a:spLocks noChangeShapeType="1"/>
            </p:cNvSpPr>
            <p:nvPr/>
          </p:nvSpPr>
          <p:spPr bwMode="auto">
            <a:xfrm>
              <a:off x="2331" y="2072"/>
              <a:ext cx="505"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2" name="Freeform 137"/>
            <p:cNvSpPr/>
            <p:nvPr/>
          </p:nvSpPr>
          <p:spPr bwMode="auto">
            <a:xfrm>
              <a:off x="2331" y="2032"/>
              <a:ext cx="160" cy="67"/>
            </a:xfrm>
            <a:custGeom>
              <a:avLst/>
              <a:gdLst>
                <a:gd name="T0" fmla="*/ 160 w 160"/>
                <a:gd name="T1" fmla="*/ 0 h 67"/>
                <a:gd name="T2" fmla="*/ 133 w 160"/>
                <a:gd name="T3" fmla="*/ 40 h 67"/>
                <a:gd name="T4" fmla="*/ 160 w 160"/>
                <a:gd name="T5" fmla="*/ 67 h 67"/>
                <a:gd name="T6" fmla="*/ 0 w 160"/>
                <a:gd name="T7" fmla="*/ 40 h 67"/>
                <a:gd name="T8" fmla="*/ 160 w 160"/>
                <a:gd name="T9" fmla="*/ 0 h 67"/>
                <a:gd name="T10" fmla="*/ 0 60000 65536"/>
                <a:gd name="T11" fmla="*/ 0 60000 65536"/>
                <a:gd name="T12" fmla="*/ 0 60000 65536"/>
                <a:gd name="T13" fmla="*/ 0 60000 65536"/>
                <a:gd name="T14" fmla="*/ 0 60000 65536"/>
                <a:gd name="T15" fmla="*/ 0 w 160"/>
                <a:gd name="T16" fmla="*/ 0 h 67"/>
                <a:gd name="T17" fmla="*/ 160 w 160"/>
                <a:gd name="T18" fmla="*/ 67 h 67"/>
              </a:gdLst>
              <a:ahLst/>
              <a:cxnLst>
                <a:cxn ang="T10">
                  <a:pos x="T0" y="T1"/>
                </a:cxn>
                <a:cxn ang="T11">
                  <a:pos x="T2" y="T3"/>
                </a:cxn>
                <a:cxn ang="T12">
                  <a:pos x="T4" y="T5"/>
                </a:cxn>
                <a:cxn ang="T13">
                  <a:pos x="T6" y="T7"/>
                </a:cxn>
                <a:cxn ang="T14">
                  <a:pos x="T8" y="T9"/>
                </a:cxn>
              </a:cxnLst>
              <a:rect l="T15" t="T16" r="T17" b="T18"/>
              <a:pathLst>
                <a:path w="160" h="67">
                  <a:moveTo>
                    <a:pt x="160" y="0"/>
                  </a:moveTo>
                  <a:lnTo>
                    <a:pt x="133" y="40"/>
                  </a:lnTo>
                  <a:lnTo>
                    <a:pt x="160" y="67"/>
                  </a:lnTo>
                  <a:lnTo>
                    <a:pt x="0" y="40"/>
                  </a:lnTo>
                  <a:lnTo>
                    <a:pt x="160" y="0"/>
                  </a:lnTo>
                  <a:close/>
                </a:path>
              </a:pathLst>
            </a:custGeom>
            <a:solidFill>
              <a:srgbClr val="000000"/>
            </a:solidFill>
            <a:ln w="20638">
              <a:solidFill>
                <a:srgbClr val="000000"/>
              </a:solidFill>
              <a:round/>
            </a:ln>
          </p:spPr>
          <p:txBody>
            <a:bodyPr/>
            <a:lstStyle/>
            <a:p>
              <a:endParaRPr lang="zh-CN" altLang="en-US"/>
            </a:p>
          </p:txBody>
        </p:sp>
        <p:sp>
          <p:nvSpPr>
            <p:cNvPr id="42123" name="Rectangle 138"/>
            <p:cNvSpPr>
              <a:spLocks noChangeArrowheads="1"/>
            </p:cNvSpPr>
            <p:nvPr/>
          </p:nvSpPr>
          <p:spPr bwMode="auto">
            <a:xfrm>
              <a:off x="2558" y="2091"/>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2124" name="Line 139"/>
            <p:cNvSpPr>
              <a:spLocks noChangeShapeType="1"/>
            </p:cNvSpPr>
            <p:nvPr/>
          </p:nvSpPr>
          <p:spPr bwMode="auto">
            <a:xfrm flipV="1">
              <a:off x="3088" y="2033"/>
              <a:ext cx="875" cy="0"/>
            </a:xfrm>
            <a:prstGeom prst="line">
              <a:avLst/>
            </a:prstGeom>
            <a:noFill/>
            <a:ln w="2070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5" name="Freeform 140"/>
            <p:cNvSpPr/>
            <p:nvPr/>
          </p:nvSpPr>
          <p:spPr bwMode="auto">
            <a:xfrm>
              <a:off x="3088" y="2006"/>
              <a:ext cx="159" cy="66"/>
            </a:xfrm>
            <a:custGeom>
              <a:avLst/>
              <a:gdLst>
                <a:gd name="T0" fmla="*/ 159 w 159"/>
                <a:gd name="T1" fmla="*/ 0 h 66"/>
                <a:gd name="T2" fmla="*/ 133 w 159"/>
                <a:gd name="T3" fmla="*/ 26 h 66"/>
                <a:gd name="T4" fmla="*/ 159 w 159"/>
                <a:gd name="T5" fmla="*/ 66 h 66"/>
                <a:gd name="T6" fmla="*/ 0 w 159"/>
                <a:gd name="T7" fmla="*/ 26 h 66"/>
                <a:gd name="T8" fmla="*/ 159 w 159"/>
                <a:gd name="T9" fmla="*/ 0 h 66"/>
                <a:gd name="T10" fmla="*/ 0 60000 65536"/>
                <a:gd name="T11" fmla="*/ 0 60000 65536"/>
                <a:gd name="T12" fmla="*/ 0 60000 65536"/>
                <a:gd name="T13" fmla="*/ 0 60000 65536"/>
                <a:gd name="T14" fmla="*/ 0 60000 65536"/>
                <a:gd name="T15" fmla="*/ 0 w 159"/>
                <a:gd name="T16" fmla="*/ 0 h 66"/>
                <a:gd name="T17" fmla="*/ 159 w 159"/>
                <a:gd name="T18" fmla="*/ 66 h 66"/>
              </a:gdLst>
              <a:ahLst/>
              <a:cxnLst>
                <a:cxn ang="T10">
                  <a:pos x="T0" y="T1"/>
                </a:cxn>
                <a:cxn ang="T11">
                  <a:pos x="T2" y="T3"/>
                </a:cxn>
                <a:cxn ang="T12">
                  <a:pos x="T4" y="T5"/>
                </a:cxn>
                <a:cxn ang="T13">
                  <a:pos x="T6" y="T7"/>
                </a:cxn>
                <a:cxn ang="T14">
                  <a:pos x="T8" y="T9"/>
                </a:cxn>
              </a:cxnLst>
              <a:rect l="T15" t="T16" r="T17" b="T18"/>
              <a:pathLst>
                <a:path w="159" h="66">
                  <a:moveTo>
                    <a:pt x="159" y="0"/>
                  </a:moveTo>
                  <a:lnTo>
                    <a:pt x="133" y="26"/>
                  </a:lnTo>
                  <a:lnTo>
                    <a:pt x="159" y="66"/>
                  </a:lnTo>
                  <a:lnTo>
                    <a:pt x="0" y="26"/>
                  </a:lnTo>
                  <a:lnTo>
                    <a:pt x="159" y="0"/>
                  </a:lnTo>
                  <a:close/>
                </a:path>
              </a:pathLst>
            </a:custGeom>
            <a:solidFill>
              <a:srgbClr val="000000"/>
            </a:solidFill>
            <a:ln w="20638">
              <a:solidFill>
                <a:srgbClr val="000000"/>
              </a:solidFill>
              <a:round/>
            </a:ln>
          </p:spPr>
          <p:txBody>
            <a:bodyPr/>
            <a:lstStyle/>
            <a:p>
              <a:endParaRPr lang="zh-CN" altLang="en-US"/>
            </a:p>
          </p:txBody>
        </p:sp>
        <p:sp>
          <p:nvSpPr>
            <p:cNvPr id="42126" name="Line 141"/>
            <p:cNvSpPr>
              <a:spLocks noChangeShapeType="1"/>
            </p:cNvSpPr>
            <p:nvPr/>
          </p:nvSpPr>
          <p:spPr bwMode="auto">
            <a:xfrm>
              <a:off x="951" y="1156"/>
              <a:ext cx="1009" cy="1"/>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7" name="Freeform 142"/>
            <p:cNvSpPr/>
            <p:nvPr/>
          </p:nvSpPr>
          <p:spPr bwMode="auto">
            <a:xfrm>
              <a:off x="579" y="970"/>
              <a:ext cx="372" cy="372"/>
            </a:xfrm>
            <a:custGeom>
              <a:avLst/>
              <a:gdLst>
                <a:gd name="T0" fmla="*/ 0 w 372"/>
                <a:gd name="T1" fmla="*/ 186 h 372"/>
                <a:gd name="T2" fmla="*/ 27 w 372"/>
                <a:gd name="T3" fmla="*/ 93 h 372"/>
                <a:gd name="T4" fmla="*/ 93 w 372"/>
                <a:gd name="T5" fmla="*/ 26 h 372"/>
                <a:gd name="T6" fmla="*/ 186 w 372"/>
                <a:gd name="T7" fmla="*/ 0 h 372"/>
                <a:gd name="T8" fmla="*/ 279 w 372"/>
                <a:gd name="T9" fmla="*/ 26 h 372"/>
                <a:gd name="T10" fmla="*/ 346 w 372"/>
                <a:gd name="T11" fmla="*/ 93 h 372"/>
                <a:gd name="T12" fmla="*/ 372 w 372"/>
                <a:gd name="T13" fmla="*/ 186 h 372"/>
                <a:gd name="T14" fmla="*/ 346 w 372"/>
                <a:gd name="T15" fmla="*/ 279 h 372"/>
                <a:gd name="T16" fmla="*/ 279 w 372"/>
                <a:gd name="T17" fmla="*/ 345 h 372"/>
                <a:gd name="T18" fmla="*/ 186 w 372"/>
                <a:gd name="T19" fmla="*/ 372 h 372"/>
                <a:gd name="T20" fmla="*/ 93 w 372"/>
                <a:gd name="T21" fmla="*/ 345 h 372"/>
                <a:gd name="T22" fmla="*/ 27 w 372"/>
                <a:gd name="T23" fmla="*/ 279 h 372"/>
                <a:gd name="T24" fmla="*/ 0 w 372"/>
                <a:gd name="T25" fmla="*/ 186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72"/>
                <a:gd name="T40" fmla="*/ 0 h 372"/>
                <a:gd name="T41" fmla="*/ 372 w 372"/>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72" h="372">
                  <a:moveTo>
                    <a:pt x="0" y="186"/>
                  </a:moveTo>
                  <a:lnTo>
                    <a:pt x="27" y="93"/>
                  </a:lnTo>
                  <a:lnTo>
                    <a:pt x="93" y="26"/>
                  </a:lnTo>
                  <a:lnTo>
                    <a:pt x="186" y="0"/>
                  </a:lnTo>
                  <a:lnTo>
                    <a:pt x="279" y="26"/>
                  </a:lnTo>
                  <a:lnTo>
                    <a:pt x="346" y="93"/>
                  </a:lnTo>
                  <a:lnTo>
                    <a:pt x="372" y="186"/>
                  </a:lnTo>
                  <a:lnTo>
                    <a:pt x="346" y="279"/>
                  </a:lnTo>
                  <a:lnTo>
                    <a:pt x="279" y="345"/>
                  </a:lnTo>
                  <a:lnTo>
                    <a:pt x="186" y="372"/>
                  </a:lnTo>
                  <a:lnTo>
                    <a:pt x="93" y="345"/>
                  </a:lnTo>
                  <a:lnTo>
                    <a:pt x="27" y="279"/>
                  </a:lnTo>
                  <a:lnTo>
                    <a:pt x="0" y="186"/>
                  </a:lnTo>
                  <a:close/>
                </a:path>
              </a:pathLst>
            </a:custGeom>
            <a:solidFill>
              <a:srgbClr val="FFFFFF"/>
            </a:solidFill>
            <a:ln w="20638">
              <a:solidFill>
                <a:srgbClr val="000000"/>
              </a:solidFill>
              <a:round/>
            </a:ln>
          </p:spPr>
          <p:txBody>
            <a:bodyPr/>
            <a:lstStyle/>
            <a:p>
              <a:endParaRPr lang="zh-CN" altLang="en-US"/>
            </a:p>
          </p:txBody>
        </p:sp>
        <p:sp>
          <p:nvSpPr>
            <p:cNvPr id="42128" name="Rectangle 143"/>
            <p:cNvSpPr>
              <a:spLocks noChangeArrowheads="1"/>
            </p:cNvSpPr>
            <p:nvPr/>
          </p:nvSpPr>
          <p:spPr bwMode="auto">
            <a:xfrm>
              <a:off x="716" y="1063"/>
              <a:ext cx="17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2129" name="Freeform 144"/>
            <p:cNvSpPr/>
            <p:nvPr/>
          </p:nvSpPr>
          <p:spPr bwMode="auto">
            <a:xfrm>
              <a:off x="3924" y="943"/>
              <a:ext cx="66" cy="173"/>
            </a:xfrm>
            <a:custGeom>
              <a:avLst/>
              <a:gdLst>
                <a:gd name="T0" fmla="*/ 66 w 66"/>
                <a:gd name="T1" fmla="*/ 0 h 173"/>
                <a:gd name="T2" fmla="*/ 40 w 66"/>
                <a:gd name="T3" fmla="*/ 40 h 173"/>
                <a:gd name="T4" fmla="*/ 0 w 66"/>
                <a:gd name="T5" fmla="*/ 0 h 173"/>
                <a:gd name="T6" fmla="*/ 40 w 66"/>
                <a:gd name="T7" fmla="*/ 173 h 173"/>
                <a:gd name="T8" fmla="*/ 66 w 66"/>
                <a:gd name="T9" fmla="*/ 0 h 173"/>
                <a:gd name="T10" fmla="*/ 0 60000 65536"/>
                <a:gd name="T11" fmla="*/ 0 60000 65536"/>
                <a:gd name="T12" fmla="*/ 0 60000 65536"/>
                <a:gd name="T13" fmla="*/ 0 60000 65536"/>
                <a:gd name="T14" fmla="*/ 0 60000 65536"/>
                <a:gd name="T15" fmla="*/ 0 w 66"/>
                <a:gd name="T16" fmla="*/ 0 h 173"/>
                <a:gd name="T17" fmla="*/ 66 w 66"/>
                <a:gd name="T18" fmla="*/ 173 h 173"/>
              </a:gdLst>
              <a:ahLst/>
              <a:cxnLst>
                <a:cxn ang="T10">
                  <a:pos x="T0" y="T1"/>
                </a:cxn>
                <a:cxn ang="T11">
                  <a:pos x="T2" y="T3"/>
                </a:cxn>
                <a:cxn ang="T12">
                  <a:pos x="T4" y="T5"/>
                </a:cxn>
                <a:cxn ang="T13">
                  <a:pos x="T6" y="T7"/>
                </a:cxn>
                <a:cxn ang="T14">
                  <a:pos x="T8" y="T9"/>
                </a:cxn>
              </a:cxnLst>
              <a:rect l="T15" t="T16" r="T17" b="T18"/>
              <a:pathLst>
                <a:path w="66" h="173">
                  <a:moveTo>
                    <a:pt x="66" y="0"/>
                  </a:moveTo>
                  <a:lnTo>
                    <a:pt x="40" y="40"/>
                  </a:lnTo>
                  <a:lnTo>
                    <a:pt x="0" y="0"/>
                  </a:lnTo>
                  <a:lnTo>
                    <a:pt x="40" y="173"/>
                  </a:lnTo>
                  <a:lnTo>
                    <a:pt x="66" y="0"/>
                  </a:lnTo>
                  <a:close/>
                </a:path>
              </a:pathLst>
            </a:custGeom>
            <a:solidFill>
              <a:srgbClr val="000000"/>
            </a:solidFill>
            <a:ln w="20638">
              <a:solidFill>
                <a:srgbClr val="000000"/>
              </a:solidFill>
              <a:round/>
            </a:ln>
          </p:spPr>
          <p:txBody>
            <a:bodyPr/>
            <a:lstStyle/>
            <a:p>
              <a:endParaRPr lang="zh-CN" altLang="en-US"/>
            </a:p>
          </p:txBody>
        </p:sp>
        <p:sp>
          <p:nvSpPr>
            <p:cNvPr id="42130" name="Line 145"/>
            <p:cNvSpPr>
              <a:spLocks noChangeShapeType="1"/>
            </p:cNvSpPr>
            <p:nvPr/>
          </p:nvSpPr>
          <p:spPr bwMode="auto">
            <a:xfrm>
              <a:off x="765" y="717"/>
              <a:ext cx="1" cy="253"/>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1" name="Rectangle 146"/>
            <p:cNvSpPr>
              <a:spLocks noChangeArrowheads="1"/>
            </p:cNvSpPr>
            <p:nvPr/>
          </p:nvSpPr>
          <p:spPr bwMode="auto">
            <a:xfrm>
              <a:off x="513" y="465"/>
              <a:ext cx="504" cy="252"/>
            </a:xfrm>
            <a:prstGeom prst="rect">
              <a:avLst/>
            </a:prstGeom>
            <a:noFill/>
            <a:ln w="2063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2132" name="Rectangle 147"/>
            <p:cNvSpPr>
              <a:spLocks noChangeArrowheads="1"/>
            </p:cNvSpPr>
            <p:nvPr/>
          </p:nvSpPr>
          <p:spPr bwMode="auto">
            <a:xfrm>
              <a:off x="588" y="481"/>
              <a:ext cx="35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比较</a:t>
              </a:r>
              <a:endParaRPr lang="zh-CN" altLang="zh-CN" sz="2800">
                <a:latin typeface="Times New Roman" panose="02020603050405020304" pitchFamily="18" charset="0"/>
              </a:endParaRPr>
            </a:p>
          </p:txBody>
        </p:sp>
        <p:sp>
          <p:nvSpPr>
            <p:cNvPr id="42133" name="Freeform 148"/>
            <p:cNvSpPr/>
            <p:nvPr/>
          </p:nvSpPr>
          <p:spPr bwMode="auto">
            <a:xfrm>
              <a:off x="725" y="757"/>
              <a:ext cx="67" cy="173"/>
            </a:xfrm>
            <a:custGeom>
              <a:avLst/>
              <a:gdLst>
                <a:gd name="T0" fmla="*/ 67 w 67"/>
                <a:gd name="T1" fmla="*/ 0 h 173"/>
                <a:gd name="T2" fmla="*/ 40 w 67"/>
                <a:gd name="T3" fmla="*/ 40 h 173"/>
                <a:gd name="T4" fmla="*/ 0 w 67"/>
                <a:gd name="T5" fmla="*/ 0 h 173"/>
                <a:gd name="T6" fmla="*/ 40 w 67"/>
                <a:gd name="T7" fmla="*/ 173 h 173"/>
                <a:gd name="T8" fmla="*/ 67 w 67"/>
                <a:gd name="T9" fmla="*/ 0 h 173"/>
                <a:gd name="T10" fmla="*/ 0 60000 65536"/>
                <a:gd name="T11" fmla="*/ 0 60000 65536"/>
                <a:gd name="T12" fmla="*/ 0 60000 65536"/>
                <a:gd name="T13" fmla="*/ 0 60000 65536"/>
                <a:gd name="T14" fmla="*/ 0 60000 65536"/>
                <a:gd name="T15" fmla="*/ 0 w 67"/>
                <a:gd name="T16" fmla="*/ 0 h 173"/>
                <a:gd name="T17" fmla="*/ 67 w 67"/>
                <a:gd name="T18" fmla="*/ 173 h 173"/>
              </a:gdLst>
              <a:ahLst/>
              <a:cxnLst>
                <a:cxn ang="T10">
                  <a:pos x="T0" y="T1"/>
                </a:cxn>
                <a:cxn ang="T11">
                  <a:pos x="T2" y="T3"/>
                </a:cxn>
                <a:cxn ang="T12">
                  <a:pos x="T4" y="T5"/>
                </a:cxn>
                <a:cxn ang="T13">
                  <a:pos x="T6" y="T7"/>
                </a:cxn>
                <a:cxn ang="T14">
                  <a:pos x="T8" y="T9"/>
                </a:cxn>
              </a:cxnLst>
              <a:rect l="T15" t="T16" r="T17" b="T18"/>
              <a:pathLst>
                <a:path w="67" h="173">
                  <a:moveTo>
                    <a:pt x="67" y="0"/>
                  </a:moveTo>
                  <a:lnTo>
                    <a:pt x="40" y="40"/>
                  </a:lnTo>
                  <a:lnTo>
                    <a:pt x="0" y="0"/>
                  </a:lnTo>
                  <a:lnTo>
                    <a:pt x="40" y="173"/>
                  </a:lnTo>
                  <a:lnTo>
                    <a:pt x="67" y="0"/>
                  </a:lnTo>
                  <a:close/>
                </a:path>
              </a:pathLst>
            </a:custGeom>
            <a:solidFill>
              <a:srgbClr val="000000"/>
            </a:solidFill>
            <a:ln w="20638">
              <a:solidFill>
                <a:srgbClr val="000000"/>
              </a:solidFill>
              <a:round/>
            </a:ln>
          </p:spPr>
          <p:txBody>
            <a:bodyPr/>
            <a:lstStyle/>
            <a:p>
              <a:endParaRPr lang="zh-CN" altLang="en-US"/>
            </a:p>
          </p:txBody>
        </p:sp>
        <p:sp>
          <p:nvSpPr>
            <p:cNvPr id="42134" name="Line 149"/>
            <p:cNvSpPr>
              <a:spLocks noChangeShapeType="1"/>
            </p:cNvSpPr>
            <p:nvPr/>
          </p:nvSpPr>
          <p:spPr bwMode="auto">
            <a:xfrm>
              <a:off x="48" y="1156"/>
              <a:ext cx="531" cy="1"/>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5" name="Freeform 150"/>
            <p:cNvSpPr/>
            <p:nvPr/>
          </p:nvSpPr>
          <p:spPr bwMode="auto">
            <a:xfrm>
              <a:off x="407" y="1129"/>
              <a:ext cx="172" cy="53"/>
            </a:xfrm>
            <a:custGeom>
              <a:avLst/>
              <a:gdLst>
                <a:gd name="T0" fmla="*/ 0 w 172"/>
                <a:gd name="T1" fmla="*/ 0 h 53"/>
                <a:gd name="T2" fmla="*/ 40 w 172"/>
                <a:gd name="T3" fmla="*/ 27 h 53"/>
                <a:gd name="T4" fmla="*/ 0 w 172"/>
                <a:gd name="T5" fmla="*/ 53 h 53"/>
                <a:gd name="T6" fmla="*/ 172 w 172"/>
                <a:gd name="T7" fmla="*/ 27 h 53"/>
                <a:gd name="T8" fmla="*/ 0 w 172"/>
                <a:gd name="T9" fmla="*/ 0 h 53"/>
                <a:gd name="T10" fmla="*/ 0 60000 65536"/>
                <a:gd name="T11" fmla="*/ 0 60000 65536"/>
                <a:gd name="T12" fmla="*/ 0 60000 65536"/>
                <a:gd name="T13" fmla="*/ 0 60000 65536"/>
                <a:gd name="T14" fmla="*/ 0 60000 65536"/>
                <a:gd name="T15" fmla="*/ 0 w 172"/>
                <a:gd name="T16" fmla="*/ 0 h 53"/>
                <a:gd name="T17" fmla="*/ 172 w 172"/>
                <a:gd name="T18" fmla="*/ 53 h 53"/>
              </a:gdLst>
              <a:ahLst/>
              <a:cxnLst>
                <a:cxn ang="T10">
                  <a:pos x="T0" y="T1"/>
                </a:cxn>
                <a:cxn ang="T11">
                  <a:pos x="T2" y="T3"/>
                </a:cxn>
                <a:cxn ang="T12">
                  <a:pos x="T4" y="T5"/>
                </a:cxn>
                <a:cxn ang="T13">
                  <a:pos x="T6" y="T7"/>
                </a:cxn>
                <a:cxn ang="T14">
                  <a:pos x="T8" y="T9"/>
                </a:cxn>
              </a:cxnLst>
              <a:rect l="T15" t="T16" r="T17" b="T18"/>
              <a:pathLst>
                <a:path w="172" h="53">
                  <a:moveTo>
                    <a:pt x="0" y="0"/>
                  </a:moveTo>
                  <a:lnTo>
                    <a:pt x="40" y="27"/>
                  </a:lnTo>
                  <a:lnTo>
                    <a:pt x="0" y="53"/>
                  </a:lnTo>
                  <a:lnTo>
                    <a:pt x="172" y="27"/>
                  </a:lnTo>
                  <a:lnTo>
                    <a:pt x="0" y="0"/>
                  </a:lnTo>
                  <a:close/>
                </a:path>
              </a:pathLst>
            </a:custGeom>
            <a:solidFill>
              <a:schemeClr val="tx1"/>
            </a:solidFill>
            <a:ln w="20701">
              <a:solidFill>
                <a:schemeClr val="tx1"/>
              </a:solidFill>
              <a:round/>
            </a:ln>
          </p:spPr>
          <p:txBody>
            <a:bodyPr/>
            <a:lstStyle/>
            <a:p>
              <a:endParaRPr lang="zh-CN" altLang="en-US"/>
            </a:p>
          </p:txBody>
        </p:sp>
        <p:sp>
          <p:nvSpPr>
            <p:cNvPr id="42136" name="Line 151"/>
            <p:cNvSpPr>
              <a:spLocks noChangeShapeType="1"/>
            </p:cNvSpPr>
            <p:nvPr/>
          </p:nvSpPr>
          <p:spPr bwMode="auto">
            <a:xfrm>
              <a:off x="765" y="2032"/>
              <a:ext cx="1314" cy="1"/>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7" name="Line 152"/>
            <p:cNvSpPr>
              <a:spLocks noChangeShapeType="1"/>
            </p:cNvSpPr>
            <p:nvPr/>
          </p:nvSpPr>
          <p:spPr bwMode="auto">
            <a:xfrm flipV="1">
              <a:off x="765" y="1342"/>
              <a:ext cx="1" cy="690"/>
            </a:xfrm>
            <a:prstGeom prst="line">
              <a:avLst/>
            </a:prstGeom>
            <a:noFill/>
            <a:ln w="20701">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8" name="Freeform 153"/>
            <p:cNvSpPr/>
            <p:nvPr/>
          </p:nvSpPr>
          <p:spPr bwMode="auto">
            <a:xfrm>
              <a:off x="725" y="1342"/>
              <a:ext cx="67" cy="159"/>
            </a:xfrm>
            <a:custGeom>
              <a:avLst/>
              <a:gdLst>
                <a:gd name="T0" fmla="*/ 0 w 67"/>
                <a:gd name="T1" fmla="*/ 159 h 159"/>
                <a:gd name="T2" fmla="*/ 40 w 67"/>
                <a:gd name="T3" fmla="*/ 132 h 159"/>
                <a:gd name="T4" fmla="*/ 67 w 67"/>
                <a:gd name="T5" fmla="*/ 159 h 159"/>
                <a:gd name="T6" fmla="*/ 40 w 67"/>
                <a:gd name="T7" fmla="*/ 0 h 159"/>
                <a:gd name="T8" fmla="*/ 0 w 67"/>
                <a:gd name="T9" fmla="*/ 159 h 159"/>
                <a:gd name="T10" fmla="*/ 0 60000 65536"/>
                <a:gd name="T11" fmla="*/ 0 60000 65536"/>
                <a:gd name="T12" fmla="*/ 0 60000 65536"/>
                <a:gd name="T13" fmla="*/ 0 60000 65536"/>
                <a:gd name="T14" fmla="*/ 0 60000 65536"/>
                <a:gd name="T15" fmla="*/ 0 w 67"/>
                <a:gd name="T16" fmla="*/ 0 h 159"/>
                <a:gd name="T17" fmla="*/ 67 w 67"/>
                <a:gd name="T18" fmla="*/ 159 h 159"/>
              </a:gdLst>
              <a:ahLst/>
              <a:cxnLst>
                <a:cxn ang="T10">
                  <a:pos x="T0" y="T1"/>
                </a:cxn>
                <a:cxn ang="T11">
                  <a:pos x="T2" y="T3"/>
                </a:cxn>
                <a:cxn ang="T12">
                  <a:pos x="T4" y="T5"/>
                </a:cxn>
                <a:cxn ang="T13">
                  <a:pos x="T6" y="T7"/>
                </a:cxn>
                <a:cxn ang="T14">
                  <a:pos x="T8" y="T9"/>
                </a:cxn>
              </a:cxnLst>
              <a:rect l="T15" t="T16" r="T17" b="T18"/>
              <a:pathLst>
                <a:path w="67" h="159">
                  <a:moveTo>
                    <a:pt x="0" y="159"/>
                  </a:moveTo>
                  <a:lnTo>
                    <a:pt x="40" y="132"/>
                  </a:lnTo>
                  <a:lnTo>
                    <a:pt x="67" y="159"/>
                  </a:lnTo>
                  <a:lnTo>
                    <a:pt x="40" y="0"/>
                  </a:lnTo>
                  <a:lnTo>
                    <a:pt x="0" y="159"/>
                  </a:lnTo>
                  <a:close/>
                </a:path>
              </a:pathLst>
            </a:custGeom>
            <a:solidFill>
              <a:schemeClr val="tx1"/>
            </a:solidFill>
            <a:ln w="20701">
              <a:solidFill>
                <a:schemeClr val="tx1"/>
              </a:solidFill>
              <a:round/>
            </a:ln>
          </p:spPr>
          <p:txBody>
            <a:bodyPr/>
            <a:lstStyle/>
            <a:p>
              <a:endParaRPr lang="zh-CN" altLang="en-US"/>
            </a:p>
          </p:txBody>
        </p:sp>
        <p:sp>
          <p:nvSpPr>
            <p:cNvPr id="42139" name="Rectangle 154"/>
            <p:cNvSpPr>
              <a:spLocks noChangeArrowheads="1"/>
            </p:cNvSpPr>
            <p:nvPr/>
          </p:nvSpPr>
          <p:spPr bwMode="auto">
            <a:xfrm>
              <a:off x="873" y="1488"/>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2140" name="Rectangle 155"/>
            <p:cNvSpPr>
              <a:spLocks noChangeArrowheads="1"/>
            </p:cNvSpPr>
            <p:nvPr/>
          </p:nvSpPr>
          <p:spPr bwMode="auto">
            <a:xfrm>
              <a:off x="971" y="1581"/>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2141" name="Rectangle 156"/>
            <p:cNvSpPr>
              <a:spLocks noChangeArrowheads="1"/>
            </p:cNvSpPr>
            <p:nvPr/>
          </p:nvSpPr>
          <p:spPr bwMode="auto">
            <a:xfrm>
              <a:off x="929" y="1342"/>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42" name="Line 157"/>
            <p:cNvSpPr>
              <a:spLocks noChangeShapeType="1"/>
            </p:cNvSpPr>
            <p:nvPr/>
          </p:nvSpPr>
          <p:spPr bwMode="auto">
            <a:xfrm>
              <a:off x="832" y="1435"/>
              <a:ext cx="185"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3" name="Rectangle 158"/>
            <p:cNvSpPr>
              <a:spLocks noChangeArrowheads="1"/>
            </p:cNvSpPr>
            <p:nvPr/>
          </p:nvSpPr>
          <p:spPr bwMode="auto">
            <a:xfrm>
              <a:off x="1590" y="930"/>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2144" name="Rectangle 159"/>
            <p:cNvSpPr>
              <a:spLocks noChangeArrowheads="1"/>
            </p:cNvSpPr>
            <p:nvPr/>
          </p:nvSpPr>
          <p:spPr bwMode="auto">
            <a:xfrm>
              <a:off x="1698" y="1009"/>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2145" name="Rectangle 160"/>
            <p:cNvSpPr>
              <a:spLocks noChangeArrowheads="1"/>
            </p:cNvSpPr>
            <p:nvPr/>
          </p:nvSpPr>
          <p:spPr bwMode="auto">
            <a:xfrm>
              <a:off x="1646" y="771"/>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46" name="Rectangle 161"/>
            <p:cNvSpPr>
              <a:spLocks noChangeArrowheads="1"/>
            </p:cNvSpPr>
            <p:nvPr/>
          </p:nvSpPr>
          <p:spPr bwMode="auto">
            <a:xfrm>
              <a:off x="1731" y="881"/>
              <a:ext cx="17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47" name="Rectangle 162"/>
            <p:cNvSpPr>
              <a:spLocks noChangeArrowheads="1"/>
            </p:cNvSpPr>
            <p:nvPr/>
          </p:nvSpPr>
          <p:spPr bwMode="auto">
            <a:xfrm>
              <a:off x="1135" y="1226"/>
              <a:ext cx="8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净输</a:t>
              </a:r>
              <a:r>
                <a:rPr lang="zh-CN" altLang="zh-CN" sz="2000">
                  <a:solidFill>
                    <a:srgbClr val="000000"/>
                  </a:solidFill>
                  <a:latin typeface="Times New Roman" panose="02020603050405020304" pitchFamily="18" charset="0"/>
                </a:rPr>
                <a:t>入信号</a:t>
              </a:r>
              <a:endParaRPr lang="zh-CN" altLang="zh-CN" sz="2000">
                <a:solidFill>
                  <a:srgbClr val="000000"/>
                </a:solidFill>
                <a:latin typeface="Times New Roman" panose="02020603050405020304" pitchFamily="18" charset="0"/>
              </a:endParaRPr>
            </a:p>
          </p:txBody>
        </p:sp>
        <p:sp>
          <p:nvSpPr>
            <p:cNvPr id="42148" name="Freeform 163"/>
            <p:cNvSpPr/>
            <p:nvPr/>
          </p:nvSpPr>
          <p:spPr bwMode="auto">
            <a:xfrm>
              <a:off x="1787" y="1129"/>
              <a:ext cx="173" cy="53"/>
            </a:xfrm>
            <a:custGeom>
              <a:avLst/>
              <a:gdLst>
                <a:gd name="T0" fmla="*/ 0 w 173"/>
                <a:gd name="T1" fmla="*/ 0 h 53"/>
                <a:gd name="T2" fmla="*/ 40 w 173"/>
                <a:gd name="T3" fmla="*/ 27 h 53"/>
                <a:gd name="T4" fmla="*/ 0 w 173"/>
                <a:gd name="T5" fmla="*/ 53 h 53"/>
                <a:gd name="T6" fmla="*/ 173 w 173"/>
                <a:gd name="T7" fmla="*/ 27 h 53"/>
                <a:gd name="T8" fmla="*/ 0 w 173"/>
                <a:gd name="T9" fmla="*/ 0 h 53"/>
                <a:gd name="T10" fmla="*/ 0 60000 65536"/>
                <a:gd name="T11" fmla="*/ 0 60000 65536"/>
                <a:gd name="T12" fmla="*/ 0 60000 65536"/>
                <a:gd name="T13" fmla="*/ 0 60000 65536"/>
                <a:gd name="T14" fmla="*/ 0 60000 65536"/>
                <a:gd name="T15" fmla="*/ 0 w 173"/>
                <a:gd name="T16" fmla="*/ 0 h 53"/>
                <a:gd name="T17" fmla="*/ 173 w 173"/>
                <a:gd name="T18" fmla="*/ 53 h 53"/>
              </a:gdLst>
              <a:ahLst/>
              <a:cxnLst>
                <a:cxn ang="T10">
                  <a:pos x="T0" y="T1"/>
                </a:cxn>
                <a:cxn ang="T11">
                  <a:pos x="T2" y="T3"/>
                </a:cxn>
                <a:cxn ang="T12">
                  <a:pos x="T4" y="T5"/>
                </a:cxn>
                <a:cxn ang="T13">
                  <a:pos x="T6" y="T7"/>
                </a:cxn>
                <a:cxn ang="T14">
                  <a:pos x="T8" y="T9"/>
                </a:cxn>
              </a:cxnLst>
              <a:rect l="T15" t="T16" r="T17" b="T18"/>
              <a:pathLst>
                <a:path w="173" h="53">
                  <a:moveTo>
                    <a:pt x="0" y="0"/>
                  </a:moveTo>
                  <a:lnTo>
                    <a:pt x="40" y="27"/>
                  </a:lnTo>
                  <a:lnTo>
                    <a:pt x="0" y="53"/>
                  </a:lnTo>
                  <a:lnTo>
                    <a:pt x="173" y="27"/>
                  </a:lnTo>
                  <a:lnTo>
                    <a:pt x="0" y="0"/>
                  </a:lnTo>
                  <a:close/>
                </a:path>
              </a:pathLst>
            </a:custGeom>
            <a:solidFill>
              <a:schemeClr val="tx1"/>
            </a:solidFill>
            <a:ln w="20701">
              <a:solidFill>
                <a:schemeClr val="tx1"/>
              </a:solidFill>
              <a:round/>
            </a:ln>
          </p:spPr>
          <p:txBody>
            <a:bodyPr/>
            <a:lstStyle/>
            <a:p>
              <a:endParaRPr lang="zh-CN" altLang="en-US"/>
            </a:p>
          </p:txBody>
        </p:sp>
        <p:sp>
          <p:nvSpPr>
            <p:cNvPr id="42149" name="Rectangle 164"/>
            <p:cNvSpPr>
              <a:spLocks noChangeArrowheads="1"/>
            </p:cNvSpPr>
            <p:nvPr/>
          </p:nvSpPr>
          <p:spPr bwMode="auto">
            <a:xfrm>
              <a:off x="942" y="1780"/>
              <a:ext cx="70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反馈信号</a:t>
              </a:r>
              <a:endParaRPr lang="zh-CN" altLang="zh-CN" sz="2800">
                <a:latin typeface="Times New Roman" panose="02020603050405020304" pitchFamily="18" charset="0"/>
              </a:endParaRPr>
            </a:p>
          </p:txBody>
        </p:sp>
        <p:sp>
          <p:nvSpPr>
            <p:cNvPr id="42150" name="Rectangle 165"/>
            <p:cNvSpPr>
              <a:spLocks noChangeArrowheads="1"/>
            </p:cNvSpPr>
            <p:nvPr/>
          </p:nvSpPr>
          <p:spPr bwMode="auto">
            <a:xfrm>
              <a:off x="4470" y="1205"/>
              <a:ext cx="200" cy="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输出信号</a:t>
              </a:r>
              <a:endParaRPr lang="zh-CN" altLang="zh-CN" sz="2800">
                <a:latin typeface="Times New Roman" panose="02020603050405020304" pitchFamily="18" charset="0"/>
              </a:endParaRPr>
            </a:p>
          </p:txBody>
        </p:sp>
        <p:sp>
          <p:nvSpPr>
            <p:cNvPr id="42151" name="Freeform 166"/>
            <p:cNvSpPr/>
            <p:nvPr/>
          </p:nvSpPr>
          <p:spPr bwMode="auto">
            <a:xfrm>
              <a:off x="4624" y="1129"/>
              <a:ext cx="159" cy="53"/>
            </a:xfrm>
            <a:custGeom>
              <a:avLst/>
              <a:gdLst>
                <a:gd name="T0" fmla="*/ 0 w 159"/>
                <a:gd name="T1" fmla="*/ 0 h 53"/>
                <a:gd name="T2" fmla="*/ 26 w 159"/>
                <a:gd name="T3" fmla="*/ 27 h 53"/>
                <a:gd name="T4" fmla="*/ 0 w 159"/>
                <a:gd name="T5" fmla="*/ 53 h 53"/>
                <a:gd name="T6" fmla="*/ 159 w 159"/>
                <a:gd name="T7" fmla="*/ 27 h 53"/>
                <a:gd name="T8" fmla="*/ 0 w 159"/>
                <a:gd name="T9" fmla="*/ 0 h 53"/>
                <a:gd name="T10" fmla="*/ 0 60000 65536"/>
                <a:gd name="T11" fmla="*/ 0 60000 65536"/>
                <a:gd name="T12" fmla="*/ 0 60000 65536"/>
                <a:gd name="T13" fmla="*/ 0 60000 65536"/>
                <a:gd name="T14" fmla="*/ 0 60000 65536"/>
                <a:gd name="T15" fmla="*/ 0 w 159"/>
                <a:gd name="T16" fmla="*/ 0 h 53"/>
                <a:gd name="T17" fmla="*/ 159 w 159"/>
                <a:gd name="T18" fmla="*/ 53 h 53"/>
              </a:gdLst>
              <a:ahLst/>
              <a:cxnLst>
                <a:cxn ang="T10">
                  <a:pos x="T0" y="T1"/>
                </a:cxn>
                <a:cxn ang="T11">
                  <a:pos x="T2" y="T3"/>
                </a:cxn>
                <a:cxn ang="T12">
                  <a:pos x="T4" y="T5"/>
                </a:cxn>
                <a:cxn ang="T13">
                  <a:pos x="T6" y="T7"/>
                </a:cxn>
                <a:cxn ang="T14">
                  <a:pos x="T8" y="T9"/>
                </a:cxn>
              </a:cxnLst>
              <a:rect l="T15" t="T16" r="T17" b="T18"/>
              <a:pathLst>
                <a:path w="159" h="53">
                  <a:moveTo>
                    <a:pt x="0" y="0"/>
                  </a:moveTo>
                  <a:lnTo>
                    <a:pt x="26" y="27"/>
                  </a:lnTo>
                  <a:lnTo>
                    <a:pt x="0" y="53"/>
                  </a:lnTo>
                  <a:lnTo>
                    <a:pt x="159" y="27"/>
                  </a:lnTo>
                  <a:lnTo>
                    <a:pt x="0" y="0"/>
                  </a:lnTo>
                  <a:close/>
                </a:path>
              </a:pathLst>
            </a:custGeom>
            <a:solidFill>
              <a:schemeClr val="tx1"/>
            </a:solidFill>
            <a:ln w="20701">
              <a:solidFill>
                <a:schemeClr val="tx1"/>
              </a:solidFill>
              <a:round/>
            </a:ln>
          </p:spPr>
          <p:txBody>
            <a:bodyPr/>
            <a:lstStyle/>
            <a:p>
              <a:endParaRPr lang="zh-CN" altLang="en-US"/>
            </a:p>
          </p:txBody>
        </p:sp>
        <p:sp>
          <p:nvSpPr>
            <p:cNvPr id="42152" name="Rectangle 167"/>
            <p:cNvSpPr>
              <a:spLocks noChangeArrowheads="1"/>
            </p:cNvSpPr>
            <p:nvPr/>
          </p:nvSpPr>
          <p:spPr bwMode="auto">
            <a:xfrm>
              <a:off x="371" y="943"/>
              <a:ext cx="17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2153" name="Rectangle 168"/>
            <p:cNvSpPr>
              <a:spLocks noChangeArrowheads="1"/>
            </p:cNvSpPr>
            <p:nvPr/>
          </p:nvSpPr>
          <p:spPr bwMode="auto">
            <a:xfrm>
              <a:off x="348" y="1311"/>
              <a:ext cx="272" cy="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输入信号</a:t>
              </a:r>
              <a:endParaRPr lang="zh-CN" altLang="zh-CN" sz="2800">
                <a:latin typeface="Times New Roman" panose="02020603050405020304" pitchFamily="18" charset="0"/>
              </a:endParaRPr>
            </a:p>
          </p:txBody>
        </p:sp>
        <p:sp>
          <p:nvSpPr>
            <p:cNvPr id="42154" name="Freeform 169"/>
            <p:cNvSpPr/>
            <p:nvPr/>
          </p:nvSpPr>
          <p:spPr bwMode="auto">
            <a:xfrm>
              <a:off x="2623" y="213"/>
              <a:ext cx="160" cy="66"/>
            </a:xfrm>
            <a:custGeom>
              <a:avLst/>
              <a:gdLst>
                <a:gd name="T0" fmla="*/ 0 w 160"/>
                <a:gd name="T1" fmla="*/ 0 h 66"/>
                <a:gd name="T2" fmla="*/ 27 w 160"/>
                <a:gd name="T3" fmla="*/ 26 h 66"/>
                <a:gd name="T4" fmla="*/ 0 w 160"/>
                <a:gd name="T5" fmla="*/ 66 h 66"/>
                <a:gd name="T6" fmla="*/ 160 w 160"/>
                <a:gd name="T7" fmla="*/ 26 h 66"/>
                <a:gd name="T8" fmla="*/ 0 w 160"/>
                <a:gd name="T9" fmla="*/ 0 h 66"/>
                <a:gd name="T10" fmla="*/ 0 60000 65536"/>
                <a:gd name="T11" fmla="*/ 0 60000 65536"/>
                <a:gd name="T12" fmla="*/ 0 60000 65536"/>
                <a:gd name="T13" fmla="*/ 0 60000 65536"/>
                <a:gd name="T14" fmla="*/ 0 60000 65536"/>
                <a:gd name="T15" fmla="*/ 0 w 160"/>
                <a:gd name="T16" fmla="*/ 0 h 66"/>
                <a:gd name="T17" fmla="*/ 160 w 160"/>
                <a:gd name="T18" fmla="*/ 66 h 66"/>
              </a:gdLst>
              <a:ahLst/>
              <a:cxnLst>
                <a:cxn ang="T10">
                  <a:pos x="T0" y="T1"/>
                </a:cxn>
                <a:cxn ang="T11">
                  <a:pos x="T2" y="T3"/>
                </a:cxn>
                <a:cxn ang="T12">
                  <a:pos x="T4" y="T5"/>
                </a:cxn>
                <a:cxn ang="T13">
                  <a:pos x="T6" y="T7"/>
                </a:cxn>
                <a:cxn ang="T14">
                  <a:pos x="T8" y="T9"/>
                </a:cxn>
              </a:cxnLst>
              <a:rect l="T15" t="T16" r="T17" b="T18"/>
              <a:pathLst>
                <a:path w="160" h="66">
                  <a:moveTo>
                    <a:pt x="0" y="0"/>
                  </a:moveTo>
                  <a:lnTo>
                    <a:pt x="27" y="26"/>
                  </a:lnTo>
                  <a:lnTo>
                    <a:pt x="0" y="66"/>
                  </a:lnTo>
                  <a:lnTo>
                    <a:pt x="160" y="26"/>
                  </a:lnTo>
                  <a:lnTo>
                    <a:pt x="0" y="0"/>
                  </a:lnTo>
                  <a:close/>
                </a:path>
              </a:pathLst>
            </a:custGeom>
            <a:solidFill>
              <a:srgbClr val="000000"/>
            </a:solidFill>
            <a:ln w="20638">
              <a:solidFill>
                <a:srgbClr val="000000"/>
              </a:solidFill>
              <a:round/>
            </a:ln>
          </p:spPr>
          <p:txBody>
            <a:bodyPr/>
            <a:lstStyle/>
            <a:p>
              <a:endParaRPr lang="zh-CN" altLang="en-US"/>
            </a:p>
          </p:txBody>
        </p:sp>
        <p:sp>
          <p:nvSpPr>
            <p:cNvPr id="42155" name="Line 170"/>
            <p:cNvSpPr>
              <a:spLocks noChangeShapeType="1"/>
            </p:cNvSpPr>
            <p:nvPr/>
          </p:nvSpPr>
          <p:spPr bwMode="auto">
            <a:xfrm>
              <a:off x="2199" y="239"/>
              <a:ext cx="504" cy="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6" name="Rectangle 171"/>
            <p:cNvSpPr>
              <a:spLocks noChangeArrowheads="1"/>
            </p:cNvSpPr>
            <p:nvPr/>
          </p:nvSpPr>
          <p:spPr bwMode="auto">
            <a:xfrm>
              <a:off x="2333" y="0"/>
              <a:ext cx="1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2157" name="Rectangle 172"/>
            <p:cNvSpPr>
              <a:spLocks noChangeArrowheads="1"/>
            </p:cNvSpPr>
            <p:nvPr/>
          </p:nvSpPr>
          <p:spPr bwMode="auto">
            <a:xfrm>
              <a:off x="2486" y="80"/>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2158" name="Rectangle 173"/>
            <p:cNvSpPr>
              <a:spLocks noChangeArrowheads="1"/>
            </p:cNvSpPr>
            <p:nvPr/>
          </p:nvSpPr>
          <p:spPr bwMode="auto">
            <a:xfrm>
              <a:off x="3006" y="53"/>
              <a:ext cx="88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宋体" panose="02010600030101010101" pitchFamily="2" charset="-122"/>
                </a:rPr>
                <a:t>反馈放大器</a:t>
              </a:r>
              <a:endParaRPr lang="zh-CN" altLang="zh-CN" sz="2800">
                <a:latin typeface="Times New Roman" panose="02020603050405020304" pitchFamily="18" charset="0"/>
              </a:endParaRPr>
            </a:p>
          </p:txBody>
        </p:sp>
        <p:sp>
          <p:nvSpPr>
            <p:cNvPr id="42159" name="Rectangle 174"/>
            <p:cNvSpPr>
              <a:spLocks noChangeArrowheads="1"/>
            </p:cNvSpPr>
            <p:nvPr/>
          </p:nvSpPr>
          <p:spPr bwMode="auto">
            <a:xfrm>
              <a:off x="0" y="876"/>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2160" name="Rectangle 175"/>
            <p:cNvSpPr>
              <a:spLocks noChangeArrowheads="1"/>
            </p:cNvSpPr>
            <p:nvPr/>
          </p:nvSpPr>
          <p:spPr bwMode="auto">
            <a:xfrm>
              <a:off x="108" y="955"/>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2161" name="Rectangle 176"/>
            <p:cNvSpPr>
              <a:spLocks noChangeArrowheads="1"/>
            </p:cNvSpPr>
            <p:nvPr/>
          </p:nvSpPr>
          <p:spPr bwMode="auto">
            <a:xfrm>
              <a:off x="70" y="730"/>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62" name="Rectangle 177"/>
            <p:cNvSpPr>
              <a:spLocks noChangeArrowheads="1"/>
            </p:cNvSpPr>
            <p:nvPr/>
          </p:nvSpPr>
          <p:spPr bwMode="auto">
            <a:xfrm>
              <a:off x="4452" y="849"/>
              <a:ext cx="11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2163" name="Rectangle 178"/>
            <p:cNvSpPr>
              <a:spLocks noChangeArrowheads="1"/>
            </p:cNvSpPr>
            <p:nvPr/>
          </p:nvSpPr>
          <p:spPr bwMode="auto">
            <a:xfrm>
              <a:off x="4560" y="928"/>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2164" name="Rectangle 179"/>
            <p:cNvSpPr>
              <a:spLocks noChangeArrowheads="1"/>
            </p:cNvSpPr>
            <p:nvPr/>
          </p:nvSpPr>
          <p:spPr bwMode="auto">
            <a:xfrm>
              <a:off x="4522" y="716"/>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65" name="Line 180"/>
            <p:cNvSpPr>
              <a:spLocks noChangeShapeType="1"/>
            </p:cNvSpPr>
            <p:nvPr/>
          </p:nvSpPr>
          <p:spPr bwMode="auto">
            <a:xfrm flipH="1">
              <a:off x="3274" y="266"/>
              <a:ext cx="79" cy="146"/>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6" name="Rectangle 181"/>
            <p:cNvSpPr>
              <a:spLocks noChangeArrowheads="1"/>
            </p:cNvSpPr>
            <p:nvPr/>
          </p:nvSpPr>
          <p:spPr bwMode="auto">
            <a:xfrm>
              <a:off x="2619" y="1081"/>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2167" name="Rectangle 182"/>
            <p:cNvSpPr>
              <a:spLocks noChangeArrowheads="1"/>
            </p:cNvSpPr>
            <p:nvPr/>
          </p:nvSpPr>
          <p:spPr bwMode="auto">
            <a:xfrm>
              <a:off x="2619" y="1939"/>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2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B47786B-DDBD-4FBF-88A2-9EF45845876F}" type="slidenum">
              <a:rPr lang="zh-CN" altLang="zh-CN" sz="1400" smtClean="0"/>
            </a:fld>
            <a:endParaRPr lang="zh-CN" altLang="zh-CN" sz="1400" smtClean="0"/>
          </a:p>
        </p:txBody>
      </p:sp>
      <p:sp>
        <p:nvSpPr>
          <p:cNvPr id="43011" name="Rectangle 2"/>
          <p:cNvSpPr>
            <a:spLocks noChangeArrowheads="1"/>
          </p:cNvSpPr>
          <p:nvPr/>
        </p:nvSpPr>
        <p:spPr bwMode="auto">
          <a:xfrm>
            <a:off x="1360488" y="1258888"/>
            <a:ext cx="4591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开环放大倍数相对稳定度为</a:t>
            </a:r>
            <a:endParaRPr lang="zh-CN" altLang="zh-CN" sz="2800" dirty="0">
              <a:latin typeface="Times New Roman" panose="02020603050405020304" pitchFamily="18" charset="0"/>
            </a:endParaRPr>
          </a:p>
        </p:txBody>
      </p:sp>
      <p:sp>
        <p:nvSpPr>
          <p:cNvPr id="43012" name="Rectangle 3"/>
          <p:cNvSpPr>
            <a:spLocks noChangeArrowheads="1"/>
          </p:cNvSpPr>
          <p:nvPr/>
        </p:nvSpPr>
        <p:spPr bwMode="auto">
          <a:xfrm>
            <a:off x="1360488" y="2184400"/>
            <a:ext cx="44751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闭环放大倍数相对稳定度为</a:t>
            </a:r>
            <a:endParaRPr lang="zh-CN" altLang="zh-CN" sz="2800" dirty="0">
              <a:latin typeface="Times New Roman" panose="02020603050405020304" pitchFamily="18" charset="0"/>
            </a:endParaRPr>
          </a:p>
        </p:txBody>
      </p:sp>
      <p:sp>
        <p:nvSpPr>
          <p:cNvPr id="43013" name="Rectangle 4"/>
          <p:cNvSpPr>
            <a:spLocks noChangeArrowheads="1"/>
          </p:cNvSpPr>
          <p:nvPr/>
        </p:nvSpPr>
        <p:spPr bwMode="auto">
          <a:xfrm>
            <a:off x="0" y="4827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43014" name="Object 5"/>
          <p:cNvGraphicFramePr>
            <a:graphicFrameLocks noChangeAspect="1"/>
          </p:cNvGraphicFramePr>
          <p:nvPr/>
        </p:nvGraphicFramePr>
        <p:xfrm>
          <a:off x="6021388" y="1127125"/>
          <a:ext cx="584200" cy="904875"/>
        </p:xfrm>
        <a:graphic>
          <a:graphicData uri="http://schemas.openxmlformats.org/presentationml/2006/ole">
            <mc:AlternateContent xmlns:mc="http://schemas.openxmlformats.org/markup-compatibility/2006">
              <mc:Choice xmlns:v="urn:schemas-microsoft-com:vml" Requires="v">
                <p:oleObj spid="_x0000_s43144" name="" r:id="rId1" imgW="254635" imgH="394335" progId="Equation.3">
                  <p:embed/>
                </p:oleObj>
              </mc:Choice>
              <mc:Fallback>
                <p:oleObj name="" r:id="rId1" imgW="254635" imgH="39433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388" y="1127125"/>
                        <a:ext cx="584200"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5" name="Object 6"/>
          <p:cNvGraphicFramePr>
            <a:graphicFrameLocks noChangeAspect="1"/>
          </p:cNvGraphicFramePr>
          <p:nvPr/>
        </p:nvGraphicFramePr>
        <p:xfrm>
          <a:off x="5975350" y="2133600"/>
          <a:ext cx="774700" cy="1073150"/>
        </p:xfrm>
        <a:graphic>
          <a:graphicData uri="http://schemas.openxmlformats.org/presentationml/2006/ole">
            <mc:AlternateContent xmlns:mc="http://schemas.openxmlformats.org/markup-compatibility/2006">
              <mc:Choice xmlns:v="urn:schemas-microsoft-com:vml" Requires="v">
                <p:oleObj spid="_x0000_s43145" name="" r:id="rId3" imgW="330835" imgH="458470" progId="Equation.3">
                  <p:embed/>
                </p:oleObj>
              </mc:Choice>
              <mc:Fallback>
                <p:oleObj name="" r:id="rId3" imgW="330835" imgH="45847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5350" y="2133600"/>
                        <a:ext cx="774700"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7"/>
          <p:cNvGraphicFramePr>
            <a:graphicFrameLocks noChangeAspect="1"/>
          </p:cNvGraphicFramePr>
          <p:nvPr/>
        </p:nvGraphicFramePr>
        <p:xfrm>
          <a:off x="725488" y="3132138"/>
          <a:ext cx="7756525" cy="1895475"/>
        </p:xfrm>
        <a:graphic>
          <a:graphicData uri="http://schemas.openxmlformats.org/presentationml/2006/ole">
            <mc:AlternateContent xmlns:mc="http://schemas.openxmlformats.org/markup-compatibility/2006">
              <mc:Choice xmlns:v="urn:schemas-microsoft-com:vml" Requires="v">
                <p:oleObj spid="_x0000_s43146" name="" r:id="rId5" imgW="3429000" imgH="838200" progId="Equation.3">
                  <p:embed/>
                </p:oleObj>
              </mc:Choice>
              <mc:Fallback>
                <p:oleObj name="" r:id="rId5" imgW="3429000" imgH="838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488" y="3132138"/>
                        <a:ext cx="7756525" cy="189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6" name="Rectangle 8"/>
          <p:cNvSpPr>
            <a:spLocks noChangeArrowheads="1"/>
          </p:cNvSpPr>
          <p:nvPr/>
        </p:nvSpPr>
        <p:spPr bwMode="auto">
          <a:xfrm>
            <a:off x="722313" y="5407025"/>
            <a:ext cx="55816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a:latin typeface="Times New Roman" panose="02020603050405020304" pitchFamily="18" charset="0"/>
              </a:rPr>
              <a:t>若近似以增量代替微分，则：</a:t>
            </a:r>
            <a:endParaRPr lang="zh-CN" altLang="zh-CN" sz="2800">
              <a:latin typeface="Times New Roman" panose="02020603050405020304" pitchFamily="18" charset="0"/>
            </a:endParaRPr>
          </a:p>
        </p:txBody>
      </p:sp>
      <p:graphicFrame>
        <p:nvGraphicFramePr>
          <p:cNvPr id="43017" name="Object 9"/>
          <p:cNvGraphicFramePr>
            <a:graphicFrameLocks noChangeAspect="1"/>
          </p:cNvGraphicFramePr>
          <p:nvPr/>
        </p:nvGraphicFramePr>
        <p:xfrm>
          <a:off x="5365750" y="5224463"/>
          <a:ext cx="2557463" cy="1063625"/>
        </p:xfrm>
        <a:graphic>
          <a:graphicData uri="http://schemas.openxmlformats.org/presentationml/2006/ole">
            <mc:AlternateContent xmlns:mc="http://schemas.openxmlformats.org/markup-compatibility/2006">
              <mc:Choice xmlns:v="urn:schemas-microsoft-com:vml" Requires="v">
                <p:oleObj spid="_x0000_s43147" name="" r:id="rId7" imgW="1828800" imgH="736600" progId="Equation.3">
                  <p:embed/>
                </p:oleObj>
              </mc:Choice>
              <mc:Fallback>
                <p:oleObj name="" r:id="rId7" imgW="1828800" imgH="736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5750" y="5224463"/>
                        <a:ext cx="2557463"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9" name="Rectangle 10"/>
          <p:cNvSpPr>
            <a:spLocks noChangeArrowheads="1"/>
          </p:cNvSpPr>
          <p:nvPr/>
        </p:nvSpPr>
        <p:spPr bwMode="auto">
          <a:xfrm>
            <a:off x="431800" y="153988"/>
            <a:ext cx="7678738"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indent="6731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ClrTx/>
              <a:buSzTx/>
              <a:buFont typeface="Arial" panose="020B0604020202020204" pitchFamily="34" charset="0"/>
              <a:buNone/>
            </a:pPr>
            <a:r>
              <a:rPr lang="zh-CN" altLang="zh-CN" sz="2800">
                <a:latin typeface="Times New Roman" panose="02020603050405020304" pitchFamily="18" charset="0"/>
              </a:rPr>
              <a:t>通常用放大倍数的</a:t>
            </a:r>
            <a:r>
              <a:rPr lang="zh-CN" altLang="zh-CN" sz="2800">
                <a:solidFill>
                  <a:srgbClr val="FF0000"/>
                </a:solidFill>
                <a:latin typeface="Times New Roman" panose="02020603050405020304" pitchFamily="18" charset="0"/>
              </a:rPr>
              <a:t>相对变化量</a:t>
            </a:r>
            <a:r>
              <a:rPr lang="zh-CN" altLang="zh-CN" sz="2800">
                <a:latin typeface="Times New Roman" panose="02020603050405020304" pitchFamily="18" charset="0"/>
              </a:rPr>
              <a:t>来衡量放大器的稳定性。</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D928B85-5B73-493C-ABB3-7FA5150F2DFB}" type="slidenum">
              <a:rPr lang="zh-CN" altLang="zh-CN" sz="1400" smtClean="0"/>
            </a:fld>
            <a:endParaRPr lang="zh-CN" altLang="zh-CN" sz="1400" smtClean="0"/>
          </a:p>
        </p:txBody>
      </p:sp>
      <p:sp>
        <p:nvSpPr>
          <p:cNvPr id="44035" name="Rectangle 2"/>
          <p:cNvSpPr>
            <a:spLocks noGrp="1" noRot="1" noChangeArrowheads="1"/>
          </p:cNvSpPr>
          <p:nvPr>
            <p:ph type="title"/>
          </p:nvPr>
        </p:nvSpPr>
        <p:spPr>
          <a:xfrm>
            <a:off x="331788" y="369888"/>
            <a:ext cx="8540750" cy="1143000"/>
          </a:xfrm>
        </p:spPr>
        <p:txBody>
          <a:bodyPr/>
          <a:lstStyle/>
          <a:p>
            <a:pPr eaLnBrk="1" hangingPunct="1"/>
            <a:r>
              <a:rPr lang="zh-CN" altLang="zh-CN" b="1" smtClean="0">
                <a:solidFill>
                  <a:schemeClr val="tx1"/>
                </a:solidFill>
              </a:rPr>
              <a:t>结论</a:t>
            </a:r>
            <a:endParaRPr lang="zh-CN" altLang="zh-CN" b="1" smtClean="0">
              <a:solidFill>
                <a:schemeClr val="tx1"/>
              </a:solidFill>
            </a:endParaRPr>
          </a:p>
        </p:txBody>
      </p:sp>
      <p:sp>
        <p:nvSpPr>
          <p:cNvPr id="44036" name="Rectangle 3"/>
          <p:cNvSpPr>
            <a:spLocks noGrp="1" noRot="1" noChangeArrowheads="1"/>
          </p:cNvSpPr>
          <p:nvPr>
            <p:ph type="body" idx="1"/>
          </p:nvPr>
        </p:nvSpPr>
        <p:spPr>
          <a:xfrm>
            <a:off x="333375" y="1500188"/>
            <a:ext cx="8540750" cy="2897187"/>
          </a:xfrm>
        </p:spPr>
        <p:txBody>
          <a:bodyPr/>
          <a:lstStyle/>
          <a:p>
            <a:pPr eaLnBrk="1" hangingPunct="1">
              <a:lnSpc>
                <a:spcPct val="120000"/>
              </a:lnSpc>
              <a:buFont typeface="Wingdings" panose="05000000000000000000" pitchFamily="2" charset="2"/>
              <a:buNone/>
            </a:pPr>
            <a:r>
              <a:rPr lang="zh-CN" altLang="zh-CN" sz="2800" b="1" dirty="0" smtClean="0">
                <a:latin typeface="Times New Roman" panose="02020603050405020304" pitchFamily="18" charset="0"/>
              </a:rPr>
              <a:t>		引入负反馈使放大倍数的相对变化量减小为原相对变化量的1/(1+</a:t>
            </a:r>
            <a:r>
              <a:rPr lang="zh-CN" altLang="zh-CN" sz="2800" b="1" i="1" dirty="0" smtClean="0">
                <a:latin typeface="Times New Roman" panose="02020603050405020304" pitchFamily="18" charset="0"/>
              </a:rPr>
              <a:t>AF</a:t>
            </a:r>
            <a:r>
              <a:rPr lang="zh-CN" altLang="zh-CN" sz="2800" b="1" dirty="0" smtClean="0">
                <a:latin typeface="Times New Roman" panose="02020603050405020304" pitchFamily="18" charset="0"/>
              </a:rPr>
              <a:t>)，即反馈越深，放大倍数的增益稳定性越好。</a:t>
            </a:r>
            <a:endParaRPr lang="zh-CN" altLang="zh-CN" sz="2800" b="1" dirty="0" smtClean="0">
              <a:latin typeface="Times New Roman" panose="02020603050405020304" pitchFamily="18" charset="0"/>
            </a:endParaRPr>
          </a:p>
          <a:p>
            <a:pPr eaLnBrk="1" hangingPunct="1">
              <a:lnSpc>
                <a:spcPct val="120000"/>
              </a:lnSpc>
              <a:buFont typeface="Wingdings" panose="05000000000000000000" pitchFamily="2" charset="2"/>
              <a:buNone/>
            </a:pPr>
            <a:r>
              <a:rPr lang="zh-CN" altLang="zh-CN" sz="2800" b="1" dirty="0" smtClean="0">
                <a:latin typeface="Times New Roman" panose="02020603050405020304" pitchFamily="18" charset="0"/>
              </a:rPr>
              <a:t>		在深度负反馈时，</a:t>
            </a:r>
            <a:r>
              <a:rPr lang="zh-CN" altLang="zh-CN" sz="2800" b="1" i="1" dirty="0" smtClean="0">
                <a:latin typeface="Times New Roman" panose="02020603050405020304" pitchFamily="18" charset="0"/>
              </a:rPr>
              <a:t>A</a:t>
            </a:r>
            <a:r>
              <a:rPr lang="zh-CN" altLang="zh-CN" sz="2800" b="1" i="1" baseline="-25000" dirty="0" smtClean="0">
                <a:latin typeface="Times New Roman" panose="02020603050405020304" pitchFamily="18" charset="0"/>
              </a:rPr>
              <a:t>f</a:t>
            </a:r>
            <a:r>
              <a:rPr lang="zh-CN" altLang="zh-CN" sz="2800" b="1" dirty="0" smtClean="0">
                <a:latin typeface="Times New Roman" panose="02020603050405020304" pitchFamily="18" charset="0"/>
              </a:rPr>
              <a:t>=1/</a:t>
            </a:r>
            <a:r>
              <a:rPr lang="zh-CN" altLang="zh-CN" sz="2800" b="1" i="1" dirty="0" smtClean="0">
                <a:latin typeface="Times New Roman" panose="02020603050405020304" pitchFamily="18" charset="0"/>
              </a:rPr>
              <a:t>F</a:t>
            </a:r>
            <a:r>
              <a:rPr lang="zh-CN" altLang="zh-CN" sz="2800" b="1" dirty="0" smtClean="0">
                <a:latin typeface="Times New Roman" panose="02020603050405020304" pitchFamily="18" charset="0"/>
              </a:rPr>
              <a:t>，因此，只要</a:t>
            </a:r>
            <a:r>
              <a:rPr lang="zh-CN" altLang="zh-CN" sz="2800" b="1" i="1" dirty="0" smtClean="0">
                <a:latin typeface="Times New Roman" panose="02020603050405020304" pitchFamily="18" charset="0"/>
              </a:rPr>
              <a:t>F</a:t>
            </a:r>
            <a:r>
              <a:rPr lang="zh-CN" altLang="zh-CN" sz="2800" b="1" dirty="0" smtClean="0">
                <a:latin typeface="Times New Roman" panose="02020603050405020304" pitchFamily="18" charset="0"/>
              </a:rPr>
              <a:t>稳定，</a:t>
            </a:r>
            <a:r>
              <a:rPr lang="zh-CN" altLang="zh-CN" sz="2800" b="1" i="1" dirty="0" smtClean="0">
                <a:latin typeface="Times New Roman" panose="02020603050405020304" pitchFamily="18" charset="0"/>
              </a:rPr>
              <a:t>A</a:t>
            </a:r>
            <a:r>
              <a:rPr lang="zh-CN" altLang="zh-CN" sz="2800" b="1" i="1" baseline="-25000" dirty="0" smtClean="0">
                <a:latin typeface="Times New Roman" panose="02020603050405020304" pitchFamily="18" charset="0"/>
              </a:rPr>
              <a:t>f</a:t>
            </a:r>
            <a:r>
              <a:rPr lang="zh-CN" altLang="zh-CN" sz="2800" b="1" dirty="0" smtClean="0">
                <a:latin typeface="Times New Roman" panose="02020603050405020304" pitchFamily="18" charset="0"/>
              </a:rPr>
              <a:t>也将稳定。</a:t>
            </a:r>
            <a:endParaRPr lang="zh-CN" altLang="zh-CN" sz="2800" b="1" dirty="0" smtClean="0">
              <a:latin typeface="Times New Roman" panose="02020603050405020304" pitchFamily="18" charset="0"/>
            </a:endParaRPr>
          </a:p>
        </p:txBody>
      </p:sp>
      <p:sp>
        <p:nvSpPr>
          <p:cNvPr id="44037" name="Rectangle 4"/>
          <p:cNvSpPr>
            <a:spLocks noChangeArrowheads="1"/>
          </p:cNvSpPr>
          <p:nvPr/>
        </p:nvSpPr>
        <p:spPr bwMode="auto">
          <a:xfrm>
            <a:off x="836613" y="4262438"/>
            <a:ext cx="7566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 typeface="Wingdings" panose="05000000000000000000" pitchFamily="2" charset="2"/>
              <a:buNone/>
            </a:pPr>
            <a:r>
              <a:rPr lang="zh-CN" altLang="zh-CN" sz="2800" dirty="0">
                <a:solidFill>
                  <a:srgbClr val="CC0099"/>
                </a:solidFill>
                <a:latin typeface="Times New Roman" panose="02020603050405020304" pitchFamily="18" charset="0"/>
              </a:rPr>
              <a:t>        注意</a:t>
            </a:r>
            <a:r>
              <a:rPr lang="zh-CN" altLang="zh-CN" sz="2800" dirty="0">
                <a:latin typeface="Times New Roman" panose="02020603050405020304" pitchFamily="18" charset="0"/>
              </a:rPr>
              <a:t>：负反馈被稳定的对象与反馈信号的取样对象有关。</a:t>
            </a:r>
            <a:r>
              <a:rPr lang="zh-CN" altLang="zh-CN" sz="2800" dirty="0">
                <a:solidFill>
                  <a:srgbClr val="FF0000"/>
                </a:solidFill>
                <a:latin typeface="Times New Roman" panose="02020603050405020304" pitchFamily="18" charset="0"/>
              </a:rPr>
              <a:t>如果取样对象是输出电压，则输出电压将被稳定</a:t>
            </a:r>
            <a:r>
              <a:rPr lang="zh-CN" altLang="zh-CN" sz="2800" dirty="0">
                <a:latin typeface="Times New Roman" panose="02020603050405020304" pitchFamily="18" charset="0"/>
              </a:rPr>
              <a:t>；</a:t>
            </a:r>
            <a:r>
              <a:rPr lang="zh-CN" altLang="zh-CN" sz="2800" dirty="0">
                <a:solidFill>
                  <a:srgbClr val="FF0000"/>
                </a:solidFill>
                <a:latin typeface="Times New Roman" panose="02020603050405020304" pitchFamily="18" charset="0"/>
              </a:rPr>
              <a:t>如果取样对象是输出电流，则输出电流将被稳定。  </a:t>
            </a:r>
            <a:endParaRPr lang="zh-CN" altLang="zh-CN" sz="2800"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09AD6A3-2743-4FE9-80AB-A0FF19766244}" type="slidenum">
              <a:rPr lang="zh-CN" altLang="zh-CN" sz="1400" smtClean="0"/>
            </a:fld>
            <a:endParaRPr lang="zh-CN" altLang="zh-CN" sz="1400" smtClean="0"/>
          </a:p>
        </p:txBody>
      </p:sp>
      <p:sp>
        <p:nvSpPr>
          <p:cNvPr id="45059" name="Rectangle 2"/>
          <p:cNvSpPr>
            <a:spLocks noChangeArrowheads="1"/>
          </p:cNvSpPr>
          <p:nvPr/>
        </p:nvSpPr>
        <p:spPr bwMode="auto">
          <a:xfrm>
            <a:off x="681038" y="566738"/>
            <a:ext cx="72517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 typeface="Arial" panose="020B0604020202020204" pitchFamily="34" charset="0"/>
              <a:buNone/>
            </a:pPr>
            <a:r>
              <a:rPr lang="zh-CN" altLang="zh-CN">
                <a:latin typeface="Times New Roman" panose="02020603050405020304" pitchFamily="18" charset="0"/>
              </a:rPr>
              <a:t>6.2.2 展宽通频带</a:t>
            </a:r>
            <a:endParaRPr lang="zh-CN" altLang="zh-CN">
              <a:latin typeface="Times New Roman" panose="02020603050405020304" pitchFamily="18" charset="0"/>
            </a:endParaRPr>
          </a:p>
        </p:txBody>
      </p:sp>
      <p:graphicFrame>
        <p:nvGraphicFramePr>
          <p:cNvPr id="45060" name="Object 3"/>
          <p:cNvGraphicFramePr>
            <a:graphicFrameLocks noChangeAspect="1"/>
          </p:cNvGraphicFramePr>
          <p:nvPr/>
        </p:nvGraphicFramePr>
        <p:xfrm>
          <a:off x="1190625" y="1571625"/>
          <a:ext cx="3006725" cy="1673225"/>
        </p:xfrm>
        <a:graphic>
          <a:graphicData uri="http://schemas.openxmlformats.org/presentationml/2006/ole">
            <mc:AlternateContent xmlns:mc="http://schemas.openxmlformats.org/markup-compatibility/2006">
              <mc:Choice xmlns:v="urn:schemas-microsoft-com:vml" Requires="v">
                <p:oleObj spid="_x0000_s45158" name="" r:id="rId1" imgW="1118870" imgH="622935" progId="Equation.3">
                  <p:embed/>
                </p:oleObj>
              </mc:Choice>
              <mc:Fallback>
                <p:oleObj name="" r:id="rId1" imgW="1118870" imgH="62293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1571625"/>
                        <a:ext cx="3006725" cy="167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1" name="Object 4"/>
          <p:cNvGraphicFramePr>
            <a:graphicFrameLocks noChangeAspect="1"/>
          </p:cNvGraphicFramePr>
          <p:nvPr/>
        </p:nvGraphicFramePr>
        <p:xfrm>
          <a:off x="1633538" y="4337050"/>
          <a:ext cx="6042025" cy="2116138"/>
        </p:xfrm>
        <a:graphic>
          <a:graphicData uri="http://schemas.openxmlformats.org/presentationml/2006/ole">
            <mc:AlternateContent xmlns:mc="http://schemas.openxmlformats.org/markup-compatibility/2006">
              <mc:Choice xmlns:v="urn:schemas-microsoft-com:vml" Requires="v">
                <p:oleObj spid="_x0000_s45159" name="" r:id="rId3" imgW="2424430" imgH="850265" progId="Equation.3">
                  <p:embed/>
                </p:oleObj>
              </mc:Choice>
              <mc:Fallback>
                <p:oleObj name="" r:id="rId3" imgW="2424430" imgH="85026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8" y="4337050"/>
                        <a:ext cx="6042025" cy="211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2" name="Object 5"/>
          <p:cNvGraphicFramePr>
            <a:graphicFrameLocks noChangeAspect="1"/>
          </p:cNvGraphicFramePr>
          <p:nvPr/>
        </p:nvGraphicFramePr>
        <p:xfrm>
          <a:off x="4872038" y="3263900"/>
          <a:ext cx="3033712" cy="990600"/>
        </p:xfrm>
        <a:graphic>
          <a:graphicData uri="http://schemas.openxmlformats.org/presentationml/2006/ole">
            <mc:AlternateContent xmlns:mc="http://schemas.openxmlformats.org/markup-compatibility/2006">
              <mc:Choice xmlns:v="urn:schemas-microsoft-com:vml" Requires="v">
                <p:oleObj spid="_x0000_s45160" name="" r:id="rId5" imgW="1284605" imgH="419735" progId="Equation.3">
                  <p:embed/>
                </p:oleObj>
              </mc:Choice>
              <mc:Fallback>
                <p:oleObj name="" r:id="rId5" imgW="1284605" imgH="41973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2038" y="3263900"/>
                        <a:ext cx="3033712"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3" name="Text Box 6"/>
          <p:cNvSpPr txBox="1">
            <a:spLocks noChangeArrowheads="1"/>
          </p:cNvSpPr>
          <p:nvPr/>
        </p:nvSpPr>
        <p:spPr bwMode="auto">
          <a:xfrm>
            <a:off x="731838" y="3328988"/>
            <a:ext cx="45593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引入负反馈后，闭环增益： </a:t>
            </a:r>
            <a:endParaRPr lang="zh-CN" altLang="zh-CN" sz="2800" dirty="0">
              <a:latin typeface="Times New Roman" panose="02020603050405020304" pitchFamily="18" charset="0"/>
            </a:endParaRPr>
          </a:p>
        </p:txBody>
      </p:sp>
      <p:sp>
        <p:nvSpPr>
          <p:cNvPr id="45064" name="Text Box 7"/>
          <p:cNvSpPr txBox="1">
            <a:spLocks noChangeArrowheads="1"/>
          </p:cNvSpPr>
          <p:nvPr/>
        </p:nvSpPr>
        <p:spPr bwMode="auto">
          <a:xfrm>
            <a:off x="595313" y="4967288"/>
            <a:ext cx="1250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因此：</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3B240AB-4A93-4316-BB82-0C726477AB23}" type="slidenum">
              <a:rPr lang="zh-CN" altLang="zh-CN" sz="1400" smtClean="0"/>
            </a:fld>
            <a:endParaRPr lang="zh-CN" altLang="zh-CN" sz="1400" smtClean="0"/>
          </a:p>
        </p:txBody>
      </p:sp>
      <p:graphicFrame>
        <p:nvGraphicFramePr>
          <p:cNvPr id="46083" name="Object 2"/>
          <p:cNvGraphicFramePr>
            <a:graphicFrameLocks noChangeAspect="1"/>
          </p:cNvGraphicFramePr>
          <p:nvPr/>
        </p:nvGraphicFramePr>
        <p:xfrm>
          <a:off x="2538413" y="2409825"/>
          <a:ext cx="2238375" cy="1103313"/>
        </p:xfrm>
        <a:graphic>
          <a:graphicData uri="http://schemas.openxmlformats.org/presentationml/2006/ole">
            <mc:AlternateContent xmlns:mc="http://schemas.openxmlformats.org/markup-compatibility/2006">
              <mc:Choice xmlns:v="urn:schemas-microsoft-com:vml" Requires="v">
                <p:oleObj spid="_x0000_s46244" name="" r:id="rId1" imgW="876935" imgH="432435" progId="Equation.3">
                  <p:embed/>
                </p:oleObj>
              </mc:Choice>
              <mc:Fallback>
                <p:oleObj name="" r:id="rId1" imgW="876935" imgH="43243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413" y="2409825"/>
                        <a:ext cx="2238375"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4" name="Object 3"/>
          <p:cNvGraphicFramePr>
            <a:graphicFrameLocks noChangeAspect="1"/>
          </p:cNvGraphicFramePr>
          <p:nvPr/>
        </p:nvGraphicFramePr>
        <p:xfrm>
          <a:off x="893762" y="3940175"/>
          <a:ext cx="7339013" cy="709612"/>
        </p:xfrm>
        <a:graphic>
          <a:graphicData uri="http://schemas.openxmlformats.org/presentationml/2006/ole">
            <mc:AlternateContent xmlns:mc="http://schemas.openxmlformats.org/markup-compatibility/2006">
              <mc:Choice xmlns:v="urn:schemas-microsoft-com:vml" Requires="v">
                <p:oleObj spid="_x0000_s46245" name="" r:id="rId3" imgW="4330700" imgH="368300" progId="Equation.3">
                  <p:embed/>
                </p:oleObj>
              </mc:Choice>
              <mc:Fallback>
                <p:oleObj name="" r:id="rId3" imgW="4330700" imgH="368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762" y="3940175"/>
                        <a:ext cx="7339013" cy="70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4"/>
          <p:cNvGraphicFramePr>
            <a:graphicFrameLocks noChangeAspect="1"/>
          </p:cNvGraphicFramePr>
          <p:nvPr/>
        </p:nvGraphicFramePr>
        <p:xfrm>
          <a:off x="1028700" y="5080000"/>
          <a:ext cx="2460625" cy="1249363"/>
        </p:xfrm>
        <a:graphic>
          <a:graphicData uri="http://schemas.openxmlformats.org/presentationml/2006/ole">
            <mc:AlternateContent xmlns:mc="http://schemas.openxmlformats.org/markup-compatibility/2006">
              <mc:Choice xmlns:v="urn:schemas-microsoft-com:vml" Requires="v">
                <p:oleObj spid="_x0000_s46246" name="" r:id="rId5" imgW="851535" imgH="432435" progId="Equation.3">
                  <p:embed/>
                </p:oleObj>
              </mc:Choice>
              <mc:Fallback>
                <p:oleObj name="" r:id="rId5" imgW="851535" imgH="43243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700" y="5080000"/>
                        <a:ext cx="2460625" cy="1249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6" name="Object 5"/>
          <p:cNvGraphicFramePr>
            <a:graphicFrameLocks noChangeAspect="1"/>
          </p:cNvGraphicFramePr>
          <p:nvPr/>
        </p:nvGraphicFramePr>
        <p:xfrm>
          <a:off x="1357313" y="558800"/>
          <a:ext cx="3421062" cy="1814513"/>
        </p:xfrm>
        <a:graphic>
          <a:graphicData uri="http://schemas.openxmlformats.org/presentationml/2006/ole">
            <mc:AlternateContent xmlns:mc="http://schemas.openxmlformats.org/markup-compatibility/2006">
              <mc:Choice xmlns:v="urn:schemas-microsoft-com:vml" Requires="v">
                <p:oleObj spid="_x0000_s46247" name="" r:id="rId7" imgW="1245870" imgH="661035" progId="Equation.3">
                  <p:embed/>
                </p:oleObj>
              </mc:Choice>
              <mc:Fallback>
                <p:oleObj name="" r:id="rId7" imgW="1245870" imgH="66103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7313" y="558800"/>
                        <a:ext cx="3421062" cy="181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7" name="Object 6"/>
          <p:cNvGraphicFramePr>
            <a:graphicFrameLocks noChangeAspect="1"/>
          </p:cNvGraphicFramePr>
          <p:nvPr/>
        </p:nvGraphicFramePr>
        <p:xfrm>
          <a:off x="5313363" y="2787650"/>
          <a:ext cx="2919412" cy="615950"/>
        </p:xfrm>
        <a:graphic>
          <a:graphicData uri="http://schemas.openxmlformats.org/presentationml/2006/ole">
            <mc:AlternateContent xmlns:mc="http://schemas.openxmlformats.org/markup-compatibility/2006">
              <mc:Choice xmlns:v="urn:schemas-microsoft-com:vml" Requires="v">
                <p:oleObj spid="_x0000_s46248" name="" r:id="rId9" imgW="1144270" imgH="241300" progId="Equation.3">
                  <p:embed/>
                </p:oleObj>
              </mc:Choice>
              <mc:Fallback>
                <p:oleObj name="" r:id="rId9" imgW="1144270" imgH="24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3363" y="2787650"/>
                        <a:ext cx="2919412"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8" name="Text Box 7"/>
          <p:cNvSpPr txBox="1">
            <a:spLocks noChangeArrowheads="1"/>
          </p:cNvSpPr>
          <p:nvPr/>
        </p:nvSpPr>
        <p:spPr bwMode="auto">
          <a:xfrm>
            <a:off x="889000" y="2601913"/>
            <a:ext cx="1250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式中：</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65C5207-4B07-4B93-9CD0-AE40FE9C7078}" type="slidenum">
              <a:rPr lang="zh-CN" altLang="zh-CN" sz="1400" smtClean="0"/>
            </a:fld>
            <a:endParaRPr lang="zh-CN" altLang="zh-CN" sz="1400" smtClean="0"/>
          </a:p>
        </p:txBody>
      </p:sp>
      <p:sp>
        <p:nvSpPr>
          <p:cNvPr id="47107" name="Line 2"/>
          <p:cNvSpPr>
            <a:spLocks noChangeShapeType="1"/>
          </p:cNvSpPr>
          <p:nvPr/>
        </p:nvSpPr>
        <p:spPr bwMode="auto">
          <a:xfrm>
            <a:off x="1274763" y="654050"/>
            <a:ext cx="1587" cy="305752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08" name="Freeform 3"/>
          <p:cNvSpPr/>
          <p:nvPr/>
        </p:nvSpPr>
        <p:spPr bwMode="auto">
          <a:xfrm>
            <a:off x="1243013" y="654050"/>
            <a:ext cx="80962" cy="209550"/>
          </a:xfrm>
          <a:custGeom>
            <a:avLst/>
            <a:gdLst>
              <a:gd name="T0" fmla="*/ 0 w 51"/>
              <a:gd name="T1" fmla="*/ 2147483646 h 132"/>
              <a:gd name="T2" fmla="*/ 2147483646 w 51"/>
              <a:gd name="T3" fmla="*/ 2147483646 h 132"/>
              <a:gd name="T4" fmla="*/ 2147483646 w 51"/>
              <a:gd name="T5" fmla="*/ 2147483646 h 132"/>
              <a:gd name="T6" fmla="*/ 2147483646 w 51"/>
              <a:gd name="T7" fmla="*/ 0 h 132"/>
              <a:gd name="T8" fmla="*/ 0 w 51"/>
              <a:gd name="T9" fmla="*/ 2147483646 h 132"/>
              <a:gd name="T10" fmla="*/ 0 60000 65536"/>
              <a:gd name="T11" fmla="*/ 0 60000 65536"/>
              <a:gd name="T12" fmla="*/ 0 60000 65536"/>
              <a:gd name="T13" fmla="*/ 0 60000 65536"/>
              <a:gd name="T14" fmla="*/ 0 60000 65536"/>
              <a:gd name="T15" fmla="*/ 0 w 51"/>
              <a:gd name="T16" fmla="*/ 0 h 132"/>
              <a:gd name="T17" fmla="*/ 51 w 51"/>
              <a:gd name="T18" fmla="*/ 132 h 132"/>
            </a:gdLst>
            <a:ahLst/>
            <a:cxnLst>
              <a:cxn ang="T10">
                <a:pos x="T0" y="T1"/>
              </a:cxn>
              <a:cxn ang="T11">
                <a:pos x="T2" y="T3"/>
              </a:cxn>
              <a:cxn ang="T12">
                <a:pos x="T4" y="T5"/>
              </a:cxn>
              <a:cxn ang="T13">
                <a:pos x="T6" y="T7"/>
              </a:cxn>
              <a:cxn ang="T14">
                <a:pos x="T8" y="T9"/>
              </a:cxn>
            </a:cxnLst>
            <a:rect l="T15" t="T16" r="T17" b="T18"/>
            <a:pathLst>
              <a:path w="51" h="132">
                <a:moveTo>
                  <a:pt x="0" y="132"/>
                </a:moveTo>
                <a:lnTo>
                  <a:pt x="20" y="102"/>
                </a:lnTo>
                <a:lnTo>
                  <a:pt x="51" y="132"/>
                </a:lnTo>
                <a:lnTo>
                  <a:pt x="20" y="0"/>
                </a:lnTo>
                <a:lnTo>
                  <a:pt x="0" y="132"/>
                </a:lnTo>
                <a:close/>
              </a:path>
            </a:pathLst>
          </a:custGeom>
          <a:solidFill>
            <a:srgbClr val="000000"/>
          </a:solidFill>
          <a:ln w="15875">
            <a:solidFill>
              <a:srgbClr val="000000"/>
            </a:solidFill>
            <a:round/>
          </a:ln>
        </p:spPr>
        <p:txBody>
          <a:bodyPr/>
          <a:lstStyle/>
          <a:p>
            <a:endParaRPr lang="zh-CN" altLang="en-US"/>
          </a:p>
        </p:txBody>
      </p:sp>
      <p:sp>
        <p:nvSpPr>
          <p:cNvPr id="47109" name="Line 4"/>
          <p:cNvSpPr>
            <a:spLocks noChangeShapeType="1"/>
          </p:cNvSpPr>
          <p:nvPr/>
        </p:nvSpPr>
        <p:spPr bwMode="auto">
          <a:xfrm flipH="1">
            <a:off x="1274763" y="3711575"/>
            <a:ext cx="6829425"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0" name="Freeform 5"/>
          <p:cNvSpPr/>
          <p:nvPr/>
        </p:nvSpPr>
        <p:spPr bwMode="auto">
          <a:xfrm>
            <a:off x="8037513" y="3679825"/>
            <a:ext cx="193675" cy="80963"/>
          </a:xfrm>
          <a:custGeom>
            <a:avLst/>
            <a:gdLst>
              <a:gd name="T0" fmla="*/ 0 w 122"/>
              <a:gd name="T1" fmla="*/ 0 h 51"/>
              <a:gd name="T2" fmla="*/ 2147483646 w 122"/>
              <a:gd name="T3" fmla="*/ 2147483646 h 51"/>
              <a:gd name="T4" fmla="*/ 0 w 122"/>
              <a:gd name="T5" fmla="*/ 2147483646 h 51"/>
              <a:gd name="T6" fmla="*/ 2147483646 w 122"/>
              <a:gd name="T7" fmla="*/ 2147483646 h 51"/>
              <a:gd name="T8" fmla="*/ 0 w 122"/>
              <a:gd name="T9" fmla="*/ 0 h 51"/>
              <a:gd name="T10" fmla="*/ 0 60000 65536"/>
              <a:gd name="T11" fmla="*/ 0 60000 65536"/>
              <a:gd name="T12" fmla="*/ 0 60000 65536"/>
              <a:gd name="T13" fmla="*/ 0 60000 65536"/>
              <a:gd name="T14" fmla="*/ 0 60000 65536"/>
              <a:gd name="T15" fmla="*/ 0 w 122"/>
              <a:gd name="T16" fmla="*/ 0 h 51"/>
              <a:gd name="T17" fmla="*/ 122 w 122"/>
              <a:gd name="T18" fmla="*/ 51 h 51"/>
            </a:gdLst>
            <a:ahLst/>
            <a:cxnLst>
              <a:cxn ang="T10">
                <a:pos x="T0" y="T1"/>
              </a:cxn>
              <a:cxn ang="T11">
                <a:pos x="T2" y="T3"/>
              </a:cxn>
              <a:cxn ang="T12">
                <a:pos x="T4" y="T5"/>
              </a:cxn>
              <a:cxn ang="T13">
                <a:pos x="T6" y="T7"/>
              </a:cxn>
              <a:cxn ang="T14">
                <a:pos x="T8" y="T9"/>
              </a:cxn>
            </a:cxnLst>
            <a:rect l="T15" t="T16" r="T17" b="T18"/>
            <a:pathLst>
              <a:path w="122" h="51">
                <a:moveTo>
                  <a:pt x="0" y="0"/>
                </a:moveTo>
                <a:lnTo>
                  <a:pt x="20" y="20"/>
                </a:lnTo>
                <a:lnTo>
                  <a:pt x="0" y="51"/>
                </a:lnTo>
                <a:lnTo>
                  <a:pt x="122" y="20"/>
                </a:lnTo>
                <a:lnTo>
                  <a:pt x="0" y="0"/>
                </a:lnTo>
                <a:close/>
              </a:path>
            </a:pathLst>
          </a:custGeom>
          <a:solidFill>
            <a:srgbClr val="000000"/>
          </a:solidFill>
          <a:ln w="15875">
            <a:solidFill>
              <a:srgbClr val="000000"/>
            </a:solidFill>
            <a:round/>
          </a:ln>
        </p:spPr>
        <p:txBody>
          <a:bodyPr/>
          <a:lstStyle/>
          <a:p>
            <a:endParaRPr lang="zh-CN" altLang="en-US"/>
          </a:p>
        </p:txBody>
      </p:sp>
      <p:sp>
        <p:nvSpPr>
          <p:cNvPr id="47111" name="Line 6"/>
          <p:cNvSpPr>
            <a:spLocks noChangeShapeType="1"/>
          </p:cNvSpPr>
          <p:nvPr/>
        </p:nvSpPr>
        <p:spPr bwMode="auto">
          <a:xfrm flipH="1">
            <a:off x="762476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2" name="Line 7"/>
          <p:cNvSpPr>
            <a:spLocks noChangeShapeType="1"/>
          </p:cNvSpPr>
          <p:nvPr/>
        </p:nvSpPr>
        <p:spPr bwMode="auto">
          <a:xfrm flipH="1">
            <a:off x="74945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3" name="Line 8"/>
          <p:cNvSpPr>
            <a:spLocks noChangeShapeType="1"/>
          </p:cNvSpPr>
          <p:nvPr/>
        </p:nvSpPr>
        <p:spPr bwMode="auto">
          <a:xfrm flipH="1">
            <a:off x="73660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4" name="Line 9"/>
          <p:cNvSpPr>
            <a:spLocks noChangeShapeType="1"/>
          </p:cNvSpPr>
          <p:nvPr/>
        </p:nvSpPr>
        <p:spPr bwMode="auto">
          <a:xfrm flipH="1">
            <a:off x="7237413"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5" name="Line 10"/>
          <p:cNvSpPr>
            <a:spLocks noChangeShapeType="1"/>
          </p:cNvSpPr>
          <p:nvPr/>
        </p:nvSpPr>
        <p:spPr bwMode="auto">
          <a:xfrm flipH="1">
            <a:off x="710723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6" name="Line 11"/>
          <p:cNvSpPr>
            <a:spLocks noChangeShapeType="1"/>
          </p:cNvSpPr>
          <p:nvPr/>
        </p:nvSpPr>
        <p:spPr bwMode="auto">
          <a:xfrm flipH="1">
            <a:off x="6978650"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7" name="Line 12"/>
          <p:cNvSpPr>
            <a:spLocks noChangeShapeType="1"/>
          </p:cNvSpPr>
          <p:nvPr/>
        </p:nvSpPr>
        <p:spPr bwMode="auto">
          <a:xfrm flipH="1">
            <a:off x="684847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8" name="Line 13"/>
          <p:cNvSpPr>
            <a:spLocks noChangeShapeType="1"/>
          </p:cNvSpPr>
          <p:nvPr/>
        </p:nvSpPr>
        <p:spPr bwMode="auto">
          <a:xfrm flipH="1">
            <a:off x="67198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9" name="Line 14"/>
          <p:cNvSpPr>
            <a:spLocks noChangeShapeType="1"/>
          </p:cNvSpPr>
          <p:nvPr/>
        </p:nvSpPr>
        <p:spPr bwMode="auto">
          <a:xfrm flipH="1">
            <a:off x="65897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0" name="Line 15"/>
          <p:cNvSpPr>
            <a:spLocks noChangeShapeType="1"/>
          </p:cNvSpPr>
          <p:nvPr/>
        </p:nvSpPr>
        <p:spPr bwMode="auto">
          <a:xfrm flipH="1">
            <a:off x="646112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1" name="Line 16"/>
          <p:cNvSpPr>
            <a:spLocks noChangeShapeType="1"/>
          </p:cNvSpPr>
          <p:nvPr/>
        </p:nvSpPr>
        <p:spPr bwMode="auto">
          <a:xfrm flipH="1">
            <a:off x="6332538"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2" name="Line 17"/>
          <p:cNvSpPr>
            <a:spLocks noChangeShapeType="1"/>
          </p:cNvSpPr>
          <p:nvPr/>
        </p:nvSpPr>
        <p:spPr bwMode="auto">
          <a:xfrm flipH="1">
            <a:off x="620236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3" name="Line 18"/>
          <p:cNvSpPr>
            <a:spLocks noChangeShapeType="1"/>
          </p:cNvSpPr>
          <p:nvPr/>
        </p:nvSpPr>
        <p:spPr bwMode="auto">
          <a:xfrm flipH="1">
            <a:off x="607377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4" name="Line 19"/>
          <p:cNvSpPr>
            <a:spLocks noChangeShapeType="1"/>
          </p:cNvSpPr>
          <p:nvPr/>
        </p:nvSpPr>
        <p:spPr bwMode="auto">
          <a:xfrm flipH="1">
            <a:off x="59436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5" name="Line 20"/>
          <p:cNvSpPr>
            <a:spLocks noChangeShapeType="1"/>
          </p:cNvSpPr>
          <p:nvPr/>
        </p:nvSpPr>
        <p:spPr bwMode="auto">
          <a:xfrm flipH="1">
            <a:off x="58150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6" name="Line 21"/>
          <p:cNvSpPr>
            <a:spLocks noChangeShapeType="1"/>
          </p:cNvSpPr>
          <p:nvPr/>
        </p:nvSpPr>
        <p:spPr bwMode="auto">
          <a:xfrm flipH="1">
            <a:off x="5686425"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7" name="Line 22"/>
          <p:cNvSpPr>
            <a:spLocks noChangeShapeType="1"/>
          </p:cNvSpPr>
          <p:nvPr/>
        </p:nvSpPr>
        <p:spPr bwMode="auto">
          <a:xfrm flipH="1">
            <a:off x="555625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8" name="Line 23"/>
          <p:cNvSpPr>
            <a:spLocks noChangeShapeType="1"/>
          </p:cNvSpPr>
          <p:nvPr/>
        </p:nvSpPr>
        <p:spPr bwMode="auto">
          <a:xfrm flipH="1">
            <a:off x="5427663"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9" name="Line 24"/>
          <p:cNvSpPr>
            <a:spLocks noChangeShapeType="1"/>
          </p:cNvSpPr>
          <p:nvPr/>
        </p:nvSpPr>
        <p:spPr bwMode="auto">
          <a:xfrm flipH="1">
            <a:off x="52974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0" name="Line 25"/>
          <p:cNvSpPr>
            <a:spLocks noChangeShapeType="1"/>
          </p:cNvSpPr>
          <p:nvPr/>
        </p:nvSpPr>
        <p:spPr bwMode="auto">
          <a:xfrm flipH="1">
            <a:off x="51689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1" name="Line 26"/>
          <p:cNvSpPr>
            <a:spLocks noChangeShapeType="1"/>
          </p:cNvSpPr>
          <p:nvPr/>
        </p:nvSpPr>
        <p:spPr bwMode="auto">
          <a:xfrm flipH="1">
            <a:off x="5040313"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2" name="Line 27"/>
          <p:cNvSpPr>
            <a:spLocks noChangeShapeType="1"/>
          </p:cNvSpPr>
          <p:nvPr/>
        </p:nvSpPr>
        <p:spPr bwMode="auto">
          <a:xfrm flipH="1">
            <a:off x="491013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3" name="Line 28"/>
          <p:cNvSpPr>
            <a:spLocks noChangeShapeType="1"/>
          </p:cNvSpPr>
          <p:nvPr/>
        </p:nvSpPr>
        <p:spPr bwMode="auto">
          <a:xfrm flipH="1">
            <a:off x="4781550"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4" name="Line 29"/>
          <p:cNvSpPr>
            <a:spLocks noChangeShapeType="1"/>
          </p:cNvSpPr>
          <p:nvPr/>
        </p:nvSpPr>
        <p:spPr bwMode="auto">
          <a:xfrm flipH="1">
            <a:off x="465137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5" name="Line 30"/>
          <p:cNvSpPr>
            <a:spLocks noChangeShapeType="1"/>
          </p:cNvSpPr>
          <p:nvPr/>
        </p:nvSpPr>
        <p:spPr bwMode="auto">
          <a:xfrm flipH="1">
            <a:off x="45227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6" name="Line 31"/>
          <p:cNvSpPr>
            <a:spLocks noChangeShapeType="1"/>
          </p:cNvSpPr>
          <p:nvPr/>
        </p:nvSpPr>
        <p:spPr bwMode="auto">
          <a:xfrm flipH="1">
            <a:off x="43926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7" name="Line 32"/>
          <p:cNvSpPr>
            <a:spLocks noChangeShapeType="1"/>
          </p:cNvSpPr>
          <p:nvPr/>
        </p:nvSpPr>
        <p:spPr bwMode="auto">
          <a:xfrm flipH="1">
            <a:off x="426402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8" name="Line 33"/>
          <p:cNvSpPr>
            <a:spLocks noChangeShapeType="1"/>
          </p:cNvSpPr>
          <p:nvPr/>
        </p:nvSpPr>
        <p:spPr bwMode="auto">
          <a:xfrm flipH="1">
            <a:off x="4135438"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9" name="Line 34"/>
          <p:cNvSpPr>
            <a:spLocks noChangeShapeType="1"/>
          </p:cNvSpPr>
          <p:nvPr/>
        </p:nvSpPr>
        <p:spPr bwMode="auto">
          <a:xfrm flipH="1">
            <a:off x="400526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0" name="Line 35"/>
          <p:cNvSpPr>
            <a:spLocks noChangeShapeType="1"/>
          </p:cNvSpPr>
          <p:nvPr/>
        </p:nvSpPr>
        <p:spPr bwMode="auto">
          <a:xfrm flipH="1">
            <a:off x="387667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1" name="Line 36"/>
          <p:cNvSpPr>
            <a:spLocks noChangeShapeType="1"/>
          </p:cNvSpPr>
          <p:nvPr/>
        </p:nvSpPr>
        <p:spPr bwMode="auto">
          <a:xfrm flipH="1">
            <a:off x="37465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2" name="Line 37"/>
          <p:cNvSpPr>
            <a:spLocks noChangeShapeType="1"/>
          </p:cNvSpPr>
          <p:nvPr/>
        </p:nvSpPr>
        <p:spPr bwMode="auto">
          <a:xfrm flipH="1">
            <a:off x="36179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3" name="Line 38"/>
          <p:cNvSpPr>
            <a:spLocks noChangeShapeType="1"/>
          </p:cNvSpPr>
          <p:nvPr/>
        </p:nvSpPr>
        <p:spPr bwMode="auto">
          <a:xfrm flipH="1">
            <a:off x="3489325"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4" name="Line 39"/>
          <p:cNvSpPr>
            <a:spLocks noChangeShapeType="1"/>
          </p:cNvSpPr>
          <p:nvPr/>
        </p:nvSpPr>
        <p:spPr bwMode="auto">
          <a:xfrm flipH="1">
            <a:off x="335915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5" name="Line 40"/>
          <p:cNvSpPr>
            <a:spLocks noChangeShapeType="1"/>
          </p:cNvSpPr>
          <p:nvPr/>
        </p:nvSpPr>
        <p:spPr bwMode="auto">
          <a:xfrm flipH="1">
            <a:off x="3230563"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6" name="Line 41"/>
          <p:cNvSpPr>
            <a:spLocks noChangeShapeType="1"/>
          </p:cNvSpPr>
          <p:nvPr/>
        </p:nvSpPr>
        <p:spPr bwMode="auto">
          <a:xfrm flipH="1">
            <a:off x="31003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7" name="Line 42"/>
          <p:cNvSpPr>
            <a:spLocks noChangeShapeType="1"/>
          </p:cNvSpPr>
          <p:nvPr/>
        </p:nvSpPr>
        <p:spPr bwMode="auto">
          <a:xfrm flipH="1">
            <a:off x="29718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8" name="Line 43"/>
          <p:cNvSpPr>
            <a:spLocks noChangeShapeType="1"/>
          </p:cNvSpPr>
          <p:nvPr/>
        </p:nvSpPr>
        <p:spPr bwMode="auto">
          <a:xfrm flipH="1">
            <a:off x="2843213"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49" name="Line 44"/>
          <p:cNvSpPr>
            <a:spLocks noChangeShapeType="1"/>
          </p:cNvSpPr>
          <p:nvPr/>
        </p:nvSpPr>
        <p:spPr bwMode="auto">
          <a:xfrm flipH="1">
            <a:off x="271303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0" name="Line 45"/>
          <p:cNvSpPr>
            <a:spLocks noChangeShapeType="1"/>
          </p:cNvSpPr>
          <p:nvPr/>
        </p:nvSpPr>
        <p:spPr bwMode="auto">
          <a:xfrm flipH="1">
            <a:off x="2584450"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1" name="Line 46"/>
          <p:cNvSpPr>
            <a:spLocks noChangeShapeType="1"/>
          </p:cNvSpPr>
          <p:nvPr/>
        </p:nvSpPr>
        <p:spPr bwMode="auto">
          <a:xfrm flipH="1">
            <a:off x="245427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2" name="Line 47"/>
          <p:cNvSpPr>
            <a:spLocks noChangeShapeType="1"/>
          </p:cNvSpPr>
          <p:nvPr/>
        </p:nvSpPr>
        <p:spPr bwMode="auto">
          <a:xfrm flipH="1">
            <a:off x="2325688"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3" name="Line 48"/>
          <p:cNvSpPr>
            <a:spLocks noChangeShapeType="1"/>
          </p:cNvSpPr>
          <p:nvPr/>
        </p:nvSpPr>
        <p:spPr bwMode="auto">
          <a:xfrm flipH="1">
            <a:off x="21955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4" name="Line 49"/>
          <p:cNvSpPr>
            <a:spLocks noChangeShapeType="1"/>
          </p:cNvSpPr>
          <p:nvPr/>
        </p:nvSpPr>
        <p:spPr bwMode="auto">
          <a:xfrm flipH="1">
            <a:off x="2066925"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5" name="Line 50"/>
          <p:cNvSpPr>
            <a:spLocks noChangeShapeType="1"/>
          </p:cNvSpPr>
          <p:nvPr/>
        </p:nvSpPr>
        <p:spPr bwMode="auto">
          <a:xfrm flipH="1">
            <a:off x="1938338"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6" name="Line 51"/>
          <p:cNvSpPr>
            <a:spLocks noChangeShapeType="1"/>
          </p:cNvSpPr>
          <p:nvPr/>
        </p:nvSpPr>
        <p:spPr bwMode="auto">
          <a:xfrm flipH="1">
            <a:off x="180816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7" name="Line 52"/>
          <p:cNvSpPr>
            <a:spLocks noChangeShapeType="1"/>
          </p:cNvSpPr>
          <p:nvPr/>
        </p:nvSpPr>
        <p:spPr bwMode="auto">
          <a:xfrm flipH="1">
            <a:off x="1679575"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8" name="Line 53"/>
          <p:cNvSpPr>
            <a:spLocks noChangeShapeType="1"/>
          </p:cNvSpPr>
          <p:nvPr/>
        </p:nvSpPr>
        <p:spPr bwMode="auto">
          <a:xfrm flipH="1">
            <a:off x="1549400" y="233680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59" name="Line 54"/>
          <p:cNvSpPr>
            <a:spLocks noChangeShapeType="1"/>
          </p:cNvSpPr>
          <p:nvPr/>
        </p:nvSpPr>
        <p:spPr bwMode="auto">
          <a:xfrm flipH="1">
            <a:off x="1420813" y="233680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0" name="Line 55"/>
          <p:cNvSpPr>
            <a:spLocks noChangeShapeType="1"/>
          </p:cNvSpPr>
          <p:nvPr/>
        </p:nvSpPr>
        <p:spPr bwMode="auto">
          <a:xfrm flipH="1">
            <a:off x="1292225" y="233680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1" name="Line 56"/>
          <p:cNvSpPr>
            <a:spLocks noChangeShapeType="1"/>
          </p:cNvSpPr>
          <p:nvPr/>
        </p:nvSpPr>
        <p:spPr bwMode="auto">
          <a:xfrm flipV="1">
            <a:off x="2357438" y="36464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2" name="Line 57"/>
          <p:cNvSpPr>
            <a:spLocks noChangeShapeType="1"/>
          </p:cNvSpPr>
          <p:nvPr/>
        </p:nvSpPr>
        <p:spPr bwMode="auto">
          <a:xfrm flipV="1">
            <a:off x="2357438" y="35179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3" name="Line 58"/>
          <p:cNvSpPr>
            <a:spLocks noChangeShapeType="1"/>
          </p:cNvSpPr>
          <p:nvPr/>
        </p:nvSpPr>
        <p:spPr bwMode="auto">
          <a:xfrm flipV="1">
            <a:off x="2357438" y="33877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4" name="Line 59"/>
          <p:cNvSpPr>
            <a:spLocks noChangeShapeType="1"/>
          </p:cNvSpPr>
          <p:nvPr/>
        </p:nvSpPr>
        <p:spPr bwMode="auto">
          <a:xfrm flipV="1">
            <a:off x="2357438" y="32591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5" name="Line 60"/>
          <p:cNvSpPr>
            <a:spLocks noChangeShapeType="1"/>
          </p:cNvSpPr>
          <p:nvPr/>
        </p:nvSpPr>
        <p:spPr bwMode="auto">
          <a:xfrm flipV="1">
            <a:off x="2357438" y="31289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6" name="Line 61"/>
          <p:cNvSpPr>
            <a:spLocks noChangeShapeType="1"/>
          </p:cNvSpPr>
          <p:nvPr/>
        </p:nvSpPr>
        <p:spPr bwMode="auto">
          <a:xfrm flipV="1">
            <a:off x="2357438" y="300037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7" name="Line 62"/>
          <p:cNvSpPr>
            <a:spLocks noChangeShapeType="1"/>
          </p:cNvSpPr>
          <p:nvPr/>
        </p:nvSpPr>
        <p:spPr bwMode="auto">
          <a:xfrm flipV="1">
            <a:off x="2357438" y="28702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8" name="Line 63"/>
          <p:cNvSpPr>
            <a:spLocks noChangeShapeType="1"/>
          </p:cNvSpPr>
          <p:nvPr/>
        </p:nvSpPr>
        <p:spPr bwMode="auto">
          <a:xfrm flipV="1">
            <a:off x="2357438" y="274161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69" name="Line 64"/>
          <p:cNvSpPr>
            <a:spLocks noChangeShapeType="1"/>
          </p:cNvSpPr>
          <p:nvPr/>
        </p:nvSpPr>
        <p:spPr bwMode="auto">
          <a:xfrm flipV="1">
            <a:off x="2357438" y="26114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0" name="Line 65"/>
          <p:cNvSpPr>
            <a:spLocks noChangeShapeType="1"/>
          </p:cNvSpPr>
          <p:nvPr/>
        </p:nvSpPr>
        <p:spPr bwMode="auto">
          <a:xfrm flipV="1">
            <a:off x="2357438" y="2482850"/>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1" name="Line 66"/>
          <p:cNvSpPr>
            <a:spLocks noChangeShapeType="1"/>
          </p:cNvSpPr>
          <p:nvPr/>
        </p:nvSpPr>
        <p:spPr bwMode="auto">
          <a:xfrm flipV="1">
            <a:off x="2357438" y="235267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2" name="Line 67"/>
          <p:cNvSpPr>
            <a:spLocks noChangeShapeType="1"/>
          </p:cNvSpPr>
          <p:nvPr/>
        </p:nvSpPr>
        <p:spPr bwMode="auto">
          <a:xfrm flipH="1">
            <a:off x="762476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3" name="Line 68"/>
          <p:cNvSpPr>
            <a:spLocks noChangeShapeType="1"/>
          </p:cNvSpPr>
          <p:nvPr/>
        </p:nvSpPr>
        <p:spPr bwMode="auto">
          <a:xfrm flipH="1">
            <a:off x="74945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4" name="Line 69"/>
          <p:cNvSpPr>
            <a:spLocks noChangeShapeType="1"/>
          </p:cNvSpPr>
          <p:nvPr/>
        </p:nvSpPr>
        <p:spPr bwMode="auto">
          <a:xfrm flipH="1">
            <a:off x="73660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5" name="Line 70"/>
          <p:cNvSpPr>
            <a:spLocks noChangeShapeType="1"/>
          </p:cNvSpPr>
          <p:nvPr/>
        </p:nvSpPr>
        <p:spPr bwMode="auto">
          <a:xfrm flipH="1">
            <a:off x="7237413"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6" name="Line 71"/>
          <p:cNvSpPr>
            <a:spLocks noChangeShapeType="1"/>
          </p:cNvSpPr>
          <p:nvPr/>
        </p:nvSpPr>
        <p:spPr bwMode="auto">
          <a:xfrm flipH="1">
            <a:off x="710723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7" name="Line 72"/>
          <p:cNvSpPr>
            <a:spLocks noChangeShapeType="1"/>
          </p:cNvSpPr>
          <p:nvPr/>
        </p:nvSpPr>
        <p:spPr bwMode="auto">
          <a:xfrm flipH="1">
            <a:off x="6978650"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8" name="Line 73"/>
          <p:cNvSpPr>
            <a:spLocks noChangeShapeType="1"/>
          </p:cNvSpPr>
          <p:nvPr/>
        </p:nvSpPr>
        <p:spPr bwMode="auto">
          <a:xfrm flipH="1">
            <a:off x="684847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79" name="Line 74"/>
          <p:cNvSpPr>
            <a:spLocks noChangeShapeType="1"/>
          </p:cNvSpPr>
          <p:nvPr/>
        </p:nvSpPr>
        <p:spPr bwMode="auto">
          <a:xfrm flipH="1">
            <a:off x="67198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0" name="Line 75"/>
          <p:cNvSpPr>
            <a:spLocks noChangeShapeType="1"/>
          </p:cNvSpPr>
          <p:nvPr/>
        </p:nvSpPr>
        <p:spPr bwMode="auto">
          <a:xfrm flipH="1">
            <a:off x="65897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1" name="Line 76"/>
          <p:cNvSpPr>
            <a:spLocks noChangeShapeType="1"/>
          </p:cNvSpPr>
          <p:nvPr/>
        </p:nvSpPr>
        <p:spPr bwMode="auto">
          <a:xfrm flipH="1">
            <a:off x="646112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2" name="Line 77"/>
          <p:cNvSpPr>
            <a:spLocks noChangeShapeType="1"/>
          </p:cNvSpPr>
          <p:nvPr/>
        </p:nvSpPr>
        <p:spPr bwMode="auto">
          <a:xfrm flipH="1">
            <a:off x="6332538"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3" name="Line 78"/>
          <p:cNvSpPr>
            <a:spLocks noChangeShapeType="1"/>
          </p:cNvSpPr>
          <p:nvPr/>
        </p:nvSpPr>
        <p:spPr bwMode="auto">
          <a:xfrm flipH="1">
            <a:off x="620236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4" name="Line 79"/>
          <p:cNvSpPr>
            <a:spLocks noChangeShapeType="1"/>
          </p:cNvSpPr>
          <p:nvPr/>
        </p:nvSpPr>
        <p:spPr bwMode="auto">
          <a:xfrm flipH="1">
            <a:off x="607377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5" name="Line 80"/>
          <p:cNvSpPr>
            <a:spLocks noChangeShapeType="1"/>
          </p:cNvSpPr>
          <p:nvPr/>
        </p:nvSpPr>
        <p:spPr bwMode="auto">
          <a:xfrm flipH="1">
            <a:off x="59436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6" name="Line 81"/>
          <p:cNvSpPr>
            <a:spLocks noChangeShapeType="1"/>
          </p:cNvSpPr>
          <p:nvPr/>
        </p:nvSpPr>
        <p:spPr bwMode="auto">
          <a:xfrm flipH="1">
            <a:off x="58150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7" name="Line 82"/>
          <p:cNvSpPr>
            <a:spLocks noChangeShapeType="1"/>
          </p:cNvSpPr>
          <p:nvPr/>
        </p:nvSpPr>
        <p:spPr bwMode="auto">
          <a:xfrm flipH="1">
            <a:off x="5686425"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8" name="Line 83"/>
          <p:cNvSpPr>
            <a:spLocks noChangeShapeType="1"/>
          </p:cNvSpPr>
          <p:nvPr/>
        </p:nvSpPr>
        <p:spPr bwMode="auto">
          <a:xfrm flipH="1">
            <a:off x="555625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89" name="Line 84"/>
          <p:cNvSpPr>
            <a:spLocks noChangeShapeType="1"/>
          </p:cNvSpPr>
          <p:nvPr/>
        </p:nvSpPr>
        <p:spPr bwMode="auto">
          <a:xfrm flipH="1">
            <a:off x="5427663"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0" name="Line 85"/>
          <p:cNvSpPr>
            <a:spLocks noChangeShapeType="1"/>
          </p:cNvSpPr>
          <p:nvPr/>
        </p:nvSpPr>
        <p:spPr bwMode="auto">
          <a:xfrm flipH="1">
            <a:off x="52974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1" name="Line 86"/>
          <p:cNvSpPr>
            <a:spLocks noChangeShapeType="1"/>
          </p:cNvSpPr>
          <p:nvPr/>
        </p:nvSpPr>
        <p:spPr bwMode="auto">
          <a:xfrm flipH="1">
            <a:off x="51689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2" name="Line 87"/>
          <p:cNvSpPr>
            <a:spLocks noChangeShapeType="1"/>
          </p:cNvSpPr>
          <p:nvPr/>
        </p:nvSpPr>
        <p:spPr bwMode="auto">
          <a:xfrm flipH="1">
            <a:off x="5040313"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3" name="Line 88"/>
          <p:cNvSpPr>
            <a:spLocks noChangeShapeType="1"/>
          </p:cNvSpPr>
          <p:nvPr/>
        </p:nvSpPr>
        <p:spPr bwMode="auto">
          <a:xfrm flipH="1">
            <a:off x="491013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4" name="Line 89"/>
          <p:cNvSpPr>
            <a:spLocks noChangeShapeType="1"/>
          </p:cNvSpPr>
          <p:nvPr/>
        </p:nvSpPr>
        <p:spPr bwMode="auto">
          <a:xfrm flipH="1">
            <a:off x="4781550"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5" name="Line 90"/>
          <p:cNvSpPr>
            <a:spLocks noChangeShapeType="1"/>
          </p:cNvSpPr>
          <p:nvPr/>
        </p:nvSpPr>
        <p:spPr bwMode="auto">
          <a:xfrm flipH="1">
            <a:off x="465137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6" name="Line 91"/>
          <p:cNvSpPr>
            <a:spLocks noChangeShapeType="1"/>
          </p:cNvSpPr>
          <p:nvPr/>
        </p:nvSpPr>
        <p:spPr bwMode="auto">
          <a:xfrm flipH="1">
            <a:off x="45227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7" name="Line 92"/>
          <p:cNvSpPr>
            <a:spLocks noChangeShapeType="1"/>
          </p:cNvSpPr>
          <p:nvPr/>
        </p:nvSpPr>
        <p:spPr bwMode="auto">
          <a:xfrm flipH="1">
            <a:off x="43926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8" name="Line 93"/>
          <p:cNvSpPr>
            <a:spLocks noChangeShapeType="1"/>
          </p:cNvSpPr>
          <p:nvPr/>
        </p:nvSpPr>
        <p:spPr bwMode="auto">
          <a:xfrm flipH="1">
            <a:off x="426402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99" name="Line 94"/>
          <p:cNvSpPr>
            <a:spLocks noChangeShapeType="1"/>
          </p:cNvSpPr>
          <p:nvPr/>
        </p:nvSpPr>
        <p:spPr bwMode="auto">
          <a:xfrm flipH="1">
            <a:off x="4135438"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0" name="Line 95"/>
          <p:cNvSpPr>
            <a:spLocks noChangeShapeType="1"/>
          </p:cNvSpPr>
          <p:nvPr/>
        </p:nvSpPr>
        <p:spPr bwMode="auto">
          <a:xfrm flipH="1">
            <a:off x="400526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1" name="Line 96"/>
          <p:cNvSpPr>
            <a:spLocks noChangeShapeType="1"/>
          </p:cNvSpPr>
          <p:nvPr/>
        </p:nvSpPr>
        <p:spPr bwMode="auto">
          <a:xfrm flipH="1">
            <a:off x="387667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2" name="Line 97"/>
          <p:cNvSpPr>
            <a:spLocks noChangeShapeType="1"/>
          </p:cNvSpPr>
          <p:nvPr/>
        </p:nvSpPr>
        <p:spPr bwMode="auto">
          <a:xfrm flipH="1">
            <a:off x="37465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3" name="Line 98"/>
          <p:cNvSpPr>
            <a:spLocks noChangeShapeType="1"/>
          </p:cNvSpPr>
          <p:nvPr/>
        </p:nvSpPr>
        <p:spPr bwMode="auto">
          <a:xfrm flipH="1">
            <a:off x="36179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4" name="Line 99"/>
          <p:cNvSpPr>
            <a:spLocks noChangeShapeType="1"/>
          </p:cNvSpPr>
          <p:nvPr/>
        </p:nvSpPr>
        <p:spPr bwMode="auto">
          <a:xfrm flipH="1">
            <a:off x="3489325"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5" name="Line 100"/>
          <p:cNvSpPr>
            <a:spLocks noChangeShapeType="1"/>
          </p:cNvSpPr>
          <p:nvPr/>
        </p:nvSpPr>
        <p:spPr bwMode="auto">
          <a:xfrm flipH="1">
            <a:off x="335915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6" name="Line 101"/>
          <p:cNvSpPr>
            <a:spLocks noChangeShapeType="1"/>
          </p:cNvSpPr>
          <p:nvPr/>
        </p:nvSpPr>
        <p:spPr bwMode="auto">
          <a:xfrm flipH="1">
            <a:off x="3230563"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7" name="Line 102"/>
          <p:cNvSpPr>
            <a:spLocks noChangeShapeType="1"/>
          </p:cNvSpPr>
          <p:nvPr/>
        </p:nvSpPr>
        <p:spPr bwMode="auto">
          <a:xfrm flipH="1">
            <a:off x="31003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8" name="Line 103"/>
          <p:cNvSpPr>
            <a:spLocks noChangeShapeType="1"/>
          </p:cNvSpPr>
          <p:nvPr/>
        </p:nvSpPr>
        <p:spPr bwMode="auto">
          <a:xfrm flipH="1">
            <a:off x="29718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09" name="Line 104"/>
          <p:cNvSpPr>
            <a:spLocks noChangeShapeType="1"/>
          </p:cNvSpPr>
          <p:nvPr/>
        </p:nvSpPr>
        <p:spPr bwMode="auto">
          <a:xfrm flipH="1">
            <a:off x="2843213"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0" name="Line 105"/>
          <p:cNvSpPr>
            <a:spLocks noChangeShapeType="1"/>
          </p:cNvSpPr>
          <p:nvPr/>
        </p:nvSpPr>
        <p:spPr bwMode="auto">
          <a:xfrm flipH="1">
            <a:off x="271303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1" name="Line 106"/>
          <p:cNvSpPr>
            <a:spLocks noChangeShapeType="1"/>
          </p:cNvSpPr>
          <p:nvPr/>
        </p:nvSpPr>
        <p:spPr bwMode="auto">
          <a:xfrm flipH="1">
            <a:off x="2584450"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2" name="Line 107"/>
          <p:cNvSpPr>
            <a:spLocks noChangeShapeType="1"/>
          </p:cNvSpPr>
          <p:nvPr/>
        </p:nvSpPr>
        <p:spPr bwMode="auto">
          <a:xfrm flipH="1">
            <a:off x="245427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3" name="Line 108"/>
          <p:cNvSpPr>
            <a:spLocks noChangeShapeType="1"/>
          </p:cNvSpPr>
          <p:nvPr/>
        </p:nvSpPr>
        <p:spPr bwMode="auto">
          <a:xfrm flipH="1">
            <a:off x="2325688"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4" name="Line 109"/>
          <p:cNvSpPr>
            <a:spLocks noChangeShapeType="1"/>
          </p:cNvSpPr>
          <p:nvPr/>
        </p:nvSpPr>
        <p:spPr bwMode="auto">
          <a:xfrm flipH="1">
            <a:off x="21955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5" name="Line 110"/>
          <p:cNvSpPr>
            <a:spLocks noChangeShapeType="1"/>
          </p:cNvSpPr>
          <p:nvPr/>
        </p:nvSpPr>
        <p:spPr bwMode="auto">
          <a:xfrm flipH="1">
            <a:off x="2066925"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6" name="Line 111"/>
          <p:cNvSpPr>
            <a:spLocks noChangeShapeType="1"/>
          </p:cNvSpPr>
          <p:nvPr/>
        </p:nvSpPr>
        <p:spPr bwMode="auto">
          <a:xfrm flipH="1">
            <a:off x="1938338"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7" name="Line 112"/>
          <p:cNvSpPr>
            <a:spLocks noChangeShapeType="1"/>
          </p:cNvSpPr>
          <p:nvPr/>
        </p:nvSpPr>
        <p:spPr bwMode="auto">
          <a:xfrm flipH="1">
            <a:off x="180816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8" name="Line 113"/>
          <p:cNvSpPr>
            <a:spLocks noChangeShapeType="1"/>
          </p:cNvSpPr>
          <p:nvPr/>
        </p:nvSpPr>
        <p:spPr bwMode="auto">
          <a:xfrm flipH="1">
            <a:off x="1679575"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19" name="Line 114"/>
          <p:cNvSpPr>
            <a:spLocks noChangeShapeType="1"/>
          </p:cNvSpPr>
          <p:nvPr/>
        </p:nvSpPr>
        <p:spPr bwMode="auto">
          <a:xfrm flipH="1">
            <a:off x="1549400" y="2190750"/>
            <a:ext cx="65088"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0" name="Line 115"/>
          <p:cNvSpPr>
            <a:spLocks noChangeShapeType="1"/>
          </p:cNvSpPr>
          <p:nvPr/>
        </p:nvSpPr>
        <p:spPr bwMode="auto">
          <a:xfrm flipH="1">
            <a:off x="1420813" y="2190750"/>
            <a:ext cx="65087"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1" name="Line 116"/>
          <p:cNvSpPr>
            <a:spLocks noChangeShapeType="1"/>
          </p:cNvSpPr>
          <p:nvPr/>
        </p:nvSpPr>
        <p:spPr bwMode="auto">
          <a:xfrm flipH="1">
            <a:off x="1292225" y="2190750"/>
            <a:ext cx="63500"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2" name="Line 117"/>
          <p:cNvSpPr>
            <a:spLocks noChangeShapeType="1"/>
          </p:cNvSpPr>
          <p:nvPr/>
        </p:nvSpPr>
        <p:spPr bwMode="auto">
          <a:xfrm>
            <a:off x="3262313" y="14303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3" name="Line 118"/>
          <p:cNvSpPr>
            <a:spLocks noChangeShapeType="1"/>
          </p:cNvSpPr>
          <p:nvPr/>
        </p:nvSpPr>
        <p:spPr bwMode="auto">
          <a:xfrm>
            <a:off x="3262313" y="156051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4" name="Line 119"/>
          <p:cNvSpPr>
            <a:spLocks noChangeShapeType="1"/>
          </p:cNvSpPr>
          <p:nvPr/>
        </p:nvSpPr>
        <p:spPr bwMode="auto">
          <a:xfrm>
            <a:off x="3262313" y="16891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5" name="Line 120"/>
          <p:cNvSpPr>
            <a:spLocks noChangeShapeType="1"/>
          </p:cNvSpPr>
          <p:nvPr/>
        </p:nvSpPr>
        <p:spPr bwMode="auto">
          <a:xfrm>
            <a:off x="3262313" y="1819275"/>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6" name="Line 121"/>
          <p:cNvSpPr>
            <a:spLocks noChangeShapeType="1"/>
          </p:cNvSpPr>
          <p:nvPr/>
        </p:nvSpPr>
        <p:spPr bwMode="auto">
          <a:xfrm>
            <a:off x="3262313" y="19478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7" name="Line 122"/>
          <p:cNvSpPr>
            <a:spLocks noChangeShapeType="1"/>
          </p:cNvSpPr>
          <p:nvPr/>
        </p:nvSpPr>
        <p:spPr bwMode="auto">
          <a:xfrm>
            <a:off x="3262313" y="20780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8" name="Line 123"/>
          <p:cNvSpPr>
            <a:spLocks noChangeShapeType="1"/>
          </p:cNvSpPr>
          <p:nvPr/>
        </p:nvSpPr>
        <p:spPr bwMode="auto">
          <a:xfrm>
            <a:off x="3262313" y="22066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29" name="Line 124"/>
          <p:cNvSpPr>
            <a:spLocks noChangeShapeType="1"/>
          </p:cNvSpPr>
          <p:nvPr/>
        </p:nvSpPr>
        <p:spPr bwMode="auto">
          <a:xfrm>
            <a:off x="3262313" y="23368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0" name="Line 125"/>
          <p:cNvSpPr>
            <a:spLocks noChangeShapeType="1"/>
          </p:cNvSpPr>
          <p:nvPr/>
        </p:nvSpPr>
        <p:spPr bwMode="auto">
          <a:xfrm>
            <a:off x="3262313" y="24653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1" name="Line 126"/>
          <p:cNvSpPr>
            <a:spLocks noChangeShapeType="1"/>
          </p:cNvSpPr>
          <p:nvPr/>
        </p:nvSpPr>
        <p:spPr bwMode="auto">
          <a:xfrm>
            <a:off x="3262313" y="25955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2" name="Line 127"/>
          <p:cNvSpPr>
            <a:spLocks noChangeShapeType="1"/>
          </p:cNvSpPr>
          <p:nvPr/>
        </p:nvSpPr>
        <p:spPr bwMode="auto">
          <a:xfrm>
            <a:off x="3262313" y="272415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3" name="Line 128"/>
          <p:cNvSpPr>
            <a:spLocks noChangeShapeType="1"/>
          </p:cNvSpPr>
          <p:nvPr/>
        </p:nvSpPr>
        <p:spPr bwMode="auto">
          <a:xfrm>
            <a:off x="3262313" y="28543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4" name="Line 129"/>
          <p:cNvSpPr>
            <a:spLocks noChangeShapeType="1"/>
          </p:cNvSpPr>
          <p:nvPr/>
        </p:nvSpPr>
        <p:spPr bwMode="auto">
          <a:xfrm>
            <a:off x="3262313" y="2984500"/>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5" name="Line 130"/>
          <p:cNvSpPr>
            <a:spLocks noChangeShapeType="1"/>
          </p:cNvSpPr>
          <p:nvPr/>
        </p:nvSpPr>
        <p:spPr bwMode="auto">
          <a:xfrm>
            <a:off x="3262313" y="31130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6" name="Line 131"/>
          <p:cNvSpPr>
            <a:spLocks noChangeShapeType="1"/>
          </p:cNvSpPr>
          <p:nvPr/>
        </p:nvSpPr>
        <p:spPr bwMode="auto">
          <a:xfrm>
            <a:off x="3262313" y="324326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7" name="Line 132"/>
          <p:cNvSpPr>
            <a:spLocks noChangeShapeType="1"/>
          </p:cNvSpPr>
          <p:nvPr/>
        </p:nvSpPr>
        <p:spPr bwMode="auto">
          <a:xfrm>
            <a:off x="3262313" y="337185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8" name="Line 133"/>
          <p:cNvSpPr>
            <a:spLocks noChangeShapeType="1"/>
          </p:cNvSpPr>
          <p:nvPr/>
        </p:nvSpPr>
        <p:spPr bwMode="auto">
          <a:xfrm>
            <a:off x="3262313" y="3502025"/>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39" name="Line 134"/>
          <p:cNvSpPr>
            <a:spLocks noChangeShapeType="1"/>
          </p:cNvSpPr>
          <p:nvPr/>
        </p:nvSpPr>
        <p:spPr bwMode="auto">
          <a:xfrm>
            <a:off x="3262313" y="363061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0" name="Line 135"/>
          <p:cNvSpPr>
            <a:spLocks noChangeShapeType="1"/>
          </p:cNvSpPr>
          <p:nvPr/>
        </p:nvSpPr>
        <p:spPr bwMode="auto">
          <a:xfrm flipH="1">
            <a:off x="762476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1" name="Line 136"/>
          <p:cNvSpPr>
            <a:spLocks noChangeShapeType="1"/>
          </p:cNvSpPr>
          <p:nvPr/>
        </p:nvSpPr>
        <p:spPr bwMode="auto">
          <a:xfrm flipH="1">
            <a:off x="74945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2" name="Line 137"/>
          <p:cNvSpPr>
            <a:spLocks noChangeShapeType="1"/>
          </p:cNvSpPr>
          <p:nvPr/>
        </p:nvSpPr>
        <p:spPr bwMode="auto">
          <a:xfrm flipH="1">
            <a:off x="73660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3" name="Line 138"/>
          <p:cNvSpPr>
            <a:spLocks noChangeShapeType="1"/>
          </p:cNvSpPr>
          <p:nvPr/>
        </p:nvSpPr>
        <p:spPr bwMode="auto">
          <a:xfrm flipH="1">
            <a:off x="7237413"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4" name="Line 139"/>
          <p:cNvSpPr>
            <a:spLocks noChangeShapeType="1"/>
          </p:cNvSpPr>
          <p:nvPr/>
        </p:nvSpPr>
        <p:spPr bwMode="auto">
          <a:xfrm flipH="1">
            <a:off x="710723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5" name="Line 140"/>
          <p:cNvSpPr>
            <a:spLocks noChangeShapeType="1"/>
          </p:cNvSpPr>
          <p:nvPr/>
        </p:nvSpPr>
        <p:spPr bwMode="auto">
          <a:xfrm flipH="1">
            <a:off x="6978650"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6" name="Line 141"/>
          <p:cNvSpPr>
            <a:spLocks noChangeShapeType="1"/>
          </p:cNvSpPr>
          <p:nvPr/>
        </p:nvSpPr>
        <p:spPr bwMode="auto">
          <a:xfrm flipH="1">
            <a:off x="684847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7" name="Line 142"/>
          <p:cNvSpPr>
            <a:spLocks noChangeShapeType="1"/>
          </p:cNvSpPr>
          <p:nvPr/>
        </p:nvSpPr>
        <p:spPr bwMode="auto">
          <a:xfrm flipH="1">
            <a:off x="67198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8" name="Line 143"/>
          <p:cNvSpPr>
            <a:spLocks noChangeShapeType="1"/>
          </p:cNvSpPr>
          <p:nvPr/>
        </p:nvSpPr>
        <p:spPr bwMode="auto">
          <a:xfrm flipH="1">
            <a:off x="65897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49" name="Line 144"/>
          <p:cNvSpPr>
            <a:spLocks noChangeShapeType="1"/>
          </p:cNvSpPr>
          <p:nvPr/>
        </p:nvSpPr>
        <p:spPr bwMode="auto">
          <a:xfrm flipH="1">
            <a:off x="646112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0" name="Line 145"/>
          <p:cNvSpPr>
            <a:spLocks noChangeShapeType="1"/>
          </p:cNvSpPr>
          <p:nvPr/>
        </p:nvSpPr>
        <p:spPr bwMode="auto">
          <a:xfrm flipH="1">
            <a:off x="6332538"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1" name="Line 146"/>
          <p:cNvSpPr>
            <a:spLocks noChangeShapeType="1"/>
          </p:cNvSpPr>
          <p:nvPr/>
        </p:nvSpPr>
        <p:spPr bwMode="auto">
          <a:xfrm flipH="1">
            <a:off x="620236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2" name="Line 147"/>
          <p:cNvSpPr>
            <a:spLocks noChangeShapeType="1"/>
          </p:cNvSpPr>
          <p:nvPr/>
        </p:nvSpPr>
        <p:spPr bwMode="auto">
          <a:xfrm flipH="1">
            <a:off x="607377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3" name="Line 148"/>
          <p:cNvSpPr>
            <a:spLocks noChangeShapeType="1"/>
          </p:cNvSpPr>
          <p:nvPr/>
        </p:nvSpPr>
        <p:spPr bwMode="auto">
          <a:xfrm flipH="1">
            <a:off x="59436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4" name="Line 149"/>
          <p:cNvSpPr>
            <a:spLocks noChangeShapeType="1"/>
          </p:cNvSpPr>
          <p:nvPr/>
        </p:nvSpPr>
        <p:spPr bwMode="auto">
          <a:xfrm flipH="1">
            <a:off x="58150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5" name="Line 150"/>
          <p:cNvSpPr>
            <a:spLocks noChangeShapeType="1"/>
          </p:cNvSpPr>
          <p:nvPr/>
        </p:nvSpPr>
        <p:spPr bwMode="auto">
          <a:xfrm flipH="1">
            <a:off x="5686425"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6" name="Line 151"/>
          <p:cNvSpPr>
            <a:spLocks noChangeShapeType="1"/>
          </p:cNvSpPr>
          <p:nvPr/>
        </p:nvSpPr>
        <p:spPr bwMode="auto">
          <a:xfrm flipH="1">
            <a:off x="555625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7" name="Line 152"/>
          <p:cNvSpPr>
            <a:spLocks noChangeShapeType="1"/>
          </p:cNvSpPr>
          <p:nvPr/>
        </p:nvSpPr>
        <p:spPr bwMode="auto">
          <a:xfrm flipH="1">
            <a:off x="5427663"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8" name="Line 153"/>
          <p:cNvSpPr>
            <a:spLocks noChangeShapeType="1"/>
          </p:cNvSpPr>
          <p:nvPr/>
        </p:nvSpPr>
        <p:spPr bwMode="auto">
          <a:xfrm flipH="1">
            <a:off x="52974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59" name="Line 154"/>
          <p:cNvSpPr>
            <a:spLocks noChangeShapeType="1"/>
          </p:cNvSpPr>
          <p:nvPr/>
        </p:nvSpPr>
        <p:spPr bwMode="auto">
          <a:xfrm flipH="1">
            <a:off x="51689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0" name="Line 155"/>
          <p:cNvSpPr>
            <a:spLocks noChangeShapeType="1"/>
          </p:cNvSpPr>
          <p:nvPr/>
        </p:nvSpPr>
        <p:spPr bwMode="auto">
          <a:xfrm flipH="1">
            <a:off x="5040313"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1" name="Line 156"/>
          <p:cNvSpPr>
            <a:spLocks noChangeShapeType="1"/>
          </p:cNvSpPr>
          <p:nvPr/>
        </p:nvSpPr>
        <p:spPr bwMode="auto">
          <a:xfrm flipH="1">
            <a:off x="491013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2" name="Line 157"/>
          <p:cNvSpPr>
            <a:spLocks noChangeShapeType="1"/>
          </p:cNvSpPr>
          <p:nvPr/>
        </p:nvSpPr>
        <p:spPr bwMode="auto">
          <a:xfrm flipH="1">
            <a:off x="4781550"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3" name="Line 158"/>
          <p:cNvSpPr>
            <a:spLocks noChangeShapeType="1"/>
          </p:cNvSpPr>
          <p:nvPr/>
        </p:nvSpPr>
        <p:spPr bwMode="auto">
          <a:xfrm flipH="1">
            <a:off x="465137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4" name="Line 159"/>
          <p:cNvSpPr>
            <a:spLocks noChangeShapeType="1"/>
          </p:cNvSpPr>
          <p:nvPr/>
        </p:nvSpPr>
        <p:spPr bwMode="auto">
          <a:xfrm flipH="1">
            <a:off x="45227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5" name="Line 160"/>
          <p:cNvSpPr>
            <a:spLocks noChangeShapeType="1"/>
          </p:cNvSpPr>
          <p:nvPr/>
        </p:nvSpPr>
        <p:spPr bwMode="auto">
          <a:xfrm flipH="1">
            <a:off x="43926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6" name="Line 161"/>
          <p:cNvSpPr>
            <a:spLocks noChangeShapeType="1"/>
          </p:cNvSpPr>
          <p:nvPr/>
        </p:nvSpPr>
        <p:spPr bwMode="auto">
          <a:xfrm flipH="1">
            <a:off x="426402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7" name="Line 162"/>
          <p:cNvSpPr>
            <a:spLocks noChangeShapeType="1"/>
          </p:cNvSpPr>
          <p:nvPr/>
        </p:nvSpPr>
        <p:spPr bwMode="auto">
          <a:xfrm flipH="1">
            <a:off x="4135438"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8" name="Line 163"/>
          <p:cNvSpPr>
            <a:spLocks noChangeShapeType="1"/>
          </p:cNvSpPr>
          <p:nvPr/>
        </p:nvSpPr>
        <p:spPr bwMode="auto">
          <a:xfrm flipH="1">
            <a:off x="400526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69" name="Line 164"/>
          <p:cNvSpPr>
            <a:spLocks noChangeShapeType="1"/>
          </p:cNvSpPr>
          <p:nvPr/>
        </p:nvSpPr>
        <p:spPr bwMode="auto">
          <a:xfrm flipH="1">
            <a:off x="387667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0" name="Line 165"/>
          <p:cNvSpPr>
            <a:spLocks noChangeShapeType="1"/>
          </p:cNvSpPr>
          <p:nvPr/>
        </p:nvSpPr>
        <p:spPr bwMode="auto">
          <a:xfrm flipH="1">
            <a:off x="37465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1" name="Line 166"/>
          <p:cNvSpPr>
            <a:spLocks noChangeShapeType="1"/>
          </p:cNvSpPr>
          <p:nvPr/>
        </p:nvSpPr>
        <p:spPr bwMode="auto">
          <a:xfrm flipH="1">
            <a:off x="36179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2" name="Line 167"/>
          <p:cNvSpPr>
            <a:spLocks noChangeShapeType="1"/>
          </p:cNvSpPr>
          <p:nvPr/>
        </p:nvSpPr>
        <p:spPr bwMode="auto">
          <a:xfrm flipH="1">
            <a:off x="3489325"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3" name="Line 168"/>
          <p:cNvSpPr>
            <a:spLocks noChangeShapeType="1"/>
          </p:cNvSpPr>
          <p:nvPr/>
        </p:nvSpPr>
        <p:spPr bwMode="auto">
          <a:xfrm flipH="1">
            <a:off x="335915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4" name="Line 169"/>
          <p:cNvSpPr>
            <a:spLocks noChangeShapeType="1"/>
          </p:cNvSpPr>
          <p:nvPr/>
        </p:nvSpPr>
        <p:spPr bwMode="auto">
          <a:xfrm flipH="1">
            <a:off x="3230563"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5" name="Line 170"/>
          <p:cNvSpPr>
            <a:spLocks noChangeShapeType="1"/>
          </p:cNvSpPr>
          <p:nvPr/>
        </p:nvSpPr>
        <p:spPr bwMode="auto">
          <a:xfrm flipH="1">
            <a:off x="31003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6" name="Line 171"/>
          <p:cNvSpPr>
            <a:spLocks noChangeShapeType="1"/>
          </p:cNvSpPr>
          <p:nvPr/>
        </p:nvSpPr>
        <p:spPr bwMode="auto">
          <a:xfrm flipH="1">
            <a:off x="29718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7" name="Line 172"/>
          <p:cNvSpPr>
            <a:spLocks noChangeShapeType="1"/>
          </p:cNvSpPr>
          <p:nvPr/>
        </p:nvSpPr>
        <p:spPr bwMode="auto">
          <a:xfrm flipH="1">
            <a:off x="2843213"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8" name="Line 173"/>
          <p:cNvSpPr>
            <a:spLocks noChangeShapeType="1"/>
          </p:cNvSpPr>
          <p:nvPr/>
        </p:nvSpPr>
        <p:spPr bwMode="auto">
          <a:xfrm flipH="1">
            <a:off x="271303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79" name="Line 174"/>
          <p:cNvSpPr>
            <a:spLocks noChangeShapeType="1"/>
          </p:cNvSpPr>
          <p:nvPr/>
        </p:nvSpPr>
        <p:spPr bwMode="auto">
          <a:xfrm flipH="1">
            <a:off x="2584450"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0" name="Line 175"/>
          <p:cNvSpPr>
            <a:spLocks noChangeShapeType="1"/>
          </p:cNvSpPr>
          <p:nvPr/>
        </p:nvSpPr>
        <p:spPr bwMode="auto">
          <a:xfrm flipH="1">
            <a:off x="245427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1" name="Line 176"/>
          <p:cNvSpPr>
            <a:spLocks noChangeShapeType="1"/>
          </p:cNvSpPr>
          <p:nvPr/>
        </p:nvSpPr>
        <p:spPr bwMode="auto">
          <a:xfrm flipH="1">
            <a:off x="2325688"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2" name="Line 177"/>
          <p:cNvSpPr>
            <a:spLocks noChangeShapeType="1"/>
          </p:cNvSpPr>
          <p:nvPr/>
        </p:nvSpPr>
        <p:spPr bwMode="auto">
          <a:xfrm flipH="1">
            <a:off x="21955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3" name="Line 178"/>
          <p:cNvSpPr>
            <a:spLocks noChangeShapeType="1"/>
          </p:cNvSpPr>
          <p:nvPr/>
        </p:nvSpPr>
        <p:spPr bwMode="auto">
          <a:xfrm flipH="1">
            <a:off x="2066925"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4" name="Line 179"/>
          <p:cNvSpPr>
            <a:spLocks noChangeShapeType="1"/>
          </p:cNvSpPr>
          <p:nvPr/>
        </p:nvSpPr>
        <p:spPr bwMode="auto">
          <a:xfrm flipH="1">
            <a:off x="1938338"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5" name="Line 180"/>
          <p:cNvSpPr>
            <a:spLocks noChangeShapeType="1"/>
          </p:cNvSpPr>
          <p:nvPr/>
        </p:nvSpPr>
        <p:spPr bwMode="auto">
          <a:xfrm flipH="1">
            <a:off x="180816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6" name="Line 181"/>
          <p:cNvSpPr>
            <a:spLocks noChangeShapeType="1"/>
          </p:cNvSpPr>
          <p:nvPr/>
        </p:nvSpPr>
        <p:spPr bwMode="auto">
          <a:xfrm flipH="1">
            <a:off x="1679575"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7" name="Line 182"/>
          <p:cNvSpPr>
            <a:spLocks noChangeShapeType="1"/>
          </p:cNvSpPr>
          <p:nvPr/>
        </p:nvSpPr>
        <p:spPr bwMode="auto">
          <a:xfrm flipH="1">
            <a:off x="1549400" y="1430338"/>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8" name="Line 183"/>
          <p:cNvSpPr>
            <a:spLocks noChangeShapeType="1"/>
          </p:cNvSpPr>
          <p:nvPr/>
        </p:nvSpPr>
        <p:spPr bwMode="auto">
          <a:xfrm flipH="1">
            <a:off x="1420813" y="1430338"/>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89" name="Line 184"/>
          <p:cNvSpPr>
            <a:spLocks noChangeShapeType="1"/>
          </p:cNvSpPr>
          <p:nvPr/>
        </p:nvSpPr>
        <p:spPr bwMode="auto">
          <a:xfrm flipH="1">
            <a:off x="1292225" y="1430338"/>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0" name="Line 185"/>
          <p:cNvSpPr>
            <a:spLocks noChangeShapeType="1"/>
          </p:cNvSpPr>
          <p:nvPr/>
        </p:nvSpPr>
        <p:spPr bwMode="auto">
          <a:xfrm flipH="1">
            <a:off x="762476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1" name="Line 186"/>
          <p:cNvSpPr>
            <a:spLocks noChangeShapeType="1"/>
          </p:cNvSpPr>
          <p:nvPr/>
        </p:nvSpPr>
        <p:spPr bwMode="auto">
          <a:xfrm flipH="1">
            <a:off x="74945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2" name="Line 187"/>
          <p:cNvSpPr>
            <a:spLocks noChangeShapeType="1"/>
          </p:cNvSpPr>
          <p:nvPr/>
        </p:nvSpPr>
        <p:spPr bwMode="auto">
          <a:xfrm flipH="1">
            <a:off x="73660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3" name="Line 188"/>
          <p:cNvSpPr>
            <a:spLocks noChangeShapeType="1"/>
          </p:cNvSpPr>
          <p:nvPr/>
        </p:nvSpPr>
        <p:spPr bwMode="auto">
          <a:xfrm flipH="1">
            <a:off x="7237413"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4" name="Line 189"/>
          <p:cNvSpPr>
            <a:spLocks noChangeShapeType="1"/>
          </p:cNvSpPr>
          <p:nvPr/>
        </p:nvSpPr>
        <p:spPr bwMode="auto">
          <a:xfrm flipH="1">
            <a:off x="710723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5" name="Line 190"/>
          <p:cNvSpPr>
            <a:spLocks noChangeShapeType="1"/>
          </p:cNvSpPr>
          <p:nvPr/>
        </p:nvSpPr>
        <p:spPr bwMode="auto">
          <a:xfrm flipH="1">
            <a:off x="6978650"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6" name="Line 191"/>
          <p:cNvSpPr>
            <a:spLocks noChangeShapeType="1"/>
          </p:cNvSpPr>
          <p:nvPr/>
        </p:nvSpPr>
        <p:spPr bwMode="auto">
          <a:xfrm flipH="1">
            <a:off x="684847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7" name="Line 192"/>
          <p:cNvSpPr>
            <a:spLocks noChangeShapeType="1"/>
          </p:cNvSpPr>
          <p:nvPr/>
        </p:nvSpPr>
        <p:spPr bwMode="auto">
          <a:xfrm flipH="1">
            <a:off x="67198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8" name="Line 193"/>
          <p:cNvSpPr>
            <a:spLocks noChangeShapeType="1"/>
          </p:cNvSpPr>
          <p:nvPr/>
        </p:nvSpPr>
        <p:spPr bwMode="auto">
          <a:xfrm flipH="1">
            <a:off x="65897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299" name="Line 194"/>
          <p:cNvSpPr>
            <a:spLocks noChangeShapeType="1"/>
          </p:cNvSpPr>
          <p:nvPr/>
        </p:nvSpPr>
        <p:spPr bwMode="auto">
          <a:xfrm flipH="1">
            <a:off x="646112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0" name="Line 195"/>
          <p:cNvSpPr>
            <a:spLocks noChangeShapeType="1"/>
          </p:cNvSpPr>
          <p:nvPr/>
        </p:nvSpPr>
        <p:spPr bwMode="auto">
          <a:xfrm flipH="1">
            <a:off x="6332538"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1" name="Line 196"/>
          <p:cNvSpPr>
            <a:spLocks noChangeShapeType="1"/>
          </p:cNvSpPr>
          <p:nvPr/>
        </p:nvSpPr>
        <p:spPr bwMode="auto">
          <a:xfrm flipH="1">
            <a:off x="620236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2" name="Line 197"/>
          <p:cNvSpPr>
            <a:spLocks noChangeShapeType="1"/>
          </p:cNvSpPr>
          <p:nvPr/>
        </p:nvSpPr>
        <p:spPr bwMode="auto">
          <a:xfrm flipH="1">
            <a:off x="607377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3" name="Line 198"/>
          <p:cNvSpPr>
            <a:spLocks noChangeShapeType="1"/>
          </p:cNvSpPr>
          <p:nvPr/>
        </p:nvSpPr>
        <p:spPr bwMode="auto">
          <a:xfrm flipH="1">
            <a:off x="59436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4" name="Line 199"/>
          <p:cNvSpPr>
            <a:spLocks noChangeShapeType="1"/>
          </p:cNvSpPr>
          <p:nvPr/>
        </p:nvSpPr>
        <p:spPr bwMode="auto">
          <a:xfrm flipH="1">
            <a:off x="58150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5" name="Line 200"/>
          <p:cNvSpPr>
            <a:spLocks noChangeShapeType="1"/>
          </p:cNvSpPr>
          <p:nvPr/>
        </p:nvSpPr>
        <p:spPr bwMode="auto">
          <a:xfrm flipH="1">
            <a:off x="5686425"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6" name="Line 201"/>
          <p:cNvSpPr>
            <a:spLocks noChangeShapeType="1"/>
          </p:cNvSpPr>
          <p:nvPr/>
        </p:nvSpPr>
        <p:spPr bwMode="auto">
          <a:xfrm flipH="1">
            <a:off x="555625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7" name="Line 202"/>
          <p:cNvSpPr>
            <a:spLocks noChangeShapeType="1"/>
          </p:cNvSpPr>
          <p:nvPr/>
        </p:nvSpPr>
        <p:spPr bwMode="auto">
          <a:xfrm flipH="1">
            <a:off x="5427663"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8" name="Line 203"/>
          <p:cNvSpPr>
            <a:spLocks noChangeShapeType="1"/>
          </p:cNvSpPr>
          <p:nvPr/>
        </p:nvSpPr>
        <p:spPr bwMode="auto">
          <a:xfrm flipH="1">
            <a:off x="52974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09" name="Line 204"/>
          <p:cNvSpPr>
            <a:spLocks noChangeShapeType="1"/>
          </p:cNvSpPr>
          <p:nvPr/>
        </p:nvSpPr>
        <p:spPr bwMode="auto">
          <a:xfrm flipH="1">
            <a:off x="51689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0" name="Line 205"/>
          <p:cNvSpPr>
            <a:spLocks noChangeShapeType="1"/>
          </p:cNvSpPr>
          <p:nvPr/>
        </p:nvSpPr>
        <p:spPr bwMode="auto">
          <a:xfrm flipH="1">
            <a:off x="5040313"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1" name="Line 206"/>
          <p:cNvSpPr>
            <a:spLocks noChangeShapeType="1"/>
          </p:cNvSpPr>
          <p:nvPr/>
        </p:nvSpPr>
        <p:spPr bwMode="auto">
          <a:xfrm flipH="1">
            <a:off x="491013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2" name="Line 207"/>
          <p:cNvSpPr>
            <a:spLocks noChangeShapeType="1"/>
          </p:cNvSpPr>
          <p:nvPr/>
        </p:nvSpPr>
        <p:spPr bwMode="auto">
          <a:xfrm flipH="1">
            <a:off x="4781550"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3" name="Line 208"/>
          <p:cNvSpPr>
            <a:spLocks noChangeShapeType="1"/>
          </p:cNvSpPr>
          <p:nvPr/>
        </p:nvSpPr>
        <p:spPr bwMode="auto">
          <a:xfrm flipH="1">
            <a:off x="465137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4" name="Line 209"/>
          <p:cNvSpPr>
            <a:spLocks noChangeShapeType="1"/>
          </p:cNvSpPr>
          <p:nvPr/>
        </p:nvSpPr>
        <p:spPr bwMode="auto">
          <a:xfrm flipH="1">
            <a:off x="45227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5" name="Line 210"/>
          <p:cNvSpPr>
            <a:spLocks noChangeShapeType="1"/>
          </p:cNvSpPr>
          <p:nvPr/>
        </p:nvSpPr>
        <p:spPr bwMode="auto">
          <a:xfrm flipH="1">
            <a:off x="43926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6" name="Line 211"/>
          <p:cNvSpPr>
            <a:spLocks noChangeShapeType="1"/>
          </p:cNvSpPr>
          <p:nvPr/>
        </p:nvSpPr>
        <p:spPr bwMode="auto">
          <a:xfrm flipH="1">
            <a:off x="426402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7" name="Line 212"/>
          <p:cNvSpPr>
            <a:spLocks noChangeShapeType="1"/>
          </p:cNvSpPr>
          <p:nvPr/>
        </p:nvSpPr>
        <p:spPr bwMode="auto">
          <a:xfrm flipH="1">
            <a:off x="4135438"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8" name="Line 213"/>
          <p:cNvSpPr>
            <a:spLocks noChangeShapeType="1"/>
          </p:cNvSpPr>
          <p:nvPr/>
        </p:nvSpPr>
        <p:spPr bwMode="auto">
          <a:xfrm flipH="1">
            <a:off x="400526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19" name="Line 214"/>
          <p:cNvSpPr>
            <a:spLocks noChangeShapeType="1"/>
          </p:cNvSpPr>
          <p:nvPr/>
        </p:nvSpPr>
        <p:spPr bwMode="auto">
          <a:xfrm flipH="1">
            <a:off x="387667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0" name="Line 215"/>
          <p:cNvSpPr>
            <a:spLocks noChangeShapeType="1"/>
          </p:cNvSpPr>
          <p:nvPr/>
        </p:nvSpPr>
        <p:spPr bwMode="auto">
          <a:xfrm flipH="1">
            <a:off x="37465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1" name="Line 216"/>
          <p:cNvSpPr>
            <a:spLocks noChangeShapeType="1"/>
          </p:cNvSpPr>
          <p:nvPr/>
        </p:nvSpPr>
        <p:spPr bwMode="auto">
          <a:xfrm flipH="1">
            <a:off x="36179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2" name="Line 217"/>
          <p:cNvSpPr>
            <a:spLocks noChangeShapeType="1"/>
          </p:cNvSpPr>
          <p:nvPr/>
        </p:nvSpPr>
        <p:spPr bwMode="auto">
          <a:xfrm flipH="1">
            <a:off x="3489325"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3" name="Line 218"/>
          <p:cNvSpPr>
            <a:spLocks noChangeShapeType="1"/>
          </p:cNvSpPr>
          <p:nvPr/>
        </p:nvSpPr>
        <p:spPr bwMode="auto">
          <a:xfrm flipH="1">
            <a:off x="335915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4" name="Line 219"/>
          <p:cNvSpPr>
            <a:spLocks noChangeShapeType="1"/>
          </p:cNvSpPr>
          <p:nvPr/>
        </p:nvSpPr>
        <p:spPr bwMode="auto">
          <a:xfrm flipH="1">
            <a:off x="3230563"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5" name="Line 220"/>
          <p:cNvSpPr>
            <a:spLocks noChangeShapeType="1"/>
          </p:cNvSpPr>
          <p:nvPr/>
        </p:nvSpPr>
        <p:spPr bwMode="auto">
          <a:xfrm flipH="1">
            <a:off x="31003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6" name="Line 221"/>
          <p:cNvSpPr>
            <a:spLocks noChangeShapeType="1"/>
          </p:cNvSpPr>
          <p:nvPr/>
        </p:nvSpPr>
        <p:spPr bwMode="auto">
          <a:xfrm flipH="1">
            <a:off x="29718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7" name="Line 222"/>
          <p:cNvSpPr>
            <a:spLocks noChangeShapeType="1"/>
          </p:cNvSpPr>
          <p:nvPr/>
        </p:nvSpPr>
        <p:spPr bwMode="auto">
          <a:xfrm flipH="1">
            <a:off x="2843213"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8" name="Line 223"/>
          <p:cNvSpPr>
            <a:spLocks noChangeShapeType="1"/>
          </p:cNvSpPr>
          <p:nvPr/>
        </p:nvSpPr>
        <p:spPr bwMode="auto">
          <a:xfrm flipH="1">
            <a:off x="271303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29" name="Line 224"/>
          <p:cNvSpPr>
            <a:spLocks noChangeShapeType="1"/>
          </p:cNvSpPr>
          <p:nvPr/>
        </p:nvSpPr>
        <p:spPr bwMode="auto">
          <a:xfrm flipH="1">
            <a:off x="2584450"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0" name="Line 225"/>
          <p:cNvSpPr>
            <a:spLocks noChangeShapeType="1"/>
          </p:cNvSpPr>
          <p:nvPr/>
        </p:nvSpPr>
        <p:spPr bwMode="auto">
          <a:xfrm flipH="1">
            <a:off x="245427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1" name="Line 226"/>
          <p:cNvSpPr>
            <a:spLocks noChangeShapeType="1"/>
          </p:cNvSpPr>
          <p:nvPr/>
        </p:nvSpPr>
        <p:spPr bwMode="auto">
          <a:xfrm flipH="1">
            <a:off x="2325688"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2" name="Line 227"/>
          <p:cNvSpPr>
            <a:spLocks noChangeShapeType="1"/>
          </p:cNvSpPr>
          <p:nvPr/>
        </p:nvSpPr>
        <p:spPr bwMode="auto">
          <a:xfrm flipH="1">
            <a:off x="21955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3" name="Line 228"/>
          <p:cNvSpPr>
            <a:spLocks noChangeShapeType="1"/>
          </p:cNvSpPr>
          <p:nvPr/>
        </p:nvSpPr>
        <p:spPr bwMode="auto">
          <a:xfrm flipH="1">
            <a:off x="2066925"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4" name="Line 229"/>
          <p:cNvSpPr>
            <a:spLocks noChangeShapeType="1"/>
          </p:cNvSpPr>
          <p:nvPr/>
        </p:nvSpPr>
        <p:spPr bwMode="auto">
          <a:xfrm flipH="1">
            <a:off x="1938338"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5" name="Line 230"/>
          <p:cNvSpPr>
            <a:spLocks noChangeShapeType="1"/>
          </p:cNvSpPr>
          <p:nvPr/>
        </p:nvSpPr>
        <p:spPr bwMode="auto">
          <a:xfrm flipH="1">
            <a:off x="180816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6" name="Line 231"/>
          <p:cNvSpPr>
            <a:spLocks noChangeShapeType="1"/>
          </p:cNvSpPr>
          <p:nvPr/>
        </p:nvSpPr>
        <p:spPr bwMode="auto">
          <a:xfrm flipH="1">
            <a:off x="1679575"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7" name="Line 232"/>
          <p:cNvSpPr>
            <a:spLocks noChangeShapeType="1"/>
          </p:cNvSpPr>
          <p:nvPr/>
        </p:nvSpPr>
        <p:spPr bwMode="auto">
          <a:xfrm flipH="1">
            <a:off x="1549400" y="1268413"/>
            <a:ext cx="650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8" name="Line 233"/>
          <p:cNvSpPr>
            <a:spLocks noChangeShapeType="1"/>
          </p:cNvSpPr>
          <p:nvPr/>
        </p:nvSpPr>
        <p:spPr bwMode="auto">
          <a:xfrm flipH="1">
            <a:off x="1420813" y="1268413"/>
            <a:ext cx="650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39" name="Line 234"/>
          <p:cNvSpPr>
            <a:spLocks noChangeShapeType="1"/>
          </p:cNvSpPr>
          <p:nvPr/>
        </p:nvSpPr>
        <p:spPr bwMode="auto">
          <a:xfrm flipH="1">
            <a:off x="1292225" y="1268413"/>
            <a:ext cx="635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0" name="Line 235"/>
          <p:cNvSpPr>
            <a:spLocks noChangeShapeType="1"/>
          </p:cNvSpPr>
          <p:nvPr/>
        </p:nvSpPr>
        <p:spPr bwMode="auto">
          <a:xfrm>
            <a:off x="6170613" y="14303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1" name="Line 236"/>
          <p:cNvSpPr>
            <a:spLocks noChangeShapeType="1"/>
          </p:cNvSpPr>
          <p:nvPr/>
        </p:nvSpPr>
        <p:spPr bwMode="auto">
          <a:xfrm>
            <a:off x="6170613" y="156051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2" name="Line 237"/>
          <p:cNvSpPr>
            <a:spLocks noChangeShapeType="1"/>
          </p:cNvSpPr>
          <p:nvPr/>
        </p:nvSpPr>
        <p:spPr bwMode="auto">
          <a:xfrm>
            <a:off x="6170613" y="16891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3" name="Line 238"/>
          <p:cNvSpPr>
            <a:spLocks noChangeShapeType="1"/>
          </p:cNvSpPr>
          <p:nvPr/>
        </p:nvSpPr>
        <p:spPr bwMode="auto">
          <a:xfrm>
            <a:off x="6170613" y="1819275"/>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4" name="Line 239"/>
          <p:cNvSpPr>
            <a:spLocks noChangeShapeType="1"/>
          </p:cNvSpPr>
          <p:nvPr/>
        </p:nvSpPr>
        <p:spPr bwMode="auto">
          <a:xfrm>
            <a:off x="6170613" y="19478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5" name="Line 240"/>
          <p:cNvSpPr>
            <a:spLocks noChangeShapeType="1"/>
          </p:cNvSpPr>
          <p:nvPr/>
        </p:nvSpPr>
        <p:spPr bwMode="auto">
          <a:xfrm>
            <a:off x="6170613" y="20780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6" name="Line 241"/>
          <p:cNvSpPr>
            <a:spLocks noChangeShapeType="1"/>
          </p:cNvSpPr>
          <p:nvPr/>
        </p:nvSpPr>
        <p:spPr bwMode="auto">
          <a:xfrm>
            <a:off x="6170613" y="22066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7" name="Line 242"/>
          <p:cNvSpPr>
            <a:spLocks noChangeShapeType="1"/>
          </p:cNvSpPr>
          <p:nvPr/>
        </p:nvSpPr>
        <p:spPr bwMode="auto">
          <a:xfrm>
            <a:off x="6170613" y="23368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8" name="Line 243"/>
          <p:cNvSpPr>
            <a:spLocks noChangeShapeType="1"/>
          </p:cNvSpPr>
          <p:nvPr/>
        </p:nvSpPr>
        <p:spPr bwMode="auto">
          <a:xfrm>
            <a:off x="6170613" y="24653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49" name="Line 244"/>
          <p:cNvSpPr>
            <a:spLocks noChangeShapeType="1"/>
          </p:cNvSpPr>
          <p:nvPr/>
        </p:nvSpPr>
        <p:spPr bwMode="auto">
          <a:xfrm>
            <a:off x="6170613" y="25955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0" name="Line 245"/>
          <p:cNvSpPr>
            <a:spLocks noChangeShapeType="1"/>
          </p:cNvSpPr>
          <p:nvPr/>
        </p:nvSpPr>
        <p:spPr bwMode="auto">
          <a:xfrm>
            <a:off x="6170613" y="272415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1" name="Line 246"/>
          <p:cNvSpPr>
            <a:spLocks noChangeShapeType="1"/>
          </p:cNvSpPr>
          <p:nvPr/>
        </p:nvSpPr>
        <p:spPr bwMode="auto">
          <a:xfrm>
            <a:off x="6170613" y="28543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2" name="Line 247"/>
          <p:cNvSpPr>
            <a:spLocks noChangeShapeType="1"/>
          </p:cNvSpPr>
          <p:nvPr/>
        </p:nvSpPr>
        <p:spPr bwMode="auto">
          <a:xfrm>
            <a:off x="6170613" y="2984500"/>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3" name="Line 248"/>
          <p:cNvSpPr>
            <a:spLocks noChangeShapeType="1"/>
          </p:cNvSpPr>
          <p:nvPr/>
        </p:nvSpPr>
        <p:spPr bwMode="auto">
          <a:xfrm>
            <a:off x="6170613" y="31130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4" name="Line 249"/>
          <p:cNvSpPr>
            <a:spLocks noChangeShapeType="1"/>
          </p:cNvSpPr>
          <p:nvPr/>
        </p:nvSpPr>
        <p:spPr bwMode="auto">
          <a:xfrm>
            <a:off x="6170613" y="324326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5" name="Line 250"/>
          <p:cNvSpPr>
            <a:spLocks noChangeShapeType="1"/>
          </p:cNvSpPr>
          <p:nvPr/>
        </p:nvSpPr>
        <p:spPr bwMode="auto">
          <a:xfrm>
            <a:off x="6170613" y="337185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6" name="Line 251"/>
          <p:cNvSpPr>
            <a:spLocks noChangeShapeType="1"/>
          </p:cNvSpPr>
          <p:nvPr/>
        </p:nvSpPr>
        <p:spPr bwMode="auto">
          <a:xfrm>
            <a:off x="6170613" y="3502025"/>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7" name="Line 252"/>
          <p:cNvSpPr>
            <a:spLocks noChangeShapeType="1"/>
          </p:cNvSpPr>
          <p:nvPr/>
        </p:nvSpPr>
        <p:spPr bwMode="auto">
          <a:xfrm>
            <a:off x="6170613" y="363061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8" name="Line 253"/>
          <p:cNvSpPr>
            <a:spLocks noChangeShapeType="1"/>
          </p:cNvSpPr>
          <p:nvPr/>
        </p:nvSpPr>
        <p:spPr bwMode="auto">
          <a:xfrm flipV="1">
            <a:off x="7075488" y="364648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59" name="Line 254"/>
          <p:cNvSpPr>
            <a:spLocks noChangeShapeType="1"/>
          </p:cNvSpPr>
          <p:nvPr/>
        </p:nvSpPr>
        <p:spPr bwMode="auto">
          <a:xfrm flipV="1">
            <a:off x="7075488" y="35179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0" name="Line 255"/>
          <p:cNvSpPr>
            <a:spLocks noChangeShapeType="1"/>
          </p:cNvSpPr>
          <p:nvPr/>
        </p:nvSpPr>
        <p:spPr bwMode="auto">
          <a:xfrm flipV="1">
            <a:off x="7075488" y="338772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1" name="Line 256"/>
          <p:cNvSpPr>
            <a:spLocks noChangeShapeType="1"/>
          </p:cNvSpPr>
          <p:nvPr/>
        </p:nvSpPr>
        <p:spPr bwMode="auto">
          <a:xfrm flipV="1">
            <a:off x="7075488" y="32591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2" name="Line 257"/>
          <p:cNvSpPr>
            <a:spLocks noChangeShapeType="1"/>
          </p:cNvSpPr>
          <p:nvPr/>
        </p:nvSpPr>
        <p:spPr bwMode="auto">
          <a:xfrm flipV="1">
            <a:off x="7075488" y="3128963"/>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3" name="Line 258"/>
          <p:cNvSpPr>
            <a:spLocks noChangeShapeType="1"/>
          </p:cNvSpPr>
          <p:nvPr/>
        </p:nvSpPr>
        <p:spPr bwMode="auto">
          <a:xfrm flipV="1">
            <a:off x="7075488" y="300037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4" name="Line 259"/>
          <p:cNvSpPr>
            <a:spLocks noChangeShapeType="1"/>
          </p:cNvSpPr>
          <p:nvPr/>
        </p:nvSpPr>
        <p:spPr bwMode="auto">
          <a:xfrm flipV="1">
            <a:off x="7075488" y="2870200"/>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5" name="Line 260"/>
          <p:cNvSpPr>
            <a:spLocks noChangeShapeType="1"/>
          </p:cNvSpPr>
          <p:nvPr/>
        </p:nvSpPr>
        <p:spPr bwMode="auto">
          <a:xfrm flipV="1">
            <a:off x="7075488" y="2741613"/>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6" name="Line 261"/>
          <p:cNvSpPr>
            <a:spLocks noChangeShapeType="1"/>
          </p:cNvSpPr>
          <p:nvPr/>
        </p:nvSpPr>
        <p:spPr bwMode="auto">
          <a:xfrm flipV="1">
            <a:off x="7075488" y="2611438"/>
            <a:ext cx="1587" cy="650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7" name="Line 262"/>
          <p:cNvSpPr>
            <a:spLocks noChangeShapeType="1"/>
          </p:cNvSpPr>
          <p:nvPr/>
        </p:nvSpPr>
        <p:spPr bwMode="auto">
          <a:xfrm flipV="1">
            <a:off x="7075488" y="2482850"/>
            <a:ext cx="1587" cy="635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8" name="Line 263"/>
          <p:cNvSpPr>
            <a:spLocks noChangeShapeType="1"/>
          </p:cNvSpPr>
          <p:nvPr/>
        </p:nvSpPr>
        <p:spPr bwMode="auto">
          <a:xfrm flipV="1">
            <a:off x="7075488" y="2352675"/>
            <a:ext cx="1587" cy="650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69" name="Freeform 264"/>
          <p:cNvSpPr/>
          <p:nvPr/>
        </p:nvSpPr>
        <p:spPr bwMode="auto">
          <a:xfrm>
            <a:off x="3262313" y="1268413"/>
            <a:ext cx="306387" cy="161925"/>
          </a:xfrm>
          <a:custGeom>
            <a:avLst/>
            <a:gdLst>
              <a:gd name="T0" fmla="*/ 2147483646 w 193"/>
              <a:gd name="T1" fmla="*/ 0 h 102"/>
              <a:gd name="T2" fmla="*/ 2147483646 w 193"/>
              <a:gd name="T3" fmla="*/ 2147483646 h 102"/>
              <a:gd name="T4" fmla="*/ 0 w 193"/>
              <a:gd name="T5" fmla="*/ 2147483646 h 102"/>
              <a:gd name="T6" fmla="*/ 0 60000 65536"/>
              <a:gd name="T7" fmla="*/ 0 60000 65536"/>
              <a:gd name="T8" fmla="*/ 0 60000 65536"/>
              <a:gd name="T9" fmla="*/ 0 w 193"/>
              <a:gd name="T10" fmla="*/ 0 h 102"/>
              <a:gd name="T11" fmla="*/ 193 w 193"/>
              <a:gd name="T12" fmla="*/ 102 h 102"/>
            </a:gdLst>
            <a:ahLst/>
            <a:cxnLst>
              <a:cxn ang="T6">
                <a:pos x="T0" y="T1"/>
              </a:cxn>
              <a:cxn ang="T7">
                <a:pos x="T2" y="T3"/>
              </a:cxn>
              <a:cxn ang="T8">
                <a:pos x="T4" y="T5"/>
              </a:cxn>
            </a:cxnLst>
            <a:rect l="T9" t="T10" r="T11" b="T12"/>
            <a:pathLst>
              <a:path w="193" h="102">
                <a:moveTo>
                  <a:pt x="193" y="0"/>
                </a:moveTo>
                <a:lnTo>
                  <a:pt x="92" y="31"/>
                </a:lnTo>
                <a:lnTo>
                  <a:pt x="0" y="102"/>
                </a:ln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370" name="Freeform 265"/>
          <p:cNvSpPr/>
          <p:nvPr/>
        </p:nvSpPr>
        <p:spPr bwMode="auto">
          <a:xfrm>
            <a:off x="5864225" y="1268413"/>
            <a:ext cx="306388" cy="161925"/>
          </a:xfrm>
          <a:custGeom>
            <a:avLst/>
            <a:gdLst>
              <a:gd name="T0" fmla="*/ 0 w 193"/>
              <a:gd name="T1" fmla="*/ 0 h 102"/>
              <a:gd name="T2" fmla="*/ 2147483646 w 193"/>
              <a:gd name="T3" fmla="*/ 2147483646 h 102"/>
              <a:gd name="T4" fmla="*/ 2147483646 w 193"/>
              <a:gd name="T5" fmla="*/ 2147483646 h 102"/>
              <a:gd name="T6" fmla="*/ 0 60000 65536"/>
              <a:gd name="T7" fmla="*/ 0 60000 65536"/>
              <a:gd name="T8" fmla="*/ 0 60000 65536"/>
              <a:gd name="T9" fmla="*/ 0 w 193"/>
              <a:gd name="T10" fmla="*/ 0 h 102"/>
              <a:gd name="T11" fmla="*/ 193 w 193"/>
              <a:gd name="T12" fmla="*/ 102 h 102"/>
            </a:gdLst>
            <a:ahLst/>
            <a:cxnLst>
              <a:cxn ang="T6">
                <a:pos x="T0" y="T1"/>
              </a:cxn>
              <a:cxn ang="T7">
                <a:pos x="T2" y="T3"/>
              </a:cxn>
              <a:cxn ang="T8">
                <a:pos x="T4" y="T5"/>
              </a:cxn>
            </a:cxnLst>
            <a:rect l="T9" t="T10" r="T11" b="T12"/>
            <a:pathLst>
              <a:path w="193" h="102">
                <a:moveTo>
                  <a:pt x="0" y="0"/>
                </a:moveTo>
                <a:lnTo>
                  <a:pt x="101" y="31"/>
                </a:lnTo>
                <a:lnTo>
                  <a:pt x="193" y="102"/>
                </a:ln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371" name="Line 266"/>
          <p:cNvSpPr>
            <a:spLocks noChangeShapeType="1"/>
          </p:cNvSpPr>
          <p:nvPr/>
        </p:nvSpPr>
        <p:spPr bwMode="auto">
          <a:xfrm flipH="1">
            <a:off x="3568700" y="1268413"/>
            <a:ext cx="2295525"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2" name="Line 267"/>
          <p:cNvSpPr>
            <a:spLocks noChangeShapeType="1"/>
          </p:cNvSpPr>
          <p:nvPr/>
        </p:nvSpPr>
        <p:spPr bwMode="auto">
          <a:xfrm flipH="1">
            <a:off x="1743075" y="1430338"/>
            <a:ext cx="1519238" cy="152082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3" name="Line 268"/>
          <p:cNvSpPr>
            <a:spLocks noChangeShapeType="1"/>
          </p:cNvSpPr>
          <p:nvPr/>
        </p:nvSpPr>
        <p:spPr bwMode="auto">
          <a:xfrm>
            <a:off x="6170613" y="1430338"/>
            <a:ext cx="1519237" cy="152082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4" name="Freeform 269"/>
          <p:cNvSpPr/>
          <p:nvPr/>
        </p:nvSpPr>
        <p:spPr bwMode="auto">
          <a:xfrm>
            <a:off x="2357438" y="2190750"/>
            <a:ext cx="452437" cy="146050"/>
          </a:xfrm>
          <a:custGeom>
            <a:avLst/>
            <a:gdLst>
              <a:gd name="T0" fmla="*/ 2147483646 w 285"/>
              <a:gd name="T1" fmla="*/ 0 h 92"/>
              <a:gd name="T2" fmla="*/ 2147483646 w 285"/>
              <a:gd name="T3" fmla="*/ 2147483646 h 92"/>
              <a:gd name="T4" fmla="*/ 0 w 285"/>
              <a:gd name="T5" fmla="*/ 2147483646 h 92"/>
              <a:gd name="T6" fmla="*/ 0 60000 65536"/>
              <a:gd name="T7" fmla="*/ 0 60000 65536"/>
              <a:gd name="T8" fmla="*/ 0 60000 65536"/>
              <a:gd name="T9" fmla="*/ 0 w 285"/>
              <a:gd name="T10" fmla="*/ 0 h 92"/>
              <a:gd name="T11" fmla="*/ 285 w 285"/>
              <a:gd name="T12" fmla="*/ 92 h 92"/>
            </a:gdLst>
            <a:ahLst/>
            <a:cxnLst>
              <a:cxn ang="T6">
                <a:pos x="T0" y="T1"/>
              </a:cxn>
              <a:cxn ang="T7">
                <a:pos x="T2" y="T3"/>
              </a:cxn>
              <a:cxn ang="T8">
                <a:pos x="T4" y="T5"/>
              </a:cxn>
            </a:cxnLst>
            <a:rect l="T9" t="T10" r="T11" b="T12"/>
            <a:pathLst>
              <a:path w="285" h="92">
                <a:moveTo>
                  <a:pt x="285" y="0"/>
                </a:moveTo>
                <a:lnTo>
                  <a:pt x="133" y="31"/>
                </a:lnTo>
                <a:lnTo>
                  <a:pt x="0" y="92"/>
                </a:ln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375" name="Line 270"/>
          <p:cNvSpPr>
            <a:spLocks noChangeShapeType="1"/>
          </p:cNvSpPr>
          <p:nvPr/>
        </p:nvSpPr>
        <p:spPr bwMode="auto">
          <a:xfrm flipH="1">
            <a:off x="2809875" y="2190750"/>
            <a:ext cx="3813175" cy="158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6" name="Freeform 271"/>
          <p:cNvSpPr/>
          <p:nvPr/>
        </p:nvSpPr>
        <p:spPr bwMode="auto">
          <a:xfrm>
            <a:off x="6623050" y="2190750"/>
            <a:ext cx="452438" cy="146050"/>
          </a:xfrm>
          <a:custGeom>
            <a:avLst/>
            <a:gdLst>
              <a:gd name="T0" fmla="*/ 0 w 285"/>
              <a:gd name="T1" fmla="*/ 0 h 92"/>
              <a:gd name="T2" fmla="*/ 2147483646 w 285"/>
              <a:gd name="T3" fmla="*/ 2147483646 h 92"/>
              <a:gd name="T4" fmla="*/ 2147483646 w 285"/>
              <a:gd name="T5" fmla="*/ 2147483646 h 92"/>
              <a:gd name="T6" fmla="*/ 0 60000 65536"/>
              <a:gd name="T7" fmla="*/ 0 60000 65536"/>
              <a:gd name="T8" fmla="*/ 0 60000 65536"/>
              <a:gd name="T9" fmla="*/ 0 w 285"/>
              <a:gd name="T10" fmla="*/ 0 h 92"/>
              <a:gd name="T11" fmla="*/ 285 w 285"/>
              <a:gd name="T12" fmla="*/ 92 h 92"/>
            </a:gdLst>
            <a:ahLst/>
            <a:cxnLst>
              <a:cxn ang="T6">
                <a:pos x="T0" y="T1"/>
              </a:cxn>
              <a:cxn ang="T7">
                <a:pos x="T2" y="T3"/>
              </a:cxn>
              <a:cxn ang="T8">
                <a:pos x="T4" y="T5"/>
              </a:cxn>
            </a:cxnLst>
            <a:rect l="T9" t="T10" r="T11" b="T12"/>
            <a:pathLst>
              <a:path w="285" h="92">
                <a:moveTo>
                  <a:pt x="0" y="0"/>
                </a:moveTo>
                <a:lnTo>
                  <a:pt x="152" y="31"/>
                </a:lnTo>
                <a:lnTo>
                  <a:pt x="285" y="92"/>
                </a:ln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377" name="Rectangle 272"/>
          <p:cNvSpPr>
            <a:spLocks noChangeArrowheads="1"/>
          </p:cNvSpPr>
          <p:nvPr/>
        </p:nvSpPr>
        <p:spPr bwMode="auto">
          <a:xfrm>
            <a:off x="3576638" y="847725"/>
            <a:ext cx="2374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无反馈放大器的频率响应</a:t>
            </a:r>
            <a:endParaRPr lang="zh-CN" altLang="zh-CN" sz="2800">
              <a:latin typeface="Times New Roman" panose="02020603050405020304" pitchFamily="18" charset="0"/>
            </a:endParaRPr>
          </a:p>
        </p:txBody>
      </p:sp>
      <p:sp>
        <p:nvSpPr>
          <p:cNvPr id="47378" name="Line 273"/>
          <p:cNvSpPr>
            <a:spLocks noChangeShapeType="1"/>
          </p:cNvSpPr>
          <p:nvPr/>
        </p:nvSpPr>
        <p:spPr bwMode="auto">
          <a:xfrm flipH="1">
            <a:off x="4021138" y="1122363"/>
            <a:ext cx="161925" cy="14605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79" name="Line 274"/>
          <p:cNvSpPr>
            <a:spLocks noChangeShapeType="1"/>
          </p:cNvSpPr>
          <p:nvPr/>
        </p:nvSpPr>
        <p:spPr bwMode="auto">
          <a:xfrm flipH="1">
            <a:off x="4021138" y="2028825"/>
            <a:ext cx="161925" cy="16192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80" name="Rectangle 275"/>
          <p:cNvSpPr>
            <a:spLocks noChangeArrowheads="1"/>
          </p:cNvSpPr>
          <p:nvPr/>
        </p:nvSpPr>
        <p:spPr bwMode="auto">
          <a:xfrm>
            <a:off x="3476625" y="1770063"/>
            <a:ext cx="25908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有负反馈放大器的频率响应</a:t>
            </a:r>
            <a:endParaRPr lang="zh-CN" altLang="zh-CN" sz="2800">
              <a:latin typeface="Times New Roman" panose="02020603050405020304" pitchFamily="18" charset="0"/>
            </a:endParaRPr>
          </a:p>
        </p:txBody>
      </p:sp>
      <p:sp>
        <p:nvSpPr>
          <p:cNvPr id="47381" name="Rectangle 276"/>
          <p:cNvSpPr>
            <a:spLocks noChangeArrowheads="1"/>
          </p:cNvSpPr>
          <p:nvPr/>
        </p:nvSpPr>
        <p:spPr bwMode="auto">
          <a:xfrm>
            <a:off x="1422400" y="701675"/>
            <a:ext cx="4318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增益</a:t>
            </a:r>
            <a:endParaRPr lang="zh-CN" altLang="zh-CN" sz="2800">
              <a:latin typeface="Times New Roman" panose="02020603050405020304" pitchFamily="18" charset="0"/>
            </a:endParaRPr>
          </a:p>
        </p:txBody>
      </p:sp>
      <p:sp>
        <p:nvSpPr>
          <p:cNvPr id="47382" name="Rectangle 277"/>
          <p:cNvSpPr>
            <a:spLocks noChangeArrowheads="1"/>
          </p:cNvSpPr>
          <p:nvPr/>
        </p:nvSpPr>
        <p:spPr bwMode="auto">
          <a:xfrm>
            <a:off x="995363" y="1030288"/>
            <a:ext cx="1444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7383" name="Rectangle 278"/>
          <p:cNvSpPr>
            <a:spLocks noChangeArrowheads="1"/>
          </p:cNvSpPr>
          <p:nvPr/>
        </p:nvSpPr>
        <p:spPr bwMode="auto">
          <a:xfrm>
            <a:off x="1162050" y="1143000"/>
            <a:ext cx="587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7384" name="Rectangle 279"/>
          <p:cNvSpPr>
            <a:spLocks noChangeArrowheads="1"/>
          </p:cNvSpPr>
          <p:nvPr/>
        </p:nvSpPr>
        <p:spPr bwMode="auto">
          <a:xfrm>
            <a:off x="419100" y="1258888"/>
            <a:ext cx="1444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7385" name="Rectangle 280"/>
          <p:cNvSpPr>
            <a:spLocks noChangeArrowheads="1"/>
          </p:cNvSpPr>
          <p:nvPr/>
        </p:nvSpPr>
        <p:spPr bwMode="auto">
          <a:xfrm>
            <a:off x="600075" y="1355725"/>
            <a:ext cx="587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7386" name="Rectangle 281"/>
          <p:cNvSpPr>
            <a:spLocks noChangeArrowheads="1"/>
          </p:cNvSpPr>
          <p:nvPr/>
        </p:nvSpPr>
        <p:spPr bwMode="auto">
          <a:xfrm>
            <a:off x="738188" y="1287463"/>
            <a:ext cx="4984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-3 dB</a:t>
            </a:r>
            <a:endParaRPr lang="zh-CN" altLang="zh-CN" sz="2800">
              <a:latin typeface="Times New Roman" panose="02020603050405020304" pitchFamily="18" charset="0"/>
            </a:endParaRPr>
          </a:p>
        </p:txBody>
      </p:sp>
      <p:sp>
        <p:nvSpPr>
          <p:cNvPr id="47387" name="Rectangle 282"/>
          <p:cNvSpPr>
            <a:spLocks noChangeArrowheads="1"/>
          </p:cNvSpPr>
          <p:nvPr/>
        </p:nvSpPr>
        <p:spPr bwMode="auto">
          <a:xfrm>
            <a:off x="906463" y="1981200"/>
            <a:ext cx="14446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7388" name="Rectangle 283"/>
          <p:cNvSpPr>
            <a:spLocks noChangeArrowheads="1"/>
          </p:cNvSpPr>
          <p:nvPr/>
        </p:nvSpPr>
        <p:spPr bwMode="auto">
          <a:xfrm>
            <a:off x="1079500" y="2078038"/>
            <a:ext cx="1095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If</a:t>
            </a:r>
            <a:endParaRPr lang="zh-CN" altLang="zh-CN" sz="2800">
              <a:latin typeface="Times New Roman" panose="02020603050405020304" pitchFamily="18" charset="0"/>
            </a:endParaRPr>
          </a:p>
        </p:txBody>
      </p:sp>
      <p:sp>
        <p:nvSpPr>
          <p:cNvPr id="47389" name="Rectangle 284"/>
          <p:cNvSpPr>
            <a:spLocks noChangeArrowheads="1"/>
          </p:cNvSpPr>
          <p:nvPr/>
        </p:nvSpPr>
        <p:spPr bwMode="auto">
          <a:xfrm>
            <a:off x="387350" y="2274888"/>
            <a:ext cx="1444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7390" name="Rectangle 285"/>
          <p:cNvSpPr>
            <a:spLocks noChangeArrowheads="1"/>
          </p:cNvSpPr>
          <p:nvPr/>
        </p:nvSpPr>
        <p:spPr bwMode="auto">
          <a:xfrm>
            <a:off x="531813" y="2370138"/>
            <a:ext cx="1095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If</a:t>
            </a:r>
            <a:endParaRPr lang="zh-CN" altLang="zh-CN" sz="2800">
              <a:latin typeface="Times New Roman" panose="02020603050405020304" pitchFamily="18" charset="0"/>
            </a:endParaRPr>
          </a:p>
        </p:txBody>
      </p:sp>
      <p:sp>
        <p:nvSpPr>
          <p:cNvPr id="47391" name="Rectangle 286"/>
          <p:cNvSpPr>
            <a:spLocks noChangeArrowheads="1"/>
          </p:cNvSpPr>
          <p:nvPr/>
        </p:nvSpPr>
        <p:spPr bwMode="auto">
          <a:xfrm>
            <a:off x="679450" y="2303463"/>
            <a:ext cx="4984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Times New Roman" panose="02020603050405020304" pitchFamily="18" charset="0"/>
              </a:rPr>
              <a:t>-3 dB</a:t>
            </a:r>
            <a:endParaRPr lang="zh-CN" altLang="zh-CN" sz="2800">
              <a:latin typeface="Times New Roman" panose="02020603050405020304" pitchFamily="18" charset="0"/>
            </a:endParaRPr>
          </a:p>
        </p:txBody>
      </p:sp>
      <p:sp>
        <p:nvSpPr>
          <p:cNvPr id="47392" name="Line 287"/>
          <p:cNvSpPr>
            <a:spLocks noChangeShapeType="1"/>
          </p:cNvSpPr>
          <p:nvPr/>
        </p:nvSpPr>
        <p:spPr bwMode="auto">
          <a:xfrm>
            <a:off x="2357438" y="3711575"/>
            <a:ext cx="1587" cy="92233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3" name="Freeform 288"/>
          <p:cNvSpPr/>
          <p:nvPr/>
        </p:nvSpPr>
        <p:spPr bwMode="auto">
          <a:xfrm>
            <a:off x="2309813" y="3711575"/>
            <a:ext cx="80962" cy="211138"/>
          </a:xfrm>
          <a:custGeom>
            <a:avLst/>
            <a:gdLst>
              <a:gd name="T0" fmla="*/ 0 w 51"/>
              <a:gd name="T1" fmla="*/ 2147483646 h 133"/>
              <a:gd name="T2" fmla="*/ 2147483646 w 51"/>
              <a:gd name="T3" fmla="*/ 2147483646 h 133"/>
              <a:gd name="T4" fmla="*/ 2147483646 w 51"/>
              <a:gd name="T5" fmla="*/ 2147483646 h 133"/>
              <a:gd name="T6" fmla="*/ 2147483646 w 51"/>
              <a:gd name="T7" fmla="*/ 0 h 133"/>
              <a:gd name="T8" fmla="*/ 0 w 51"/>
              <a:gd name="T9" fmla="*/ 2147483646 h 133"/>
              <a:gd name="T10" fmla="*/ 0 60000 65536"/>
              <a:gd name="T11" fmla="*/ 0 60000 65536"/>
              <a:gd name="T12" fmla="*/ 0 60000 65536"/>
              <a:gd name="T13" fmla="*/ 0 60000 65536"/>
              <a:gd name="T14" fmla="*/ 0 60000 65536"/>
              <a:gd name="T15" fmla="*/ 0 w 51"/>
              <a:gd name="T16" fmla="*/ 0 h 133"/>
              <a:gd name="T17" fmla="*/ 51 w 51"/>
              <a:gd name="T18" fmla="*/ 133 h 133"/>
            </a:gdLst>
            <a:ahLst/>
            <a:cxnLst>
              <a:cxn ang="T10">
                <a:pos x="T0" y="T1"/>
              </a:cxn>
              <a:cxn ang="T11">
                <a:pos x="T2" y="T3"/>
              </a:cxn>
              <a:cxn ang="T12">
                <a:pos x="T4" y="T5"/>
              </a:cxn>
              <a:cxn ang="T13">
                <a:pos x="T6" y="T7"/>
              </a:cxn>
              <a:cxn ang="T14">
                <a:pos x="T8" y="T9"/>
              </a:cxn>
            </a:cxnLst>
            <a:rect l="T15" t="T16" r="T17" b="T18"/>
            <a:pathLst>
              <a:path w="51" h="133">
                <a:moveTo>
                  <a:pt x="0" y="133"/>
                </a:moveTo>
                <a:lnTo>
                  <a:pt x="30" y="102"/>
                </a:lnTo>
                <a:lnTo>
                  <a:pt x="51" y="133"/>
                </a:lnTo>
                <a:lnTo>
                  <a:pt x="30" y="0"/>
                </a:lnTo>
                <a:lnTo>
                  <a:pt x="0" y="133"/>
                </a:lnTo>
                <a:close/>
              </a:path>
            </a:pathLst>
          </a:custGeom>
          <a:solidFill>
            <a:srgbClr val="000000"/>
          </a:solidFill>
          <a:ln w="15875">
            <a:solidFill>
              <a:srgbClr val="000000"/>
            </a:solidFill>
            <a:round/>
          </a:ln>
        </p:spPr>
        <p:txBody>
          <a:bodyPr/>
          <a:lstStyle/>
          <a:p>
            <a:endParaRPr lang="zh-CN" altLang="en-US"/>
          </a:p>
        </p:txBody>
      </p:sp>
      <p:sp>
        <p:nvSpPr>
          <p:cNvPr id="47394" name="Line 289"/>
          <p:cNvSpPr>
            <a:spLocks noChangeShapeType="1"/>
          </p:cNvSpPr>
          <p:nvPr/>
        </p:nvSpPr>
        <p:spPr bwMode="auto">
          <a:xfrm>
            <a:off x="3262313" y="3711575"/>
            <a:ext cx="1587" cy="4699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395" name="Freeform 290"/>
          <p:cNvSpPr/>
          <p:nvPr/>
        </p:nvSpPr>
        <p:spPr bwMode="auto">
          <a:xfrm>
            <a:off x="3230563" y="3711575"/>
            <a:ext cx="80962" cy="211138"/>
          </a:xfrm>
          <a:custGeom>
            <a:avLst/>
            <a:gdLst>
              <a:gd name="T0" fmla="*/ 0 w 51"/>
              <a:gd name="T1" fmla="*/ 2147483646 h 133"/>
              <a:gd name="T2" fmla="*/ 2147483646 w 51"/>
              <a:gd name="T3" fmla="*/ 2147483646 h 133"/>
              <a:gd name="T4" fmla="*/ 2147483646 w 51"/>
              <a:gd name="T5" fmla="*/ 2147483646 h 133"/>
              <a:gd name="T6" fmla="*/ 2147483646 w 51"/>
              <a:gd name="T7" fmla="*/ 0 h 133"/>
              <a:gd name="T8" fmla="*/ 0 w 51"/>
              <a:gd name="T9" fmla="*/ 2147483646 h 133"/>
              <a:gd name="T10" fmla="*/ 0 60000 65536"/>
              <a:gd name="T11" fmla="*/ 0 60000 65536"/>
              <a:gd name="T12" fmla="*/ 0 60000 65536"/>
              <a:gd name="T13" fmla="*/ 0 60000 65536"/>
              <a:gd name="T14" fmla="*/ 0 60000 65536"/>
              <a:gd name="T15" fmla="*/ 0 w 51"/>
              <a:gd name="T16" fmla="*/ 0 h 133"/>
              <a:gd name="T17" fmla="*/ 51 w 51"/>
              <a:gd name="T18" fmla="*/ 133 h 133"/>
            </a:gdLst>
            <a:ahLst/>
            <a:cxnLst>
              <a:cxn ang="T10">
                <a:pos x="T0" y="T1"/>
              </a:cxn>
              <a:cxn ang="T11">
                <a:pos x="T2" y="T3"/>
              </a:cxn>
              <a:cxn ang="T12">
                <a:pos x="T4" y="T5"/>
              </a:cxn>
              <a:cxn ang="T13">
                <a:pos x="T6" y="T7"/>
              </a:cxn>
              <a:cxn ang="T14">
                <a:pos x="T8" y="T9"/>
              </a:cxn>
            </a:cxnLst>
            <a:rect l="T15" t="T16" r="T17" b="T18"/>
            <a:pathLst>
              <a:path w="51" h="133">
                <a:moveTo>
                  <a:pt x="0" y="133"/>
                </a:moveTo>
                <a:lnTo>
                  <a:pt x="20" y="102"/>
                </a:lnTo>
                <a:lnTo>
                  <a:pt x="51" y="133"/>
                </a:lnTo>
                <a:lnTo>
                  <a:pt x="20" y="0"/>
                </a:lnTo>
                <a:lnTo>
                  <a:pt x="0" y="133"/>
                </a:lnTo>
                <a:close/>
              </a:path>
            </a:pathLst>
          </a:custGeom>
          <a:solidFill>
            <a:srgbClr val="000000"/>
          </a:solidFill>
          <a:ln w="15875">
            <a:solidFill>
              <a:srgbClr val="000000"/>
            </a:solidFill>
            <a:round/>
          </a:ln>
        </p:spPr>
        <p:txBody>
          <a:bodyPr/>
          <a:lstStyle/>
          <a:p>
            <a:endParaRPr lang="zh-CN" altLang="en-US"/>
          </a:p>
        </p:txBody>
      </p:sp>
      <p:sp>
        <p:nvSpPr>
          <p:cNvPr id="47396" name="Rectangle 291"/>
          <p:cNvSpPr>
            <a:spLocks noChangeArrowheads="1"/>
          </p:cNvSpPr>
          <p:nvPr/>
        </p:nvSpPr>
        <p:spPr bwMode="auto">
          <a:xfrm>
            <a:off x="2516188" y="3744913"/>
            <a:ext cx="714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7397" name="Rectangle 292"/>
          <p:cNvSpPr>
            <a:spLocks noChangeArrowheads="1"/>
          </p:cNvSpPr>
          <p:nvPr/>
        </p:nvSpPr>
        <p:spPr bwMode="auto">
          <a:xfrm>
            <a:off x="2613025" y="3870325"/>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Lf</a:t>
            </a:r>
            <a:endParaRPr lang="zh-CN" altLang="zh-CN" sz="2800">
              <a:latin typeface="Times New Roman" panose="02020603050405020304" pitchFamily="18" charset="0"/>
            </a:endParaRPr>
          </a:p>
        </p:txBody>
      </p:sp>
      <p:sp>
        <p:nvSpPr>
          <p:cNvPr id="47398" name="Rectangle 293"/>
          <p:cNvSpPr>
            <a:spLocks noChangeArrowheads="1"/>
          </p:cNvSpPr>
          <p:nvPr/>
        </p:nvSpPr>
        <p:spPr bwMode="auto">
          <a:xfrm>
            <a:off x="3452813" y="3744913"/>
            <a:ext cx="714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7399" name="Rectangle 294"/>
          <p:cNvSpPr>
            <a:spLocks noChangeArrowheads="1"/>
          </p:cNvSpPr>
          <p:nvPr/>
        </p:nvSpPr>
        <p:spPr bwMode="auto">
          <a:xfrm>
            <a:off x="3573463" y="3870325"/>
            <a:ext cx="101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L</a:t>
            </a:r>
            <a:endParaRPr lang="zh-CN" altLang="zh-CN" sz="2800">
              <a:latin typeface="Times New Roman" panose="02020603050405020304" pitchFamily="18" charset="0"/>
            </a:endParaRPr>
          </a:p>
        </p:txBody>
      </p:sp>
      <p:sp>
        <p:nvSpPr>
          <p:cNvPr id="47400" name="Line 295"/>
          <p:cNvSpPr>
            <a:spLocks noChangeShapeType="1"/>
          </p:cNvSpPr>
          <p:nvPr/>
        </p:nvSpPr>
        <p:spPr bwMode="auto">
          <a:xfrm>
            <a:off x="6170613" y="3711575"/>
            <a:ext cx="1587" cy="4699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01" name="Freeform 296"/>
          <p:cNvSpPr/>
          <p:nvPr/>
        </p:nvSpPr>
        <p:spPr bwMode="auto">
          <a:xfrm>
            <a:off x="6121400" y="3711575"/>
            <a:ext cx="80963" cy="211138"/>
          </a:xfrm>
          <a:custGeom>
            <a:avLst/>
            <a:gdLst>
              <a:gd name="T0" fmla="*/ 0 w 51"/>
              <a:gd name="T1" fmla="*/ 2147483646 h 133"/>
              <a:gd name="T2" fmla="*/ 2147483646 w 51"/>
              <a:gd name="T3" fmla="*/ 2147483646 h 133"/>
              <a:gd name="T4" fmla="*/ 2147483646 w 51"/>
              <a:gd name="T5" fmla="*/ 2147483646 h 133"/>
              <a:gd name="T6" fmla="*/ 2147483646 w 51"/>
              <a:gd name="T7" fmla="*/ 0 h 133"/>
              <a:gd name="T8" fmla="*/ 0 w 51"/>
              <a:gd name="T9" fmla="*/ 2147483646 h 133"/>
              <a:gd name="T10" fmla="*/ 0 60000 65536"/>
              <a:gd name="T11" fmla="*/ 0 60000 65536"/>
              <a:gd name="T12" fmla="*/ 0 60000 65536"/>
              <a:gd name="T13" fmla="*/ 0 60000 65536"/>
              <a:gd name="T14" fmla="*/ 0 60000 65536"/>
              <a:gd name="T15" fmla="*/ 0 w 51"/>
              <a:gd name="T16" fmla="*/ 0 h 133"/>
              <a:gd name="T17" fmla="*/ 51 w 51"/>
              <a:gd name="T18" fmla="*/ 133 h 133"/>
            </a:gdLst>
            <a:ahLst/>
            <a:cxnLst>
              <a:cxn ang="T10">
                <a:pos x="T0" y="T1"/>
              </a:cxn>
              <a:cxn ang="T11">
                <a:pos x="T2" y="T3"/>
              </a:cxn>
              <a:cxn ang="T12">
                <a:pos x="T4" y="T5"/>
              </a:cxn>
              <a:cxn ang="T13">
                <a:pos x="T6" y="T7"/>
              </a:cxn>
              <a:cxn ang="T14">
                <a:pos x="T8" y="T9"/>
              </a:cxn>
            </a:cxnLst>
            <a:rect l="T15" t="T16" r="T17" b="T18"/>
            <a:pathLst>
              <a:path w="51" h="133">
                <a:moveTo>
                  <a:pt x="0" y="133"/>
                </a:moveTo>
                <a:lnTo>
                  <a:pt x="31" y="102"/>
                </a:lnTo>
                <a:lnTo>
                  <a:pt x="51" y="133"/>
                </a:lnTo>
                <a:lnTo>
                  <a:pt x="31" y="0"/>
                </a:lnTo>
                <a:lnTo>
                  <a:pt x="0" y="133"/>
                </a:lnTo>
                <a:close/>
              </a:path>
            </a:pathLst>
          </a:custGeom>
          <a:solidFill>
            <a:srgbClr val="000000"/>
          </a:solidFill>
          <a:ln w="15875">
            <a:solidFill>
              <a:srgbClr val="000000"/>
            </a:solidFill>
            <a:round/>
          </a:ln>
        </p:spPr>
        <p:txBody>
          <a:bodyPr/>
          <a:lstStyle/>
          <a:p>
            <a:endParaRPr lang="zh-CN" altLang="en-US"/>
          </a:p>
        </p:txBody>
      </p:sp>
      <p:sp>
        <p:nvSpPr>
          <p:cNvPr id="47402" name="Rectangle 297"/>
          <p:cNvSpPr>
            <a:spLocks noChangeArrowheads="1"/>
          </p:cNvSpPr>
          <p:nvPr/>
        </p:nvSpPr>
        <p:spPr bwMode="auto">
          <a:xfrm>
            <a:off x="5803900" y="3744913"/>
            <a:ext cx="7143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7403" name="Rectangle 298"/>
          <p:cNvSpPr>
            <a:spLocks noChangeArrowheads="1"/>
          </p:cNvSpPr>
          <p:nvPr/>
        </p:nvSpPr>
        <p:spPr bwMode="auto">
          <a:xfrm>
            <a:off x="5924550" y="3841750"/>
            <a:ext cx="11906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H</a:t>
            </a:r>
            <a:endParaRPr lang="zh-CN" altLang="zh-CN" sz="2800">
              <a:latin typeface="Times New Roman" panose="02020603050405020304" pitchFamily="18" charset="0"/>
            </a:endParaRPr>
          </a:p>
        </p:txBody>
      </p:sp>
      <p:sp>
        <p:nvSpPr>
          <p:cNvPr id="47404" name="Line 299"/>
          <p:cNvSpPr>
            <a:spLocks noChangeShapeType="1"/>
          </p:cNvSpPr>
          <p:nvPr/>
        </p:nvSpPr>
        <p:spPr bwMode="auto">
          <a:xfrm>
            <a:off x="3262313" y="4132263"/>
            <a:ext cx="306387"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05" name="Freeform 300"/>
          <p:cNvSpPr/>
          <p:nvPr/>
        </p:nvSpPr>
        <p:spPr bwMode="auto">
          <a:xfrm>
            <a:off x="3262313" y="4100513"/>
            <a:ext cx="209550" cy="80962"/>
          </a:xfrm>
          <a:custGeom>
            <a:avLst/>
            <a:gdLst>
              <a:gd name="T0" fmla="*/ 2147483646 w 132"/>
              <a:gd name="T1" fmla="*/ 0 h 51"/>
              <a:gd name="T2" fmla="*/ 2147483646 w 132"/>
              <a:gd name="T3" fmla="*/ 2147483646 h 51"/>
              <a:gd name="T4" fmla="*/ 2147483646 w 132"/>
              <a:gd name="T5" fmla="*/ 2147483646 h 51"/>
              <a:gd name="T6" fmla="*/ 0 w 132"/>
              <a:gd name="T7" fmla="*/ 2147483646 h 51"/>
              <a:gd name="T8" fmla="*/ 2147483646 w 132"/>
              <a:gd name="T9" fmla="*/ 0 h 51"/>
              <a:gd name="T10" fmla="*/ 0 60000 65536"/>
              <a:gd name="T11" fmla="*/ 0 60000 65536"/>
              <a:gd name="T12" fmla="*/ 0 60000 65536"/>
              <a:gd name="T13" fmla="*/ 0 60000 65536"/>
              <a:gd name="T14" fmla="*/ 0 60000 65536"/>
              <a:gd name="T15" fmla="*/ 0 w 132"/>
              <a:gd name="T16" fmla="*/ 0 h 51"/>
              <a:gd name="T17" fmla="*/ 132 w 132"/>
              <a:gd name="T18" fmla="*/ 51 h 51"/>
            </a:gdLst>
            <a:ahLst/>
            <a:cxnLst>
              <a:cxn ang="T10">
                <a:pos x="T0" y="T1"/>
              </a:cxn>
              <a:cxn ang="T11">
                <a:pos x="T2" y="T3"/>
              </a:cxn>
              <a:cxn ang="T12">
                <a:pos x="T4" y="T5"/>
              </a:cxn>
              <a:cxn ang="T13">
                <a:pos x="T6" y="T7"/>
              </a:cxn>
              <a:cxn ang="T14">
                <a:pos x="T8" y="T9"/>
              </a:cxn>
            </a:cxnLst>
            <a:rect l="T15" t="T16" r="T17" b="T18"/>
            <a:pathLst>
              <a:path w="132" h="51">
                <a:moveTo>
                  <a:pt x="132" y="0"/>
                </a:moveTo>
                <a:lnTo>
                  <a:pt x="102" y="20"/>
                </a:lnTo>
                <a:lnTo>
                  <a:pt x="132" y="51"/>
                </a:lnTo>
                <a:lnTo>
                  <a:pt x="0" y="20"/>
                </a:lnTo>
                <a:lnTo>
                  <a:pt x="132" y="0"/>
                </a:lnTo>
                <a:close/>
              </a:path>
            </a:pathLst>
          </a:custGeom>
          <a:solidFill>
            <a:srgbClr val="000000"/>
          </a:solidFill>
          <a:ln w="15875">
            <a:solidFill>
              <a:srgbClr val="000000"/>
            </a:solidFill>
            <a:round/>
          </a:ln>
        </p:spPr>
        <p:txBody>
          <a:bodyPr/>
          <a:lstStyle/>
          <a:p>
            <a:endParaRPr lang="zh-CN" altLang="en-US"/>
          </a:p>
        </p:txBody>
      </p:sp>
      <p:sp>
        <p:nvSpPr>
          <p:cNvPr id="47406" name="Line 301"/>
          <p:cNvSpPr>
            <a:spLocks noChangeShapeType="1"/>
          </p:cNvSpPr>
          <p:nvPr/>
        </p:nvSpPr>
        <p:spPr bwMode="auto">
          <a:xfrm>
            <a:off x="5864225" y="4132263"/>
            <a:ext cx="306388"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07" name="Freeform 302"/>
          <p:cNvSpPr/>
          <p:nvPr/>
        </p:nvSpPr>
        <p:spPr bwMode="auto">
          <a:xfrm>
            <a:off x="5961063" y="4100513"/>
            <a:ext cx="209550" cy="80962"/>
          </a:xfrm>
          <a:custGeom>
            <a:avLst/>
            <a:gdLst>
              <a:gd name="T0" fmla="*/ 0 w 132"/>
              <a:gd name="T1" fmla="*/ 0 h 51"/>
              <a:gd name="T2" fmla="*/ 2147483646 w 132"/>
              <a:gd name="T3" fmla="*/ 2147483646 h 51"/>
              <a:gd name="T4" fmla="*/ 0 w 132"/>
              <a:gd name="T5" fmla="*/ 2147483646 h 51"/>
              <a:gd name="T6" fmla="*/ 2147483646 w 132"/>
              <a:gd name="T7" fmla="*/ 2147483646 h 51"/>
              <a:gd name="T8" fmla="*/ 0 w 132"/>
              <a:gd name="T9" fmla="*/ 0 h 51"/>
              <a:gd name="T10" fmla="*/ 0 60000 65536"/>
              <a:gd name="T11" fmla="*/ 0 60000 65536"/>
              <a:gd name="T12" fmla="*/ 0 60000 65536"/>
              <a:gd name="T13" fmla="*/ 0 60000 65536"/>
              <a:gd name="T14" fmla="*/ 0 60000 65536"/>
              <a:gd name="T15" fmla="*/ 0 w 132"/>
              <a:gd name="T16" fmla="*/ 0 h 51"/>
              <a:gd name="T17" fmla="*/ 132 w 132"/>
              <a:gd name="T18" fmla="*/ 51 h 51"/>
            </a:gdLst>
            <a:ahLst/>
            <a:cxnLst>
              <a:cxn ang="T10">
                <a:pos x="T0" y="T1"/>
              </a:cxn>
              <a:cxn ang="T11">
                <a:pos x="T2" y="T3"/>
              </a:cxn>
              <a:cxn ang="T12">
                <a:pos x="T4" y="T5"/>
              </a:cxn>
              <a:cxn ang="T13">
                <a:pos x="T6" y="T7"/>
              </a:cxn>
              <a:cxn ang="T14">
                <a:pos x="T8" y="T9"/>
              </a:cxn>
            </a:cxnLst>
            <a:rect l="T15" t="T16" r="T17" b="T18"/>
            <a:pathLst>
              <a:path w="132" h="51">
                <a:moveTo>
                  <a:pt x="0" y="0"/>
                </a:moveTo>
                <a:lnTo>
                  <a:pt x="30" y="20"/>
                </a:lnTo>
                <a:lnTo>
                  <a:pt x="0" y="51"/>
                </a:lnTo>
                <a:lnTo>
                  <a:pt x="132" y="20"/>
                </a:lnTo>
                <a:lnTo>
                  <a:pt x="0" y="0"/>
                </a:lnTo>
                <a:close/>
              </a:path>
            </a:pathLst>
          </a:custGeom>
          <a:solidFill>
            <a:srgbClr val="000000"/>
          </a:solidFill>
          <a:ln w="15875">
            <a:solidFill>
              <a:srgbClr val="000000"/>
            </a:solidFill>
            <a:round/>
          </a:ln>
        </p:spPr>
        <p:txBody>
          <a:bodyPr/>
          <a:lstStyle/>
          <a:p>
            <a:endParaRPr lang="zh-CN" altLang="en-US"/>
          </a:p>
        </p:txBody>
      </p:sp>
      <p:sp>
        <p:nvSpPr>
          <p:cNvPr id="47408" name="Rectangle 303"/>
          <p:cNvSpPr>
            <a:spLocks noChangeArrowheads="1"/>
          </p:cNvSpPr>
          <p:nvPr/>
        </p:nvSpPr>
        <p:spPr bwMode="auto">
          <a:xfrm>
            <a:off x="3794125" y="4019550"/>
            <a:ext cx="19431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无反馈放大器的带宽</a:t>
            </a:r>
            <a:endParaRPr lang="zh-CN" altLang="zh-CN" sz="2800">
              <a:latin typeface="Times New Roman" panose="02020603050405020304" pitchFamily="18" charset="0"/>
            </a:endParaRPr>
          </a:p>
        </p:txBody>
      </p:sp>
      <p:sp>
        <p:nvSpPr>
          <p:cNvPr id="47409" name="Line 304"/>
          <p:cNvSpPr>
            <a:spLocks noChangeShapeType="1"/>
          </p:cNvSpPr>
          <p:nvPr/>
        </p:nvSpPr>
        <p:spPr bwMode="auto">
          <a:xfrm>
            <a:off x="7075488" y="3711575"/>
            <a:ext cx="1587" cy="92233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10" name="Freeform 305"/>
          <p:cNvSpPr/>
          <p:nvPr/>
        </p:nvSpPr>
        <p:spPr bwMode="auto">
          <a:xfrm>
            <a:off x="7042150" y="3711575"/>
            <a:ext cx="80963" cy="211138"/>
          </a:xfrm>
          <a:custGeom>
            <a:avLst/>
            <a:gdLst>
              <a:gd name="T0" fmla="*/ 0 w 51"/>
              <a:gd name="T1" fmla="*/ 2147483646 h 133"/>
              <a:gd name="T2" fmla="*/ 2147483646 w 51"/>
              <a:gd name="T3" fmla="*/ 2147483646 h 133"/>
              <a:gd name="T4" fmla="*/ 2147483646 w 51"/>
              <a:gd name="T5" fmla="*/ 2147483646 h 133"/>
              <a:gd name="T6" fmla="*/ 2147483646 w 51"/>
              <a:gd name="T7" fmla="*/ 0 h 133"/>
              <a:gd name="T8" fmla="*/ 0 w 51"/>
              <a:gd name="T9" fmla="*/ 2147483646 h 133"/>
              <a:gd name="T10" fmla="*/ 0 60000 65536"/>
              <a:gd name="T11" fmla="*/ 0 60000 65536"/>
              <a:gd name="T12" fmla="*/ 0 60000 65536"/>
              <a:gd name="T13" fmla="*/ 0 60000 65536"/>
              <a:gd name="T14" fmla="*/ 0 60000 65536"/>
              <a:gd name="T15" fmla="*/ 0 w 51"/>
              <a:gd name="T16" fmla="*/ 0 h 133"/>
              <a:gd name="T17" fmla="*/ 51 w 51"/>
              <a:gd name="T18" fmla="*/ 133 h 133"/>
            </a:gdLst>
            <a:ahLst/>
            <a:cxnLst>
              <a:cxn ang="T10">
                <a:pos x="T0" y="T1"/>
              </a:cxn>
              <a:cxn ang="T11">
                <a:pos x="T2" y="T3"/>
              </a:cxn>
              <a:cxn ang="T12">
                <a:pos x="T4" y="T5"/>
              </a:cxn>
              <a:cxn ang="T13">
                <a:pos x="T6" y="T7"/>
              </a:cxn>
              <a:cxn ang="T14">
                <a:pos x="T8" y="T9"/>
              </a:cxn>
            </a:cxnLst>
            <a:rect l="T15" t="T16" r="T17" b="T18"/>
            <a:pathLst>
              <a:path w="51" h="133">
                <a:moveTo>
                  <a:pt x="0" y="133"/>
                </a:moveTo>
                <a:lnTo>
                  <a:pt x="21" y="102"/>
                </a:lnTo>
                <a:lnTo>
                  <a:pt x="51" y="133"/>
                </a:lnTo>
                <a:lnTo>
                  <a:pt x="21" y="0"/>
                </a:lnTo>
                <a:lnTo>
                  <a:pt x="0" y="133"/>
                </a:lnTo>
                <a:close/>
              </a:path>
            </a:pathLst>
          </a:custGeom>
          <a:solidFill>
            <a:srgbClr val="000000"/>
          </a:solidFill>
          <a:ln w="15875">
            <a:solidFill>
              <a:srgbClr val="000000"/>
            </a:solidFill>
            <a:round/>
          </a:ln>
        </p:spPr>
        <p:txBody>
          <a:bodyPr/>
          <a:lstStyle/>
          <a:p>
            <a:endParaRPr lang="zh-CN" altLang="en-US"/>
          </a:p>
        </p:txBody>
      </p:sp>
      <p:sp>
        <p:nvSpPr>
          <p:cNvPr id="47411" name="Freeform 306"/>
          <p:cNvSpPr/>
          <p:nvPr/>
        </p:nvSpPr>
        <p:spPr bwMode="auto">
          <a:xfrm>
            <a:off x="2357438" y="4440238"/>
            <a:ext cx="193675" cy="80962"/>
          </a:xfrm>
          <a:custGeom>
            <a:avLst/>
            <a:gdLst>
              <a:gd name="T0" fmla="*/ 2147483646 w 122"/>
              <a:gd name="T1" fmla="*/ 0 h 51"/>
              <a:gd name="T2" fmla="*/ 2147483646 w 122"/>
              <a:gd name="T3" fmla="*/ 2147483646 h 51"/>
              <a:gd name="T4" fmla="*/ 2147483646 w 122"/>
              <a:gd name="T5" fmla="*/ 2147483646 h 51"/>
              <a:gd name="T6" fmla="*/ 0 w 122"/>
              <a:gd name="T7" fmla="*/ 2147483646 h 51"/>
              <a:gd name="T8" fmla="*/ 2147483646 w 122"/>
              <a:gd name="T9" fmla="*/ 0 h 51"/>
              <a:gd name="T10" fmla="*/ 0 60000 65536"/>
              <a:gd name="T11" fmla="*/ 0 60000 65536"/>
              <a:gd name="T12" fmla="*/ 0 60000 65536"/>
              <a:gd name="T13" fmla="*/ 0 60000 65536"/>
              <a:gd name="T14" fmla="*/ 0 60000 65536"/>
              <a:gd name="T15" fmla="*/ 0 w 122"/>
              <a:gd name="T16" fmla="*/ 0 h 51"/>
              <a:gd name="T17" fmla="*/ 122 w 122"/>
              <a:gd name="T18" fmla="*/ 51 h 51"/>
            </a:gdLst>
            <a:ahLst/>
            <a:cxnLst>
              <a:cxn ang="T10">
                <a:pos x="T0" y="T1"/>
              </a:cxn>
              <a:cxn ang="T11">
                <a:pos x="T2" y="T3"/>
              </a:cxn>
              <a:cxn ang="T12">
                <a:pos x="T4" y="T5"/>
              </a:cxn>
              <a:cxn ang="T13">
                <a:pos x="T6" y="T7"/>
              </a:cxn>
              <a:cxn ang="T14">
                <a:pos x="T8" y="T9"/>
              </a:cxn>
            </a:cxnLst>
            <a:rect l="T15" t="T16" r="T17" b="T18"/>
            <a:pathLst>
              <a:path w="122" h="51">
                <a:moveTo>
                  <a:pt x="122" y="0"/>
                </a:moveTo>
                <a:lnTo>
                  <a:pt x="102" y="20"/>
                </a:lnTo>
                <a:lnTo>
                  <a:pt x="122" y="51"/>
                </a:lnTo>
                <a:lnTo>
                  <a:pt x="0" y="20"/>
                </a:lnTo>
                <a:lnTo>
                  <a:pt x="122" y="0"/>
                </a:lnTo>
                <a:close/>
              </a:path>
            </a:pathLst>
          </a:custGeom>
          <a:solidFill>
            <a:srgbClr val="000000"/>
          </a:solidFill>
          <a:ln w="15875">
            <a:solidFill>
              <a:srgbClr val="000000"/>
            </a:solidFill>
            <a:round/>
          </a:ln>
        </p:spPr>
        <p:txBody>
          <a:bodyPr/>
          <a:lstStyle/>
          <a:p>
            <a:endParaRPr lang="zh-CN" altLang="en-US"/>
          </a:p>
        </p:txBody>
      </p:sp>
      <p:sp>
        <p:nvSpPr>
          <p:cNvPr id="47412" name="Line 307"/>
          <p:cNvSpPr>
            <a:spLocks noChangeShapeType="1"/>
          </p:cNvSpPr>
          <p:nvPr/>
        </p:nvSpPr>
        <p:spPr bwMode="auto">
          <a:xfrm>
            <a:off x="2422525" y="4471988"/>
            <a:ext cx="92075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13" name="Freeform 308"/>
          <p:cNvSpPr/>
          <p:nvPr/>
        </p:nvSpPr>
        <p:spPr bwMode="auto">
          <a:xfrm>
            <a:off x="6881813" y="4440238"/>
            <a:ext cx="193675" cy="80962"/>
          </a:xfrm>
          <a:custGeom>
            <a:avLst/>
            <a:gdLst>
              <a:gd name="T0" fmla="*/ 0 w 122"/>
              <a:gd name="T1" fmla="*/ 0 h 51"/>
              <a:gd name="T2" fmla="*/ 2147483646 w 122"/>
              <a:gd name="T3" fmla="*/ 2147483646 h 51"/>
              <a:gd name="T4" fmla="*/ 0 w 122"/>
              <a:gd name="T5" fmla="*/ 2147483646 h 51"/>
              <a:gd name="T6" fmla="*/ 2147483646 w 122"/>
              <a:gd name="T7" fmla="*/ 2147483646 h 51"/>
              <a:gd name="T8" fmla="*/ 0 w 122"/>
              <a:gd name="T9" fmla="*/ 0 h 51"/>
              <a:gd name="T10" fmla="*/ 0 60000 65536"/>
              <a:gd name="T11" fmla="*/ 0 60000 65536"/>
              <a:gd name="T12" fmla="*/ 0 60000 65536"/>
              <a:gd name="T13" fmla="*/ 0 60000 65536"/>
              <a:gd name="T14" fmla="*/ 0 60000 65536"/>
              <a:gd name="T15" fmla="*/ 0 w 122"/>
              <a:gd name="T16" fmla="*/ 0 h 51"/>
              <a:gd name="T17" fmla="*/ 122 w 122"/>
              <a:gd name="T18" fmla="*/ 51 h 51"/>
            </a:gdLst>
            <a:ahLst/>
            <a:cxnLst>
              <a:cxn ang="T10">
                <a:pos x="T0" y="T1"/>
              </a:cxn>
              <a:cxn ang="T11">
                <a:pos x="T2" y="T3"/>
              </a:cxn>
              <a:cxn ang="T12">
                <a:pos x="T4" y="T5"/>
              </a:cxn>
              <a:cxn ang="T13">
                <a:pos x="T6" y="T7"/>
              </a:cxn>
              <a:cxn ang="T14">
                <a:pos x="T8" y="T9"/>
              </a:cxn>
            </a:cxnLst>
            <a:rect l="T15" t="T16" r="T17" b="T18"/>
            <a:pathLst>
              <a:path w="122" h="51">
                <a:moveTo>
                  <a:pt x="0" y="0"/>
                </a:moveTo>
                <a:lnTo>
                  <a:pt x="20" y="20"/>
                </a:lnTo>
                <a:lnTo>
                  <a:pt x="0" y="51"/>
                </a:lnTo>
                <a:lnTo>
                  <a:pt x="122" y="20"/>
                </a:lnTo>
                <a:lnTo>
                  <a:pt x="0" y="0"/>
                </a:lnTo>
                <a:close/>
              </a:path>
            </a:pathLst>
          </a:custGeom>
          <a:solidFill>
            <a:srgbClr val="000000"/>
          </a:solidFill>
          <a:ln w="15875">
            <a:solidFill>
              <a:srgbClr val="000000"/>
            </a:solidFill>
            <a:round/>
          </a:ln>
        </p:spPr>
        <p:txBody>
          <a:bodyPr/>
          <a:lstStyle/>
          <a:p>
            <a:endParaRPr lang="zh-CN" altLang="en-US"/>
          </a:p>
        </p:txBody>
      </p:sp>
      <p:sp>
        <p:nvSpPr>
          <p:cNvPr id="47414" name="Line 309"/>
          <p:cNvSpPr>
            <a:spLocks noChangeShapeType="1"/>
          </p:cNvSpPr>
          <p:nvPr/>
        </p:nvSpPr>
        <p:spPr bwMode="auto">
          <a:xfrm>
            <a:off x="6008688" y="4471988"/>
            <a:ext cx="1066800" cy="1587"/>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415" name="Rectangle 310"/>
          <p:cNvSpPr>
            <a:spLocks noChangeArrowheads="1"/>
          </p:cNvSpPr>
          <p:nvPr/>
        </p:nvSpPr>
        <p:spPr bwMode="auto">
          <a:xfrm>
            <a:off x="3794125" y="4359275"/>
            <a:ext cx="19431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负反馈放大器的带宽</a:t>
            </a:r>
            <a:endParaRPr lang="zh-CN" altLang="zh-CN" sz="2800">
              <a:latin typeface="Times New Roman" panose="02020603050405020304" pitchFamily="18" charset="0"/>
            </a:endParaRPr>
          </a:p>
        </p:txBody>
      </p:sp>
      <p:sp>
        <p:nvSpPr>
          <p:cNvPr id="47416" name="Rectangle 311"/>
          <p:cNvSpPr>
            <a:spLocks noChangeArrowheads="1"/>
          </p:cNvSpPr>
          <p:nvPr/>
        </p:nvSpPr>
        <p:spPr bwMode="auto">
          <a:xfrm>
            <a:off x="6680200" y="3744913"/>
            <a:ext cx="7143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7417" name="Rectangle 312"/>
          <p:cNvSpPr>
            <a:spLocks noChangeArrowheads="1"/>
          </p:cNvSpPr>
          <p:nvPr/>
        </p:nvSpPr>
        <p:spPr bwMode="auto">
          <a:xfrm>
            <a:off x="6805613" y="3884613"/>
            <a:ext cx="1698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200">
                <a:solidFill>
                  <a:srgbClr val="000000"/>
                </a:solidFill>
                <a:latin typeface="Times New Roman" panose="02020603050405020304" pitchFamily="18" charset="0"/>
              </a:rPr>
              <a:t>Hf</a:t>
            </a:r>
            <a:endParaRPr lang="zh-CN" altLang="zh-CN" sz="2800">
              <a:latin typeface="Times New Roman" panose="02020603050405020304" pitchFamily="18" charset="0"/>
            </a:endParaRPr>
          </a:p>
        </p:txBody>
      </p:sp>
      <p:sp>
        <p:nvSpPr>
          <p:cNvPr id="47418" name="Rectangle 313"/>
          <p:cNvSpPr>
            <a:spLocks noChangeArrowheads="1"/>
          </p:cNvSpPr>
          <p:nvPr/>
        </p:nvSpPr>
        <p:spPr bwMode="auto">
          <a:xfrm>
            <a:off x="7754938" y="3810000"/>
            <a:ext cx="7143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7419" name="Rectangle 314"/>
          <p:cNvSpPr>
            <a:spLocks noChangeArrowheads="1"/>
          </p:cNvSpPr>
          <p:nvPr/>
        </p:nvSpPr>
        <p:spPr bwMode="auto">
          <a:xfrm>
            <a:off x="7829550" y="3825875"/>
            <a:ext cx="6477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700">
                <a:solidFill>
                  <a:srgbClr val="000000"/>
                </a:solidFill>
                <a:latin typeface="宋体" panose="02010600030101010101" pitchFamily="2" charset="-122"/>
              </a:rPr>
              <a:t>(频率)</a:t>
            </a:r>
            <a:endParaRPr lang="zh-CN" altLang="zh-CN" sz="2800">
              <a:latin typeface="Times New Roman" panose="02020603050405020304" pitchFamily="18" charset="0"/>
            </a:endParaRPr>
          </a:p>
        </p:txBody>
      </p:sp>
      <p:sp>
        <p:nvSpPr>
          <p:cNvPr id="47420" name="Text Box 315"/>
          <p:cNvSpPr txBox="1">
            <a:spLocks noChangeArrowheads="1"/>
          </p:cNvSpPr>
          <p:nvPr/>
        </p:nvSpPr>
        <p:spPr bwMode="auto">
          <a:xfrm>
            <a:off x="1949450" y="5078413"/>
            <a:ext cx="521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负反馈改善放大器频率响应的示意图 </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B2CD2180-87DA-4142-A21F-17EB4158CDA5}" type="slidenum">
              <a:rPr lang="zh-CN" altLang="zh-CN" sz="1400" smtClean="0"/>
            </a:fld>
            <a:endParaRPr lang="zh-CN" altLang="zh-CN" sz="1400" smtClean="0"/>
          </a:p>
        </p:txBody>
      </p:sp>
      <p:sp>
        <p:nvSpPr>
          <p:cNvPr id="48131" name="Line 2"/>
          <p:cNvSpPr>
            <a:spLocks noChangeShapeType="1"/>
          </p:cNvSpPr>
          <p:nvPr/>
        </p:nvSpPr>
        <p:spPr bwMode="auto">
          <a:xfrm>
            <a:off x="4364038" y="2354263"/>
            <a:ext cx="1022350"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32" name="Freeform 3"/>
          <p:cNvSpPr/>
          <p:nvPr/>
        </p:nvSpPr>
        <p:spPr bwMode="auto">
          <a:xfrm>
            <a:off x="5151438" y="2295525"/>
            <a:ext cx="234950" cy="98425"/>
          </a:xfrm>
          <a:custGeom>
            <a:avLst/>
            <a:gdLst>
              <a:gd name="T0" fmla="*/ 0 w 148"/>
              <a:gd name="T1" fmla="*/ 0 h 62"/>
              <a:gd name="T2" fmla="*/ 2147483646 w 148"/>
              <a:gd name="T3" fmla="*/ 2147483646 h 62"/>
              <a:gd name="T4" fmla="*/ 0 w 148"/>
              <a:gd name="T5" fmla="*/ 2147483646 h 62"/>
              <a:gd name="T6" fmla="*/ 2147483646 w 148"/>
              <a:gd name="T7" fmla="*/ 2147483646 h 62"/>
              <a:gd name="T8" fmla="*/ 0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0" y="0"/>
                </a:moveTo>
                <a:lnTo>
                  <a:pt x="25" y="37"/>
                </a:lnTo>
                <a:lnTo>
                  <a:pt x="0" y="62"/>
                </a:lnTo>
                <a:lnTo>
                  <a:pt x="148" y="37"/>
                </a:lnTo>
                <a:lnTo>
                  <a:pt x="0" y="0"/>
                </a:lnTo>
                <a:close/>
              </a:path>
            </a:pathLst>
          </a:custGeom>
          <a:solidFill>
            <a:srgbClr val="000000"/>
          </a:solidFill>
          <a:ln w="19050">
            <a:solidFill>
              <a:srgbClr val="000000"/>
            </a:solidFill>
            <a:round/>
          </a:ln>
        </p:spPr>
        <p:txBody>
          <a:bodyPr/>
          <a:lstStyle/>
          <a:p>
            <a:endParaRPr lang="zh-CN" altLang="en-US"/>
          </a:p>
        </p:txBody>
      </p:sp>
      <p:sp>
        <p:nvSpPr>
          <p:cNvPr id="48133" name="Line 4"/>
          <p:cNvSpPr>
            <a:spLocks noChangeShapeType="1"/>
          </p:cNvSpPr>
          <p:nvPr/>
        </p:nvSpPr>
        <p:spPr bwMode="auto">
          <a:xfrm flipV="1">
            <a:off x="4364038" y="1606550"/>
            <a:ext cx="1587" cy="7477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34" name="Freeform 5"/>
          <p:cNvSpPr/>
          <p:nvPr/>
        </p:nvSpPr>
        <p:spPr bwMode="auto">
          <a:xfrm>
            <a:off x="4324350" y="1606550"/>
            <a:ext cx="98425" cy="236538"/>
          </a:xfrm>
          <a:custGeom>
            <a:avLst/>
            <a:gdLst>
              <a:gd name="T0" fmla="*/ 0 w 62"/>
              <a:gd name="T1" fmla="*/ 2147483646 h 149"/>
              <a:gd name="T2" fmla="*/ 2147483646 w 62"/>
              <a:gd name="T3" fmla="*/ 2147483646 h 149"/>
              <a:gd name="T4" fmla="*/ 2147483646 w 62"/>
              <a:gd name="T5" fmla="*/ 2147483646 h 149"/>
              <a:gd name="T6" fmla="*/ 2147483646 w 62"/>
              <a:gd name="T7" fmla="*/ 0 h 149"/>
              <a:gd name="T8" fmla="*/ 0 w 62"/>
              <a:gd name="T9" fmla="*/ 2147483646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25" y="124"/>
                </a:lnTo>
                <a:lnTo>
                  <a:pt x="62" y="149"/>
                </a:lnTo>
                <a:lnTo>
                  <a:pt x="25" y="0"/>
                </a:lnTo>
                <a:lnTo>
                  <a:pt x="0" y="149"/>
                </a:lnTo>
                <a:close/>
              </a:path>
            </a:pathLst>
          </a:custGeom>
          <a:solidFill>
            <a:srgbClr val="000000"/>
          </a:solidFill>
          <a:ln w="19050">
            <a:solidFill>
              <a:srgbClr val="000000"/>
            </a:solidFill>
            <a:round/>
          </a:ln>
        </p:spPr>
        <p:txBody>
          <a:bodyPr/>
          <a:lstStyle/>
          <a:p>
            <a:endParaRPr lang="zh-CN" altLang="en-US"/>
          </a:p>
        </p:txBody>
      </p:sp>
      <p:sp>
        <p:nvSpPr>
          <p:cNvPr id="48135" name="Freeform 6"/>
          <p:cNvSpPr/>
          <p:nvPr/>
        </p:nvSpPr>
        <p:spPr bwMode="auto">
          <a:xfrm>
            <a:off x="4560888" y="1625600"/>
            <a:ext cx="360362" cy="728663"/>
          </a:xfrm>
          <a:custGeom>
            <a:avLst/>
            <a:gdLst>
              <a:gd name="T0" fmla="*/ 2147483646 w 236"/>
              <a:gd name="T1" fmla="*/ 0 h 422"/>
              <a:gd name="T2" fmla="*/ 2147483646 w 236"/>
              <a:gd name="T3" fmla="*/ 2147483646 h 422"/>
              <a:gd name="T4" fmla="*/ 2147483646 w 236"/>
              <a:gd name="T5" fmla="*/ 2147483646 h 422"/>
              <a:gd name="T6" fmla="*/ 2147483646 w 236"/>
              <a:gd name="T7" fmla="*/ 2147483646 h 422"/>
              <a:gd name="T8" fmla="*/ 2147483646 w 236"/>
              <a:gd name="T9" fmla="*/ 2147483646 h 422"/>
              <a:gd name="T10" fmla="*/ 2147483646 w 236"/>
              <a:gd name="T11" fmla="*/ 2147483646 h 422"/>
              <a:gd name="T12" fmla="*/ 2147483646 w 236"/>
              <a:gd name="T13" fmla="*/ 2147483646 h 422"/>
              <a:gd name="T14" fmla="*/ 2147483646 w 236"/>
              <a:gd name="T15" fmla="*/ 2147483646 h 422"/>
              <a:gd name="T16" fmla="*/ 2147483646 w 236"/>
              <a:gd name="T17" fmla="*/ 2147483646 h 422"/>
              <a:gd name="T18" fmla="*/ 2147483646 w 236"/>
              <a:gd name="T19" fmla="*/ 2147483646 h 422"/>
              <a:gd name="T20" fmla="*/ 0 w 236"/>
              <a:gd name="T21" fmla="*/ 2147483646 h 4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422"/>
              <a:gd name="T35" fmla="*/ 236 w 236"/>
              <a:gd name="T36" fmla="*/ 422 h 4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422">
                <a:moveTo>
                  <a:pt x="236" y="0"/>
                </a:moveTo>
                <a:lnTo>
                  <a:pt x="236" y="100"/>
                </a:lnTo>
                <a:lnTo>
                  <a:pt x="223" y="174"/>
                </a:lnTo>
                <a:lnTo>
                  <a:pt x="211" y="236"/>
                </a:lnTo>
                <a:lnTo>
                  <a:pt x="211" y="286"/>
                </a:lnTo>
                <a:lnTo>
                  <a:pt x="186" y="323"/>
                </a:lnTo>
                <a:lnTo>
                  <a:pt x="174" y="348"/>
                </a:lnTo>
                <a:lnTo>
                  <a:pt x="136" y="360"/>
                </a:lnTo>
                <a:lnTo>
                  <a:pt x="99" y="385"/>
                </a:lnTo>
                <a:lnTo>
                  <a:pt x="50" y="398"/>
                </a:lnTo>
                <a:lnTo>
                  <a:pt x="0" y="42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36" name="Rectangle 7"/>
          <p:cNvSpPr>
            <a:spLocks noChangeArrowheads="1"/>
          </p:cNvSpPr>
          <p:nvPr/>
        </p:nvSpPr>
        <p:spPr bwMode="auto">
          <a:xfrm>
            <a:off x="4132263" y="1468438"/>
            <a:ext cx="69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137" name="Rectangle 8"/>
          <p:cNvSpPr>
            <a:spLocks noChangeArrowheads="1"/>
          </p:cNvSpPr>
          <p:nvPr/>
        </p:nvSpPr>
        <p:spPr bwMode="auto">
          <a:xfrm>
            <a:off x="4211638" y="1585913"/>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138" name="Rectangle 9"/>
          <p:cNvSpPr>
            <a:spLocks noChangeArrowheads="1"/>
          </p:cNvSpPr>
          <p:nvPr/>
        </p:nvSpPr>
        <p:spPr bwMode="auto">
          <a:xfrm>
            <a:off x="4171950" y="215741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139" name="Rectangle 10"/>
          <p:cNvSpPr>
            <a:spLocks noChangeArrowheads="1"/>
          </p:cNvSpPr>
          <p:nvPr/>
        </p:nvSpPr>
        <p:spPr bwMode="auto">
          <a:xfrm>
            <a:off x="5229225" y="1979613"/>
            <a:ext cx="141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48140" name="Rectangle 11"/>
          <p:cNvSpPr>
            <a:spLocks noChangeArrowheads="1"/>
          </p:cNvSpPr>
          <p:nvPr/>
        </p:nvSpPr>
        <p:spPr bwMode="auto">
          <a:xfrm>
            <a:off x="5365750" y="2098675"/>
            <a:ext cx="1778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be</a:t>
            </a:r>
            <a:endParaRPr lang="zh-CN" altLang="zh-CN" sz="2800">
              <a:latin typeface="Times New Roman" panose="02020603050405020304" pitchFamily="18" charset="0"/>
            </a:endParaRPr>
          </a:p>
        </p:txBody>
      </p:sp>
      <p:sp>
        <p:nvSpPr>
          <p:cNvPr id="48141" name="Line 12"/>
          <p:cNvSpPr>
            <a:spLocks noChangeShapeType="1"/>
          </p:cNvSpPr>
          <p:nvPr/>
        </p:nvSpPr>
        <p:spPr bwMode="auto">
          <a:xfrm>
            <a:off x="4935538" y="1408113"/>
            <a:ext cx="373062"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2" name="Freeform 13"/>
          <p:cNvSpPr/>
          <p:nvPr/>
        </p:nvSpPr>
        <p:spPr bwMode="auto">
          <a:xfrm>
            <a:off x="5151438" y="1370013"/>
            <a:ext cx="234950" cy="98425"/>
          </a:xfrm>
          <a:custGeom>
            <a:avLst/>
            <a:gdLst>
              <a:gd name="T0" fmla="*/ 0 w 148"/>
              <a:gd name="T1" fmla="*/ 0 h 62"/>
              <a:gd name="T2" fmla="*/ 2147483646 w 148"/>
              <a:gd name="T3" fmla="*/ 2147483646 h 62"/>
              <a:gd name="T4" fmla="*/ 0 w 148"/>
              <a:gd name="T5" fmla="*/ 2147483646 h 62"/>
              <a:gd name="T6" fmla="*/ 2147483646 w 148"/>
              <a:gd name="T7" fmla="*/ 2147483646 h 62"/>
              <a:gd name="T8" fmla="*/ 0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0" y="0"/>
                </a:moveTo>
                <a:lnTo>
                  <a:pt x="25" y="24"/>
                </a:lnTo>
                <a:lnTo>
                  <a:pt x="0" y="62"/>
                </a:lnTo>
                <a:lnTo>
                  <a:pt x="148" y="24"/>
                </a:lnTo>
                <a:lnTo>
                  <a:pt x="0" y="0"/>
                </a:lnTo>
                <a:close/>
              </a:path>
            </a:pathLst>
          </a:custGeom>
          <a:solidFill>
            <a:srgbClr val="000000"/>
          </a:solidFill>
          <a:ln w="19050">
            <a:solidFill>
              <a:srgbClr val="000000"/>
            </a:solidFill>
            <a:round/>
          </a:ln>
        </p:spPr>
        <p:txBody>
          <a:bodyPr/>
          <a:lstStyle/>
          <a:p>
            <a:endParaRPr lang="zh-CN" altLang="en-US"/>
          </a:p>
        </p:txBody>
      </p:sp>
      <p:sp>
        <p:nvSpPr>
          <p:cNvPr id="48143" name="Rectangle 14"/>
          <p:cNvSpPr>
            <a:spLocks noChangeArrowheads="1"/>
          </p:cNvSpPr>
          <p:nvPr/>
        </p:nvSpPr>
        <p:spPr bwMode="auto">
          <a:xfrm>
            <a:off x="5164138" y="1468438"/>
            <a:ext cx="169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8144" name="Rectangle 15"/>
          <p:cNvSpPr>
            <a:spLocks noChangeArrowheads="1"/>
          </p:cNvSpPr>
          <p:nvPr/>
        </p:nvSpPr>
        <p:spPr bwMode="auto">
          <a:xfrm>
            <a:off x="3892550" y="1330325"/>
            <a:ext cx="1849438" cy="1103313"/>
          </a:xfrm>
          <a:prstGeom prst="rect">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8145" name="Line 16"/>
          <p:cNvSpPr>
            <a:spLocks noChangeShapeType="1"/>
          </p:cNvSpPr>
          <p:nvPr/>
        </p:nvSpPr>
        <p:spPr bwMode="auto">
          <a:xfrm>
            <a:off x="5741988" y="1508125"/>
            <a:ext cx="746125"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6" name="Line 17"/>
          <p:cNvSpPr>
            <a:spLocks noChangeShapeType="1"/>
          </p:cNvSpPr>
          <p:nvPr/>
        </p:nvSpPr>
        <p:spPr bwMode="auto">
          <a:xfrm>
            <a:off x="5741988" y="2255838"/>
            <a:ext cx="746125"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47" name="Freeform 18"/>
          <p:cNvSpPr/>
          <p:nvPr/>
        </p:nvSpPr>
        <p:spPr bwMode="auto">
          <a:xfrm>
            <a:off x="6488113" y="1468438"/>
            <a:ext cx="98425" cy="77787"/>
          </a:xfrm>
          <a:custGeom>
            <a:avLst/>
            <a:gdLst>
              <a:gd name="T0" fmla="*/ 0 w 62"/>
              <a:gd name="T1" fmla="*/ 2147483646 h 49"/>
              <a:gd name="T2" fmla="*/ 2147483646 w 62"/>
              <a:gd name="T3" fmla="*/ 0 h 49"/>
              <a:gd name="T4" fmla="*/ 2147483646 w 62"/>
              <a:gd name="T5" fmla="*/ 0 h 49"/>
              <a:gd name="T6" fmla="*/ 2147483646 w 62"/>
              <a:gd name="T7" fmla="*/ 2147483646 h 49"/>
              <a:gd name="T8" fmla="*/ 2147483646 w 62"/>
              <a:gd name="T9" fmla="*/ 2147483646 h 49"/>
              <a:gd name="T10" fmla="*/ 2147483646 w 62"/>
              <a:gd name="T11" fmla="*/ 2147483646 h 49"/>
              <a:gd name="T12" fmla="*/ 0 w 62"/>
              <a:gd name="T13" fmla="*/ 2147483646 h 49"/>
              <a:gd name="T14" fmla="*/ 0 60000 65536"/>
              <a:gd name="T15" fmla="*/ 0 60000 65536"/>
              <a:gd name="T16" fmla="*/ 0 60000 65536"/>
              <a:gd name="T17" fmla="*/ 0 60000 65536"/>
              <a:gd name="T18" fmla="*/ 0 60000 65536"/>
              <a:gd name="T19" fmla="*/ 0 60000 65536"/>
              <a:gd name="T20" fmla="*/ 0 60000 65536"/>
              <a:gd name="T21" fmla="*/ 0 w 62"/>
              <a:gd name="T22" fmla="*/ 0 h 49"/>
              <a:gd name="T23" fmla="*/ 62 w 62"/>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9">
                <a:moveTo>
                  <a:pt x="0" y="25"/>
                </a:moveTo>
                <a:lnTo>
                  <a:pt x="13" y="0"/>
                </a:lnTo>
                <a:lnTo>
                  <a:pt x="38" y="0"/>
                </a:lnTo>
                <a:lnTo>
                  <a:pt x="62" y="25"/>
                </a:lnTo>
                <a:lnTo>
                  <a:pt x="38" y="49"/>
                </a:lnTo>
                <a:lnTo>
                  <a:pt x="13" y="49"/>
                </a:lnTo>
                <a:lnTo>
                  <a:pt x="0" y="25"/>
                </a:lnTo>
                <a:close/>
              </a:path>
            </a:pathLst>
          </a:custGeom>
          <a:solidFill>
            <a:srgbClr val="FFFFFF"/>
          </a:solidFill>
          <a:ln w="19050">
            <a:solidFill>
              <a:srgbClr val="000000"/>
            </a:solidFill>
            <a:round/>
          </a:ln>
        </p:spPr>
        <p:txBody>
          <a:bodyPr/>
          <a:lstStyle/>
          <a:p>
            <a:endParaRPr lang="zh-CN" altLang="en-US"/>
          </a:p>
        </p:txBody>
      </p:sp>
      <p:sp>
        <p:nvSpPr>
          <p:cNvPr id="48148" name="Freeform 19"/>
          <p:cNvSpPr/>
          <p:nvPr/>
        </p:nvSpPr>
        <p:spPr bwMode="auto">
          <a:xfrm>
            <a:off x="6488113" y="2216150"/>
            <a:ext cx="98425" cy="79375"/>
          </a:xfrm>
          <a:custGeom>
            <a:avLst/>
            <a:gdLst>
              <a:gd name="T0" fmla="*/ 0 w 62"/>
              <a:gd name="T1" fmla="*/ 2147483646 h 50"/>
              <a:gd name="T2" fmla="*/ 2147483646 w 62"/>
              <a:gd name="T3" fmla="*/ 0 h 50"/>
              <a:gd name="T4" fmla="*/ 2147483646 w 62"/>
              <a:gd name="T5" fmla="*/ 0 h 50"/>
              <a:gd name="T6" fmla="*/ 2147483646 w 62"/>
              <a:gd name="T7" fmla="*/ 2147483646 h 50"/>
              <a:gd name="T8" fmla="*/ 2147483646 w 62"/>
              <a:gd name="T9" fmla="*/ 2147483646 h 50"/>
              <a:gd name="T10" fmla="*/ 2147483646 w 62"/>
              <a:gd name="T11" fmla="*/ 2147483646 h 50"/>
              <a:gd name="T12" fmla="*/ 0 w 62"/>
              <a:gd name="T13" fmla="*/ 2147483646 h 50"/>
              <a:gd name="T14" fmla="*/ 0 60000 65536"/>
              <a:gd name="T15" fmla="*/ 0 60000 65536"/>
              <a:gd name="T16" fmla="*/ 0 60000 65536"/>
              <a:gd name="T17" fmla="*/ 0 60000 65536"/>
              <a:gd name="T18" fmla="*/ 0 60000 65536"/>
              <a:gd name="T19" fmla="*/ 0 60000 65536"/>
              <a:gd name="T20" fmla="*/ 0 60000 65536"/>
              <a:gd name="T21" fmla="*/ 0 w 62"/>
              <a:gd name="T22" fmla="*/ 0 h 50"/>
              <a:gd name="T23" fmla="*/ 62 w 6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50">
                <a:moveTo>
                  <a:pt x="0" y="25"/>
                </a:moveTo>
                <a:lnTo>
                  <a:pt x="13" y="0"/>
                </a:lnTo>
                <a:lnTo>
                  <a:pt x="38" y="0"/>
                </a:lnTo>
                <a:lnTo>
                  <a:pt x="62" y="25"/>
                </a:lnTo>
                <a:lnTo>
                  <a:pt x="38" y="50"/>
                </a:lnTo>
                <a:lnTo>
                  <a:pt x="13" y="50"/>
                </a:lnTo>
                <a:lnTo>
                  <a:pt x="0" y="25"/>
                </a:lnTo>
                <a:close/>
              </a:path>
            </a:pathLst>
          </a:custGeom>
          <a:solidFill>
            <a:srgbClr val="FFFFFF"/>
          </a:solidFill>
          <a:ln w="19050">
            <a:solidFill>
              <a:srgbClr val="000000"/>
            </a:solidFill>
            <a:round/>
          </a:ln>
        </p:spPr>
        <p:txBody>
          <a:bodyPr/>
          <a:lstStyle/>
          <a:p>
            <a:endParaRPr lang="zh-CN" altLang="en-US"/>
          </a:p>
        </p:txBody>
      </p:sp>
      <p:sp>
        <p:nvSpPr>
          <p:cNvPr id="48149" name="Line 20"/>
          <p:cNvSpPr>
            <a:spLocks noChangeShapeType="1"/>
          </p:cNvSpPr>
          <p:nvPr/>
        </p:nvSpPr>
        <p:spPr bwMode="auto">
          <a:xfrm>
            <a:off x="3144838" y="1508125"/>
            <a:ext cx="747712"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0" name="Line 21"/>
          <p:cNvSpPr>
            <a:spLocks noChangeShapeType="1"/>
          </p:cNvSpPr>
          <p:nvPr/>
        </p:nvSpPr>
        <p:spPr bwMode="auto">
          <a:xfrm>
            <a:off x="3144838" y="2255838"/>
            <a:ext cx="747712"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51" name="Freeform 22"/>
          <p:cNvSpPr/>
          <p:nvPr/>
        </p:nvSpPr>
        <p:spPr bwMode="auto">
          <a:xfrm>
            <a:off x="3046413" y="1468438"/>
            <a:ext cx="98425" cy="77787"/>
          </a:xfrm>
          <a:custGeom>
            <a:avLst/>
            <a:gdLst>
              <a:gd name="T0" fmla="*/ 0 w 62"/>
              <a:gd name="T1" fmla="*/ 2147483646 h 49"/>
              <a:gd name="T2" fmla="*/ 2147483646 w 62"/>
              <a:gd name="T3" fmla="*/ 0 h 49"/>
              <a:gd name="T4" fmla="*/ 2147483646 w 62"/>
              <a:gd name="T5" fmla="*/ 0 h 49"/>
              <a:gd name="T6" fmla="*/ 2147483646 w 62"/>
              <a:gd name="T7" fmla="*/ 2147483646 h 49"/>
              <a:gd name="T8" fmla="*/ 2147483646 w 62"/>
              <a:gd name="T9" fmla="*/ 2147483646 h 49"/>
              <a:gd name="T10" fmla="*/ 2147483646 w 62"/>
              <a:gd name="T11" fmla="*/ 2147483646 h 49"/>
              <a:gd name="T12" fmla="*/ 0 w 62"/>
              <a:gd name="T13" fmla="*/ 2147483646 h 49"/>
              <a:gd name="T14" fmla="*/ 0 60000 65536"/>
              <a:gd name="T15" fmla="*/ 0 60000 65536"/>
              <a:gd name="T16" fmla="*/ 0 60000 65536"/>
              <a:gd name="T17" fmla="*/ 0 60000 65536"/>
              <a:gd name="T18" fmla="*/ 0 60000 65536"/>
              <a:gd name="T19" fmla="*/ 0 60000 65536"/>
              <a:gd name="T20" fmla="*/ 0 60000 65536"/>
              <a:gd name="T21" fmla="*/ 0 w 62"/>
              <a:gd name="T22" fmla="*/ 0 h 49"/>
              <a:gd name="T23" fmla="*/ 62 w 62"/>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9">
                <a:moveTo>
                  <a:pt x="0" y="25"/>
                </a:moveTo>
                <a:lnTo>
                  <a:pt x="12" y="0"/>
                </a:lnTo>
                <a:lnTo>
                  <a:pt x="50" y="0"/>
                </a:lnTo>
                <a:lnTo>
                  <a:pt x="62" y="25"/>
                </a:lnTo>
                <a:lnTo>
                  <a:pt x="50" y="49"/>
                </a:lnTo>
                <a:lnTo>
                  <a:pt x="12" y="49"/>
                </a:lnTo>
                <a:lnTo>
                  <a:pt x="0" y="25"/>
                </a:lnTo>
                <a:close/>
              </a:path>
            </a:pathLst>
          </a:custGeom>
          <a:solidFill>
            <a:srgbClr val="FFFFFF"/>
          </a:solidFill>
          <a:ln w="19050">
            <a:solidFill>
              <a:srgbClr val="000000"/>
            </a:solidFill>
            <a:round/>
          </a:ln>
        </p:spPr>
        <p:txBody>
          <a:bodyPr/>
          <a:lstStyle/>
          <a:p>
            <a:endParaRPr lang="zh-CN" altLang="en-US"/>
          </a:p>
        </p:txBody>
      </p:sp>
      <p:sp>
        <p:nvSpPr>
          <p:cNvPr id="48152" name="Freeform 23"/>
          <p:cNvSpPr/>
          <p:nvPr/>
        </p:nvSpPr>
        <p:spPr bwMode="auto">
          <a:xfrm>
            <a:off x="3046413" y="2216150"/>
            <a:ext cx="98425" cy="79375"/>
          </a:xfrm>
          <a:custGeom>
            <a:avLst/>
            <a:gdLst>
              <a:gd name="T0" fmla="*/ 0 w 62"/>
              <a:gd name="T1" fmla="*/ 2147483646 h 50"/>
              <a:gd name="T2" fmla="*/ 2147483646 w 62"/>
              <a:gd name="T3" fmla="*/ 0 h 50"/>
              <a:gd name="T4" fmla="*/ 2147483646 w 62"/>
              <a:gd name="T5" fmla="*/ 0 h 50"/>
              <a:gd name="T6" fmla="*/ 2147483646 w 62"/>
              <a:gd name="T7" fmla="*/ 2147483646 h 50"/>
              <a:gd name="T8" fmla="*/ 2147483646 w 62"/>
              <a:gd name="T9" fmla="*/ 2147483646 h 50"/>
              <a:gd name="T10" fmla="*/ 2147483646 w 62"/>
              <a:gd name="T11" fmla="*/ 2147483646 h 50"/>
              <a:gd name="T12" fmla="*/ 0 w 62"/>
              <a:gd name="T13" fmla="*/ 2147483646 h 50"/>
              <a:gd name="T14" fmla="*/ 0 60000 65536"/>
              <a:gd name="T15" fmla="*/ 0 60000 65536"/>
              <a:gd name="T16" fmla="*/ 0 60000 65536"/>
              <a:gd name="T17" fmla="*/ 0 60000 65536"/>
              <a:gd name="T18" fmla="*/ 0 60000 65536"/>
              <a:gd name="T19" fmla="*/ 0 60000 65536"/>
              <a:gd name="T20" fmla="*/ 0 60000 65536"/>
              <a:gd name="T21" fmla="*/ 0 w 62"/>
              <a:gd name="T22" fmla="*/ 0 h 50"/>
              <a:gd name="T23" fmla="*/ 62 w 62"/>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50">
                <a:moveTo>
                  <a:pt x="0" y="25"/>
                </a:moveTo>
                <a:lnTo>
                  <a:pt x="12" y="0"/>
                </a:lnTo>
                <a:lnTo>
                  <a:pt x="50" y="0"/>
                </a:lnTo>
                <a:lnTo>
                  <a:pt x="62" y="25"/>
                </a:lnTo>
                <a:lnTo>
                  <a:pt x="50" y="50"/>
                </a:lnTo>
                <a:lnTo>
                  <a:pt x="12" y="50"/>
                </a:lnTo>
                <a:lnTo>
                  <a:pt x="0" y="25"/>
                </a:lnTo>
                <a:close/>
              </a:path>
            </a:pathLst>
          </a:custGeom>
          <a:solidFill>
            <a:srgbClr val="FFFFFF"/>
          </a:solidFill>
          <a:ln w="19050">
            <a:solidFill>
              <a:srgbClr val="000000"/>
            </a:solidFill>
            <a:round/>
          </a:ln>
        </p:spPr>
        <p:txBody>
          <a:bodyPr/>
          <a:lstStyle/>
          <a:p>
            <a:endParaRPr lang="zh-CN" altLang="en-US"/>
          </a:p>
        </p:txBody>
      </p:sp>
      <p:sp>
        <p:nvSpPr>
          <p:cNvPr id="48153" name="Rectangle 24"/>
          <p:cNvSpPr>
            <a:spLocks noChangeArrowheads="1"/>
          </p:cNvSpPr>
          <p:nvPr/>
        </p:nvSpPr>
        <p:spPr bwMode="auto">
          <a:xfrm>
            <a:off x="2851150" y="1368425"/>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154" name="Rectangle 25"/>
          <p:cNvSpPr>
            <a:spLocks noChangeArrowheads="1"/>
          </p:cNvSpPr>
          <p:nvPr/>
        </p:nvSpPr>
        <p:spPr bwMode="auto">
          <a:xfrm>
            <a:off x="3197225" y="1901825"/>
            <a:ext cx="169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155" name="Rectangle 26"/>
          <p:cNvSpPr>
            <a:spLocks noChangeArrowheads="1"/>
          </p:cNvSpPr>
          <p:nvPr/>
        </p:nvSpPr>
        <p:spPr bwMode="auto">
          <a:xfrm>
            <a:off x="3365500" y="2039938"/>
            <a:ext cx="492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156" name="Rectangle 27"/>
          <p:cNvSpPr>
            <a:spLocks noChangeArrowheads="1"/>
          </p:cNvSpPr>
          <p:nvPr/>
        </p:nvSpPr>
        <p:spPr bwMode="auto">
          <a:xfrm>
            <a:off x="3308350" y="1704975"/>
            <a:ext cx="63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157" name="Rectangle 28"/>
          <p:cNvSpPr>
            <a:spLocks noChangeArrowheads="1"/>
          </p:cNvSpPr>
          <p:nvPr/>
        </p:nvSpPr>
        <p:spPr bwMode="auto">
          <a:xfrm>
            <a:off x="6483350" y="1724025"/>
            <a:ext cx="169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158" name="Rectangle 29"/>
          <p:cNvSpPr>
            <a:spLocks noChangeArrowheads="1"/>
          </p:cNvSpPr>
          <p:nvPr/>
        </p:nvSpPr>
        <p:spPr bwMode="auto">
          <a:xfrm>
            <a:off x="6651625" y="1843088"/>
            <a:ext cx="889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159" name="Rectangle 30"/>
          <p:cNvSpPr>
            <a:spLocks noChangeArrowheads="1"/>
          </p:cNvSpPr>
          <p:nvPr/>
        </p:nvSpPr>
        <p:spPr bwMode="auto">
          <a:xfrm>
            <a:off x="6594475" y="1487488"/>
            <a:ext cx="63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160" name="Rectangle 31"/>
          <p:cNvSpPr>
            <a:spLocks noChangeArrowheads="1"/>
          </p:cNvSpPr>
          <p:nvPr/>
        </p:nvSpPr>
        <p:spPr bwMode="auto">
          <a:xfrm>
            <a:off x="2811463" y="2117725"/>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161" name="Rectangle 32"/>
          <p:cNvSpPr>
            <a:spLocks noChangeArrowheads="1"/>
          </p:cNvSpPr>
          <p:nvPr/>
        </p:nvSpPr>
        <p:spPr bwMode="auto">
          <a:xfrm>
            <a:off x="6253163" y="1546225"/>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162" name="Rectangle 33"/>
          <p:cNvSpPr>
            <a:spLocks noChangeArrowheads="1"/>
          </p:cNvSpPr>
          <p:nvPr/>
        </p:nvSpPr>
        <p:spPr bwMode="auto">
          <a:xfrm>
            <a:off x="6253163" y="197961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grpSp>
        <p:nvGrpSpPr>
          <p:cNvPr id="48163" name="Group 34"/>
          <p:cNvGrpSpPr/>
          <p:nvPr/>
        </p:nvGrpSpPr>
        <p:grpSpPr bwMode="auto">
          <a:xfrm>
            <a:off x="6902450" y="974725"/>
            <a:ext cx="1160463" cy="1419225"/>
            <a:chOff x="0" y="0"/>
            <a:chExt cx="731" cy="894"/>
          </a:xfrm>
        </p:grpSpPr>
        <p:sp>
          <p:nvSpPr>
            <p:cNvPr id="48274" name="Line 35"/>
            <p:cNvSpPr>
              <a:spLocks noChangeShapeType="1"/>
            </p:cNvSpPr>
            <p:nvPr/>
          </p:nvSpPr>
          <p:spPr bwMode="auto">
            <a:xfrm>
              <a:off x="37" y="571"/>
              <a:ext cx="694"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75" name="Freeform 36"/>
            <p:cNvSpPr/>
            <p:nvPr/>
          </p:nvSpPr>
          <p:spPr bwMode="auto">
            <a:xfrm>
              <a:off x="582" y="547"/>
              <a:ext cx="149" cy="49"/>
            </a:xfrm>
            <a:custGeom>
              <a:avLst/>
              <a:gdLst>
                <a:gd name="T0" fmla="*/ 0 w 149"/>
                <a:gd name="T1" fmla="*/ 0 h 49"/>
                <a:gd name="T2" fmla="*/ 25 w 149"/>
                <a:gd name="T3" fmla="*/ 24 h 49"/>
                <a:gd name="T4" fmla="*/ 0 w 149"/>
                <a:gd name="T5" fmla="*/ 49 h 49"/>
                <a:gd name="T6" fmla="*/ 149 w 149"/>
                <a:gd name="T7" fmla="*/ 24 h 49"/>
                <a:gd name="T8" fmla="*/ 0 w 149"/>
                <a:gd name="T9" fmla="*/ 0 h 49"/>
                <a:gd name="T10" fmla="*/ 0 60000 65536"/>
                <a:gd name="T11" fmla="*/ 0 60000 65536"/>
                <a:gd name="T12" fmla="*/ 0 60000 65536"/>
                <a:gd name="T13" fmla="*/ 0 60000 65536"/>
                <a:gd name="T14" fmla="*/ 0 60000 65536"/>
                <a:gd name="T15" fmla="*/ 0 w 149"/>
                <a:gd name="T16" fmla="*/ 0 h 49"/>
                <a:gd name="T17" fmla="*/ 149 w 149"/>
                <a:gd name="T18" fmla="*/ 49 h 49"/>
              </a:gdLst>
              <a:ahLst/>
              <a:cxnLst>
                <a:cxn ang="T10">
                  <a:pos x="T0" y="T1"/>
                </a:cxn>
                <a:cxn ang="T11">
                  <a:pos x="T2" y="T3"/>
                </a:cxn>
                <a:cxn ang="T12">
                  <a:pos x="T4" y="T5"/>
                </a:cxn>
                <a:cxn ang="T13">
                  <a:pos x="T6" y="T7"/>
                </a:cxn>
                <a:cxn ang="T14">
                  <a:pos x="T8" y="T9"/>
                </a:cxn>
              </a:cxnLst>
              <a:rect l="T15" t="T16" r="T17" b="T18"/>
              <a:pathLst>
                <a:path w="149" h="49">
                  <a:moveTo>
                    <a:pt x="0" y="0"/>
                  </a:moveTo>
                  <a:lnTo>
                    <a:pt x="25" y="24"/>
                  </a:lnTo>
                  <a:lnTo>
                    <a:pt x="0" y="49"/>
                  </a:lnTo>
                  <a:lnTo>
                    <a:pt x="149" y="24"/>
                  </a:lnTo>
                  <a:lnTo>
                    <a:pt x="0" y="0"/>
                  </a:lnTo>
                  <a:close/>
                </a:path>
              </a:pathLst>
            </a:custGeom>
            <a:solidFill>
              <a:srgbClr val="000000"/>
            </a:solidFill>
            <a:ln w="19050">
              <a:solidFill>
                <a:srgbClr val="000000"/>
              </a:solidFill>
              <a:round/>
            </a:ln>
          </p:spPr>
          <p:txBody>
            <a:bodyPr/>
            <a:lstStyle/>
            <a:p>
              <a:endParaRPr lang="zh-CN" altLang="en-US"/>
            </a:p>
          </p:txBody>
        </p:sp>
        <p:sp>
          <p:nvSpPr>
            <p:cNvPr id="48276" name="Line 37"/>
            <p:cNvSpPr>
              <a:spLocks noChangeShapeType="1"/>
            </p:cNvSpPr>
            <p:nvPr/>
          </p:nvSpPr>
          <p:spPr bwMode="auto">
            <a:xfrm>
              <a:off x="37" y="162"/>
              <a:ext cx="1" cy="73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77" name="Freeform 38"/>
            <p:cNvSpPr/>
            <p:nvPr/>
          </p:nvSpPr>
          <p:spPr bwMode="auto">
            <a:xfrm>
              <a:off x="0" y="162"/>
              <a:ext cx="62" cy="149"/>
            </a:xfrm>
            <a:custGeom>
              <a:avLst/>
              <a:gdLst>
                <a:gd name="T0" fmla="*/ 0 w 62"/>
                <a:gd name="T1" fmla="*/ 149 h 149"/>
                <a:gd name="T2" fmla="*/ 37 w 62"/>
                <a:gd name="T3" fmla="*/ 124 h 149"/>
                <a:gd name="T4" fmla="*/ 62 w 62"/>
                <a:gd name="T5" fmla="*/ 149 h 149"/>
                <a:gd name="T6" fmla="*/ 37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37" y="124"/>
                  </a:lnTo>
                  <a:lnTo>
                    <a:pt x="62" y="149"/>
                  </a:lnTo>
                  <a:lnTo>
                    <a:pt x="37" y="0"/>
                  </a:lnTo>
                  <a:lnTo>
                    <a:pt x="0" y="149"/>
                  </a:lnTo>
                  <a:close/>
                </a:path>
              </a:pathLst>
            </a:custGeom>
            <a:solidFill>
              <a:srgbClr val="000000"/>
            </a:solidFill>
            <a:ln w="19050">
              <a:solidFill>
                <a:srgbClr val="000000"/>
              </a:solidFill>
              <a:round/>
            </a:ln>
          </p:spPr>
          <p:txBody>
            <a:bodyPr/>
            <a:lstStyle/>
            <a:p>
              <a:endParaRPr lang="zh-CN" altLang="en-US"/>
            </a:p>
          </p:txBody>
        </p:sp>
        <p:sp>
          <p:nvSpPr>
            <p:cNvPr id="48278" name="Rectangle 39"/>
            <p:cNvSpPr>
              <a:spLocks noChangeArrowheads="1"/>
            </p:cNvSpPr>
            <p:nvPr/>
          </p:nvSpPr>
          <p:spPr bwMode="auto">
            <a:xfrm>
              <a:off x="96"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79" name="Rectangle 40"/>
            <p:cNvSpPr>
              <a:spLocks noChangeArrowheads="1"/>
            </p:cNvSpPr>
            <p:nvPr/>
          </p:nvSpPr>
          <p:spPr bwMode="auto">
            <a:xfrm>
              <a:off x="176" y="8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280" name="Rectangle 41"/>
            <p:cNvSpPr>
              <a:spLocks noChangeArrowheads="1"/>
            </p:cNvSpPr>
            <p:nvPr/>
          </p:nvSpPr>
          <p:spPr bwMode="auto">
            <a:xfrm>
              <a:off x="102" y="58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281" name="Freeform 42"/>
            <p:cNvSpPr/>
            <p:nvPr/>
          </p:nvSpPr>
          <p:spPr bwMode="auto">
            <a:xfrm>
              <a:off x="37" y="336"/>
              <a:ext cx="111" cy="235"/>
            </a:xfrm>
            <a:custGeom>
              <a:avLst/>
              <a:gdLst>
                <a:gd name="T0" fmla="*/ 111 w 111"/>
                <a:gd name="T1" fmla="*/ 0 h 235"/>
                <a:gd name="T2" fmla="*/ 99 w 111"/>
                <a:gd name="T3" fmla="*/ 62 h 235"/>
                <a:gd name="T4" fmla="*/ 86 w 111"/>
                <a:gd name="T5" fmla="*/ 111 h 235"/>
                <a:gd name="T6" fmla="*/ 74 w 111"/>
                <a:gd name="T7" fmla="*/ 149 h 235"/>
                <a:gd name="T8" fmla="*/ 62 w 111"/>
                <a:gd name="T9" fmla="*/ 173 h 235"/>
                <a:gd name="T10" fmla="*/ 49 w 111"/>
                <a:gd name="T11" fmla="*/ 198 h 235"/>
                <a:gd name="T12" fmla="*/ 25 w 111"/>
                <a:gd name="T13" fmla="*/ 223 h 235"/>
                <a:gd name="T14" fmla="*/ 0 w 111"/>
                <a:gd name="T15" fmla="*/ 235 h 235"/>
                <a:gd name="T16" fmla="*/ 0 60000 65536"/>
                <a:gd name="T17" fmla="*/ 0 60000 65536"/>
                <a:gd name="T18" fmla="*/ 0 60000 65536"/>
                <a:gd name="T19" fmla="*/ 0 60000 65536"/>
                <a:gd name="T20" fmla="*/ 0 60000 65536"/>
                <a:gd name="T21" fmla="*/ 0 60000 65536"/>
                <a:gd name="T22" fmla="*/ 0 60000 65536"/>
                <a:gd name="T23" fmla="*/ 0 60000 65536"/>
                <a:gd name="T24" fmla="*/ 0 w 111"/>
                <a:gd name="T25" fmla="*/ 0 h 235"/>
                <a:gd name="T26" fmla="*/ 111 w 111"/>
                <a:gd name="T27" fmla="*/ 235 h 23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1" h="235">
                  <a:moveTo>
                    <a:pt x="111" y="0"/>
                  </a:moveTo>
                  <a:lnTo>
                    <a:pt x="99" y="62"/>
                  </a:lnTo>
                  <a:lnTo>
                    <a:pt x="86" y="111"/>
                  </a:lnTo>
                  <a:lnTo>
                    <a:pt x="74" y="149"/>
                  </a:lnTo>
                  <a:lnTo>
                    <a:pt x="62" y="173"/>
                  </a:lnTo>
                  <a:lnTo>
                    <a:pt x="49" y="198"/>
                  </a:lnTo>
                  <a:lnTo>
                    <a:pt x="25" y="223"/>
                  </a:lnTo>
                  <a:lnTo>
                    <a:pt x="0" y="23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82" name="Freeform 43"/>
            <p:cNvSpPr/>
            <p:nvPr/>
          </p:nvSpPr>
          <p:spPr bwMode="auto">
            <a:xfrm>
              <a:off x="148" y="273"/>
              <a:ext cx="87" cy="63"/>
            </a:xfrm>
            <a:custGeom>
              <a:avLst/>
              <a:gdLst>
                <a:gd name="T0" fmla="*/ 87 w 87"/>
                <a:gd name="T1" fmla="*/ 63 h 63"/>
                <a:gd name="T2" fmla="*/ 75 w 87"/>
                <a:gd name="T3" fmla="*/ 38 h 63"/>
                <a:gd name="T4" fmla="*/ 62 w 87"/>
                <a:gd name="T5" fmla="*/ 13 h 63"/>
                <a:gd name="T6" fmla="*/ 50 w 87"/>
                <a:gd name="T7" fmla="*/ 13 h 63"/>
                <a:gd name="T8" fmla="*/ 50 w 87"/>
                <a:gd name="T9" fmla="*/ 0 h 63"/>
                <a:gd name="T10" fmla="*/ 37 w 87"/>
                <a:gd name="T11" fmla="*/ 13 h 63"/>
                <a:gd name="T12" fmla="*/ 25 w 87"/>
                <a:gd name="T13" fmla="*/ 13 h 63"/>
                <a:gd name="T14" fmla="*/ 13 w 87"/>
                <a:gd name="T15" fmla="*/ 38 h 63"/>
                <a:gd name="T16" fmla="*/ 0 w 87"/>
                <a:gd name="T17" fmla="*/ 63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7"/>
                <a:gd name="T28" fmla="*/ 0 h 63"/>
                <a:gd name="T29" fmla="*/ 87 w 87"/>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7" h="63">
                  <a:moveTo>
                    <a:pt x="87" y="63"/>
                  </a:moveTo>
                  <a:lnTo>
                    <a:pt x="75" y="38"/>
                  </a:lnTo>
                  <a:lnTo>
                    <a:pt x="62" y="13"/>
                  </a:lnTo>
                  <a:lnTo>
                    <a:pt x="50" y="13"/>
                  </a:lnTo>
                  <a:lnTo>
                    <a:pt x="50" y="0"/>
                  </a:lnTo>
                  <a:lnTo>
                    <a:pt x="37" y="13"/>
                  </a:lnTo>
                  <a:lnTo>
                    <a:pt x="25" y="13"/>
                  </a:lnTo>
                  <a:lnTo>
                    <a:pt x="13" y="38"/>
                  </a:lnTo>
                  <a:lnTo>
                    <a:pt x="0" y="63"/>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83" name="Freeform 44"/>
            <p:cNvSpPr/>
            <p:nvPr/>
          </p:nvSpPr>
          <p:spPr bwMode="auto">
            <a:xfrm>
              <a:off x="235" y="336"/>
              <a:ext cx="235" cy="322"/>
            </a:xfrm>
            <a:custGeom>
              <a:avLst/>
              <a:gdLst>
                <a:gd name="T0" fmla="*/ 0 w 235"/>
                <a:gd name="T1" fmla="*/ 0 h 322"/>
                <a:gd name="T2" fmla="*/ 12 w 235"/>
                <a:gd name="T3" fmla="*/ 86 h 322"/>
                <a:gd name="T4" fmla="*/ 25 w 235"/>
                <a:gd name="T5" fmla="*/ 161 h 322"/>
                <a:gd name="T6" fmla="*/ 50 w 235"/>
                <a:gd name="T7" fmla="*/ 223 h 322"/>
                <a:gd name="T8" fmla="*/ 62 w 235"/>
                <a:gd name="T9" fmla="*/ 273 h 322"/>
                <a:gd name="T10" fmla="*/ 87 w 235"/>
                <a:gd name="T11" fmla="*/ 310 h 322"/>
                <a:gd name="T12" fmla="*/ 112 w 235"/>
                <a:gd name="T13" fmla="*/ 322 h 322"/>
                <a:gd name="T14" fmla="*/ 149 w 235"/>
                <a:gd name="T15" fmla="*/ 322 h 322"/>
                <a:gd name="T16" fmla="*/ 173 w 235"/>
                <a:gd name="T17" fmla="*/ 322 h 322"/>
                <a:gd name="T18" fmla="*/ 186 w 235"/>
                <a:gd name="T19" fmla="*/ 310 h 322"/>
                <a:gd name="T20" fmla="*/ 211 w 235"/>
                <a:gd name="T21" fmla="*/ 297 h 322"/>
                <a:gd name="T22" fmla="*/ 223 w 235"/>
                <a:gd name="T23" fmla="*/ 273 h 322"/>
                <a:gd name="T24" fmla="*/ 235 w 235"/>
                <a:gd name="T25" fmla="*/ 235 h 3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5"/>
                <a:gd name="T40" fmla="*/ 0 h 322"/>
                <a:gd name="T41" fmla="*/ 235 w 235"/>
                <a:gd name="T42" fmla="*/ 322 h 3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5" h="322">
                  <a:moveTo>
                    <a:pt x="0" y="0"/>
                  </a:moveTo>
                  <a:lnTo>
                    <a:pt x="12" y="86"/>
                  </a:lnTo>
                  <a:lnTo>
                    <a:pt x="25" y="161"/>
                  </a:lnTo>
                  <a:lnTo>
                    <a:pt x="50" y="223"/>
                  </a:lnTo>
                  <a:lnTo>
                    <a:pt x="62" y="273"/>
                  </a:lnTo>
                  <a:lnTo>
                    <a:pt x="87" y="310"/>
                  </a:lnTo>
                  <a:lnTo>
                    <a:pt x="112" y="322"/>
                  </a:lnTo>
                  <a:lnTo>
                    <a:pt x="149" y="322"/>
                  </a:lnTo>
                  <a:lnTo>
                    <a:pt x="173" y="322"/>
                  </a:lnTo>
                  <a:lnTo>
                    <a:pt x="186" y="310"/>
                  </a:lnTo>
                  <a:lnTo>
                    <a:pt x="211" y="297"/>
                  </a:lnTo>
                  <a:lnTo>
                    <a:pt x="223" y="273"/>
                  </a:lnTo>
                  <a:lnTo>
                    <a:pt x="235" y="23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84" name="Rectangle 45"/>
            <p:cNvSpPr>
              <a:spLocks noChangeArrowheads="1"/>
            </p:cNvSpPr>
            <p:nvPr/>
          </p:nvSpPr>
          <p:spPr bwMode="auto">
            <a:xfrm>
              <a:off x="621" y="571"/>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grpSp>
      <p:grpSp>
        <p:nvGrpSpPr>
          <p:cNvPr id="48164" name="Group 46"/>
          <p:cNvGrpSpPr/>
          <p:nvPr/>
        </p:nvGrpSpPr>
        <p:grpSpPr bwMode="auto">
          <a:xfrm>
            <a:off x="1281113" y="995363"/>
            <a:ext cx="1293812" cy="1408112"/>
            <a:chOff x="0" y="0"/>
            <a:chExt cx="815" cy="887"/>
          </a:xfrm>
        </p:grpSpPr>
        <p:sp>
          <p:nvSpPr>
            <p:cNvPr id="48265" name="Line 47"/>
            <p:cNvSpPr>
              <a:spLocks noChangeShapeType="1"/>
            </p:cNvSpPr>
            <p:nvPr/>
          </p:nvSpPr>
          <p:spPr bwMode="auto">
            <a:xfrm>
              <a:off x="121" y="670"/>
              <a:ext cx="694"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66" name="Freeform 48"/>
            <p:cNvSpPr/>
            <p:nvPr/>
          </p:nvSpPr>
          <p:spPr bwMode="auto">
            <a:xfrm>
              <a:off x="666" y="645"/>
              <a:ext cx="149" cy="62"/>
            </a:xfrm>
            <a:custGeom>
              <a:avLst/>
              <a:gdLst>
                <a:gd name="T0" fmla="*/ 0 w 149"/>
                <a:gd name="T1" fmla="*/ 0 h 62"/>
                <a:gd name="T2" fmla="*/ 25 w 149"/>
                <a:gd name="T3" fmla="*/ 25 h 62"/>
                <a:gd name="T4" fmla="*/ 0 w 149"/>
                <a:gd name="T5" fmla="*/ 62 h 62"/>
                <a:gd name="T6" fmla="*/ 149 w 149"/>
                <a:gd name="T7" fmla="*/ 25 h 62"/>
                <a:gd name="T8" fmla="*/ 0 w 149"/>
                <a:gd name="T9" fmla="*/ 0 h 62"/>
                <a:gd name="T10" fmla="*/ 0 60000 65536"/>
                <a:gd name="T11" fmla="*/ 0 60000 65536"/>
                <a:gd name="T12" fmla="*/ 0 60000 65536"/>
                <a:gd name="T13" fmla="*/ 0 60000 65536"/>
                <a:gd name="T14" fmla="*/ 0 60000 65536"/>
                <a:gd name="T15" fmla="*/ 0 w 149"/>
                <a:gd name="T16" fmla="*/ 0 h 62"/>
                <a:gd name="T17" fmla="*/ 149 w 149"/>
                <a:gd name="T18" fmla="*/ 62 h 62"/>
              </a:gdLst>
              <a:ahLst/>
              <a:cxnLst>
                <a:cxn ang="T10">
                  <a:pos x="T0" y="T1"/>
                </a:cxn>
                <a:cxn ang="T11">
                  <a:pos x="T2" y="T3"/>
                </a:cxn>
                <a:cxn ang="T12">
                  <a:pos x="T4" y="T5"/>
                </a:cxn>
                <a:cxn ang="T13">
                  <a:pos x="T6" y="T7"/>
                </a:cxn>
                <a:cxn ang="T14">
                  <a:pos x="T8" y="T9"/>
                </a:cxn>
              </a:cxnLst>
              <a:rect l="T15" t="T16" r="T17" b="T18"/>
              <a:pathLst>
                <a:path w="149" h="62">
                  <a:moveTo>
                    <a:pt x="0" y="0"/>
                  </a:moveTo>
                  <a:lnTo>
                    <a:pt x="25" y="25"/>
                  </a:lnTo>
                  <a:lnTo>
                    <a:pt x="0" y="62"/>
                  </a:lnTo>
                  <a:lnTo>
                    <a:pt x="149" y="25"/>
                  </a:lnTo>
                  <a:lnTo>
                    <a:pt x="0" y="0"/>
                  </a:lnTo>
                  <a:close/>
                </a:path>
              </a:pathLst>
            </a:custGeom>
            <a:solidFill>
              <a:srgbClr val="000000"/>
            </a:solidFill>
            <a:ln w="19050">
              <a:solidFill>
                <a:srgbClr val="000000"/>
              </a:solidFill>
              <a:round/>
            </a:ln>
          </p:spPr>
          <p:txBody>
            <a:bodyPr/>
            <a:lstStyle/>
            <a:p>
              <a:endParaRPr lang="zh-CN" altLang="en-US"/>
            </a:p>
          </p:txBody>
        </p:sp>
        <p:sp>
          <p:nvSpPr>
            <p:cNvPr id="48267" name="Line 49"/>
            <p:cNvSpPr>
              <a:spLocks noChangeShapeType="1"/>
            </p:cNvSpPr>
            <p:nvPr/>
          </p:nvSpPr>
          <p:spPr bwMode="auto">
            <a:xfrm>
              <a:off x="121" y="87"/>
              <a:ext cx="1" cy="73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68" name="Freeform 50"/>
            <p:cNvSpPr/>
            <p:nvPr/>
          </p:nvSpPr>
          <p:spPr bwMode="auto">
            <a:xfrm>
              <a:off x="84" y="87"/>
              <a:ext cx="62" cy="149"/>
            </a:xfrm>
            <a:custGeom>
              <a:avLst/>
              <a:gdLst>
                <a:gd name="T0" fmla="*/ 0 w 62"/>
                <a:gd name="T1" fmla="*/ 149 h 149"/>
                <a:gd name="T2" fmla="*/ 37 w 62"/>
                <a:gd name="T3" fmla="*/ 124 h 149"/>
                <a:gd name="T4" fmla="*/ 62 w 62"/>
                <a:gd name="T5" fmla="*/ 149 h 149"/>
                <a:gd name="T6" fmla="*/ 37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37" y="124"/>
                  </a:lnTo>
                  <a:lnTo>
                    <a:pt x="62" y="149"/>
                  </a:lnTo>
                  <a:lnTo>
                    <a:pt x="37" y="0"/>
                  </a:lnTo>
                  <a:lnTo>
                    <a:pt x="0" y="149"/>
                  </a:lnTo>
                  <a:close/>
                </a:path>
              </a:pathLst>
            </a:custGeom>
            <a:solidFill>
              <a:srgbClr val="000000"/>
            </a:solidFill>
            <a:ln w="19050">
              <a:solidFill>
                <a:srgbClr val="000000"/>
              </a:solidFill>
              <a:round/>
            </a:ln>
          </p:spPr>
          <p:txBody>
            <a:bodyPr/>
            <a:lstStyle/>
            <a:p>
              <a:endParaRPr lang="zh-CN" altLang="en-US"/>
            </a:p>
          </p:txBody>
        </p:sp>
        <p:sp>
          <p:nvSpPr>
            <p:cNvPr id="48269" name="Rectangle 51"/>
            <p:cNvSpPr>
              <a:spLocks noChangeArrowheads="1"/>
            </p:cNvSpPr>
            <p:nvPr/>
          </p:nvSpPr>
          <p:spPr bwMode="auto">
            <a:xfrm>
              <a:off x="0" y="571"/>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270" name="Freeform 52"/>
            <p:cNvSpPr/>
            <p:nvPr/>
          </p:nvSpPr>
          <p:spPr bwMode="auto">
            <a:xfrm>
              <a:off x="121" y="558"/>
              <a:ext cx="471" cy="236"/>
            </a:xfrm>
            <a:custGeom>
              <a:avLst/>
              <a:gdLst>
                <a:gd name="T0" fmla="*/ 0 w 471"/>
                <a:gd name="T1" fmla="*/ 112 h 236"/>
                <a:gd name="T2" fmla="*/ 25 w 471"/>
                <a:gd name="T3" fmla="*/ 75 h 236"/>
                <a:gd name="T4" fmla="*/ 49 w 471"/>
                <a:gd name="T5" fmla="*/ 38 h 236"/>
                <a:gd name="T6" fmla="*/ 74 w 471"/>
                <a:gd name="T7" fmla="*/ 13 h 236"/>
                <a:gd name="T8" fmla="*/ 99 w 471"/>
                <a:gd name="T9" fmla="*/ 0 h 236"/>
                <a:gd name="T10" fmla="*/ 124 w 471"/>
                <a:gd name="T11" fmla="*/ 0 h 236"/>
                <a:gd name="T12" fmla="*/ 148 w 471"/>
                <a:gd name="T13" fmla="*/ 13 h 236"/>
                <a:gd name="T14" fmla="*/ 173 w 471"/>
                <a:gd name="T15" fmla="*/ 38 h 236"/>
                <a:gd name="T16" fmla="*/ 210 w 471"/>
                <a:gd name="T17" fmla="*/ 75 h 236"/>
                <a:gd name="T18" fmla="*/ 235 w 471"/>
                <a:gd name="T19" fmla="*/ 112 h 236"/>
                <a:gd name="T20" fmla="*/ 260 w 471"/>
                <a:gd name="T21" fmla="*/ 162 h 236"/>
                <a:gd name="T22" fmla="*/ 285 w 471"/>
                <a:gd name="T23" fmla="*/ 199 h 236"/>
                <a:gd name="T24" fmla="*/ 310 w 471"/>
                <a:gd name="T25" fmla="*/ 224 h 236"/>
                <a:gd name="T26" fmla="*/ 334 w 471"/>
                <a:gd name="T27" fmla="*/ 236 h 236"/>
                <a:gd name="T28" fmla="*/ 359 w 471"/>
                <a:gd name="T29" fmla="*/ 236 h 236"/>
                <a:gd name="T30" fmla="*/ 384 w 471"/>
                <a:gd name="T31" fmla="*/ 224 h 236"/>
                <a:gd name="T32" fmla="*/ 409 w 471"/>
                <a:gd name="T33" fmla="*/ 199 h 236"/>
                <a:gd name="T34" fmla="*/ 433 w 471"/>
                <a:gd name="T35" fmla="*/ 162 h 236"/>
                <a:gd name="T36" fmla="*/ 471 w 471"/>
                <a:gd name="T37" fmla="*/ 112 h 2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71"/>
                <a:gd name="T58" fmla="*/ 0 h 236"/>
                <a:gd name="T59" fmla="*/ 471 w 471"/>
                <a:gd name="T60" fmla="*/ 236 h 2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71" h="236">
                  <a:moveTo>
                    <a:pt x="0" y="112"/>
                  </a:moveTo>
                  <a:lnTo>
                    <a:pt x="25" y="75"/>
                  </a:lnTo>
                  <a:lnTo>
                    <a:pt x="49" y="38"/>
                  </a:lnTo>
                  <a:lnTo>
                    <a:pt x="74" y="13"/>
                  </a:lnTo>
                  <a:lnTo>
                    <a:pt x="99" y="0"/>
                  </a:lnTo>
                  <a:lnTo>
                    <a:pt x="124" y="0"/>
                  </a:lnTo>
                  <a:lnTo>
                    <a:pt x="148" y="13"/>
                  </a:lnTo>
                  <a:lnTo>
                    <a:pt x="173" y="38"/>
                  </a:lnTo>
                  <a:lnTo>
                    <a:pt x="210" y="75"/>
                  </a:lnTo>
                  <a:lnTo>
                    <a:pt x="235" y="112"/>
                  </a:lnTo>
                  <a:lnTo>
                    <a:pt x="260" y="162"/>
                  </a:lnTo>
                  <a:lnTo>
                    <a:pt x="285" y="199"/>
                  </a:lnTo>
                  <a:lnTo>
                    <a:pt x="310" y="224"/>
                  </a:lnTo>
                  <a:lnTo>
                    <a:pt x="334" y="236"/>
                  </a:lnTo>
                  <a:lnTo>
                    <a:pt x="359" y="236"/>
                  </a:lnTo>
                  <a:lnTo>
                    <a:pt x="384" y="224"/>
                  </a:lnTo>
                  <a:lnTo>
                    <a:pt x="409" y="199"/>
                  </a:lnTo>
                  <a:lnTo>
                    <a:pt x="433" y="162"/>
                  </a:lnTo>
                  <a:lnTo>
                    <a:pt x="471" y="11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71" name="Rectangle 53"/>
            <p:cNvSpPr>
              <a:spLocks noChangeArrowheads="1"/>
            </p:cNvSpPr>
            <p:nvPr/>
          </p:nvSpPr>
          <p:spPr bwMode="auto">
            <a:xfrm>
              <a:off x="730" y="695"/>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sp>
          <p:nvSpPr>
            <p:cNvPr id="48272" name="Rectangle 54"/>
            <p:cNvSpPr>
              <a:spLocks noChangeArrowheads="1"/>
            </p:cNvSpPr>
            <p:nvPr/>
          </p:nvSpPr>
          <p:spPr bwMode="auto">
            <a:xfrm>
              <a:off x="229"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73" name="Rectangle 55"/>
            <p:cNvSpPr>
              <a:spLocks noChangeArrowheads="1"/>
            </p:cNvSpPr>
            <p:nvPr/>
          </p:nvSpPr>
          <p:spPr bwMode="auto">
            <a:xfrm>
              <a:off x="310" y="87"/>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grpSp>
      <p:sp>
        <p:nvSpPr>
          <p:cNvPr id="48165" name="Rectangle 56"/>
          <p:cNvSpPr>
            <a:spLocks noChangeArrowheads="1"/>
          </p:cNvSpPr>
          <p:nvPr/>
        </p:nvSpPr>
        <p:spPr bwMode="auto">
          <a:xfrm>
            <a:off x="4289425" y="974725"/>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基本放大器</a:t>
            </a:r>
            <a:endParaRPr lang="zh-CN" altLang="zh-CN" sz="2800">
              <a:latin typeface="Times New Roman" panose="02020603050405020304" pitchFamily="18" charset="0"/>
            </a:endParaRPr>
          </a:p>
        </p:txBody>
      </p:sp>
      <p:grpSp>
        <p:nvGrpSpPr>
          <p:cNvPr id="48166" name="Group 57"/>
          <p:cNvGrpSpPr/>
          <p:nvPr/>
        </p:nvGrpSpPr>
        <p:grpSpPr bwMode="auto">
          <a:xfrm>
            <a:off x="985838" y="2697163"/>
            <a:ext cx="1235075" cy="1074737"/>
            <a:chOff x="0" y="0"/>
            <a:chExt cx="778" cy="677"/>
          </a:xfrm>
        </p:grpSpPr>
        <p:sp>
          <p:nvSpPr>
            <p:cNvPr id="48256" name="Line 58"/>
            <p:cNvSpPr>
              <a:spLocks noChangeShapeType="1"/>
            </p:cNvSpPr>
            <p:nvPr/>
          </p:nvSpPr>
          <p:spPr bwMode="auto">
            <a:xfrm>
              <a:off x="71" y="460"/>
              <a:ext cx="707"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57" name="Freeform 59"/>
            <p:cNvSpPr/>
            <p:nvPr/>
          </p:nvSpPr>
          <p:spPr bwMode="auto">
            <a:xfrm>
              <a:off x="617" y="435"/>
              <a:ext cx="161" cy="62"/>
            </a:xfrm>
            <a:custGeom>
              <a:avLst/>
              <a:gdLst>
                <a:gd name="T0" fmla="*/ 0 w 161"/>
                <a:gd name="T1" fmla="*/ 0 h 62"/>
                <a:gd name="T2" fmla="*/ 37 w 161"/>
                <a:gd name="T3" fmla="*/ 25 h 62"/>
                <a:gd name="T4" fmla="*/ 0 w 161"/>
                <a:gd name="T5" fmla="*/ 62 h 62"/>
                <a:gd name="T6" fmla="*/ 161 w 161"/>
                <a:gd name="T7" fmla="*/ 25 h 62"/>
                <a:gd name="T8" fmla="*/ 0 w 161"/>
                <a:gd name="T9" fmla="*/ 0 h 62"/>
                <a:gd name="T10" fmla="*/ 0 60000 65536"/>
                <a:gd name="T11" fmla="*/ 0 60000 65536"/>
                <a:gd name="T12" fmla="*/ 0 60000 65536"/>
                <a:gd name="T13" fmla="*/ 0 60000 65536"/>
                <a:gd name="T14" fmla="*/ 0 60000 65536"/>
                <a:gd name="T15" fmla="*/ 0 w 161"/>
                <a:gd name="T16" fmla="*/ 0 h 62"/>
                <a:gd name="T17" fmla="*/ 161 w 161"/>
                <a:gd name="T18" fmla="*/ 62 h 62"/>
              </a:gdLst>
              <a:ahLst/>
              <a:cxnLst>
                <a:cxn ang="T10">
                  <a:pos x="T0" y="T1"/>
                </a:cxn>
                <a:cxn ang="T11">
                  <a:pos x="T2" y="T3"/>
                </a:cxn>
                <a:cxn ang="T12">
                  <a:pos x="T4" y="T5"/>
                </a:cxn>
                <a:cxn ang="T13">
                  <a:pos x="T6" y="T7"/>
                </a:cxn>
                <a:cxn ang="T14">
                  <a:pos x="T8" y="T9"/>
                </a:cxn>
              </a:cxnLst>
              <a:rect l="T15" t="T16" r="T17" b="T18"/>
              <a:pathLst>
                <a:path w="161" h="62">
                  <a:moveTo>
                    <a:pt x="0" y="0"/>
                  </a:moveTo>
                  <a:lnTo>
                    <a:pt x="37" y="25"/>
                  </a:lnTo>
                  <a:lnTo>
                    <a:pt x="0" y="62"/>
                  </a:lnTo>
                  <a:lnTo>
                    <a:pt x="161" y="25"/>
                  </a:lnTo>
                  <a:lnTo>
                    <a:pt x="0" y="0"/>
                  </a:lnTo>
                  <a:close/>
                </a:path>
              </a:pathLst>
            </a:custGeom>
            <a:solidFill>
              <a:srgbClr val="000000"/>
            </a:solidFill>
            <a:ln w="19050">
              <a:solidFill>
                <a:srgbClr val="000000"/>
              </a:solidFill>
              <a:round/>
            </a:ln>
          </p:spPr>
          <p:txBody>
            <a:bodyPr/>
            <a:lstStyle/>
            <a:p>
              <a:endParaRPr lang="zh-CN" altLang="en-US"/>
            </a:p>
          </p:txBody>
        </p:sp>
        <p:sp>
          <p:nvSpPr>
            <p:cNvPr id="48258" name="Line 60"/>
            <p:cNvSpPr>
              <a:spLocks noChangeShapeType="1"/>
            </p:cNvSpPr>
            <p:nvPr/>
          </p:nvSpPr>
          <p:spPr bwMode="auto">
            <a:xfrm>
              <a:off x="71" y="50"/>
              <a:ext cx="1" cy="41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59" name="Freeform 61"/>
            <p:cNvSpPr/>
            <p:nvPr/>
          </p:nvSpPr>
          <p:spPr bwMode="auto">
            <a:xfrm>
              <a:off x="47" y="25"/>
              <a:ext cx="49" cy="149"/>
            </a:xfrm>
            <a:custGeom>
              <a:avLst/>
              <a:gdLst>
                <a:gd name="T0" fmla="*/ 0 w 49"/>
                <a:gd name="T1" fmla="*/ 149 h 149"/>
                <a:gd name="T2" fmla="*/ 24 w 49"/>
                <a:gd name="T3" fmla="*/ 124 h 149"/>
                <a:gd name="T4" fmla="*/ 49 w 49"/>
                <a:gd name="T5" fmla="*/ 149 h 149"/>
                <a:gd name="T6" fmla="*/ 24 w 49"/>
                <a:gd name="T7" fmla="*/ 0 h 149"/>
                <a:gd name="T8" fmla="*/ 0 w 49"/>
                <a:gd name="T9" fmla="*/ 149 h 149"/>
                <a:gd name="T10" fmla="*/ 0 60000 65536"/>
                <a:gd name="T11" fmla="*/ 0 60000 65536"/>
                <a:gd name="T12" fmla="*/ 0 60000 65536"/>
                <a:gd name="T13" fmla="*/ 0 60000 65536"/>
                <a:gd name="T14" fmla="*/ 0 60000 65536"/>
                <a:gd name="T15" fmla="*/ 0 w 49"/>
                <a:gd name="T16" fmla="*/ 0 h 149"/>
                <a:gd name="T17" fmla="*/ 49 w 49"/>
                <a:gd name="T18" fmla="*/ 149 h 149"/>
              </a:gdLst>
              <a:ahLst/>
              <a:cxnLst>
                <a:cxn ang="T10">
                  <a:pos x="T0" y="T1"/>
                </a:cxn>
                <a:cxn ang="T11">
                  <a:pos x="T2" y="T3"/>
                </a:cxn>
                <a:cxn ang="T12">
                  <a:pos x="T4" y="T5"/>
                </a:cxn>
                <a:cxn ang="T13">
                  <a:pos x="T6" y="T7"/>
                </a:cxn>
                <a:cxn ang="T14">
                  <a:pos x="T8" y="T9"/>
                </a:cxn>
              </a:cxnLst>
              <a:rect l="T15" t="T16" r="T17" b="T18"/>
              <a:pathLst>
                <a:path w="49" h="149">
                  <a:moveTo>
                    <a:pt x="0" y="149"/>
                  </a:moveTo>
                  <a:lnTo>
                    <a:pt x="24" y="124"/>
                  </a:lnTo>
                  <a:lnTo>
                    <a:pt x="49" y="149"/>
                  </a:lnTo>
                  <a:lnTo>
                    <a:pt x="24" y="0"/>
                  </a:lnTo>
                  <a:lnTo>
                    <a:pt x="0" y="149"/>
                  </a:lnTo>
                  <a:close/>
                </a:path>
              </a:pathLst>
            </a:custGeom>
            <a:solidFill>
              <a:srgbClr val="000000"/>
            </a:solidFill>
            <a:ln w="19050">
              <a:solidFill>
                <a:srgbClr val="000000"/>
              </a:solidFill>
              <a:round/>
            </a:ln>
          </p:spPr>
          <p:txBody>
            <a:bodyPr/>
            <a:lstStyle/>
            <a:p>
              <a:endParaRPr lang="zh-CN" altLang="en-US"/>
            </a:p>
          </p:txBody>
        </p:sp>
        <p:sp>
          <p:nvSpPr>
            <p:cNvPr id="48260" name="Freeform 62"/>
            <p:cNvSpPr/>
            <p:nvPr/>
          </p:nvSpPr>
          <p:spPr bwMode="auto">
            <a:xfrm>
              <a:off x="71" y="286"/>
              <a:ext cx="471" cy="348"/>
            </a:xfrm>
            <a:custGeom>
              <a:avLst/>
              <a:gdLst>
                <a:gd name="T0" fmla="*/ 0 w 471"/>
                <a:gd name="T1" fmla="*/ 174 h 348"/>
                <a:gd name="T2" fmla="*/ 25 w 471"/>
                <a:gd name="T3" fmla="*/ 112 h 348"/>
                <a:gd name="T4" fmla="*/ 37 w 471"/>
                <a:gd name="T5" fmla="*/ 74 h 348"/>
                <a:gd name="T6" fmla="*/ 62 w 471"/>
                <a:gd name="T7" fmla="*/ 37 h 348"/>
                <a:gd name="T8" fmla="*/ 87 w 471"/>
                <a:gd name="T9" fmla="*/ 12 h 348"/>
                <a:gd name="T10" fmla="*/ 99 w 471"/>
                <a:gd name="T11" fmla="*/ 0 h 348"/>
                <a:gd name="T12" fmla="*/ 124 w 471"/>
                <a:gd name="T13" fmla="*/ 0 h 348"/>
                <a:gd name="T14" fmla="*/ 149 w 471"/>
                <a:gd name="T15" fmla="*/ 12 h 348"/>
                <a:gd name="T16" fmla="*/ 174 w 471"/>
                <a:gd name="T17" fmla="*/ 25 h 348"/>
                <a:gd name="T18" fmla="*/ 186 w 471"/>
                <a:gd name="T19" fmla="*/ 62 h 348"/>
                <a:gd name="T20" fmla="*/ 211 w 471"/>
                <a:gd name="T21" fmla="*/ 112 h 348"/>
                <a:gd name="T22" fmla="*/ 236 w 471"/>
                <a:gd name="T23" fmla="*/ 174 h 348"/>
                <a:gd name="T24" fmla="*/ 248 w 471"/>
                <a:gd name="T25" fmla="*/ 223 h 348"/>
                <a:gd name="T26" fmla="*/ 273 w 471"/>
                <a:gd name="T27" fmla="*/ 273 h 348"/>
                <a:gd name="T28" fmla="*/ 298 w 471"/>
                <a:gd name="T29" fmla="*/ 310 h 348"/>
                <a:gd name="T30" fmla="*/ 322 w 471"/>
                <a:gd name="T31" fmla="*/ 335 h 348"/>
                <a:gd name="T32" fmla="*/ 335 w 471"/>
                <a:gd name="T33" fmla="*/ 348 h 348"/>
                <a:gd name="T34" fmla="*/ 360 w 471"/>
                <a:gd name="T35" fmla="*/ 348 h 348"/>
                <a:gd name="T36" fmla="*/ 384 w 471"/>
                <a:gd name="T37" fmla="*/ 335 h 348"/>
                <a:gd name="T38" fmla="*/ 409 w 471"/>
                <a:gd name="T39" fmla="*/ 310 h 348"/>
                <a:gd name="T40" fmla="*/ 422 w 471"/>
                <a:gd name="T41" fmla="*/ 273 h 348"/>
                <a:gd name="T42" fmla="*/ 446 w 471"/>
                <a:gd name="T43" fmla="*/ 236 h 348"/>
                <a:gd name="T44" fmla="*/ 471 w 471"/>
                <a:gd name="T45" fmla="*/ 174 h 34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71"/>
                <a:gd name="T70" fmla="*/ 0 h 348"/>
                <a:gd name="T71" fmla="*/ 471 w 471"/>
                <a:gd name="T72" fmla="*/ 348 h 34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71" h="348">
                  <a:moveTo>
                    <a:pt x="0" y="174"/>
                  </a:moveTo>
                  <a:lnTo>
                    <a:pt x="25" y="112"/>
                  </a:lnTo>
                  <a:lnTo>
                    <a:pt x="37" y="74"/>
                  </a:lnTo>
                  <a:lnTo>
                    <a:pt x="62" y="37"/>
                  </a:lnTo>
                  <a:lnTo>
                    <a:pt x="87" y="12"/>
                  </a:lnTo>
                  <a:lnTo>
                    <a:pt x="99" y="0"/>
                  </a:lnTo>
                  <a:lnTo>
                    <a:pt x="124" y="0"/>
                  </a:lnTo>
                  <a:lnTo>
                    <a:pt x="149" y="12"/>
                  </a:lnTo>
                  <a:lnTo>
                    <a:pt x="174" y="25"/>
                  </a:lnTo>
                  <a:lnTo>
                    <a:pt x="186" y="62"/>
                  </a:lnTo>
                  <a:lnTo>
                    <a:pt x="211" y="112"/>
                  </a:lnTo>
                  <a:lnTo>
                    <a:pt x="236" y="174"/>
                  </a:lnTo>
                  <a:lnTo>
                    <a:pt x="248" y="223"/>
                  </a:lnTo>
                  <a:lnTo>
                    <a:pt x="273" y="273"/>
                  </a:lnTo>
                  <a:lnTo>
                    <a:pt x="298" y="310"/>
                  </a:lnTo>
                  <a:lnTo>
                    <a:pt x="322" y="335"/>
                  </a:lnTo>
                  <a:lnTo>
                    <a:pt x="335" y="348"/>
                  </a:lnTo>
                  <a:lnTo>
                    <a:pt x="360" y="348"/>
                  </a:lnTo>
                  <a:lnTo>
                    <a:pt x="384" y="335"/>
                  </a:lnTo>
                  <a:lnTo>
                    <a:pt x="409" y="310"/>
                  </a:lnTo>
                  <a:lnTo>
                    <a:pt x="422" y="273"/>
                  </a:lnTo>
                  <a:lnTo>
                    <a:pt x="446" y="236"/>
                  </a:lnTo>
                  <a:lnTo>
                    <a:pt x="471" y="1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61" name="Rectangle 63"/>
            <p:cNvSpPr>
              <a:spLocks noChangeArrowheads="1"/>
            </p:cNvSpPr>
            <p:nvPr/>
          </p:nvSpPr>
          <p:spPr bwMode="auto">
            <a:xfrm>
              <a:off x="681" y="485"/>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sp>
          <p:nvSpPr>
            <p:cNvPr id="48262" name="Rectangle 64"/>
            <p:cNvSpPr>
              <a:spLocks noChangeArrowheads="1"/>
            </p:cNvSpPr>
            <p:nvPr/>
          </p:nvSpPr>
          <p:spPr bwMode="auto">
            <a:xfrm>
              <a:off x="0" y="41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263" name="Rectangle 65"/>
            <p:cNvSpPr>
              <a:spLocks noChangeArrowheads="1"/>
            </p:cNvSpPr>
            <p:nvPr/>
          </p:nvSpPr>
          <p:spPr bwMode="auto">
            <a:xfrm>
              <a:off x="180"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64" name="Rectangle 66"/>
            <p:cNvSpPr>
              <a:spLocks noChangeArrowheads="1"/>
            </p:cNvSpPr>
            <p:nvPr/>
          </p:nvSpPr>
          <p:spPr bwMode="auto">
            <a:xfrm>
              <a:off x="260" y="87"/>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grpSp>
      <p:grpSp>
        <p:nvGrpSpPr>
          <p:cNvPr id="48167" name="Group 67"/>
          <p:cNvGrpSpPr/>
          <p:nvPr/>
        </p:nvGrpSpPr>
        <p:grpSpPr bwMode="auto">
          <a:xfrm>
            <a:off x="2500313" y="2579688"/>
            <a:ext cx="1293812" cy="1171575"/>
            <a:chOff x="0" y="0"/>
            <a:chExt cx="815" cy="738"/>
          </a:xfrm>
        </p:grpSpPr>
        <p:sp>
          <p:nvSpPr>
            <p:cNvPr id="48246" name="Line 68"/>
            <p:cNvSpPr>
              <a:spLocks noChangeShapeType="1"/>
            </p:cNvSpPr>
            <p:nvPr/>
          </p:nvSpPr>
          <p:spPr bwMode="auto">
            <a:xfrm>
              <a:off x="109" y="534"/>
              <a:ext cx="706"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47" name="Freeform 69"/>
            <p:cNvSpPr/>
            <p:nvPr/>
          </p:nvSpPr>
          <p:spPr bwMode="auto">
            <a:xfrm>
              <a:off x="666" y="497"/>
              <a:ext cx="149" cy="62"/>
            </a:xfrm>
            <a:custGeom>
              <a:avLst/>
              <a:gdLst>
                <a:gd name="T0" fmla="*/ 0 w 149"/>
                <a:gd name="T1" fmla="*/ 0 h 62"/>
                <a:gd name="T2" fmla="*/ 25 w 149"/>
                <a:gd name="T3" fmla="*/ 37 h 62"/>
                <a:gd name="T4" fmla="*/ 0 w 149"/>
                <a:gd name="T5" fmla="*/ 62 h 62"/>
                <a:gd name="T6" fmla="*/ 149 w 149"/>
                <a:gd name="T7" fmla="*/ 37 h 62"/>
                <a:gd name="T8" fmla="*/ 0 w 149"/>
                <a:gd name="T9" fmla="*/ 0 h 62"/>
                <a:gd name="T10" fmla="*/ 0 60000 65536"/>
                <a:gd name="T11" fmla="*/ 0 60000 65536"/>
                <a:gd name="T12" fmla="*/ 0 60000 65536"/>
                <a:gd name="T13" fmla="*/ 0 60000 65536"/>
                <a:gd name="T14" fmla="*/ 0 60000 65536"/>
                <a:gd name="T15" fmla="*/ 0 w 149"/>
                <a:gd name="T16" fmla="*/ 0 h 62"/>
                <a:gd name="T17" fmla="*/ 149 w 149"/>
                <a:gd name="T18" fmla="*/ 62 h 62"/>
              </a:gdLst>
              <a:ahLst/>
              <a:cxnLst>
                <a:cxn ang="T10">
                  <a:pos x="T0" y="T1"/>
                </a:cxn>
                <a:cxn ang="T11">
                  <a:pos x="T2" y="T3"/>
                </a:cxn>
                <a:cxn ang="T12">
                  <a:pos x="T4" y="T5"/>
                </a:cxn>
                <a:cxn ang="T13">
                  <a:pos x="T6" y="T7"/>
                </a:cxn>
                <a:cxn ang="T14">
                  <a:pos x="T8" y="T9"/>
                </a:cxn>
              </a:cxnLst>
              <a:rect l="T15" t="T16" r="T17" b="T18"/>
              <a:pathLst>
                <a:path w="149" h="62">
                  <a:moveTo>
                    <a:pt x="0" y="0"/>
                  </a:moveTo>
                  <a:lnTo>
                    <a:pt x="25" y="37"/>
                  </a:lnTo>
                  <a:lnTo>
                    <a:pt x="0" y="62"/>
                  </a:lnTo>
                  <a:lnTo>
                    <a:pt x="149" y="37"/>
                  </a:lnTo>
                  <a:lnTo>
                    <a:pt x="0" y="0"/>
                  </a:lnTo>
                  <a:close/>
                </a:path>
              </a:pathLst>
            </a:custGeom>
            <a:solidFill>
              <a:srgbClr val="000000"/>
            </a:solidFill>
            <a:ln w="19050">
              <a:solidFill>
                <a:srgbClr val="000000"/>
              </a:solidFill>
              <a:round/>
            </a:ln>
          </p:spPr>
          <p:txBody>
            <a:bodyPr/>
            <a:lstStyle/>
            <a:p>
              <a:endParaRPr lang="zh-CN" altLang="en-US"/>
            </a:p>
          </p:txBody>
        </p:sp>
        <p:sp>
          <p:nvSpPr>
            <p:cNvPr id="48248" name="Line 70"/>
            <p:cNvSpPr>
              <a:spLocks noChangeShapeType="1"/>
            </p:cNvSpPr>
            <p:nvPr/>
          </p:nvSpPr>
          <p:spPr bwMode="auto">
            <a:xfrm>
              <a:off x="109" y="124"/>
              <a:ext cx="1" cy="49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49" name="Freeform 71"/>
            <p:cNvSpPr/>
            <p:nvPr/>
          </p:nvSpPr>
          <p:spPr bwMode="auto">
            <a:xfrm>
              <a:off x="84" y="37"/>
              <a:ext cx="62" cy="162"/>
            </a:xfrm>
            <a:custGeom>
              <a:avLst/>
              <a:gdLst>
                <a:gd name="T0" fmla="*/ 0 w 62"/>
                <a:gd name="T1" fmla="*/ 162 h 162"/>
                <a:gd name="T2" fmla="*/ 25 w 62"/>
                <a:gd name="T3" fmla="*/ 124 h 162"/>
                <a:gd name="T4" fmla="*/ 62 w 62"/>
                <a:gd name="T5" fmla="*/ 162 h 162"/>
                <a:gd name="T6" fmla="*/ 25 w 62"/>
                <a:gd name="T7" fmla="*/ 0 h 162"/>
                <a:gd name="T8" fmla="*/ 0 w 62"/>
                <a:gd name="T9" fmla="*/ 162 h 162"/>
                <a:gd name="T10" fmla="*/ 0 60000 65536"/>
                <a:gd name="T11" fmla="*/ 0 60000 65536"/>
                <a:gd name="T12" fmla="*/ 0 60000 65536"/>
                <a:gd name="T13" fmla="*/ 0 60000 65536"/>
                <a:gd name="T14" fmla="*/ 0 60000 65536"/>
                <a:gd name="T15" fmla="*/ 0 w 62"/>
                <a:gd name="T16" fmla="*/ 0 h 162"/>
                <a:gd name="T17" fmla="*/ 62 w 62"/>
                <a:gd name="T18" fmla="*/ 162 h 162"/>
              </a:gdLst>
              <a:ahLst/>
              <a:cxnLst>
                <a:cxn ang="T10">
                  <a:pos x="T0" y="T1"/>
                </a:cxn>
                <a:cxn ang="T11">
                  <a:pos x="T2" y="T3"/>
                </a:cxn>
                <a:cxn ang="T12">
                  <a:pos x="T4" y="T5"/>
                </a:cxn>
                <a:cxn ang="T13">
                  <a:pos x="T6" y="T7"/>
                </a:cxn>
                <a:cxn ang="T14">
                  <a:pos x="T8" y="T9"/>
                </a:cxn>
              </a:cxnLst>
              <a:rect l="T15" t="T16" r="T17" b="T18"/>
              <a:pathLst>
                <a:path w="62" h="162">
                  <a:moveTo>
                    <a:pt x="0" y="162"/>
                  </a:moveTo>
                  <a:lnTo>
                    <a:pt x="25" y="124"/>
                  </a:lnTo>
                  <a:lnTo>
                    <a:pt x="62" y="162"/>
                  </a:lnTo>
                  <a:lnTo>
                    <a:pt x="25" y="0"/>
                  </a:lnTo>
                  <a:lnTo>
                    <a:pt x="0" y="162"/>
                  </a:lnTo>
                  <a:close/>
                </a:path>
              </a:pathLst>
            </a:custGeom>
            <a:solidFill>
              <a:srgbClr val="000000"/>
            </a:solidFill>
            <a:ln w="19050">
              <a:solidFill>
                <a:srgbClr val="000000"/>
              </a:solidFill>
              <a:round/>
            </a:ln>
          </p:spPr>
          <p:txBody>
            <a:bodyPr/>
            <a:lstStyle/>
            <a:p>
              <a:endParaRPr lang="zh-CN" altLang="en-US"/>
            </a:p>
          </p:txBody>
        </p:sp>
        <p:sp>
          <p:nvSpPr>
            <p:cNvPr id="48250" name="Rectangle 72"/>
            <p:cNvSpPr>
              <a:spLocks noChangeArrowheads="1"/>
            </p:cNvSpPr>
            <p:nvPr/>
          </p:nvSpPr>
          <p:spPr bwMode="auto">
            <a:xfrm>
              <a:off x="0" y="4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251" name="Freeform 73"/>
            <p:cNvSpPr/>
            <p:nvPr/>
          </p:nvSpPr>
          <p:spPr bwMode="auto">
            <a:xfrm>
              <a:off x="121" y="447"/>
              <a:ext cx="520" cy="211"/>
            </a:xfrm>
            <a:custGeom>
              <a:avLst/>
              <a:gdLst>
                <a:gd name="T0" fmla="*/ 0 w 520"/>
                <a:gd name="T1" fmla="*/ 87 h 211"/>
                <a:gd name="T2" fmla="*/ 50 w 520"/>
                <a:gd name="T3" fmla="*/ 50 h 211"/>
                <a:gd name="T4" fmla="*/ 87 w 520"/>
                <a:gd name="T5" fmla="*/ 12 h 211"/>
                <a:gd name="T6" fmla="*/ 124 w 520"/>
                <a:gd name="T7" fmla="*/ 0 h 211"/>
                <a:gd name="T8" fmla="*/ 161 w 520"/>
                <a:gd name="T9" fmla="*/ 0 h 211"/>
                <a:gd name="T10" fmla="*/ 198 w 520"/>
                <a:gd name="T11" fmla="*/ 12 h 211"/>
                <a:gd name="T12" fmla="*/ 235 w 520"/>
                <a:gd name="T13" fmla="*/ 37 h 211"/>
                <a:gd name="T14" fmla="*/ 273 w 520"/>
                <a:gd name="T15" fmla="*/ 62 h 211"/>
                <a:gd name="T16" fmla="*/ 297 w 520"/>
                <a:gd name="T17" fmla="*/ 112 h 211"/>
                <a:gd name="T18" fmla="*/ 335 w 520"/>
                <a:gd name="T19" fmla="*/ 149 h 211"/>
                <a:gd name="T20" fmla="*/ 359 w 520"/>
                <a:gd name="T21" fmla="*/ 186 h 211"/>
                <a:gd name="T22" fmla="*/ 384 w 520"/>
                <a:gd name="T23" fmla="*/ 198 h 211"/>
                <a:gd name="T24" fmla="*/ 409 w 520"/>
                <a:gd name="T25" fmla="*/ 211 h 211"/>
                <a:gd name="T26" fmla="*/ 434 w 520"/>
                <a:gd name="T27" fmla="*/ 198 h 211"/>
                <a:gd name="T28" fmla="*/ 458 w 520"/>
                <a:gd name="T29" fmla="*/ 186 h 211"/>
                <a:gd name="T30" fmla="*/ 471 w 520"/>
                <a:gd name="T31" fmla="*/ 161 h 211"/>
                <a:gd name="T32" fmla="*/ 496 w 520"/>
                <a:gd name="T33" fmla="*/ 124 h 211"/>
                <a:gd name="T34" fmla="*/ 520 w 520"/>
                <a:gd name="T35" fmla="*/ 87 h 2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20"/>
                <a:gd name="T55" fmla="*/ 0 h 211"/>
                <a:gd name="T56" fmla="*/ 520 w 520"/>
                <a:gd name="T57" fmla="*/ 211 h 2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20" h="211">
                  <a:moveTo>
                    <a:pt x="0" y="87"/>
                  </a:moveTo>
                  <a:lnTo>
                    <a:pt x="50" y="50"/>
                  </a:lnTo>
                  <a:lnTo>
                    <a:pt x="87" y="12"/>
                  </a:lnTo>
                  <a:lnTo>
                    <a:pt x="124" y="0"/>
                  </a:lnTo>
                  <a:lnTo>
                    <a:pt x="161" y="0"/>
                  </a:lnTo>
                  <a:lnTo>
                    <a:pt x="198" y="12"/>
                  </a:lnTo>
                  <a:lnTo>
                    <a:pt x="235" y="37"/>
                  </a:lnTo>
                  <a:lnTo>
                    <a:pt x="273" y="62"/>
                  </a:lnTo>
                  <a:lnTo>
                    <a:pt x="297" y="112"/>
                  </a:lnTo>
                  <a:lnTo>
                    <a:pt x="335" y="149"/>
                  </a:lnTo>
                  <a:lnTo>
                    <a:pt x="359" y="186"/>
                  </a:lnTo>
                  <a:lnTo>
                    <a:pt x="384" y="198"/>
                  </a:lnTo>
                  <a:lnTo>
                    <a:pt x="409" y="211"/>
                  </a:lnTo>
                  <a:lnTo>
                    <a:pt x="434" y="198"/>
                  </a:lnTo>
                  <a:lnTo>
                    <a:pt x="458" y="186"/>
                  </a:lnTo>
                  <a:lnTo>
                    <a:pt x="471" y="161"/>
                  </a:lnTo>
                  <a:lnTo>
                    <a:pt x="496" y="124"/>
                  </a:lnTo>
                  <a:lnTo>
                    <a:pt x="520" y="87"/>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52" name="Rectangle 74"/>
            <p:cNvSpPr>
              <a:spLocks noChangeArrowheads="1"/>
            </p:cNvSpPr>
            <p:nvPr/>
          </p:nvSpPr>
          <p:spPr bwMode="auto">
            <a:xfrm>
              <a:off x="730" y="546"/>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sp>
          <p:nvSpPr>
            <p:cNvPr id="48253" name="Rectangle 75"/>
            <p:cNvSpPr>
              <a:spLocks noChangeArrowheads="1"/>
            </p:cNvSpPr>
            <p:nvPr/>
          </p:nvSpPr>
          <p:spPr bwMode="auto">
            <a:xfrm>
              <a:off x="193"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54" name="Rectangle 76"/>
            <p:cNvSpPr>
              <a:spLocks noChangeArrowheads="1"/>
            </p:cNvSpPr>
            <p:nvPr/>
          </p:nvSpPr>
          <p:spPr bwMode="auto">
            <a:xfrm>
              <a:off x="273" y="87"/>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255" name="Rectangle 77"/>
            <p:cNvSpPr>
              <a:spLocks noChangeArrowheads="1"/>
            </p:cNvSpPr>
            <p:nvPr/>
          </p:nvSpPr>
          <p:spPr bwMode="auto">
            <a:xfrm>
              <a:off x="270" y="25"/>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grpSp>
      <p:sp>
        <p:nvSpPr>
          <p:cNvPr id="48168" name="Text Box 78"/>
          <p:cNvSpPr txBox="1">
            <a:spLocks noChangeArrowheads="1"/>
          </p:cNvSpPr>
          <p:nvPr/>
        </p:nvSpPr>
        <p:spPr bwMode="auto">
          <a:xfrm>
            <a:off x="1395413" y="6269038"/>
            <a:ext cx="658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图6.2.1负反馈改善非线性失真的工作原理示意图</a:t>
            </a:r>
            <a:endParaRPr lang="zh-CN" altLang="zh-CN" sz="2400">
              <a:latin typeface="Times New Roman" panose="02020603050405020304" pitchFamily="18" charset="0"/>
            </a:endParaRPr>
          </a:p>
        </p:txBody>
      </p:sp>
      <p:sp>
        <p:nvSpPr>
          <p:cNvPr id="48169" name="Rectangle 79"/>
          <p:cNvSpPr>
            <a:spLocks noChangeArrowheads="1"/>
          </p:cNvSpPr>
          <p:nvPr/>
        </p:nvSpPr>
        <p:spPr bwMode="auto">
          <a:xfrm>
            <a:off x="4138613" y="2673350"/>
            <a:ext cx="1238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(a)无反馈</a:t>
            </a:r>
            <a:endParaRPr lang="zh-CN" altLang="zh-CN" sz="2000">
              <a:latin typeface="Times New Roman" panose="02020603050405020304" pitchFamily="18" charset="0"/>
            </a:endParaRPr>
          </a:p>
        </p:txBody>
      </p:sp>
      <p:grpSp>
        <p:nvGrpSpPr>
          <p:cNvPr id="48170" name="Group 80"/>
          <p:cNvGrpSpPr/>
          <p:nvPr/>
        </p:nvGrpSpPr>
        <p:grpSpPr bwMode="auto">
          <a:xfrm>
            <a:off x="1473200" y="2760663"/>
            <a:ext cx="5876925" cy="3433762"/>
            <a:chOff x="0" y="0"/>
            <a:chExt cx="3702" cy="2163"/>
          </a:xfrm>
        </p:grpSpPr>
        <p:sp>
          <p:nvSpPr>
            <p:cNvPr id="48195" name="Line 81"/>
            <p:cNvSpPr>
              <a:spLocks noChangeShapeType="1"/>
            </p:cNvSpPr>
            <p:nvPr/>
          </p:nvSpPr>
          <p:spPr bwMode="auto">
            <a:xfrm>
              <a:off x="1821" y="1105"/>
              <a:ext cx="644"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96" name="Freeform 82"/>
            <p:cNvSpPr/>
            <p:nvPr/>
          </p:nvSpPr>
          <p:spPr bwMode="auto">
            <a:xfrm>
              <a:off x="2317" y="1080"/>
              <a:ext cx="148" cy="62"/>
            </a:xfrm>
            <a:custGeom>
              <a:avLst/>
              <a:gdLst>
                <a:gd name="T0" fmla="*/ 0 w 148"/>
                <a:gd name="T1" fmla="*/ 0 h 62"/>
                <a:gd name="T2" fmla="*/ 25 w 148"/>
                <a:gd name="T3" fmla="*/ 25 h 62"/>
                <a:gd name="T4" fmla="*/ 0 w 148"/>
                <a:gd name="T5" fmla="*/ 62 h 62"/>
                <a:gd name="T6" fmla="*/ 148 w 148"/>
                <a:gd name="T7" fmla="*/ 25 h 62"/>
                <a:gd name="T8" fmla="*/ 0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0" y="0"/>
                  </a:moveTo>
                  <a:lnTo>
                    <a:pt x="25" y="25"/>
                  </a:lnTo>
                  <a:lnTo>
                    <a:pt x="0" y="62"/>
                  </a:lnTo>
                  <a:lnTo>
                    <a:pt x="148" y="25"/>
                  </a:lnTo>
                  <a:lnTo>
                    <a:pt x="0" y="0"/>
                  </a:lnTo>
                  <a:close/>
                </a:path>
              </a:pathLst>
            </a:custGeom>
            <a:solidFill>
              <a:srgbClr val="000000"/>
            </a:solidFill>
            <a:ln w="19050">
              <a:solidFill>
                <a:srgbClr val="000000"/>
              </a:solidFill>
              <a:round/>
            </a:ln>
          </p:spPr>
          <p:txBody>
            <a:bodyPr/>
            <a:lstStyle/>
            <a:p>
              <a:endParaRPr lang="zh-CN" altLang="en-US"/>
            </a:p>
          </p:txBody>
        </p:sp>
        <p:sp>
          <p:nvSpPr>
            <p:cNvPr id="48197" name="Line 83"/>
            <p:cNvSpPr>
              <a:spLocks noChangeShapeType="1"/>
            </p:cNvSpPr>
            <p:nvPr/>
          </p:nvSpPr>
          <p:spPr bwMode="auto">
            <a:xfrm flipV="1">
              <a:off x="1821" y="646"/>
              <a:ext cx="1" cy="4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98" name="Freeform 84"/>
            <p:cNvSpPr/>
            <p:nvPr/>
          </p:nvSpPr>
          <p:spPr bwMode="auto">
            <a:xfrm>
              <a:off x="1796" y="646"/>
              <a:ext cx="62" cy="149"/>
            </a:xfrm>
            <a:custGeom>
              <a:avLst/>
              <a:gdLst>
                <a:gd name="T0" fmla="*/ 0 w 62"/>
                <a:gd name="T1" fmla="*/ 149 h 149"/>
                <a:gd name="T2" fmla="*/ 25 w 62"/>
                <a:gd name="T3" fmla="*/ 124 h 149"/>
                <a:gd name="T4" fmla="*/ 62 w 62"/>
                <a:gd name="T5" fmla="*/ 149 h 149"/>
                <a:gd name="T6" fmla="*/ 25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25" y="124"/>
                  </a:lnTo>
                  <a:lnTo>
                    <a:pt x="62" y="149"/>
                  </a:lnTo>
                  <a:lnTo>
                    <a:pt x="25" y="0"/>
                  </a:lnTo>
                  <a:lnTo>
                    <a:pt x="0" y="149"/>
                  </a:lnTo>
                  <a:close/>
                </a:path>
              </a:pathLst>
            </a:custGeom>
            <a:solidFill>
              <a:srgbClr val="000000"/>
            </a:solidFill>
            <a:ln w="19050">
              <a:solidFill>
                <a:srgbClr val="000000"/>
              </a:solidFill>
              <a:round/>
            </a:ln>
          </p:spPr>
          <p:txBody>
            <a:bodyPr/>
            <a:lstStyle/>
            <a:p>
              <a:endParaRPr lang="zh-CN" altLang="en-US"/>
            </a:p>
          </p:txBody>
        </p:sp>
        <p:sp>
          <p:nvSpPr>
            <p:cNvPr id="48199" name="Freeform 85"/>
            <p:cNvSpPr/>
            <p:nvPr/>
          </p:nvSpPr>
          <p:spPr bwMode="auto">
            <a:xfrm>
              <a:off x="2019" y="708"/>
              <a:ext cx="236" cy="409"/>
            </a:xfrm>
            <a:custGeom>
              <a:avLst/>
              <a:gdLst>
                <a:gd name="T0" fmla="*/ 236 w 236"/>
                <a:gd name="T1" fmla="*/ 0 h 409"/>
                <a:gd name="T2" fmla="*/ 236 w 236"/>
                <a:gd name="T3" fmla="*/ 87 h 409"/>
                <a:gd name="T4" fmla="*/ 223 w 236"/>
                <a:gd name="T5" fmla="*/ 161 h 409"/>
                <a:gd name="T6" fmla="*/ 211 w 236"/>
                <a:gd name="T7" fmla="*/ 223 h 409"/>
                <a:gd name="T8" fmla="*/ 211 w 236"/>
                <a:gd name="T9" fmla="*/ 273 h 409"/>
                <a:gd name="T10" fmla="*/ 186 w 236"/>
                <a:gd name="T11" fmla="*/ 310 h 409"/>
                <a:gd name="T12" fmla="*/ 174 w 236"/>
                <a:gd name="T13" fmla="*/ 335 h 409"/>
                <a:gd name="T14" fmla="*/ 137 w 236"/>
                <a:gd name="T15" fmla="*/ 347 h 409"/>
                <a:gd name="T16" fmla="*/ 100 w 236"/>
                <a:gd name="T17" fmla="*/ 372 h 409"/>
                <a:gd name="T18" fmla="*/ 50 w 236"/>
                <a:gd name="T19" fmla="*/ 385 h 409"/>
                <a:gd name="T20" fmla="*/ 0 w 236"/>
                <a:gd name="T21" fmla="*/ 409 h 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409"/>
                <a:gd name="T35" fmla="*/ 236 w 236"/>
                <a:gd name="T36" fmla="*/ 409 h 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409">
                  <a:moveTo>
                    <a:pt x="236" y="0"/>
                  </a:moveTo>
                  <a:lnTo>
                    <a:pt x="236" y="87"/>
                  </a:lnTo>
                  <a:lnTo>
                    <a:pt x="223" y="161"/>
                  </a:lnTo>
                  <a:lnTo>
                    <a:pt x="211" y="223"/>
                  </a:lnTo>
                  <a:lnTo>
                    <a:pt x="211" y="273"/>
                  </a:lnTo>
                  <a:lnTo>
                    <a:pt x="186" y="310"/>
                  </a:lnTo>
                  <a:lnTo>
                    <a:pt x="174" y="335"/>
                  </a:lnTo>
                  <a:lnTo>
                    <a:pt x="137" y="347"/>
                  </a:lnTo>
                  <a:lnTo>
                    <a:pt x="100" y="372"/>
                  </a:lnTo>
                  <a:lnTo>
                    <a:pt x="50" y="385"/>
                  </a:lnTo>
                  <a:lnTo>
                    <a:pt x="0" y="409"/>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00" name="Rectangle 86"/>
            <p:cNvSpPr>
              <a:spLocks noChangeArrowheads="1"/>
            </p:cNvSpPr>
            <p:nvPr/>
          </p:nvSpPr>
          <p:spPr bwMode="auto">
            <a:xfrm>
              <a:off x="1675" y="559"/>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201" name="Rectangle 87"/>
            <p:cNvSpPr>
              <a:spLocks noChangeArrowheads="1"/>
            </p:cNvSpPr>
            <p:nvPr/>
          </p:nvSpPr>
          <p:spPr bwMode="auto">
            <a:xfrm>
              <a:off x="1725" y="63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202" name="Rectangle 88"/>
            <p:cNvSpPr>
              <a:spLocks noChangeArrowheads="1"/>
            </p:cNvSpPr>
            <p:nvPr/>
          </p:nvSpPr>
          <p:spPr bwMode="auto">
            <a:xfrm>
              <a:off x="1700" y="99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203" name="Rectangle 89"/>
            <p:cNvSpPr>
              <a:spLocks noChangeArrowheads="1"/>
            </p:cNvSpPr>
            <p:nvPr/>
          </p:nvSpPr>
          <p:spPr bwMode="auto">
            <a:xfrm>
              <a:off x="2366" y="88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u</a:t>
              </a:r>
              <a:endParaRPr lang="zh-CN" altLang="zh-CN" sz="2800">
                <a:latin typeface="Times New Roman" panose="02020603050405020304" pitchFamily="18" charset="0"/>
              </a:endParaRPr>
            </a:p>
          </p:txBody>
        </p:sp>
        <p:sp>
          <p:nvSpPr>
            <p:cNvPr id="48204" name="Rectangle 90"/>
            <p:cNvSpPr>
              <a:spLocks noChangeArrowheads="1"/>
            </p:cNvSpPr>
            <p:nvPr/>
          </p:nvSpPr>
          <p:spPr bwMode="auto">
            <a:xfrm>
              <a:off x="2452" y="95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be</a:t>
              </a:r>
              <a:endParaRPr lang="zh-CN" altLang="zh-CN" sz="2800">
                <a:latin typeface="Times New Roman" panose="02020603050405020304" pitchFamily="18" charset="0"/>
              </a:endParaRPr>
            </a:p>
          </p:txBody>
        </p:sp>
        <p:sp>
          <p:nvSpPr>
            <p:cNvPr id="48205" name="Line 91"/>
            <p:cNvSpPr>
              <a:spLocks noChangeShapeType="1"/>
            </p:cNvSpPr>
            <p:nvPr/>
          </p:nvSpPr>
          <p:spPr bwMode="auto">
            <a:xfrm>
              <a:off x="2181" y="521"/>
              <a:ext cx="235"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06" name="Freeform 92"/>
            <p:cNvSpPr/>
            <p:nvPr/>
          </p:nvSpPr>
          <p:spPr bwMode="auto">
            <a:xfrm>
              <a:off x="2317" y="497"/>
              <a:ext cx="148" cy="49"/>
            </a:xfrm>
            <a:custGeom>
              <a:avLst/>
              <a:gdLst>
                <a:gd name="T0" fmla="*/ 0 w 148"/>
                <a:gd name="T1" fmla="*/ 0 h 49"/>
                <a:gd name="T2" fmla="*/ 25 w 148"/>
                <a:gd name="T3" fmla="*/ 24 h 49"/>
                <a:gd name="T4" fmla="*/ 0 w 148"/>
                <a:gd name="T5" fmla="*/ 49 h 49"/>
                <a:gd name="T6" fmla="*/ 148 w 148"/>
                <a:gd name="T7" fmla="*/ 24 h 49"/>
                <a:gd name="T8" fmla="*/ 0 w 148"/>
                <a:gd name="T9" fmla="*/ 0 h 49"/>
                <a:gd name="T10" fmla="*/ 0 60000 65536"/>
                <a:gd name="T11" fmla="*/ 0 60000 65536"/>
                <a:gd name="T12" fmla="*/ 0 60000 65536"/>
                <a:gd name="T13" fmla="*/ 0 60000 65536"/>
                <a:gd name="T14" fmla="*/ 0 60000 65536"/>
                <a:gd name="T15" fmla="*/ 0 w 148"/>
                <a:gd name="T16" fmla="*/ 0 h 49"/>
                <a:gd name="T17" fmla="*/ 148 w 148"/>
                <a:gd name="T18" fmla="*/ 49 h 49"/>
              </a:gdLst>
              <a:ahLst/>
              <a:cxnLst>
                <a:cxn ang="T10">
                  <a:pos x="T0" y="T1"/>
                </a:cxn>
                <a:cxn ang="T11">
                  <a:pos x="T2" y="T3"/>
                </a:cxn>
                <a:cxn ang="T12">
                  <a:pos x="T4" y="T5"/>
                </a:cxn>
                <a:cxn ang="T13">
                  <a:pos x="T6" y="T7"/>
                </a:cxn>
                <a:cxn ang="T14">
                  <a:pos x="T8" y="T9"/>
                </a:cxn>
              </a:cxnLst>
              <a:rect l="T15" t="T16" r="T17" b="T18"/>
              <a:pathLst>
                <a:path w="148" h="49">
                  <a:moveTo>
                    <a:pt x="0" y="0"/>
                  </a:moveTo>
                  <a:lnTo>
                    <a:pt x="25" y="24"/>
                  </a:lnTo>
                  <a:lnTo>
                    <a:pt x="0" y="49"/>
                  </a:lnTo>
                  <a:lnTo>
                    <a:pt x="148" y="24"/>
                  </a:lnTo>
                  <a:lnTo>
                    <a:pt x="0" y="0"/>
                  </a:lnTo>
                  <a:close/>
                </a:path>
              </a:pathLst>
            </a:custGeom>
            <a:solidFill>
              <a:srgbClr val="000000"/>
            </a:solidFill>
            <a:ln w="19050">
              <a:solidFill>
                <a:srgbClr val="000000"/>
              </a:solidFill>
              <a:round/>
            </a:ln>
          </p:spPr>
          <p:txBody>
            <a:bodyPr/>
            <a:lstStyle/>
            <a:p>
              <a:endParaRPr lang="zh-CN" altLang="en-US"/>
            </a:p>
          </p:txBody>
        </p:sp>
        <p:sp>
          <p:nvSpPr>
            <p:cNvPr id="48207" name="Rectangle 93"/>
            <p:cNvSpPr>
              <a:spLocks noChangeArrowheads="1"/>
            </p:cNvSpPr>
            <p:nvPr/>
          </p:nvSpPr>
          <p:spPr bwMode="auto">
            <a:xfrm>
              <a:off x="2325" y="559"/>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A</a:t>
              </a:r>
              <a:endParaRPr lang="zh-CN" altLang="zh-CN" sz="2800">
                <a:latin typeface="Times New Roman" panose="02020603050405020304" pitchFamily="18" charset="0"/>
              </a:endParaRPr>
            </a:p>
          </p:txBody>
        </p:sp>
        <p:sp>
          <p:nvSpPr>
            <p:cNvPr id="48208" name="Rectangle 94"/>
            <p:cNvSpPr>
              <a:spLocks noChangeArrowheads="1"/>
            </p:cNvSpPr>
            <p:nvPr/>
          </p:nvSpPr>
          <p:spPr bwMode="auto">
            <a:xfrm>
              <a:off x="1524" y="459"/>
              <a:ext cx="1165" cy="708"/>
            </a:xfrm>
            <a:prstGeom prst="rect">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8209" name="Rectangle 95"/>
            <p:cNvSpPr>
              <a:spLocks noChangeArrowheads="1"/>
            </p:cNvSpPr>
            <p:nvPr/>
          </p:nvSpPr>
          <p:spPr bwMode="auto">
            <a:xfrm>
              <a:off x="1759" y="1403"/>
              <a:ext cx="694" cy="472"/>
            </a:xfrm>
            <a:prstGeom prst="rect">
              <a:avLst/>
            </a:prstGeom>
            <a:noFill/>
            <a:ln w="190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48210" name="Line 96"/>
            <p:cNvSpPr>
              <a:spLocks noChangeShapeType="1"/>
            </p:cNvSpPr>
            <p:nvPr/>
          </p:nvSpPr>
          <p:spPr bwMode="auto">
            <a:xfrm>
              <a:off x="1871" y="1552"/>
              <a:ext cx="471"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11" name="Freeform 97"/>
            <p:cNvSpPr/>
            <p:nvPr/>
          </p:nvSpPr>
          <p:spPr bwMode="auto">
            <a:xfrm>
              <a:off x="1871" y="1515"/>
              <a:ext cx="148" cy="62"/>
            </a:xfrm>
            <a:custGeom>
              <a:avLst/>
              <a:gdLst>
                <a:gd name="T0" fmla="*/ 148 w 148"/>
                <a:gd name="T1" fmla="*/ 0 h 62"/>
                <a:gd name="T2" fmla="*/ 124 w 148"/>
                <a:gd name="T3" fmla="*/ 37 h 62"/>
                <a:gd name="T4" fmla="*/ 148 w 148"/>
                <a:gd name="T5" fmla="*/ 62 h 62"/>
                <a:gd name="T6" fmla="*/ 0 w 148"/>
                <a:gd name="T7" fmla="*/ 37 h 62"/>
                <a:gd name="T8" fmla="*/ 148 w 148"/>
                <a:gd name="T9" fmla="*/ 0 h 62"/>
                <a:gd name="T10" fmla="*/ 0 60000 65536"/>
                <a:gd name="T11" fmla="*/ 0 60000 65536"/>
                <a:gd name="T12" fmla="*/ 0 60000 65536"/>
                <a:gd name="T13" fmla="*/ 0 60000 65536"/>
                <a:gd name="T14" fmla="*/ 0 60000 65536"/>
                <a:gd name="T15" fmla="*/ 0 w 148"/>
                <a:gd name="T16" fmla="*/ 0 h 62"/>
                <a:gd name="T17" fmla="*/ 148 w 148"/>
                <a:gd name="T18" fmla="*/ 62 h 62"/>
              </a:gdLst>
              <a:ahLst/>
              <a:cxnLst>
                <a:cxn ang="T10">
                  <a:pos x="T0" y="T1"/>
                </a:cxn>
                <a:cxn ang="T11">
                  <a:pos x="T2" y="T3"/>
                </a:cxn>
                <a:cxn ang="T12">
                  <a:pos x="T4" y="T5"/>
                </a:cxn>
                <a:cxn ang="T13">
                  <a:pos x="T6" y="T7"/>
                </a:cxn>
                <a:cxn ang="T14">
                  <a:pos x="T8" y="T9"/>
                </a:cxn>
              </a:cxnLst>
              <a:rect l="T15" t="T16" r="T17" b="T18"/>
              <a:pathLst>
                <a:path w="148" h="62">
                  <a:moveTo>
                    <a:pt x="148" y="0"/>
                  </a:moveTo>
                  <a:lnTo>
                    <a:pt x="124" y="37"/>
                  </a:lnTo>
                  <a:lnTo>
                    <a:pt x="148" y="62"/>
                  </a:lnTo>
                  <a:lnTo>
                    <a:pt x="0" y="37"/>
                  </a:lnTo>
                  <a:lnTo>
                    <a:pt x="148" y="0"/>
                  </a:lnTo>
                  <a:close/>
                </a:path>
              </a:pathLst>
            </a:custGeom>
            <a:solidFill>
              <a:srgbClr val="000000"/>
            </a:solidFill>
            <a:ln w="19050">
              <a:solidFill>
                <a:srgbClr val="000000"/>
              </a:solidFill>
              <a:round/>
            </a:ln>
          </p:spPr>
          <p:txBody>
            <a:bodyPr/>
            <a:lstStyle/>
            <a:p>
              <a:endParaRPr lang="zh-CN" altLang="en-US"/>
            </a:p>
          </p:txBody>
        </p:sp>
        <p:sp>
          <p:nvSpPr>
            <p:cNvPr id="48212" name="Rectangle 98"/>
            <p:cNvSpPr>
              <a:spLocks noChangeArrowheads="1"/>
            </p:cNvSpPr>
            <p:nvPr/>
          </p:nvSpPr>
          <p:spPr bwMode="auto">
            <a:xfrm>
              <a:off x="2078" y="1552"/>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8213" name="Line 99"/>
            <p:cNvSpPr>
              <a:spLocks noChangeShapeType="1"/>
            </p:cNvSpPr>
            <p:nvPr/>
          </p:nvSpPr>
          <p:spPr bwMode="auto">
            <a:xfrm>
              <a:off x="2689" y="819"/>
              <a:ext cx="941"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14" name="Freeform 100"/>
            <p:cNvSpPr/>
            <p:nvPr/>
          </p:nvSpPr>
          <p:spPr bwMode="auto">
            <a:xfrm>
              <a:off x="3469" y="782"/>
              <a:ext cx="161" cy="62"/>
            </a:xfrm>
            <a:custGeom>
              <a:avLst/>
              <a:gdLst>
                <a:gd name="T0" fmla="*/ 0 w 161"/>
                <a:gd name="T1" fmla="*/ 0 h 62"/>
                <a:gd name="T2" fmla="*/ 37 w 161"/>
                <a:gd name="T3" fmla="*/ 37 h 62"/>
                <a:gd name="T4" fmla="*/ 0 w 161"/>
                <a:gd name="T5" fmla="*/ 62 h 62"/>
                <a:gd name="T6" fmla="*/ 161 w 161"/>
                <a:gd name="T7" fmla="*/ 37 h 62"/>
                <a:gd name="T8" fmla="*/ 0 w 161"/>
                <a:gd name="T9" fmla="*/ 0 h 62"/>
                <a:gd name="T10" fmla="*/ 0 60000 65536"/>
                <a:gd name="T11" fmla="*/ 0 60000 65536"/>
                <a:gd name="T12" fmla="*/ 0 60000 65536"/>
                <a:gd name="T13" fmla="*/ 0 60000 65536"/>
                <a:gd name="T14" fmla="*/ 0 60000 65536"/>
                <a:gd name="T15" fmla="*/ 0 w 161"/>
                <a:gd name="T16" fmla="*/ 0 h 62"/>
                <a:gd name="T17" fmla="*/ 161 w 161"/>
                <a:gd name="T18" fmla="*/ 62 h 62"/>
              </a:gdLst>
              <a:ahLst/>
              <a:cxnLst>
                <a:cxn ang="T10">
                  <a:pos x="T0" y="T1"/>
                </a:cxn>
                <a:cxn ang="T11">
                  <a:pos x="T2" y="T3"/>
                </a:cxn>
                <a:cxn ang="T12">
                  <a:pos x="T4" y="T5"/>
                </a:cxn>
                <a:cxn ang="T13">
                  <a:pos x="T6" y="T7"/>
                </a:cxn>
                <a:cxn ang="T14">
                  <a:pos x="T8" y="T9"/>
                </a:cxn>
              </a:cxnLst>
              <a:rect l="T15" t="T16" r="T17" b="T18"/>
              <a:pathLst>
                <a:path w="161" h="62">
                  <a:moveTo>
                    <a:pt x="0" y="0"/>
                  </a:moveTo>
                  <a:lnTo>
                    <a:pt x="37" y="37"/>
                  </a:lnTo>
                  <a:lnTo>
                    <a:pt x="0" y="62"/>
                  </a:lnTo>
                  <a:lnTo>
                    <a:pt x="161" y="37"/>
                  </a:lnTo>
                  <a:lnTo>
                    <a:pt x="0" y="0"/>
                  </a:lnTo>
                  <a:close/>
                </a:path>
              </a:pathLst>
            </a:custGeom>
            <a:solidFill>
              <a:srgbClr val="000000"/>
            </a:solidFill>
            <a:ln w="19050">
              <a:solidFill>
                <a:srgbClr val="000000"/>
              </a:solidFill>
              <a:round/>
            </a:ln>
          </p:spPr>
          <p:txBody>
            <a:bodyPr/>
            <a:lstStyle/>
            <a:p>
              <a:endParaRPr lang="zh-CN" altLang="en-US"/>
            </a:p>
          </p:txBody>
        </p:sp>
        <p:sp>
          <p:nvSpPr>
            <p:cNvPr id="48215" name="Line 101"/>
            <p:cNvSpPr>
              <a:spLocks noChangeShapeType="1"/>
            </p:cNvSpPr>
            <p:nvPr/>
          </p:nvSpPr>
          <p:spPr bwMode="auto">
            <a:xfrm>
              <a:off x="2453" y="1639"/>
              <a:ext cx="818"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16" name="Freeform 102"/>
            <p:cNvSpPr/>
            <p:nvPr/>
          </p:nvSpPr>
          <p:spPr bwMode="auto">
            <a:xfrm>
              <a:off x="2453" y="1602"/>
              <a:ext cx="149" cy="62"/>
            </a:xfrm>
            <a:custGeom>
              <a:avLst/>
              <a:gdLst>
                <a:gd name="T0" fmla="*/ 149 w 149"/>
                <a:gd name="T1" fmla="*/ 0 h 62"/>
                <a:gd name="T2" fmla="*/ 124 w 149"/>
                <a:gd name="T3" fmla="*/ 37 h 62"/>
                <a:gd name="T4" fmla="*/ 149 w 149"/>
                <a:gd name="T5" fmla="*/ 62 h 62"/>
                <a:gd name="T6" fmla="*/ 0 w 149"/>
                <a:gd name="T7" fmla="*/ 37 h 62"/>
                <a:gd name="T8" fmla="*/ 149 w 149"/>
                <a:gd name="T9" fmla="*/ 0 h 62"/>
                <a:gd name="T10" fmla="*/ 0 60000 65536"/>
                <a:gd name="T11" fmla="*/ 0 60000 65536"/>
                <a:gd name="T12" fmla="*/ 0 60000 65536"/>
                <a:gd name="T13" fmla="*/ 0 60000 65536"/>
                <a:gd name="T14" fmla="*/ 0 60000 65536"/>
                <a:gd name="T15" fmla="*/ 0 w 149"/>
                <a:gd name="T16" fmla="*/ 0 h 62"/>
                <a:gd name="T17" fmla="*/ 149 w 149"/>
                <a:gd name="T18" fmla="*/ 62 h 62"/>
              </a:gdLst>
              <a:ahLst/>
              <a:cxnLst>
                <a:cxn ang="T10">
                  <a:pos x="T0" y="T1"/>
                </a:cxn>
                <a:cxn ang="T11">
                  <a:pos x="T2" y="T3"/>
                </a:cxn>
                <a:cxn ang="T12">
                  <a:pos x="T4" y="T5"/>
                </a:cxn>
                <a:cxn ang="T13">
                  <a:pos x="T6" y="T7"/>
                </a:cxn>
                <a:cxn ang="T14">
                  <a:pos x="T8" y="T9"/>
                </a:cxn>
              </a:cxnLst>
              <a:rect l="T15" t="T16" r="T17" b="T18"/>
              <a:pathLst>
                <a:path w="149" h="62">
                  <a:moveTo>
                    <a:pt x="149" y="0"/>
                  </a:moveTo>
                  <a:lnTo>
                    <a:pt x="124" y="37"/>
                  </a:lnTo>
                  <a:lnTo>
                    <a:pt x="149" y="62"/>
                  </a:lnTo>
                  <a:lnTo>
                    <a:pt x="0" y="37"/>
                  </a:lnTo>
                  <a:lnTo>
                    <a:pt x="149" y="0"/>
                  </a:lnTo>
                  <a:close/>
                </a:path>
              </a:pathLst>
            </a:custGeom>
            <a:solidFill>
              <a:srgbClr val="000000"/>
            </a:solidFill>
            <a:ln w="19050">
              <a:solidFill>
                <a:srgbClr val="000000"/>
              </a:solidFill>
              <a:round/>
            </a:ln>
          </p:spPr>
          <p:txBody>
            <a:bodyPr/>
            <a:lstStyle/>
            <a:p>
              <a:endParaRPr lang="zh-CN" altLang="en-US"/>
            </a:p>
          </p:txBody>
        </p:sp>
        <p:sp>
          <p:nvSpPr>
            <p:cNvPr id="48217" name="Line 103"/>
            <p:cNvSpPr>
              <a:spLocks noChangeShapeType="1"/>
            </p:cNvSpPr>
            <p:nvPr/>
          </p:nvSpPr>
          <p:spPr bwMode="auto">
            <a:xfrm flipV="1">
              <a:off x="3271" y="819"/>
              <a:ext cx="1" cy="82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18" name="Freeform 104"/>
            <p:cNvSpPr/>
            <p:nvPr/>
          </p:nvSpPr>
          <p:spPr bwMode="auto">
            <a:xfrm>
              <a:off x="3246" y="795"/>
              <a:ext cx="62" cy="49"/>
            </a:xfrm>
            <a:custGeom>
              <a:avLst/>
              <a:gdLst>
                <a:gd name="T0" fmla="*/ 0 w 62"/>
                <a:gd name="T1" fmla="*/ 24 h 49"/>
                <a:gd name="T2" fmla="*/ 12 w 62"/>
                <a:gd name="T3" fmla="*/ 0 h 49"/>
                <a:gd name="T4" fmla="*/ 50 w 62"/>
                <a:gd name="T5" fmla="*/ 0 h 49"/>
                <a:gd name="T6" fmla="*/ 62 w 62"/>
                <a:gd name="T7" fmla="*/ 24 h 49"/>
                <a:gd name="T8" fmla="*/ 50 w 62"/>
                <a:gd name="T9" fmla="*/ 49 h 49"/>
                <a:gd name="T10" fmla="*/ 12 w 62"/>
                <a:gd name="T11" fmla="*/ 49 h 49"/>
                <a:gd name="T12" fmla="*/ 0 w 62"/>
                <a:gd name="T13" fmla="*/ 24 h 49"/>
                <a:gd name="T14" fmla="*/ 0 60000 65536"/>
                <a:gd name="T15" fmla="*/ 0 60000 65536"/>
                <a:gd name="T16" fmla="*/ 0 60000 65536"/>
                <a:gd name="T17" fmla="*/ 0 60000 65536"/>
                <a:gd name="T18" fmla="*/ 0 60000 65536"/>
                <a:gd name="T19" fmla="*/ 0 60000 65536"/>
                <a:gd name="T20" fmla="*/ 0 60000 65536"/>
                <a:gd name="T21" fmla="*/ 0 w 62"/>
                <a:gd name="T22" fmla="*/ 0 h 49"/>
                <a:gd name="T23" fmla="*/ 62 w 62"/>
                <a:gd name="T24" fmla="*/ 49 h 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 h="49">
                  <a:moveTo>
                    <a:pt x="0" y="24"/>
                  </a:moveTo>
                  <a:lnTo>
                    <a:pt x="12" y="0"/>
                  </a:lnTo>
                  <a:lnTo>
                    <a:pt x="50" y="0"/>
                  </a:lnTo>
                  <a:lnTo>
                    <a:pt x="62" y="24"/>
                  </a:lnTo>
                  <a:lnTo>
                    <a:pt x="50" y="49"/>
                  </a:lnTo>
                  <a:lnTo>
                    <a:pt x="12" y="49"/>
                  </a:lnTo>
                  <a:lnTo>
                    <a:pt x="0" y="24"/>
                  </a:lnTo>
                  <a:close/>
                </a:path>
              </a:pathLst>
            </a:custGeom>
            <a:solidFill>
              <a:srgbClr val="000000"/>
            </a:solidFill>
            <a:ln w="19050">
              <a:solidFill>
                <a:srgbClr val="000000"/>
              </a:solidFill>
              <a:round/>
            </a:ln>
          </p:spPr>
          <p:txBody>
            <a:bodyPr/>
            <a:lstStyle/>
            <a:p>
              <a:endParaRPr lang="zh-CN" altLang="en-US"/>
            </a:p>
          </p:txBody>
        </p:sp>
        <p:sp>
          <p:nvSpPr>
            <p:cNvPr id="48219" name="Line 105"/>
            <p:cNvSpPr>
              <a:spLocks noChangeShapeType="1"/>
            </p:cNvSpPr>
            <p:nvPr/>
          </p:nvSpPr>
          <p:spPr bwMode="auto">
            <a:xfrm>
              <a:off x="3395" y="0"/>
              <a:ext cx="1" cy="5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220" name="Rectangle 106"/>
            <p:cNvSpPr>
              <a:spLocks noChangeArrowheads="1"/>
            </p:cNvSpPr>
            <p:nvPr/>
          </p:nvSpPr>
          <p:spPr bwMode="auto">
            <a:xfrm>
              <a:off x="3540" y="89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21" name="Rectangle 107"/>
            <p:cNvSpPr>
              <a:spLocks noChangeArrowheads="1"/>
            </p:cNvSpPr>
            <p:nvPr/>
          </p:nvSpPr>
          <p:spPr bwMode="auto">
            <a:xfrm>
              <a:off x="3646" y="96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222" name="Rectangle 108"/>
            <p:cNvSpPr>
              <a:spLocks noChangeArrowheads="1"/>
            </p:cNvSpPr>
            <p:nvPr/>
          </p:nvSpPr>
          <p:spPr bwMode="auto">
            <a:xfrm>
              <a:off x="3610" y="745"/>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223" name="Line 109"/>
            <p:cNvSpPr>
              <a:spLocks noChangeShapeType="1"/>
            </p:cNvSpPr>
            <p:nvPr/>
          </p:nvSpPr>
          <p:spPr bwMode="auto">
            <a:xfrm>
              <a:off x="929" y="819"/>
              <a:ext cx="595"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24" name="Freeform 110"/>
            <p:cNvSpPr/>
            <p:nvPr/>
          </p:nvSpPr>
          <p:spPr bwMode="auto">
            <a:xfrm>
              <a:off x="1363" y="782"/>
              <a:ext cx="161" cy="62"/>
            </a:xfrm>
            <a:custGeom>
              <a:avLst/>
              <a:gdLst>
                <a:gd name="T0" fmla="*/ 0 w 161"/>
                <a:gd name="T1" fmla="*/ 0 h 62"/>
                <a:gd name="T2" fmla="*/ 37 w 161"/>
                <a:gd name="T3" fmla="*/ 37 h 62"/>
                <a:gd name="T4" fmla="*/ 0 w 161"/>
                <a:gd name="T5" fmla="*/ 62 h 62"/>
                <a:gd name="T6" fmla="*/ 161 w 161"/>
                <a:gd name="T7" fmla="*/ 37 h 62"/>
                <a:gd name="T8" fmla="*/ 0 w 161"/>
                <a:gd name="T9" fmla="*/ 0 h 62"/>
                <a:gd name="T10" fmla="*/ 0 60000 65536"/>
                <a:gd name="T11" fmla="*/ 0 60000 65536"/>
                <a:gd name="T12" fmla="*/ 0 60000 65536"/>
                <a:gd name="T13" fmla="*/ 0 60000 65536"/>
                <a:gd name="T14" fmla="*/ 0 60000 65536"/>
                <a:gd name="T15" fmla="*/ 0 w 161"/>
                <a:gd name="T16" fmla="*/ 0 h 62"/>
                <a:gd name="T17" fmla="*/ 161 w 161"/>
                <a:gd name="T18" fmla="*/ 62 h 62"/>
              </a:gdLst>
              <a:ahLst/>
              <a:cxnLst>
                <a:cxn ang="T10">
                  <a:pos x="T0" y="T1"/>
                </a:cxn>
                <a:cxn ang="T11">
                  <a:pos x="T2" y="T3"/>
                </a:cxn>
                <a:cxn ang="T12">
                  <a:pos x="T4" y="T5"/>
                </a:cxn>
                <a:cxn ang="T13">
                  <a:pos x="T6" y="T7"/>
                </a:cxn>
                <a:cxn ang="T14">
                  <a:pos x="T8" y="T9"/>
                </a:cxn>
              </a:cxnLst>
              <a:rect l="T15" t="T16" r="T17" b="T18"/>
              <a:pathLst>
                <a:path w="161" h="62">
                  <a:moveTo>
                    <a:pt x="0" y="0"/>
                  </a:moveTo>
                  <a:lnTo>
                    <a:pt x="37" y="37"/>
                  </a:lnTo>
                  <a:lnTo>
                    <a:pt x="0" y="62"/>
                  </a:lnTo>
                  <a:lnTo>
                    <a:pt x="161" y="37"/>
                  </a:lnTo>
                  <a:lnTo>
                    <a:pt x="0" y="0"/>
                  </a:lnTo>
                  <a:close/>
                </a:path>
              </a:pathLst>
            </a:custGeom>
            <a:solidFill>
              <a:srgbClr val="000000"/>
            </a:solidFill>
            <a:ln w="19050">
              <a:solidFill>
                <a:srgbClr val="000000"/>
              </a:solidFill>
              <a:round/>
            </a:ln>
          </p:spPr>
          <p:txBody>
            <a:bodyPr/>
            <a:lstStyle/>
            <a:p>
              <a:endParaRPr lang="zh-CN" altLang="en-US"/>
            </a:p>
          </p:txBody>
        </p:sp>
        <p:sp>
          <p:nvSpPr>
            <p:cNvPr id="48225" name="Freeform 111"/>
            <p:cNvSpPr/>
            <p:nvPr/>
          </p:nvSpPr>
          <p:spPr bwMode="auto">
            <a:xfrm>
              <a:off x="582" y="646"/>
              <a:ext cx="347" cy="347"/>
            </a:xfrm>
            <a:custGeom>
              <a:avLst/>
              <a:gdLst>
                <a:gd name="T0" fmla="*/ 0 w 347"/>
                <a:gd name="T1" fmla="*/ 173 h 347"/>
                <a:gd name="T2" fmla="*/ 25 w 347"/>
                <a:gd name="T3" fmla="*/ 87 h 347"/>
                <a:gd name="T4" fmla="*/ 87 w 347"/>
                <a:gd name="T5" fmla="*/ 12 h 347"/>
                <a:gd name="T6" fmla="*/ 174 w 347"/>
                <a:gd name="T7" fmla="*/ 0 h 347"/>
                <a:gd name="T8" fmla="*/ 260 w 347"/>
                <a:gd name="T9" fmla="*/ 12 h 347"/>
                <a:gd name="T10" fmla="*/ 322 w 347"/>
                <a:gd name="T11" fmla="*/ 87 h 347"/>
                <a:gd name="T12" fmla="*/ 347 w 347"/>
                <a:gd name="T13" fmla="*/ 173 h 347"/>
                <a:gd name="T14" fmla="*/ 322 w 347"/>
                <a:gd name="T15" fmla="*/ 260 h 347"/>
                <a:gd name="T16" fmla="*/ 260 w 347"/>
                <a:gd name="T17" fmla="*/ 322 h 347"/>
                <a:gd name="T18" fmla="*/ 174 w 347"/>
                <a:gd name="T19" fmla="*/ 347 h 347"/>
                <a:gd name="T20" fmla="*/ 87 w 347"/>
                <a:gd name="T21" fmla="*/ 322 h 347"/>
                <a:gd name="T22" fmla="*/ 25 w 347"/>
                <a:gd name="T23" fmla="*/ 260 h 347"/>
                <a:gd name="T24" fmla="*/ 0 w 347"/>
                <a:gd name="T25" fmla="*/ 173 h 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7"/>
                <a:gd name="T40" fmla="*/ 0 h 347"/>
                <a:gd name="T41" fmla="*/ 347 w 347"/>
                <a:gd name="T42" fmla="*/ 347 h 3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7" h="347">
                  <a:moveTo>
                    <a:pt x="0" y="173"/>
                  </a:moveTo>
                  <a:lnTo>
                    <a:pt x="25" y="87"/>
                  </a:lnTo>
                  <a:lnTo>
                    <a:pt x="87" y="12"/>
                  </a:lnTo>
                  <a:lnTo>
                    <a:pt x="174" y="0"/>
                  </a:lnTo>
                  <a:lnTo>
                    <a:pt x="260" y="12"/>
                  </a:lnTo>
                  <a:lnTo>
                    <a:pt x="322" y="87"/>
                  </a:lnTo>
                  <a:lnTo>
                    <a:pt x="347" y="173"/>
                  </a:lnTo>
                  <a:lnTo>
                    <a:pt x="322" y="260"/>
                  </a:lnTo>
                  <a:lnTo>
                    <a:pt x="260" y="322"/>
                  </a:lnTo>
                  <a:lnTo>
                    <a:pt x="174" y="347"/>
                  </a:lnTo>
                  <a:lnTo>
                    <a:pt x="87" y="322"/>
                  </a:lnTo>
                  <a:lnTo>
                    <a:pt x="25" y="260"/>
                  </a:lnTo>
                  <a:lnTo>
                    <a:pt x="0" y="173"/>
                  </a:lnTo>
                  <a:close/>
                </a:path>
              </a:pathLst>
            </a:custGeom>
            <a:solidFill>
              <a:srgbClr val="FFFFFF"/>
            </a:solidFill>
            <a:ln w="19050">
              <a:solidFill>
                <a:srgbClr val="000000"/>
              </a:solidFill>
              <a:round/>
            </a:ln>
          </p:spPr>
          <p:txBody>
            <a:bodyPr/>
            <a:lstStyle/>
            <a:p>
              <a:endParaRPr lang="zh-CN" altLang="en-US"/>
            </a:p>
          </p:txBody>
        </p:sp>
        <p:sp>
          <p:nvSpPr>
            <p:cNvPr id="48226" name="Rectangle 112"/>
            <p:cNvSpPr>
              <a:spLocks noChangeArrowheads="1"/>
            </p:cNvSpPr>
            <p:nvPr/>
          </p:nvSpPr>
          <p:spPr bwMode="auto">
            <a:xfrm>
              <a:off x="731" y="732"/>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227" name="Line 113"/>
            <p:cNvSpPr>
              <a:spLocks noChangeShapeType="1"/>
            </p:cNvSpPr>
            <p:nvPr/>
          </p:nvSpPr>
          <p:spPr bwMode="auto">
            <a:xfrm>
              <a:off x="756" y="1639"/>
              <a:ext cx="1003"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28" name="Line 114"/>
            <p:cNvSpPr>
              <a:spLocks noChangeShapeType="1"/>
            </p:cNvSpPr>
            <p:nvPr/>
          </p:nvSpPr>
          <p:spPr bwMode="auto">
            <a:xfrm>
              <a:off x="756" y="993"/>
              <a:ext cx="1" cy="6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29" name="Freeform 115"/>
            <p:cNvSpPr/>
            <p:nvPr/>
          </p:nvSpPr>
          <p:spPr bwMode="auto">
            <a:xfrm>
              <a:off x="731" y="993"/>
              <a:ext cx="62" cy="149"/>
            </a:xfrm>
            <a:custGeom>
              <a:avLst/>
              <a:gdLst>
                <a:gd name="T0" fmla="*/ 0 w 62"/>
                <a:gd name="T1" fmla="*/ 149 h 149"/>
                <a:gd name="T2" fmla="*/ 25 w 62"/>
                <a:gd name="T3" fmla="*/ 124 h 149"/>
                <a:gd name="T4" fmla="*/ 62 w 62"/>
                <a:gd name="T5" fmla="*/ 149 h 149"/>
                <a:gd name="T6" fmla="*/ 25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25" y="124"/>
                  </a:lnTo>
                  <a:lnTo>
                    <a:pt x="62" y="149"/>
                  </a:lnTo>
                  <a:lnTo>
                    <a:pt x="25" y="0"/>
                  </a:lnTo>
                  <a:lnTo>
                    <a:pt x="0" y="149"/>
                  </a:lnTo>
                  <a:close/>
                </a:path>
              </a:pathLst>
            </a:custGeom>
            <a:solidFill>
              <a:srgbClr val="000000"/>
            </a:solidFill>
            <a:ln w="19050">
              <a:solidFill>
                <a:srgbClr val="000000"/>
              </a:solidFill>
              <a:round/>
            </a:ln>
          </p:spPr>
          <p:txBody>
            <a:bodyPr/>
            <a:lstStyle/>
            <a:p>
              <a:endParaRPr lang="zh-CN" altLang="en-US"/>
            </a:p>
          </p:txBody>
        </p:sp>
        <p:sp>
          <p:nvSpPr>
            <p:cNvPr id="48230" name="Line 116"/>
            <p:cNvSpPr>
              <a:spLocks noChangeShapeType="1"/>
            </p:cNvSpPr>
            <p:nvPr/>
          </p:nvSpPr>
          <p:spPr bwMode="auto">
            <a:xfrm>
              <a:off x="0" y="819"/>
              <a:ext cx="582"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231" name="Freeform 117"/>
            <p:cNvSpPr/>
            <p:nvPr/>
          </p:nvSpPr>
          <p:spPr bwMode="auto">
            <a:xfrm>
              <a:off x="433" y="782"/>
              <a:ext cx="149" cy="62"/>
            </a:xfrm>
            <a:custGeom>
              <a:avLst/>
              <a:gdLst>
                <a:gd name="T0" fmla="*/ 0 w 149"/>
                <a:gd name="T1" fmla="*/ 0 h 62"/>
                <a:gd name="T2" fmla="*/ 25 w 149"/>
                <a:gd name="T3" fmla="*/ 37 h 62"/>
                <a:gd name="T4" fmla="*/ 0 w 149"/>
                <a:gd name="T5" fmla="*/ 62 h 62"/>
                <a:gd name="T6" fmla="*/ 149 w 149"/>
                <a:gd name="T7" fmla="*/ 37 h 62"/>
                <a:gd name="T8" fmla="*/ 0 w 149"/>
                <a:gd name="T9" fmla="*/ 0 h 62"/>
                <a:gd name="T10" fmla="*/ 0 60000 65536"/>
                <a:gd name="T11" fmla="*/ 0 60000 65536"/>
                <a:gd name="T12" fmla="*/ 0 60000 65536"/>
                <a:gd name="T13" fmla="*/ 0 60000 65536"/>
                <a:gd name="T14" fmla="*/ 0 60000 65536"/>
                <a:gd name="T15" fmla="*/ 0 w 149"/>
                <a:gd name="T16" fmla="*/ 0 h 62"/>
                <a:gd name="T17" fmla="*/ 149 w 149"/>
                <a:gd name="T18" fmla="*/ 62 h 62"/>
              </a:gdLst>
              <a:ahLst/>
              <a:cxnLst>
                <a:cxn ang="T10">
                  <a:pos x="T0" y="T1"/>
                </a:cxn>
                <a:cxn ang="T11">
                  <a:pos x="T2" y="T3"/>
                </a:cxn>
                <a:cxn ang="T12">
                  <a:pos x="T4" y="T5"/>
                </a:cxn>
                <a:cxn ang="T13">
                  <a:pos x="T6" y="T7"/>
                </a:cxn>
                <a:cxn ang="T14">
                  <a:pos x="T8" y="T9"/>
                </a:cxn>
              </a:cxnLst>
              <a:rect l="T15" t="T16" r="T17" b="T18"/>
              <a:pathLst>
                <a:path w="149" h="62">
                  <a:moveTo>
                    <a:pt x="0" y="0"/>
                  </a:moveTo>
                  <a:lnTo>
                    <a:pt x="25" y="37"/>
                  </a:lnTo>
                  <a:lnTo>
                    <a:pt x="0" y="62"/>
                  </a:lnTo>
                  <a:lnTo>
                    <a:pt x="149" y="37"/>
                  </a:lnTo>
                  <a:lnTo>
                    <a:pt x="0" y="0"/>
                  </a:lnTo>
                  <a:close/>
                </a:path>
              </a:pathLst>
            </a:custGeom>
            <a:solidFill>
              <a:srgbClr val="000000"/>
            </a:solidFill>
            <a:ln w="19050">
              <a:solidFill>
                <a:srgbClr val="000000"/>
              </a:solidFill>
              <a:round/>
            </a:ln>
          </p:spPr>
          <p:txBody>
            <a:bodyPr/>
            <a:lstStyle/>
            <a:p>
              <a:endParaRPr lang="zh-CN" altLang="en-US"/>
            </a:p>
          </p:txBody>
        </p:sp>
        <p:sp>
          <p:nvSpPr>
            <p:cNvPr id="48232" name="Rectangle 118"/>
            <p:cNvSpPr>
              <a:spLocks noChangeArrowheads="1"/>
            </p:cNvSpPr>
            <p:nvPr/>
          </p:nvSpPr>
          <p:spPr bwMode="auto">
            <a:xfrm>
              <a:off x="459" y="60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233" name="Rectangle 119"/>
            <p:cNvSpPr>
              <a:spLocks noChangeArrowheads="1"/>
            </p:cNvSpPr>
            <p:nvPr/>
          </p:nvSpPr>
          <p:spPr bwMode="auto">
            <a:xfrm>
              <a:off x="583" y="968"/>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48234" name="Rectangle 120"/>
            <p:cNvSpPr>
              <a:spLocks noChangeArrowheads="1"/>
            </p:cNvSpPr>
            <p:nvPr/>
          </p:nvSpPr>
          <p:spPr bwMode="auto">
            <a:xfrm>
              <a:off x="8" y="89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35" name="Rectangle 121"/>
            <p:cNvSpPr>
              <a:spLocks noChangeArrowheads="1"/>
            </p:cNvSpPr>
            <p:nvPr/>
          </p:nvSpPr>
          <p:spPr bwMode="auto">
            <a:xfrm>
              <a:off x="114" y="969"/>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236" name="Rectangle 122"/>
            <p:cNvSpPr>
              <a:spLocks noChangeArrowheads="1"/>
            </p:cNvSpPr>
            <p:nvPr/>
          </p:nvSpPr>
          <p:spPr bwMode="auto">
            <a:xfrm>
              <a:off x="66" y="745"/>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237" name="Rectangle 123"/>
            <p:cNvSpPr>
              <a:spLocks noChangeArrowheads="1"/>
            </p:cNvSpPr>
            <p:nvPr/>
          </p:nvSpPr>
          <p:spPr bwMode="auto">
            <a:xfrm>
              <a:off x="566" y="1130"/>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38" name="Rectangle 124"/>
            <p:cNvSpPr>
              <a:spLocks noChangeArrowheads="1"/>
            </p:cNvSpPr>
            <p:nvPr/>
          </p:nvSpPr>
          <p:spPr bwMode="auto">
            <a:xfrm>
              <a:off x="662" y="1204"/>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8239" name="Rectangle 125"/>
            <p:cNvSpPr>
              <a:spLocks noChangeArrowheads="1"/>
            </p:cNvSpPr>
            <p:nvPr/>
          </p:nvSpPr>
          <p:spPr bwMode="auto">
            <a:xfrm>
              <a:off x="623" y="981"/>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240" name="Line 126"/>
            <p:cNvSpPr>
              <a:spLocks noChangeShapeType="1"/>
            </p:cNvSpPr>
            <p:nvPr/>
          </p:nvSpPr>
          <p:spPr bwMode="auto">
            <a:xfrm>
              <a:off x="904" y="1403"/>
              <a:ext cx="707" cy="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8241" name="Rectangle 127"/>
            <p:cNvSpPr>
              <a:spLocks noChangeArrowheads="1"/>
            </p:cNvSpPr>
            <p:nvPr/>
          </p:nvSpPr>
          <p:spPr bwMode="auto">
            <a:xfrm>
              <a:off x="1223" y="857"/>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242" name="Rectangle 128"/>
            <p:cNvSpPr>
              <a:spLocks noChangeArrowheads="1"/>
            </p:cNvSpPr>
            <p:nvPr/>
          </p:nvSpPr>
          <p:spPr bwMode="auto">
            <a:xfrm>
              <a:off x="1329" y="93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i</a:t>
              </a:r>
              <a:endParaRPr lang="zh-CN" altLang="zh-CN" sz="2800">
                <a:latin typeface="Times New Roman" panose="02020603050405020304" pitchFamily="18" charset="0"/>
              </a:endParaRPr>
            </a:p>
          </p:txBody>
        </p:sp>
        <p:sp>
          <p:nvSpPr>
            <p:cNvPr id="48243" name="Rectangle 129"/>
            <p:cNvSpPr>
              <a:spLocks noChangeArrowheads="1"/>
            </p:cNvSpPr>
            <p:nvPr/>
          </p:nvSpPr>
          <p:spPr bwMode="auto">
            <a:xfrm>
              <a:off x="1280" y="708"/>
              <a:ext cx="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244" name="Rectangle 130"/>
            <p:cNvSpPr>
              <a:spLocks noChangeArrowheads="1"/>
            </p:cNvSpPr>
            <p:nvPr/>
          </p:nvSpPr>
          <p:spPr bwMode="auto">
            <a:xfrm>
              <a:off x="1351" y="844"/>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a:t>
              </a:r>
              <a:endParaRPr lang="zh-CN" altLang="zh-CN" sz="2800">
                <a:latin typeface="Times New Roman" panose="02020603050405020304" pitchFamily="18" charset="0"/>
              </a:endParaRPr>
            </a:p>
          </p:txBody>
        </p:sp>
        <p:sp>
          <p:nvSpPr>
            <p:cNvPr id="48245" name="Rectangle 131"/>
            <p:cNvSpPr>
              <a:spLocks noChangeArrowheads="1"/>
            </p:cNvSpPr>
            <p:nvPr/>
          </p:nvSpPr>
          <p:spPr bwMode="auto">
            <a:xfrm>
              <a:off x="1110" y="1913"/>
              <a:ext cx="20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(b)负反馈使非线性失真减小</a:t>
              </a:r>
              <a:endParaRPr lang="zh-CN" altLang="zh-CN" sz="2000">
                <a:latin typeface="Times New Roman" panose="02020603050405020304" pitchFamily="18" charset="0"/>
              </a:endParaRPr>
            </a:p>
          </p:txBody>
        </p:sp>
      </p:grpSp>
      <p:grpSp>
        <p:nvGrpSpPr>
          <p:cNvPr id="48171" name="Group 132"/>
          <p:cNvGrpSpPr/>
          <p:nvPr/>
        </p:nvGrpSpPr>
        <p:grpSpPr bwMode="auto">
          <a:xfrm>
            <a:off x="7148513" y="2519363"/>
            <a:ext cx="1357312" cy="1268412"/>
            <a:chOff x="0" y="0"/>
            <a:chExt cx="855" cy="799"/>
          </a:xfrm>
        </p:grpSpPr>
        <p:sp>
          <p:nvSpPr>
            <p:cNvPr id="48186" name="Line 133"/>
            <p:cNvSpPr>
              <a:spLocks noChangeShapeType="1"/>
            </p:cNvSpPr>
            <p:nvPr/>
          </p:nvSpPr>
          <p:spPr bwMode="auto">
            <a:xfrm>
              <a:off x="37" y="472"/>
              <a:ext cx="818"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87" name="Freeform 134"/>
            <p:cNvSpPr/>
            <p:nvPr/>
          </p:nvSpPr>
          <p:spPr bwMode="auto">
            <a:xfrm>
              <a:off x="706" y="447"/>
              <a:ext cx="149" cy="50"/>
            </a:xfrm>
            <a:custGeom>
              <a:avLst/>
              <a:gdLst>
                <a:gd name="T0" fmla="*/ 0 w 149"/>
                <a:gd name="T1" fmla="*/ 0 h 50"/>
                <a:gd name="T2" fmla="*/ 25 w 149"/>
                <a:gd name="T3" fmla="*/ 25 h 50"/>
                <a:gd name="T4" fmla="*/ 0 w 149"/>
                <a:gd name="T5" fmla="*/ 50 h 50"/>
                <a:gd name="T6" fmla="*/ 149 w 149"/>
                <a:gd name="T7" fmla="*/ 25 h 50"/>
                <a:gd name="T8" fmla="*/ 0 w 149"/>
                <a:gd name="T9" fmla="*/ 0 h 50"/>
                <a:gd name="T10" fmla="*/ 0 60000 65536"/>
                <a:gd name="T11" fmla="*/ 0 60000 65536"/>
                <a:gd name="T12" fmla="*/ 0 60000 65536"/>
                <a:gd name="T13" fmla="*/ 0 60000 65536"/>
                <a:gd name="T14" fmla="*/ 0 60000 65536"/>
                <a:gd name="T15" fmla="*/ 0 w 149"/>
                <a:gd name="T16" fmla="*/ 0 h 50"/>
                <a:gd name="T17" fmla="*/ 149 w 149"/>
                <a:gd name="T18" fmla="*/ 50 h 50"/>
              </a:gdLst>
              <a:ahLst/>
              <a:cxnLst>
                <a:cxn ang="T10">
                  <a:pos x="T0" y="T1"/>
                </a:cxn>
                <a:cxn ang="T11">
                  <a:pos x="T2" y="T3"/>
                </a:cxn>
                <a:cxn ang="T12">
                  <a:pos x="T4" y="T5"/>
                </a:cxn>
                <a:cxn ang="T13">
                  <a:pos x="T6" y="T7"/>
                </a:cxn>
                <a:cxn ang="T14">
                  <a:pos x="T8" y="T9"/>
                </a:cxn>
              </a:cxnLst>
              <a:rect l="T15" t="T16" r="T17" b="T18"/>
              <a:pathLst>
                <a:path w="149" h="50">
                  <a:moveTo>
                    <a:pt x="0" y="0"/>
                  </a:moveTo>
                  <a:lnTo>
                    <a:pt x="25" y="25"/>
                  </a:lnTo>
                  <a:lnTo>
                    <a:pt x="0" y="50"/>
                  </a:lnTo>
                  <a:lnTo>
                    <a:pt x="149" y="25"/>
                  </a:lnTo>
                  <a:lnTo>
                    <a:pt x="0" y="0"/>
                  </a:lnTo>
                  <a:close/>
                </a:path>
              </a:pathLst>
            </a:custGeom>
            <a:solidFill>
              <a:srgbClr val="000000"/>
            </a:solidFill>
            <a:ln w="19050">
              <a:solidFill>
                <a:srgbClr val="000000"/>
              </a:solidFill>
              <a:round/>
            </a:ln>
          </p:spPr>
          <p:txBody>
            <a:bodyPr/>
            <a:lstStyle/>
            <a:p>
              <a:endParaRPr lang="zh-CN" altLang="en-US"/>
            </a:p>
          </p:txBody>
        </p:sp>
        <p:sp>
          <p:nvSpPr>
            <p:cNvPr id="48188" name="Freeform 135"/>
            <p:cNvSpPr/>
            <p:nvPr/>
          </p:nvSpPr>
          <p:spPr bwMode="auto">
            <a:xfrm>
              <a:off x="0" y="124"/>
              <a:ext cx="62" cy="149"/>
            </a:xfrm>
            <a:custGeom>
              <a:avLst/>
              <a:gdLst>
                <a:gd name="T0" fmla="*/ 0 w 62"/>
                <a:gd name="T1" fmla="*/ 149 h 149"/>
                <a:gd name="T2" fmla="*/ 37 w 62"/>
                <a:gd name="T3" fmla="*/ 124 h 149"/>
                <a:gd name="T4" fmla="*/ 62 w 62"/>
                <a:gd name="T5" fmla="*/ 149 h 149"/>
                <a:gd name="T6" fmla="*/ 37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37" y="124"/>
                  </a:lnTo>
                  <a:lnTo>
                    <a:pt x="62" y="149"/>
                  </a:lnTo>
                  <a:lnTo>
                    <a:pt x="37" y="0"/>
                  </a:lnTo>
                  <a:lnTo>
                    <a:pt x="0" y="149"/>
                  </a:lnTo>
                  <a:close/>
                </a:path>
              </a:pathLst>
            </a:custGeom>
            <a:solidFill>
              <a:srgbClr val="000000"/>
            </a:solidFill>
            <a:ln w="19050">
              <a:solidFill>
                <a:srgbClr val="000000"/>
              </a:solidFill>
              <a:round/>
            </a:ln>
          </p:spPr>
          <p:txBody>
            <a:bodyPr/>
            <a:lstStyle/>
            <a:p>
              <a:endParaRPr lang="zh-CN" altLang="en-US"/>
            </a:p>
          </p:txBody>
        </p:sp>
        <p:sp>
          <p:nvSpPr>
            <p:cNvPr id="48189" name="Freeform 136"/>
            <p:cNvSpPr/>
            <p:nvPr/>
          </p:nvSpPr>
          <p:spPr bwMode="auto">
            <a:xfrm>
              <a:off x="37" y="236"/>
              <a:ext cx="582" cy="472"/>
            </a:xfrm>
            <a:custGeom>
              <a:avLst/>
              <a:gdLst>
                <a:gd name="T0" fmla="*/ 0 w 582"/>
                <a:gd name="T1" fmla="*/ 236 h 472"/>
                <a:gd name="T2" fmla="*/ 12 w 582"/>
                <a:gd name="T3" fmla="*/ 161 h 472"/>
                <a:gd name="T4" fmla="*/ 37 w 582"/>
                <a:gd name="T5" fmla="*/ 99 h 472"/>
                <a:gd name="T6" fmla="*/ 62 w 582"/>
                <a:gd name="T7" fmla="*/ 62 h 472"/>
                <a:gd name="T8" fmla="*/ 87 w 582"/>
                <a:gd name="T9" fmla="*/ 25 h 472"/>
                <a:gd name="T10" fmla="*/ 99 w 582"/>
                <a:gd name="T11" fmla="*/ 12 h 472"/>
                <a:gd name="T12" fmla="*/ 124 w 582"/>
                <a:gd name="T13" fmla="*/ 0 h 472"/>
                <a:gd name="T14" fmla="*/ 148 w 582"/>
                <a:gd name="T15" fmla="*/ 12 h 472"/>
                <a:gd name="T16" fmla="*/ 173 w 582"/>
                <a:gd name="T17" fmla="*/ 25 h 472"/>
                <a:gd name="T18" fmla="*/ 210 w 582"/>
                <a:gd name="T19" fmla="*/ 62 h 472"/>
                <a:gd name="T20" fmla="*/ 235 w 582"/>
                <a:gd name="T21" fmla="*/ 99 h 472"/>
                <a:gd name="T22" fmla="*/ 260 w 582"/>
                <a:gd name="T23" fmla="*/ 161 h 472"/>
                <a:gd name="T24" fmla="*/ 285 w 582"/>
                <a:gd name="T25" fmla="*/ 236 h 472"/>
                <a:gd name="T26" fmla="*/ 322 w 582"/>
                <a:gd name="T27" fmla="*/ 310 h 472"/>
                <a:gd name="T28" fmla="*/ 347 w 582"/>
                <a:gd name="T29" fmla="*/ 360 h 472"/>
                <a:gd name="T30" fmla="*/ 372 w 582"/>
                <a:gd name="T31" fmla="*/ 409 h 472"/>
                <a:gd name="T32" fmla="*/ 396 w 582"/>
                <a:gd name="T33" fmla="*/ 447 h 472"/>
                <a:gd name="T34" fmla="*/ 421 w 582"/>
                <a:gd name="T35" fmla="*/ 459 h 472"/>
                <a:gd name="T36" fmla="*/ 446 w 582"/>
                <a:gd name="T37" fmla="*/ 472 h 472"/>
                <a:gd name="T38" fmla="*/ 471 w 582"/>
                <a:gd name="T39" fmla="*/ 459 h 472"/>
                <a:gd name="T40" fmla="*/ 495 w 582"/>
                <a:gd name="T41" fmla="*/ 447 h 472"/>
                <a:gd name="T42" fmla="*/ 520 w 582"/>
                <a:gd name="T43" fmla="*/ 409 h 472"/>
                <a:gd name="T44" fmla="*/ 545 w 582"/>
                <a:gd name="T45" fmla="*/ 360 h 472"/>
                <a:gd name="T46" fmla="*/ 557 w 582"/>
                <a:gd name="T47" fmla="*/ 310 h 472"/>
                <a:gd name="T48" fmla="*/ 582 w 582"/>
                <a:gd name="T49" fmla="*/ 236 h 4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2"/>
                <a:gd name="T76" fmla="*/ 0 h 472"/>
                <a:gd name="T77" fmla="*/ 582 w 582"/>
                <a:gd name="T78" fmla="*/ 472 h 4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2" h="472">
                  <a:moveTo>
                    <a:pt x="0" y="236"/>
                  </a:moveTo>
                  <a:lnTo>
                    <a:pt x="12" y="161"/>
                  </a:lnTo>
                  <a:lnTo>
                    <a:pt x="37" y="99"/>
                  </a:lnTo>
                  <a:lnTo>
                    <a:pt x="62" y="62"/>
                  </a:lnTo>
                  <a:lnTo>
                    <a:pt x="87" y="25"/>
                  </a:lnTo>
                  <a:lnTo>
                    <a:pt x="99" y="12"/>
                  </a:lnTo>
                  <a:lnTo>
                    <a:pt x="124" y="0"/>
                  </a:lnTo>
                  <a:lnTo>
                    <a:pt x="148" y="12"/>
                  </a:lnTo>
                  <a:lnTo>
                    <a:pt x="173" y="25"/>
                  </a:lnTo>
                  <a:lnTo>
                    <a:pt x="210" y="62"/>
                  </a:lnTo>
                  <a:lnTo>
                    <a:pt x="235" y="99"/>
                  </a:lnTo>
                  <a:lnTo>
                    <a:pt x="260" y="161"/>
                  </a:lnTo>
                  <a:lnTo>
                    <a:pt x="285" y="236"/>
                  </a:lnTo>
                  <a:lnTo>
                    <a:pt x="322" y="310"/>
                  </a:lnTo>
                  <a:lnTo>
                    <a:pt x="347" y="360"/>
                  </a:lnTo>
                  <a:lnTo>
                    <a:pt x="372" y="409"/>
                  </a:lnTo>
                  <a:lnTo>
                    <a:pt x="396" y="447"/>
                  </a:lnTo>
                  <a:lnTo>
                    <a:pt x="421" y="459"/>
                  </a:lnTo>
                  <a:lnTo>
                    <a:pt x="446" y="472"/>
                  </a:lnTo>
                  <a:lnTo>
                    <a:pt x="471" y="459"/>
                  </a:lnTo>
                  <a:lnTo>
                    <a:pt x="495" y="447"/>
                  </a:lnTo>
                  <a:lnTo>
                    <a:pt x="520" y="409"/>
                  </a:lnTo>
                  <a:lnTo>
                    <a:pt x="545" y="360"/>
                  </a:lnTo>
                  <a:lnTo>
                    <a:pt x="557" y="310"/>
                  </a:lnTo>
                  <a:lnTo>
                    <a:pt x="582" y="236"/>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90" name="Rectangle 137"/>
            <p:cNvSpPr>
              <a:spLocks noChangeArrowheads="1"/>
            </p:cNvSpPr>
            <p:nvPr/>
          </p:nvSpPr>
          <p:spPr bwMode="auto">
            <a:xfrm>
              <a:off x="708" y="583"/>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sp>
          <p:nvSpPr>
            <p:cNvPr id="48191" name="Rectangle 138"/>
            <p:cNvSpPr>
              <a:spLocks noChangeArrowheads="1"/>
            </p:cNvSpPr>
            <p:nvPr/>
          </p:nvSpPr>
          <p:spPr bwMode="auto">
            <a:xfrm>
              <a:off x="133"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192" name="Rectangle 139"/>
            <p:cNvSpPr>
              <a:spLocks noChangeArrowheads="1"/>
            </p:cNvSpPr>
            <p:nvPr/>
          </p:nvSpPr>
          <p:spPr bwMode="auto">
            <a:xfrm>
              <a:off x="213" y="8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o</a:t>
              </a:r>
              <a:endParaRPr lang="zh-CN" altLang="zh-CN" sz="2800">
                <a:latin typeface="Times New Roman" panose="02020603050405020304" pitchFamily="18" charset="0"/>
              </a:endParaRPr>
            </a:p>
          </p:txBody>
        </p:sp>
        <p:sp>
          <p:nvSpPr>
            <p:cNvPr id="48193" name="Rectangle 140"/>
            <p:cNvSpPr>
              <a:spLocks noChangeArrowheads="1"/>
            </p:cNvSpPr>
            <p:nvPr/>
          </p:nvSpPr>
          <p:spPr bwMode="auto">
            <a:xfrm>
              <a:off x="102" y="48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194" name="Line 141"/>
            <p:cNvSpPr>
              <a:spLocks noChangeShapeType="1"/>
            </p:cNvSpPr>
            <p:nvPr/>
          </p:nvSpPr>
          <p:spPr bwMode="auto">
            <a:xfrm>
              <a:off x="39" y="195"/>
              <a:ext cx="0" cy="60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grpSp>
        <p:nvGrpSpPr>
          <p:cNvPr id="48172" name="Group 142"/>
          <p:cNvGrpSpPr/>
          <p:nvPr/>
        </p:nvGrpSpPr>
        <p:grpSpPr bwMode="auto">
          <a:xfrm>
            <a:off x="2965450" y="4294188"/>
            <a:ext cx="1122363" cy="1073150"/>
            <a:chOff x="0" y="0"/>
            <a:chExt cx="707" cy="676"/>
          </a:xfrm>
        </p:grpSpPr>
        <p:grpSp>
          <p:nvGrpSpPr>
            <p:cNvPr id="48174" name="Group 143"/>
            <p:cNvGrpSpPr/>
            <p:nvPr/>
          </p:nvGrpSpPr>
          <p:grpSpPr bwMode="auto">
            <a:xfrm>
              <a:off x="0" y="0"/>
              <a:ext cx="707" cy="676"/>
              <a:chOff x="0" y="0"/>
              <a:chExt cx="707" cy="676"/>
            </a:xfrm>
          </p:grpSpPr>
          <p:sp>
            <p:nvSpPr>
              <p:cNvPr id="48176" name="Freeform 144"/>
              <p:cNvSpPr/>
              <p:nvPr/>
            </p:nvSpPr>
            <p:spPr bwMode="auto">
              <a:xfrm>
                <a:off x="545" y="422"/>
                <a:ext cx="162" cy="50"/>
              </a:xfrm>
              <a:custGeom>
                <a:avLst/>
                <a:gdLst>
                  <a:gd name="T0" fmla="*/ 0 w 162"/>
                  <a:gd name="T1" fmla="*/ 0 h 50"/>
                  <a:gd name="T2" fmla="*/ 38 w 162"/>
                  <a:gd name="T3" fmla="*/ 25 h 50"/>
                  <a:gd name="T4" fmla="*/ 0 w 162"/>
                  <a:gd name="T5" fmla="*/ 50 h 50"/>
                  <a:gd name="T6" fmla="*/ 162 w 162"/>
                  <a:gd name="T7" fmla="*/ 25 h 50"/>
                  <a:gd name="T8" fmla="*/ 0 w 162"/>
                  <a:gd name="T9" fmla="*/ 0 h 50"/>
                  <a:gd name="T10" fmla="*/ 0 60000 65536"/>
                  <a:gd name="T11" fmla="*/ 0 60000 65536"/>
                  <a:gd name="T12" fmla="*/ 0 60000 65536"/>
                  <a:gd name="T13" fmla="*/ 0 60000 65536"/>
                  <a:gd name="T14" fmla="*/ 0 60000 65536"/>
                  <a:gd name="T15" fmla="*/ 0 w 162"/>
                  <a:gd name="T16" fmla="*/ 0 h 50"/>
                  <a:gd name="T17" fmla="*/ 162 w 162"/>
                  <a:gd name="T18" fmla="*/ 50 h 50"/>
                </a:gdLst>
                <a:ahLst/>
                <a:cxnLst>
                  <a:cxn ang="T10">
                    <a:pos x="T0" y="T1"/>
                  </a:cxn>
                  <a:cxn ang="T11">
                    <a:pos x="T2" y="T3"/>
                  </a:cxn>
                  <a:cxn ang="T12">
                    <a:pos x="T4" y="T5"/>
                  </a:cxn>
                  <a:cxn ang="T13">
                    <a:pos x="T6" y="T7"/>
                  </a:cxn>
                  <a:cxn ang="T14">
                    <a:pos x="T8" y="T9"/>
                  </a:cxn>
                </a:cxnLst>
                <a:rect l="T15" t="T16" r="T17" b="T18"/>
                <a:pathLst>
                  <a:path w="162" h="50">
                    <a:moveTo>
                      <a:pt x="0" y="0"/>
                    </a:moveTo>
                    <a:lnTo>
                      <a:pt x="38" y="25"/>
                    </a:lnTo>
                    <a:lnTo>
                      <a:pt x="0" y="50"/>
                    </a:lnTo>
                    <a:lnTo>
                      <a:pt x="162" y="25"/>
                    </a:lnTo>
                    <a:lnTo>
                      <a:pt x="0" y="0"/>
                    </a:lnTo>
                    <a:close/>
                  </a:path>
                </a:pathLst>
              </a:custGeom>
              <a:solidFill>
                <a:srgbClr val="000000"/>
              </a:solidFill>
              <a:ln w="19050">
                <a:solidFill>
                  <a:srgbClr val="000000"/>
                </a:solidFill>
                <a:round/>
              </a:ln>
            </p:spPr>
            <p:txBody>
              <a:bodyPr/>
              <a:lstStyle/>
              <a:p>
                <a:endParaRPr lang="zh-CN" altLang="en-US"/>
              </a:p>
            </p:txBody>
          </p:sp>
          <p:sp>
            <p:nvSpPr>
              <p:cNvPr id="48177" name="Line 145"/>
              <p:cNvSpPr>
                <a:spLocks noChangeShapeType="1"/>
              </p:cNvSpPr>
              <p:nvPr/>
            </p:nvSpPr>
            <p:spPr bwMode="auto">
              <a:xfrm>
                <a:off x="25" y="149"/>
                <a:ext cx="1" cy="4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178" name="Freeform 146"/>
              <p:cNvSpPr/>
              <p:nvPr/>
            </p:nvSpPr>
            <p:spPr bwMode="auto">
              <a:xfrm>
                <a:off x="0" y="62"/>
                <a:ext cx="62" cy="149"/>
              </a:xfrm>
              <a:custGeom>
                <a:avLst/>
                <a:gdLst>
                  <a:gd name="T0" fmla="*/ 0 w 62"/>
                  <a:gd name="T1" fmla="*/ 149 h 149"/>
                  <a:gd name="T2" fmla="*/ 25 w 62"/>
                  <a:gd name="T3" fmla="*/ 124 h 149"/>
                  <a:gd name="T4" fmla="*/ 62 w 62"/>
                  <a:gd name="T5" fmla="*/ 149 h 149"/>
                  <a:gd name="T6" fmla="*/ 25 w 62"/>
                  <a:gd name="T7" fmla="*/ 0 h 149"/>
                  <a:gd name="T8" fmla="*/ 0 w 62"/>
                  <a:gd name="T9" fmla="*/ 149 h 149"/>
                  <a:gd name="T10" fmla="*/ 0 60000 65536"/>
                  <a:gd name="T11" fmla="*/ 0 60000 65536"/>
                  <a:gd name="T12" fmla="*/ 0 60000 65536"/>
                  <a:gd name="T13" fmla="*/ 0 60000 65536"/>
                  <a:gd name="T14" fmla="*/ 0 60000 65536"/>
                  <a:gd name="T15" fmla="*/ 0 w 62"/>
                  <a:gd name="T16" fmla="*/ 0 h 149"/>
                  <a:gd name="T17" fmla="*/ 62 w 62"/>
                  <a:gd name="T18" fmla="*/ 149 h 149"/>
                </a:gdLst>
                <a:ahLst/>
                <a:cxnLst>
                  <a:cxn ang="T10">
                    <a:pos x="T0" y="T1"/>
                  </a:cxn>
                  <a:cxn ang="T11">
                    <a:pos x="T2" y="T3"/>
                  </a:cxn>
                  <a:cxn ang="T12">
                    <a:pos x="T4" y="T5"/>
                  </a:cxn>
                  <a:cxn ang="T13">
                    <a:pos x="T6" y="T7"/>
                  </a:cxn>
                  <a:cxn ang="T14">
                    <a:pos x="T8" y="T9"/>
                  </a:cxn>
                </a:cxnLst>
                <a:rect l="T15" t="T16" r="T17" b="T18"/>
                <a:pathLst>
                  <a:path w="62" h="149">
                    <a:moveTo>
                      <a:pt x="0" y="149"/>
                    </a:moveTo>
                    <a:lnTo>
                      <a:pt x="25" y="124"/>
                    </a:lnTo>
                    <a:lnTo>
                      <a:pt x="62" y="149"/>
                    </a:lnTo>
                    <a:lnTo>
                      <a:pt x="25" y="0"/>
                    </a:lnTo>
                    <a:lnTo>
                      <a:pt x="0" y="149"/>
                    </a:lnTo>
                    <a:close/>
                  </a:path>
                </a:pathLst>
              </a:custGeom>
              <a:solidFill>
                <a:srgbClr val="000000"/>
              </a:solidFill>
              <a:ln w="19050">
                <a:solidFill>
                  <a:srgbClr val="000000"/>
                </a:solidFill>
                <a:round/>
              </a:ln>
            </p:spPr>
            <p:txBody>
              <a:bodyPr/>
              <a:lstStyle/>
              <a:p>
                <a:endParaRPr lang="zh-CN" altLang="en-US"/>
              </a:p>
            </p:txBody>
          </p:sp>
          <p:sp>
            <p:nvSpPr>
              <p:cNvPr id="48179" name="Rectangle 147"/>
              <p:cNvSpPr>
                <a:spLocks noChangeArrowheads="1"/>
              </p:cNvSpPr>
              <p:nvPr/>
            </p:nvSpPr>
            <p:spPr bwMode="auto">
              <a:xfrm>
                <a:off x="121"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x</a:t>
                </a:r>
                <a:endParaRPr lang="zh-CN" altLang="zh-CN" sz="2800">
                  <a:latin typeface="Times New Roman" panose="02020603050405020304" pitchFamily="18" charset="0"/>
                </a:endParaRPr>
              </a:p>
            </p:txBody>
          </p:sp>
          <p:sp>
            <p:nvSpPr>
              <p:cNvPr id="48180" name="Rectangle 148"/>
              <p:cNvSpPr>
                <a:spLocks noChangeArrowheads="1"/>
              </p:cNvSpPr>
              <p:nvPr/>
            </p:nvSpPr>
            <p:spPr bwMode="auto">
              <a:xfrm>
                <a:off x="192" y="75"/>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400">
                    <a:solidFill>
                      <a:srgbClr val="000000"/>
                    </a:solidFill>
                    <a:latin typeface="Times New Roman" panose="02020603050405020304" pitchFamily="18" charset="0"/>
                  </a:rPr>
                  <a:t>f</a:t>
                </a:r>
                <a:endParaRPr lang="zh-CN" altLang="zh-CN" sz="2800">
                  <a:latin typeface="Times New Roman" panose="02020603050405020304" pitchFamily="18" charset="0"/>
                </a:endParaRPr>
              </a:p>
            </p:txBody>
          </p:sp>
          <p:sp>
            <p:nvSpPr>
              <p:cNvPr id="48181" name="Rectangle 149"/>
              <p:cNvSpPr>
                <a:spLocks noChangeArrowheads="1"/>
              </p:cNvSpPr>
              <p:nvPr/>
            </p:nvSpPr>
            <p:spPr bwMode="auto">
              <a:xfrm>
                <a:off x="78" y="48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rgbClr val="000000"/>
                    </a:solidFill>
                    <a:latin typeface="Times New Roman" panose="02020603050405020304" pitchFamily="18" charset="0"/>
                  </a:rPr>
                  <a:t>0</a:t>
                </a:r>
                <a:endParaRPr lang="zh-CN" altLang="zh-CN" sz="2800">
                  <a:latin typeface="Times New Roman" panose="02020603050405020304" pitchFamily="18" charset="0"/>
                </a:endParaRPr>
              </a:p>
            </p:txBody>
          </p:sp>
          <p:sp>
            <p:nvSpPr>
              <p:cNvPr id="48182" name="Freeform 150"/>
              <p:cNvSpPr/>
              <p:nvPr/>
            </p:nvSpPr>
            <p:spPr bwMode="auto">
              <a:xfrm>
                <a:off x="25" y="298"/>
                <a:ext cx="124" cy="149"/>
              </a:xfrm>
              <a:custGeom>
                <a:avLst/>
                <a:gdLst>
                  <a:gd name="T0" fmla="*/ 124 w 124"/>
                  <a:gd name="T1" fmla="*/ 0 h 149"/>
                  <a:gd name="T2" fmla="*/ 99 w 124"/>
                  <a:gd name="T3" fmla="*/ 37 h 149"/>
                  <a:gd name="T4" fmla="*/ 87 w 124"/>
                  <a:gd name="T5" fmla="*/ 74 h 149"/>
                  <a:gd name="T6" fmla="*/ 74 w 124"/>
                  <a:gd name="T7" fmla="*/ 87 h 149"/>
                  <a:gd name="T8" fmla="*/ 50 w 124"/>
                  <a:gd name="T9" fmla="*/ 112 h 149"/>
                  <a:gd name="T10" fmla="*/ 25 w 124"/>
                  <a:gd name="T11" fmla="*/ 137 h 149"/>
                  <a:gd name="T12" fmla="*/ 0 w 124"/>
                  <a:gd name="T13" fmla="*/ 149 h 149"/>
                  <a:gd name="T14" fmla="*/ 0 60000 65536"/>
                  <a:gd name="T15" fmla="*/ 0 60000 65536"/>
                  <a:gd name="T16" fmla="*/ 0 60000 65536"/>
                  <a:gd name="T17" fmla="*/ 0 60000 65536"/>
                  <a:gd name="T18" fmla="*/ 0 60000 65536"/>
                  <a:gd name="T19" fmla="*/ 0 60000 65536"/>
                  <a:gd name="T20" fmla="*/ 0 60000 65536"/>
                  <a:gd name="T21" fmla="*/ 0 w 124"/>
                  <a:gd name="T22" fmla="*/ 0 h 149"/>
                  <a:gd name="T23" fmla="*/ 124 w 124"/>
                  <a:gd name="T24" fmla="*/ 149 h 14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4" h="149">
                    <a:moveTo>
                      <a:pt x="124" y="0"/>
                    </a:moveTo>
                    <a:lnTo>
                      <a:pt x="99" y="37"/>
                    </a:lnTo>
                    <a:lnTo>
                      <a:pt x="87" y="74"/>
                    </a:lnTo>
                    <a:lnTo>
                      <a:pt x="74" y="87"/>
                    </a:lnTo>
                    <a:lnTo>
                      <a:pt x="50" y="112"/>
                    </a:lnTo>
                    <a:lnTo>
                      <a:pt x="25" y="137"/>
                    </a:lnTo>
                    <a:lnTo>
                      <a:pt x="0" y="149"/>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3" name="Freeform 151"/>
              <p:cNvSpPr/>
              <p:nvPr/>
            </p:nvSpPr>
            <p:spPr bwMode="auto">
              <a:xfrm>
                <a:off x="149" y="236"/>
                <a:ext cx="111" cy="62"/>
              </a:xfrm>
              <a:custGeom>
                <a:avLst/>
                <a:gdLst>
                  <a:gd name="T0" fmla="*/ 111 w 111"/>
                  <a:gd name="T1" fmla="*/ 62 h 62"/>
                  <a:gd name="T2" fmla="*/ 99 w 111"/>
                  <a:gd name="T3" fmla="*/ 37 h 62"/>
                  <a:gd name="T4" fmla="*/ 87 w 111"/>
                  <a:gd name="T5" fmla="*/ 25 h 62"/>
                  <a:gd name="T6" fmla="*/ 74 w 111"/>
                  <a:gd name="T7" fmla="*/ 12 h 62"/>
                  <a:gd name="T8" fmla="*/ 62 w 111"/>
                  <a:gd name="T9" fmla="*/ 0 h 62"/>
                  <a:gd name="T10" fmla="*/ 37 w 111"/>
                  <a:gd name="T11" fmla="*/ 12 h 62"/>
                  <a:gd name="T12" fmla="*/ 25 w 111"/>
                  <a:gd name="T13" fmla="*/ 25 h 62"/>
                  <a:gd name="T14" fmla="*/ 12 w 111"/>
                  <a:gd name="T15" fmla="*/ 37 h 62"/>
                  <a:gd name="T16" fmla="*/ 0 w 111"/>
                  <a:gd name="T17" fmla="*/ 62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1"/>
                  <a:gd name="T28" fmla="*/ 0 h 62"/>
                  <a:gd name="T29" fmla="*/ 111 w 111"/>
                  <a:gd name="T30" fmla="*/ 62 h 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1" h="62">
                    <a:moveTo>
                      <a:pt x="111" y="62"/>
                    </a:moveTo>
                    <a:lnTo>
                      <a:pt x="99" y="37"/>
                    </a:lnTo>
                    <a:lnTo>
                      <a:pt x="87" y="25"/>
                    </a:lnTo>
                    <a:lnTo>
                      <a:pt x="74" y="12"/>
                    </a:lnTo>
                    <a:lnTo>
                      <a:pt x="62" y="0"/>
                    </a:lnTo>
                    <a:lnTo>
                      <a:pt x="37" y="12"/>
                    </a:lnTo>
                    <a:lnTo>
                      <a:pt x="25" y="25"/>
                    </a:lnTo>
                    <a:lnTo>
                      <a:pt x="12" y="37"/>
                    </a:lnTo>
                    <a:lnTo>
                      <a:pt x="0"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4" name="Freeform 152"/>
              <p:cNvSpPr/>
              <p:nvPr/>
            </p:nvSpPr>
            <p:spPr bwMode="auto">
              <a:xfrm>
                <a:off x="260" y="298"/>
                <a:ext cx="236" cy="236"/>
              </a:xfrm>
              <a:custGeom>
                <a:avLst/>
                <a:gdLst>
                  <a:gd name="T0" fmla="*/ 0 w 236"/>
                  <a:gd name="T1" fmla="*/ 0 h 236"/>
                  <a:gd name="T2" fmla="*/ 25 w 236"/>
                  <a:gd name="T3" fmla="*/ 74 h 236"/>
                  <a:gd name="T4" fmla="*/ 50 w 236"/>
                  <a:gd name="T5" fmla="*/ 137 h 236"/>
                  <a:gd name="T6" fmla="*/ 75 w 236"/>
                  <a:gd name="T7" fmla="*/ 186 h 236"/>
                  <a:gd name="T8" fmla="*/ 100 w 236"/>
                  <a:gd name="T9" fmla="*/ 211 h 236"/>
                  <a:gd name="T10" fmla="*/ 124 w 236"/>
                  <a:gd name="T11" fmla="*/ 236 h 236"/>
                  <a:gd name="T12" fmla="*/ 162 w 236"/>
                  <a:gd name="T13" fmla="*/ 236 h 236"/>
                  <a:gd name="T14" fmla="*/ 186 w 236"/>
                  <a:gd name="T15" fmla="*/ 223 h 236"/>
                  <a:gd name="T16" fmla="*/ 199 w 236"/>
                  <a:gd name="T17" fmla="*/ 211 h 236"/>
                  <a:gd name="T18" fmla="*/ 223 w 236"/>
                  <a:gd name="T19" fmla="*/ 186 h 236"/>
                  <a:gd name="T20" fmla="*/ 236 w 236"/>
                  <a:gd name="T21" fmla="*/ 149 h 2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36"/>
                  <a:gd name="T35" fmla="*/ 236 w 236"/>
                  <a:gd name="T36" fmla="*/ 236 h 2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36">
                    <a:moveTo>
                      <a:pt x="0" y="0"/>
                    </a:moveTo>
                    <a:lnTo>
                      <a:pt x="25" y="74"/>
                    </a:lnTo>
                    <a:lnTo>
                      <a:pt x="50" y="137"/>
                    </a:lnTo>
                    <a:lnTo>
                      <a:pt x="75" y="186"/>
                    </a:lnTo>
                    <a:lnTo>
                      <a:pt x="100" y="211"/>
                    </a:lnTo>
                    <a:lnTo>
                      <a:pt x="124" y="236"/>
                    </a:lnTo>
                    <a:lnTo>
                      <a:pt x="162" y="236"/>
                    </a:lnTo>
                    <a:lnTo>
                      <a:pt x="186" y="223"/>
                    </a:lnTo>
                    <a:lnTo>
                      <a:pt x="199" y="211"/>
                    </a:lnTo>
                    <a:lnTo>
                      <a:pt x="223" y="186"/>
                    </a:lnTo>
                    <a:lnTo>
                      <a:pt x="236" y="149"/>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85" name="Rectangle 153"/>
              <p:cNvSpPr>
                <a:spLocks noChangeArrowheads="1"/>
              </p:cNvSpPr>
              <p:nvPr/>
            </p:nvSpPr>
            <p:spPr bwMode="auto">
              <a:xfrm>
                <a:off x="585" y="459"/>
                <a:ext cx="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t</a:t>
                </a:r>
                <a:endParaRPr lang="zh-CN" altLang="zh-CN" sz="2800">
                  <a:latin typeface="Times New Roman" panose="02020603050405020304" pitchFamily="18" charset="0"/>
                </a:endParaRPr>
              </a:p>
            </p:txBody>
          </p:sp>
        </p:grpSp>
        <p:sp>
          <p:nvSpPr>
            <p:cNvPr id="48175" name="Line 154"/>
            <p:cNvSpPr>
              <a:spLocks noChangeShapeType="1"/>
            </p:cNvSpPr>
            <p:nvPr/>
          </p:nvSpPr>
          <p:spPr bwMode="auto">
            <a:xfrm>
              <a:off x="30" y="437"/>
              <a:ext cx="57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48173" name="Rectangle 155"/>
          <p:cNvSpPr>
            <a:spLocks noChangeArrowheads="1"/>
          </p:cNvSpPr>
          <p:nvPr/>
        </p:nvSpPr>
        <p:spPr bwMode="auto">
          <a:xfrm>
            <a:off x="296863" y="241300"/>
            <a:ext cx="7351712"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a:latin typeface="Times New Roman" panose="02020603050405020304" pitchFamily="18" charset="0"/>
              </a:rPr>
              <a:t>6.2.3减小非线性失真</a:t>
            </a:r>
            <a:endParaRPr lang="zh-CN" altLang="zh-CN">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C025974-F05C-4F59-84BE-90959F7E507A}" type="slidenum">
              <a:rPr lang="zh-CN" altLang="zh-CN" sz="1400" smtClean="0"/>
            </a:fld>
            <a:endParaRPr lang="zh-CN" altLang="zh-CN" sz="1400" smtClean="0"/>
          </a:p>
        </p:txBody>
      </p:sp>
      <p:graphicFrame>
        <p:nvGraphicFramePr>
          <p:cNvPr id="49155" name="Object 2"/>
          <p:cNvGraphicFramePr>
            <a:graphicFrameLocks noChangeAspect="1"/>
          </p:cNvGraphicFramePr>
          <p:nvPr/>
        </p:nvGraphicFramePr>
        <p:xfrm>
          <a:off x="1052513" y="1755775"/>
          <a:ext cx="4843462" cy="1276350"/>
        </p:xfrm>
        <a:graphic>
          <a:graphicData uri="http://schemas.openxmlformats.org/presentationml/2006/ole">
            <mc:AlternateContent xmlns:mc="http://schemas.openxmlformats.org/markup-compatibility/2006">
              <mc:Choice xmlns:v="urn:schemas-microsoft-com:vml" Requires="v">
                <p:oleObj spid="_x0000_s49189" name="" r:id="rId1" imgW="1879600" imgH="495300" progId="Equation.3">
                  <p:embed/>
                </p:oleObj>
              </mc:Choice>
              <mc:Fallback>
                <p:oleObj name="" r:id="rId1" imgW="1879600" imgH="4953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3" y="1755775"/>
                        <a:ext cx="4843462" cy="127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6" name="Text Box 3"/>
          <p:cNvSpPr txBox="1">
            <a:spLocks noChangeArrowheads="1"/>
          </p:cNvSpPr>
          <p:nvPr/>
        </p:nvSpPr>
        <p:spPr bwMode="auto">
          <a:xfrm>
            <a:off x="688975" y="984250"/>
            <a:ext cx="5629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a:solidFill>
                  <a:srgbClr val="CC0099"/>
                </a:solidFill>
                <a:latin typeface="Times New Roman" panose="02020603050405020304" pitchFamily="18" charset="0"/>
              </a:rPr>
              <a:t>非线性失真系数：</a:t>
            </a:r>
            <a:r>
              <a:rPr lang="zh-CN" altLang="zh-CN" sz="2800">
                <a:latin typeface="Times New Roman" panose="02020603050405020304" pitchFamily="18" charset="0"/>
              </a:rPr>
              <a:t>“全谐波失真率” </a:t>
            </a:r>
            <a:endParaRPr lang="zh-CN" altLang="zh-CN" sz="2800">
              <a:latin typeface="Times New Roman" panose="02020603050405020304" pitchFamily="18" charset="0"/>
            </a:endParaRPr>
          </a:p>
        </p:txBody>
      </p:sp>
      <p:sp>
        <p:nvSpPr>
          <p:cNvPr id="49157" name="Text Box 4"/>
          <p:cNvSpPr txBox="1">
            <a:spLocks noChangeArrowheads="1"/>
          </p:cNvSpPr>
          <p:nvPr/>
        </p:nvSpPr>
        <p:spPr bwMode="auto">
          <a:xfrm>
            <a:off x="806450" y="3028950"/>
            <a:ext cx="73818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式中：</a:t>
            </a:r>
            <a:r>
              <a:rPr lang="zh-CN" altLang="zh-CN" sz="2800" i="1" dirty="0">
                <a:latin typeface="Times New Roman" panose="02020603050405020304" pitchFamily="18" charset="0"/>
              </a:rPr>
              <a:t>X</a:t>
            </a:r>
            <a:r>
              <a:rPr lang="zh-CN" altLang="zh-CN" sz="2800" i="1" baseline="-25000" dirty="0">
                <a:latin typeface="Times New Roman" panose="02020603050405020304" pitchFamily="18" charset="0"/>
              </a:rPr>
              <a:t>nh</a:t>
            </a:r>
            <a:r>
              <a:rPr lang="zh-CN" altLang="zh-CN" sz="2800" dirty="0">
                <a:latin typeface="Times New Roman" panose="02020603050405020304" pitchFamily="18" charset="0"/>
              </a:rPr>
              <a:t>为器件非线性产生的输出高次谐波分量，</a:t>
            </a:r>
            <a:r>
              <a:rPr lang="zh-CN" altLang="zh-CN" sz="2800" i="1" dirty="0">
                <a:latin typeface="Times New Roman" panose="02020603050405020304" pitchFamily="18" charset="0"/>
              </a:rPr>
              <a:t>X</a:t>
            </a:r>
            <a:r>
              <a:rPr lang="zh-CN" altLang="zh-CN" sz="2800" i="1" baseline="-25000" dirty="0">
                <a:latin typeface="Times New Roman" panose="02020603050405020304" pitchFamily="18" charset="0"/>
              </a:rPr>
              <a:t>1O</a:t>
            </a:r>
            <a:r>
              <a:rPr lang="zh-CN" altLang="zh-CN" sz="2800" dirty="0">
                <a:latin typeface="Times New Roman" panose="02020603050405020304" pitchFamily="18" charset="0"/>
              </a:rPr>
              <a:t>为基波分量。 </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1923C52-49E2-4A3E-957F-EDD40D8E2658}" type="slidenum">
              <a:rPr lang="zh-CN" altLang="zh-CN" sz="1400" smtClean="0"/>
            </a:fld>
            <a:endParaRPr lang="zh-CN" altLang="zh-CN" sz="1400" smtClean="0"/>
          </a:p>
        </p:txBody>
      </p:sp>
      <p:grpSp>
        <p:nvGrpSpPr>
          <p:cNvPr id="50179" name="Group 2"/>
          <p:cNvGrpSpPr/>
          <p:nvPr/>
        </p:nvGrpSpPr>
        <p:grpSpPr bwMode="auto">
          <a:xfrm>
            <a:off x="2930525" y="900113"/>
            <a:ext cx="2930525" cy="1560512"/>
            <a:chOff x="0" y="0"/>
            <a:chExt cx="930" cy="360"/>
          </a:xfrm>
        </p:grpSpPr>
        <p:sp>
          <p:nvSpPr>
            <p:cNvPr id="50203" name="Text Box 3"/>
            <p:cNvSpPr txBox="1">
              <a:spLocks noChangeArrowheads="1"/>
            </p:cNvSpPr>
            <p:nvPr/>
          </p:nvSpPr>
          <p:spPr bwMode="auto">
            <a:xfrm>
              <a:off x="348" y="84"/>
              <a:ext cx="222" cy="174"/>
            </a:xfrm>
            <a:prstGeom prst="rect">
              <a:avLst/>
            </a:prstGeom>
            <a:solidFill>
              <a:srgbClr val="FFFFFF"/>
            </a:solidFill>
            <a:ln w="952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  A</a:t>
              </a:r>
              <a:endParaRPr lang="zh-CN" altLang="zh-CN" sz="2400">
                <a:latin typeface="Times New Roman" panose="02020603050405020304" pitchFamily="18" charset="0"/>
              </a:endParaRPr>
            </a:p>
          </p:txBody>
        </p:sp>
        <p:sp>
          <p:nvSpPr>
            <p:cNvPr id="50204" name="Line 4"/>
            <p:cNvSpPr>
              <a:spLocks noChangeShapeType="1"/>
            </p:cNvSpPr>
            <p:nvPr/>
          </p:nvSpPr>
          <p:spPr bwMode="auto">
            <a:xfrm>
              <a:off x="18" y="162"/>
              <a:ext cx="33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5" name="Line 5"/>
            <p:cNvSpPr>
              <a:spLocks noChangeShapeType="1"/>
            </p:cNvSpPr>
            <p:nvPr/>
          </p:nvSpPr>
          <p:spPr bwMode="auto">
            <a:xfrm>
              <a:off x="570" y="162"/>
              <a:ext cx="27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6" name="Text Box 6"/>
            <p:cNvSpPr txBox="1">
              <a:spLocks noChangeArrowheads="1"/>
            </p:cNvSpPr>
            <p:nvPr/>
          </p:nvSpPr>
          <p:spPr bwMode="auto">
            <a:xfrm>
              <a:off x="0" y="36"/>
              <a:ext cx="1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b="0" i="1">
                  <a:latin typeface="Times New Roman" panose="02020603050405020304" pitchFamily="18" charset="0"/>
                </a:rPr>
                <a:t>X</a:t>
              </a:r>
              <a:r>
                <a:rPr lang="zh-CN" altLang="zh-CN" sz="2400" b="0" i="1" baseline="-25000">
                  <a:latin typeface="Times New Roman" panose="02020603050405020304" pitchFamily="18" charset="0"/>
                </a:rPr>
                <a:t>i</a:t>
              </a:r>
              <a:endParaRPr lang="zh-CN" altLang="zh-CN" sz="2400">
                <a:latin typeface="Times New Roman" panose="02020603050405020304" pitchFamily="18" charset="0"/>
              </a:endParaRPr>
            </a:p>
          </p:txBody>
        </p:sp>
        <p:sp>
          <p:nvSpPr>
            <p:cNvPr id="50207" name="Text Box 7"/>
            <p:cNvSpPr txBox="1">
              <a:spLocks noChangeArrowheads="1"/>
            </p:cNvSpPr>
            <p:nvPr/>
          </p:nvSpPr>
          <p:spPr bwMode="auto">
            <a:xfrm>
              <a:off x="756" y="0"/>
              <a:ext cx="1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b="0" i="1">
                  <a:latin typeface="Times New Roman" panose="02020603050405020304" pitchFamily="18" charset="0"/>
                </a:rPr>
                <a:t>X</a:t>
              </a:r>
              <a:r>
                <a:rPr lang="zh-CN" altLang="zh-CN" sz="2400" b="0" baseline="-25000">
                  <a:latin typeface="Times New Roman" panose="02020603050405020304" pitchFamily="18" charset="0"/>
                </a:rPr>
                <a:t>1o</a:t>
              </a:r>
              <a:endParaRPr lang="zh-CN" altLang="zh-CN" sz="2400" b="0" i="1" baseline="-25000">
                <a:latin typeface="Times New Roman" panose="02020603050405020304" pitchFamily="18" charset="0"/>
              </a:endParaRPr>
            </a:p>
            <a:p>
              <a:pPr algn="just">
                <a:lnSpc>
                  <a:spcPct val="130000"/>
                </a:lnSpc>
                <a:spcBef>
                  <a:spcPct val="5000"/>
                </a:spcBef>
                <a:buClrTx/>
                <a:buSzTx/>
                <a:buFont typeface="Arial" panose="020B0604020202020204" pitchFamily="34" charset="0"/>
                <a:buNone/>
              </a:pPr>
              <a:endParaRPr lang="zh-CN" altLang="zh-CN" sz="2400" b="0">
                <a:latin typeface="Times New Roman" panose="02020603050405020304" pitchFamily="18" charset="0"/>
              </a:endParaRPr>
            </a:p>
            <a:p>
              <a:pPr algn="just">
                <a:lnSpc>
                  <a:spcPct val="130000"/>
                </a:lnSpc>
                <a:spcBef>
                  <a:spcPct val="5000"/>
                </a:spcBef>
                <a:buClrTx/>
                <a:buSzTx/>
                <a:buFont typeface="Arial" panose="020B0604020202020204" pitchFamily="34" charset="0"/>
                <a:buNone/>
              </a:pPr>
              <a:r>
                <a:rPr lang="zh-CN" altLang="zh-CN" sz="2400" b="0" i="1">
                  <a:latin typeface="Times New Roman" panose="02020603050405020304" pitchFamily="18" charset="0"/>
                </a:rPr>
                <a:t>X</a:t>
              </a:r>
              <a:r>
                <a:rPr lang="zh-CN" altLang="zh-CN" sz="2400" b="0" i="1" baseline="-25000">
                  <a:latin typeface="Times New Roman" panose="02020603050405020304" pitchFamily="18" charset="0"/>
                </a:rPr>
                <a:t>nh</a:t>
              </a:r>
              <a:endParaRPr lang="zh-CN" altLang="zh-CN" sz="2400">
                <a:latin typeface="Times New Roman" panose="02020603050405020304" pitchFamily="18" charset="0"/>
              </a:endParaRPr>
            </a:p>
          </p:txBody>
        </p:sp>
      </p:grpSp>
      <p:grpSp>
        <p:nvGrpSpPr>
          <p:cNvPr id="50180" name="Group 8"/>
          <p:cNvGrpSpPr/>
          <p:nvPr/>
        </p:nvGrpSpPr>
        <p:grpSpPr bwMode="auto">
          <a:xfrm>
            <a:off x="2063750" y="2433638"/>
            <a:ext cx="4873625" cy="2127250"/>
            <a:chOff x="0" y="0"/>
            <a:chExt cx="3070" cy="1340"/>
          </a:xfrm>
        </p:grpSpPr>
        <p:sp>
          <p:nvSpPr>
            <p:cNvPr id="50186" name="Text Box 9"/>
            <p:cNvSpPr txBox="1">
              <a:spLocks noChangeArrowheads="1"/>
            </p:cNvSpPr>
            <p:nvPr/>
          </p:nvSpPr>
          <p:spPr bwMode="auto">
            <a:xfrm>
              <a:off x="1571" y="309"/>
              <a:ext cx="496" cy="377"/>
            </a:xfrm>
            <a:prstGeom prst="rect">
              <a:avLst/>
            </a:prstGeom>
            <a:solidFill>
              <a:srgbClr val="FFFFFF"/>
            </a:solidFill>
            <a:ln w="952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  </a:t>
              </a:r>
              <a:r>
                <a:rPr lang="zh-CN" altLang="zh-CN" sz="2400" i="1">
                  <a:latin typeface="Times New Roman" panose="02020603050405020304" pitchFamily="18" charset="0"/>
                </a:rPr>
                <a:t>A</a:t>
              </a:r>
              <a:endParaRPr lang="zh-CN" altLang="zh-CN" sz="2400" i="1">
                <a:latin typeface="Times New Roman" panose="02020603050405020304" pitchFamily="18" charset="0"/>
              </a:endParaRPr>
            </a:p>
          </p:txBody>
        </p:sp>
        <p:sp>
          <p:nvSpPr>
            <p:cNvPr id="50187" name="Oval 10"/>
            <p:cNvSpPr>
              <a:spLocks noChangeArrowheads="1"/>
            </p:cNvSpPr>
            <p:nvPr/>
          </p:nvSpPr>
          <p:spPr bwMode="auto">
            <a:xfrm>
              <a:off x="676" y="310"/>
              <a:ext cx="359" cy="363"/>
            </a:xfrm>
            <a:prstGeom prst="ellipse">
              <a:avLst/>
            </a:prstGeom>
            <a:solidFill>
              <a:srgbClr val="FFFFFF"/>
            </a:solidFill>
            <a:ln w="9525">
              <a:solidFill>
                <a:srgbClr val="000000"/>
              </a:solidFill>
              <a:round/>
            </a:ln>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sym typeface="Symbol" panose="05050102010706020507" pitchFamily="18" charset="2"/>
                </a:rPr>
                <a:t></a:t>
              </a:r>
              <a:endParaRPr lang="zh-CN" altLang="zh-CN" sz="2400">
                <a:latin typeface="Times New Roman" panose="02020603050405020304" pitchFamily="18" charset="0"/>
              </a:endParaRPr>
            </a:p>
          </p:txBody>
        </p:sp>
        <p:sp>
          <p:nvSpPr>
            <p:cNvPr id="50188" name="Line 11"/>
            <p:cNvSpPr>
              <a:spLocks noChangeShapeType="1"/>
            </p:cNvSpPr>
            <p:nvPr/>
          </p:nvSpPr>
          <p:spPr bwMode="auto">
            <a:xfrm>
              <a:off x="1053" y="491"/>
              <a:ext cx="51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89" name="Line 12"/>
            <p:cNvSpPr>
              <a:spLocks noChangeShapeType="1"/>
            </p:cNvSpPr>
            <p:nvPr/>
          </p:nvSpPr>
          <p:spPr bwMode="auto">
            <a:xfrm>
              <a:off x="2067" y="491"/>
              <a:ext cx="9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0" name="Line 13"/>
            <p:cNvSpPr>
              <a:spLocks noChangeShapeType="1"/>
            </p:cNvSpPr>
            <p:nvPr/>
          </p:nvSpPr>
          <p:spPr bwMode="auto">
            <a:xfrm>
              <a:off x="6" y="491"/>
              <a:ext cx="65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1" name="Text Box 14"/>
            <p:cNvSpPr txBox="1">
              <a:spLocks noChangeArrowheads="1"/>
            </p:cNvSpPr>
            <p:nvPr/>
          </p:nvSpPr>
          <p:spPr bwMode="auto">
            <a:xfrm>
              <a:off x="1598" y="894"/>
              <a:ext cx="495" cy="377"/>
            </a:xfrm>
            <a:prstGeom prst="rect">
              <a:avLst/>
            </a:prstGeom>
            <a:solidFill>
              <a:srgbClr val="FFFFFF"/>
            </a:solidFill>
            <a:ln w="9525">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  </a:t>
              </a:r>
              <a:r>
                <a:rPr lang="zh-CN" altLang="zh-CN" sz="2400" i="1">
                  <a:latin typeface="Times New Roman" panose="02020603050405020304" pitchFamily="18" charset="0"/>
                </a:rPr>
                <a:t>F</a:t>
              </a:r>
              <a:endParaRPr lang="zh-CN" altLang="zh-CN" sz="2400" i="1">
                <a:latin typeface="Times New Roman" panose="02020603050405020304" pitchFamily="18" charset="0"/>
              </a:endParaRPr>
            </a:p>
          </p:txBody>
        </p:sp>
        <p:sp>
          <p:nvSpPr>
            <p:cNvPr id="50192" name="Line 15"/>
            <p:cNvSpPr>
              <a:spLocks noChangeShapeType="1"/>
            </p:cNvSpPr>
            <p:nvPr/>
          </p:nvSpPr>
          <p:spPr bwMode="auto">
            <a:xfrm flipH="1">
              <a:off x="849" y="1076"/>
              <a:ext cx="749"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193" name="Line 16"/>
            <p:cNvSpPr>
              <a:spLocks noChangeShapeType="1"/>
            </p:cNvSpPr>
            <p:nvPr/>
          </p:nvSpPr>
          <p:spPr bwMode="auto">
            <a:xfrm flipV="1">
              <a:off x="836" y="673"/>
              <a:ext cx="0" cy="40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194" name="Text Box 17"/>
            <p:cNvSpPr txBox="1">
              <a:spLocks noChangeArrowheads="1"/>
            </p:cNvSpPr>
            <p:nvPr/>
          </p:nvSpPr>
          <p:spPr bwMode="auto">
            <a:xfrm>
              <a:off x="0" y="159"/>
              <a:ext cx="38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i="1">
                  <a:latin typeface="Times New Roman" panose="02020603050405020304" pitchFamily="18" charset="0"/>
                </a:rPr>
                <a:t>X</a:t>
              </a:r>
              <a:r>
                <a:rPr lang="zh-CN" altLang="zh-CN" sz="2400" i="1" baseline="-25000">
                  <a:latin typeface="Times New Roman" panose="02020603050405020304" pitchFamily="18" charset="0"/>
                </a:rPr>
                <a:t>i</a:t>
              </a:r>
              <a:endParaRPr lang="zh-CN" altLang="zh-CN" sz="2400">
                <a:latin typeface="Times New Roman" panose="02020603050405020304" pitchFamily="18" charset="0"/>
              </a:endParaRPr>
            </a:p>
          </p:txBody>
        </p:sp>
        <p:sp>
          <p:nvSpPr>
            <p:cNvPr id="50195" name="Text Box 18"/>
            <p:cNvSpPr txBox="1">
              <a:spLocks noChangeArrowheads="1"/>
            </p:cNvSpPr>
            <p:nvPr/>
          </p:nvSpPr>
          <p:spPr bwMode="auto">
            <a:xfrm>
              <a:off x="381" y="192"/>
              <a:ext cx="38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rPr>
                <a:t>+</a:t>
              </a:r>
              <a:endParaRPr lang="zh-CN" altLang="zh-CN" sz="2400">
                <a:latin typeface="Times New Roman" panose="02020603050405020304" pitchFamily="18" charset="0"/>
              </a:endParaRPr>
            </a:p>
          </p:txBody>
        </p:sp>
        <p:sp>
          <p:nvSpPr>
            <p:cNvPr id="50196" name="Text Box 19"/>
            <p:cNvSpPr txBox="1">
              <a:spLocks noChangeArrowheads="1"/>
            </p:cNvSpPr>
            <p:nvPr/>
          </p:nvSpPr>
          <p:spPr bwMode="auto">
            <a:xfrm>
              <a:off x="541" y="543"/>
              <a:ext cx="38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a:latin typeface="Times New Roman" panose="02020603050405020304" pitchFamily="18" charset="0"/>
                  <a:sym typeface="Symbol" panose="05050102010706020507" pitchFamily="18" charset="2"/>
                </a:rPr>
                <a:t></a:t>
              </a:r>
              <a:endParaRPr lang="zh-CN" altLang="zh-CN" sz="2400">
                <a:latin typeface="Times New Roman" panose="02020603050405020304" pitchFamily="18" charset="0"/>
              </a:endParaRPr>
            </a:p>
          </p:txBody>
        </p:sp>
        <p:sp>
          <p:nvSpPr>
            <p:cNvPr id="50197" name="Text Box 20"/>
            <p:cNvSpPr txBox="1">
              <a:spLocks noChangeArrowheads="1"/>
            </p:cNvSpPr>
            <p:nvPr/>
          </p:nvSpPr>
          <p:spPr bwMode="auto">
            <a:xfrm>
              <a:off x="929" y="0"/>
              <a:ext cx="87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i="1">
                  <a:latin typeface="Times New Roman" panose="02020603050405020304" pitchFamily="18" charset="0"/>
                </a:rPr>
                <a:t>X</a:t>
              </a:r>
              <a:r>
                <a:rPr lang="zh-CN" altLang="zh-CN" sz="2400" i="1" baseline="-25000">
                  <a:latin typeface="Times New Roman" panose="02020603050405020304" pitchFamily="18" charset="0"/>
                </a:rPr>
                <a:t>i</a:t>
              </a:r>
              <a:r>
                <a:rPr lang="zh-CN" altLang="zh-CN" sz="2400">
                  <a:latin typeface="Times New Roman" panose="02020603050405020304" pitchFamily="18" charset="0"/>
                </a:rPr>
                <a:t>-</a:t>
              </a:r>
              <a:r>
                <a:rPr lang="zh-CN" altLang="zh-CN" sz="2400" i="1">
                  <a:latin typeface="Times New Roman" panose="02020603050405020304" pitchFamily="18" charset="0"/>
                </a:rPr>
                <a:t>FX</a:t>
              </a:r>
              <a:r>
                <a:rPr lang="zh-CN" altLang="zh-CN" sz="2400" i="1" baseline="-25000">
                  <a:latin typeface="Times New Roman" panose="02020603050405020304" pitchFamily="18" charset="0"/>
                </a:rPr>
                <a:t>nhf</a:t>
              </a:r>
              <a:endParaRPr lang="zh-CN" altLang="zh-CN" sz="2400">
                <a:latin typeface="Times New Roman" panose="02020603050405020304" pitchFamily="18" charset="0"/>
              </a:endParaRPr>
            </a:p>
          </p:txBody>
        </p:sp>
        <p:sp>
          <p:nvSpPr>
            <p:cNvPr id="50198" name="Text Box 21"/>
            <p:cNvSpPr txBox="1">
              <a:spLocks noChangeArrowheads="1"/>
            </p:cNvSpPr>
            <p:nvPr/>
          </p:nvSpPr>
          <p:spPr bwMode="auto">
            <a:xfrm>
              <a:off x="909" y="1028"/>
              <a:ext cx="56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i="1">
                  <a:latin typeface="Times New Roman" panose="02020603050405020304" pitchFamily="18" charset="0"/>
                </a:rPr>
                <a:t>FX</a:t>
              </a:r>
              <a:r>
                <a:rPr lang="zh-CN" altLang="zh-CN" sz="2400" i="1" baseline="-25000">
                  <a:latin typeface="Times New Roman" panose="02020603050405020304" pitchFamily="18" charset="0"/>
                </a:rPr>
                <a:t>nhf</a:t>
              </a:r>
              <a:endParaRPr lang="zh-CN" altLang="zh-CN" sz="2400">
                <a:latin typeface="Times New Roman" panose="02020603050405020304" pitchFamily="18" charset="0"/>
              </a:endParaRPr>
            </a:p>
          </p:txBody>
        </p:sp>
        <p:sp>
          <p:nvSpPr>
            <p:cNvPr id="50199" name="Text Box 22"/>
            <p:cNvSpPr txBox="1">
              <a:spLocks noChangeArrowheads="1"/>
            </p:cNvSpPr>
            <p:nvPr/>
          </p:nvSpPr>
          <p:spPr bwMode="auto">
            <a:xfrm>
              <a:off x="2682" y="114"/>
              <a:ext cx="388"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2400" i="1">
                  <a:latin typeface="Times New Roman" panose="02020603050405020304" pitchFamily="18" charset="0"/>
                </a:rPr>
                <a:t>X</a:t>
              </a:r>
              <a:r>
                <a:rPr lang="zh-CN" altLang="zh-CN" sz="2400" baseline="-25000">
                  <a:latin typeface="Times New Roman" panose="02020603050405020304" pitchFamily="18" charset="0"/>
                </a:rPr>
                <a:t>1</a:t>
              </a:r>
              <a:r>
                <a:rPr lang="zh-CN" altLang="zh-CN" sz="2400" i="1" baseline="-25000">
                  <a:latin typeface="Times New Roman" panose="02020603050405020304" pitchFamily="18" charset="0"/>
                </a:rPr>
                <a:t> of</a:t>
              </a:r>
              <a:endParaRPr lang="zh-CN" altLang="zh-CN" sz="2400" i="1" baseline="-25000">
                <a:latin typeface="Times New Roman" panose="02020603050405020304" pitchFamily="18" charset="0"/>
              </a:endParaRPr>
            </a:p>
            <a:p>
              <a:pPr algn="just">
                <a:lnSpc>
                  <a:spcPct val="130000"/>
                </a:lnSpc>
                <a:spcBef>
                  <a:spcPct val="5000"/>
                </a:spcBef>
                <a:buClrTx/>
                <a:buSzTx/>
                <a:buFont typeface="Arial" panose="020B0604020202020204" pitchFamily="34" charset="0"/>
                <a:buNone/>
              </a:pPr>
              <a:endParaRPr lang="zh-CN" altLang="zh-CN" sz="2400">
                <a:latin typeface="Times New Roman" panose="02020603050405020304" pitchFamily="18" charset="0"/>
              </a:endParaRPr>
            </a:p>
            <a:p>
              <a:pPr algn="just">
                <a:lnSpc>
                  <a:spcPct val="130000"/>
                </a:lnSpc>
                <a:spcBef>
                  <a:spcPct val="5000"/>
                </a:spcBef>
                <a:buClrTx/>
                <a:buSzTx/>
                <a:buFont typeface="Arial" panose="020B0604020202020204" pitchFamily="34" charset="0"/>
                <a:buNone/>
              </a:pPr>
              <a:r>
                <a:rPr lang="zh-CN" altLang="zh-CN" sz="2400" i="1">
                  <a:latin typeface="Times New Roman" panose="02020603050405020304" pitchFamily="18" charset="0"/>
                </a:rPr>
                <a:t>X</a:t>
              </a:r>
              <a:r>
                <a:rPr lang="zh-CN" altLang="zh-CN" sz="2400" i="1" baseline="-25000">
                  <a:latin typeface="Times New Roman" panose="02020603050405020304" pitchFamily="18" charset="0"/>
                </a:rPr>
                <a:t>nhf</a:t>
              </a:r>
              <a:endParaRPr lang="zh-CN" altLang="zh-CN" sz="2400">
                <a:latin typeface="Times New Roman" panose="02020603050405020304" pitchFamily="18" charset="0"/>
              </a:endParaRPr>
            </a:p>
          </p:txBody>
        </p:sp>
        <p:sp>
          <p:nvSpPr>
            <p:cNvPr id="50200" name="Line 23"/>
            <p:cNvSpPr>
              <a:spLocks noChangeShapeType="1"/>
            </p:cNvSpPr>
            <p:nvPr/>
          </p:nvSpPr>
          <p:spPr bwMode="auto">
            <a:xfrm>
              <a:off x="2508" y="491"/>
              <a:ext cx="0" cy="5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201" name="Line 24"/>
            <p:cNvSpPr>
              <a:spLocks noChangeShapeType="1"/>
            </p:cNvSpPr>
            <p:nvPr/>
          </p:nvSpPr>
          <p:spPr bwMode="auto">
            <a:xfrm flipH="1">
              <a:off x="2093" y="1089"/>
              <a:ext cx="41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202" name="Oval 25"/>
            <p:cNvSpPr>
              <a:spLocks noChangeArrowheads="1"/>
            </p:cNvSpPr>
            <p:nvPr/>
          </p:nvSpPr>
          <p:spPr bwMode="auto">
            <a:xfrm>
              <a:off x="2495" y="476"/>
              <a:ext cx="44" cy="43"/>
            </a:xfrm>
            <a:prstGeom prst="ellipse">
              <a:avLst/>
            </a:prstGeom>
            <a:solidFill>
              <a:srgbClr val="000000"/>
            </a:solidFill>
            <a:ln w="9525">
              <a:solidFill>
                <a:srgbClr val="000000"/>
              </a:solidFill>
              <a:round/>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pSp>
      <p:sp>
        <p:nvSpPr>
          <p:cNvPr id="50181" name="Text Box 26"/>
          <p:cNvSpPr txBox="1">
            <a:spLocks noChangeArrowheads="1"/>
          </p:cNvSpPr>
          <p:nvPr/>
        </p:nvSpPr>
        <p:spPr bwMode="auto">
          <a:xfrm>
            <a:off x="1047750" y="4683125"/>
            <a:ext cx="600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因为：</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nhf</a:t>
            </a:r>
            <a:r>
              <a:rPr lang="zh-CN" altLang="zh-CN" sz="2800">
                <a:latin typeface="Times New Roman" panose="02020603050405020304" pitchFamily="18" charset="0"/>
              </a:rPr>
              <a:t> = (</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i="1">
                <a:latin typeface="Times New Roman" panose="02020603050405020304" pitchFamily="18" charset="0"/>
              </a:rPr>
              <a:t>-FX</a:t>
            </a:r>
            <a:r>
              <a:rPr lang="zh-CN" altLang="zh-CN" sz="2800" i="1" baseline="-25000">
                <a:latin typeface="Times New Roman" panose="02020603050405020304" pitchFamily="18" charset="0"/>
              </a:rPr>
              <a:t>nhf</a:t>
            </a:r>
            <a:r>
              <a:rPr lang="zh-CN" altLang="zh-CN" sz="2800">
                <a:latin typeface="Times New Roman" panose="02020603050405020304" pitchFamily="18" charset="0"/>
              </a:rPr>
              <a:t>) </a:t>
            </a:r>
            <a:r>
              <a:rPr lang="zh-CN" altLang="zh-CN" sz="2800" i="1">
                <a:latin typeface="Times New Roman" panose="02020603050405020304" pitchFamily="18" charset="0"/>
              </a:rPr>
              <a:t>A</a:t>
            </a:r>
            <a:r>
              <a:rPr lang="zh-CN" altLang="zh-CN" sz="2800">
                <a:latin typeface="Times New Roman" panose="02020603050405020304" pitchFamily="18" charset="0"/>
              </a:rPr>
              <a:t>=</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nh</a:t>
            </a:r>
            <a:r>
              <a:rPr lang="zh-CN" altLang="zh-CN" sz="2800">
                <a:latin typeface="Times New Roman" panose="02020603050405020304" pitchFamily="18" charset="0"/>
              </a:rPr>
              <a:t>-</a:t>
            </a:r>
            <a:r>
              <a:rPr lang="zh-CN" altLang="zh-CN" sz="2800" i="1">
                <a:latin typeface="Times New Roman" panose="02020603050405020304" pitchFamily="18" charset="0"/>
              </a:rPr>
              <a:t>AFX</a:t>
            </a:r>
            <a:r>
              <a:rPr lang="zh-CN" altLang="zh-CN" sz="2800" i="1" baseline="-25000">
                <a:latin typeface="Times New Roman" panose="02020603050405020304" pitchFamily="18" charset="0"/>
              </a:rPr>
              <a:t>nhf</a:t>
            </a:r>
            <a:r>
              <a:rPr lang="zh-CN" altLang="zh-CN" sz="2800">
                <a:latin typeface="Times New Roman" panose="02020603050405020304" pitchFamily="18" charset="0"/>
              </a:rPr>
              <a:t> </a:t>
            </a:r>
            <a:endParaRPr lang="zh-CN" altLang="zh-CN" sz="2800">
              <a:latin typeface="Times New Roman" panose="02020603050405020304" pitchFamily="18" charset="0"/>
            </a:endParaRPr>
          </a:p>
        </p:txBody>
      </p:sp>
      <p:sp>
        <p:nvSpPr>
          <p:cNvPr id="50182" name="Rectangle 27"/>
          <p:cNvSpPr>
            <a:spLocks noChangeArrowheads="1"/>
          </p:cNvSpPr>
          <p:nvPr/>
        </p:nvSpPr>
        <p:spPr bwMode="auto">
          <a:xfrm>
            <a:off x="0" y="3243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50183" name="Object 28"/>
          <p:cNvGraphicFramePr>
            <a:graphicFrameLocks noChangeAspect="1"/>
          </p:cNvGraphicFramePr>
          <p:nvPr/>
        </p:nvGraphicFramePr>
        <p:xfrm>
          <a:off x="2636838" y="5522913"/>
          <a:ext cx="2192337" cy="982662"/>
        </p:xfrm>
        <a:graphic>
          <a:graphicData uri="http://schemas.openxmlformats.org/presentationml/2006/ole">
            <mc:AlternateContent xmlns:mc="http://schemas.openxmlformats.org/markup-compatibility/2006">
              <mc:Choice xmlns:v="urn:schemas-microsoft-com:vml" Requires="v">
                <p:oleObj spid="_x0000_s50239" name="" r:id="rId1" imgW="927735" imgH="407035" progId="Equation.3">
                  <p:embed/>
                </p:oleObj>
              </mc:Choice>
              <mc:Fallback>
                <p:oleObj name="" r:id="rId1" imgW="927735" imgH="407035" progId="Equation.3">
                  <p:embed/>
                  <p:pic>
                    <p:nvPicPr>
                      <p:cNvPr id="0" name="Object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6838" y="5522913"/>
                        <a:ext cx="2192337"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4" name="Text Box 29"/>
          <p:cNvSpPr txBox="1">
            <a:spLocks noChangeArrowheads="1"/>
          </p:cNvSpPr>
          <p:nvPr/>
        </p:nvSpPr>
        <p:spPr bwMode="auto">
          <a:xfrm>
            <a:off x="1212850" y="5668963"/>
            <a:ext cx="1255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因此：</a:t>
            </a:r>
            <a:endParaRPr lang="zh-CN" altLang="zh-CN" sz="2800">
              <a:latin typeface="Times New Roman" panose="02020603050405020304" pitchFamily="18" charset="0"/>
            </a:endParaRPr>
          </a:p>
        </p:txBody>
      </p:sp>
      <p:sp>
        <p:nvSpPr>
          <p:cNvPr id="50185" name="Text Box 30"/>
          <p:cNvSpPr txBox="1">
            <a:spLocks noChangeArrowheads="1"/>
          </p:cNvSpPr>
          <p:nvPr/>
        </p:nvSpPr>
        <p:spPr bwMode="auto">
          <a:xfrm>
            <a:off x="671513" y="254000"/>
            <a:ext cx="7381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设加负反馈后，输出谐波分量为</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nhf</a:t>
            </a:r>
            <a:r>
              <a:rPr lang="zh-CN" altLang="zh-CN" sz="2800" baseline="-25000">
                <a:latin typeface="Times New Roman" panose="02020603050405020304" pitchFamily="18" charset="0"/>
              </a:rPr>
              <a:t> </a:t>
            </a:r>
            <a:endParaRPr lang="zh-CN" altLang="zh-CN" sz="2800" baseline="-250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6E9E4A9-5E70-4D61-BFDA-B74EBE9201FC}" type="slidenum">
              <a:rPr lang="zh-CN" altLang="zh-CN" sz="1400" smtClean="0"/>
            </a:fld>
            <a:endParaRPr lang="zh-CN" altLang="zh-CN" sz="1400" smtClean="0"/>
          </a:p>
        </p:txBody>
      </p:sp>
      <p:graphicFrame>
        <p:nvGraphicFramePr>
          <p:cNvPr id="51203" name="Object 2"/>
          <p:cNvGraphicFramePr>
            <a:graphicFrameLocks noChangeAspect="1"/>
          </p:cNvGraphicFramePr>
          <p:nvPr/>
        </p:nvGraphicFramePr>
        <p:xfrm>
          <a:off x="2260600" y="1331913"/>
          <a:ext cx="3146425" cy="1250950"/>
        </p:xfrm>
        <a:graphic>
          <a:graphicData uri="http://schemas.openxmlformats.org/presentationml/2006/ole">
            <mc:AlternateContent xmlns:mc="http://schemas.openxmlformats.org/markup-compatibility/2006">
              <mc:Choice xmlns:v="urn:schemas-microsoft-com:vml" Requires="v">
                <p:oleObj spid="_x0000_s51304" name="" r:id="rId1" imgW="991235" imgH="394335" progId="Equation.3">
                  <p:embed/>
                </p:oleObj>
              </mc:Choice>
              <mc:Fallback>
                <p:oleObj name="" r:id="rId1" imgW="991235" imgH="39433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0" y="1331913"/>
                        <a:ext cx="3146425" cy="125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4" name="Text Box 3"/>
          <p:cNvSpPr txBox="1">
            <a:spLocks noChangeArrowheads="1"/>
          </p:cNvSpPr>
          <p:nvPr/>
        </p:nvSpPr>
        <p:spPr bwMode="auto">
          <a:xfrm>
            <a:off x="946150" y="1485900"/>
            <a:ext cx="1250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因此：</a:t>
            </a:r>
            <a:endParaRPr lang="zh-CN" altLang="zh-CN" sz="2800">
              <a:latin typeface="Times New Roman" panose="02020603050405020304" pitchFamily="18" charset="0"/>
            </a:endParaRPr>
          </a:p>
        </p:txBody>
      </p:sp>
      <p:sp>
        <p:nvSpPr>
          <p:cNvPr id="51205" name="Rectangle 4"/>
          <p:cNvSpPr>
            <a:spLocks noChangeArrowheads="1"/>
          </p:cNvSpPr>
          <p:nvPr/>
        </p:nvSpPr>
        <p:spPr bwMode="auto">
          <a:xfrm>
            <a:off x="644525" y="2495550"/>
            <a:ext cx="7697788" cy="400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负反馈使非线性失真减小了（1+AF）倍。失真减小，意味着线性动态范围的拓宽。</a:t>
            </a:r>
            <a:endParaRPr lang="zh-CN" altLang="zh-CN" sz="2800" dirty="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800" dirty="0">
                <a:solidFill>
                  <a:srgbClr val="CC0099"/>
                </a:solidFill>
                <a:latin typeface="Times New Roman" panose="02020603050405020304" pitchFamily="18" charset="0"/>
              </a:rPr>
              <a:t>注意：</a:t>
            </a:r>
            <a:r>
              <a:rPr lang="zh-CN" altLang="zh-CN" sz="2800" dirty="0">
                <a:latin typeface="Times New Roman" panose="02020603050405020304" pitchFamily="18" charset="0"/>
              </a:rPr>
              <a:t>非线性失真的减小只限于</a:t>
            </a:r>
            <a:r>
              <a:rPr lang="zh-CN" altLang="zh-CN" sz="2800" dirty="0">
                <a:solidFill>
                  <a:srgbClr val="0000CC"/>
                </a:solidFill>
                <a:latin typeface="Times New Roman" panose="02020603050405020304" pitchFamily="18" charset="0"/>
              </a:rPr>
              <a:t>反馈环内</a:t>
            </a:r>
            <a:r>
              <a:rPr lang="zh-CN" altLang="zh-CN" sz="2800" dirty="0">
                <a:latin typeface="Times New Roman" panose="02020603050405020304" pitchFamily="18" charset="0"/>
              </a:rPr>
              <a:t>放大器产生的非线性失真，</a:t>
            </a:r>
            <a:r>
              <a:rPr lang="zh-CN" altLang="zh-CN" sz="2800" dirty="0">
                <a:solidFill>
                  <a:srgbClr val="FF0000"/>
                </a:solidFill>
                <a:latin typeface="Times New Roman" panose="02020603050405020304" pitchFamily="18" charset="0"/>
              </a:rPr>
              <a:t>对外来信号已有的非线性失真，负反馈将无能为力</a:t>
            </a:r>
            <a:r>
              <a:rPr lang="zh-CN" altLang="zh-CN" sz="2800" dirty="0">
                <a:latin typeface="Times New Roman" panose="02020603050405020304" pitchFamily="18" charset="0"/>
              </a:rPr>
              <a:t>。而且，只在输入信号有增大的余地，非线性失真也不是十分严重的情况下才是正确的。 </a:t>
            </a:r>
            <a:endParaRPr lang="zh-CN" altLang="zh-CN" sz="2800" dirty="0">
              <a:latin typeface="Times New Roman" panose="02020603050405020304" pitchFamily="18" charset="0"/>
            </a:endParaRPr>
          </a:p>
        </p:txBody>
      </p:sp>
      <p:graphicFrame>
        <p:nvGraphicFramePr>
          <p:cNvPr id="51206" name="Object 5"/>
          <p:cNvGraphicFramePr>
            <a:graphicFrameLocks noChangeAspect="1"/>
          </p:cNvGraphicFramePr>
          <p:nvPr/>
        </p:nvGraphicFramePr>
        <p:xfrm>
          <a:off x="588963" y="127000"/>
          <a:ext cx="4843462" cy="1276350"/>
        </p:xfrm>
        <a:graphic>
          <a:graphicData uri="http://schemas.openxmlformats.org/presentationml/2006/ole">
            <mc:AlternateContent xmlns:mc="http://schemas.openxmlformats.org/markup-compatibility/2006">
              <mc:Choice xmlns:v="urn:schemas-microsoft-com:vml" Requires="v">
                <p:oleObj spid="_x0000_s51305" name="" r:id="rId3" imgW="1879600" imgH="495300" progId="Equation.3">
                  <p:embed/>
                </p:oleObj>
              </mc:Choice>
              <mc:Fallback>
                <p:oleObj name="" r:id="rId3" imgW="1879600" imgH="495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63" y="127000"/>
                        <a:ext cx="4843462" cy="127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7" name="Object 6"/>
          <p:cNvGraphicFramePr>
            <a:graphicFrameLocks noChangeAspect="1"/>
          </p:cNvGraphicFramePr>
          <p:nvPr/>
        </p:nvGraphicFramePr>
        <p:xfrm>
          <a:off x="5881688" y="192088"/>
          <a:ext cx="2192337" cy="982662"/>
        </p:xfrm>
        <a:graphic>
          <a:graphicData uri="http://schemas.openxmlformats.org/presentationml/2006/ole">
            <mc:AlternateContent xmlns:mc="http://schemas.openxmlformats.org/markup-compatibility/2006">
              <mc:Choice xmlns:v="urn:schemas-microsoft-com:vml" Requires="v">
                <p:oleObj spid="_x0000_s51306" name="" r:id="rId5" imgW="927735" imgH="407035" progId="Equation.3">
                  <p:embed/>
                </p:oleObj>
              </mc:Choice>
              <mc:Fallback>
                <p:oleObj name="" r:id="rId5" imgW="927735" imgH="40703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1688" y="192088"/>
                        <a:ext cx="2192337"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438D7B0-C864-46EE-AD42-2ACA65180763}" type="slidenum">
              <a:rPr lang="zh-CN" altLang="zh-CN" sz="1400" smtClean="0"/>
            </a:fld>
            <a:endParaRPr lang="zh-CN" altLang="zh-CN" sz="1400" smtClean="0"/>
          </a:p>
        </p:txBody>
      </p:sp>
      <p:sp>
        <p:nvSpPr>
          <p:cNvPr id="52227" name="Rectangle 2"/>
          <p:cNvSpPr>
            <a:spLocks noChangeArrowheads="1"/>
          </p:cNvSpPr>
          <p:nvPr/>
        </p:nvSpPr>
        <p:spPr bwMode="auto">
          <a:xfrm>
            <a:off x="819150" y="747713"/>
            <a:ext cx="7510463"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Tx/>
              <a:buSzTx/>
              <a:buFont typeface="Arial" panose="020B0604020202020204" pitchFamily="34" charset="0"/>
              <a:buNone/>
            </a:pPr>
            <a:r>
              <a:rPr lang="zh-CN" altLang="zh-CN">
                <a:latin typeface="Times New Roman" panose="02020603050405020304" pitchFamily="18" charset="0"/>
              </a:rPr>
              <a:t>6.2.4 减小反馈环内的噪声与干扰</a:t>
            </a:r>
            <a:endParaRPr lang="zh-CN" altLang="zh-CN">
              <a:latin typeface="Times New Roman" panose="02020603050405020304" pitchFamily="18" charset="0"/>
            </a:endParaRPr>
          </a:p>
        </p:txBody>
      </p:sp>
      <p:sp>
        <p:nvSpPr>
          <p:cNvPr id="52228" name="Rectangle 3"/>
          <p:cNvSpPr>
            <a:spLocks noChangeArrowheads="1"/>
          </p:cNvSpPr>
          <p:nvPr/>
        </p:nvSpPr>
        <p:spPr bwMode="auto">
          <a:xfrm>
            <a:off x="0" y="4314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2229" name="Rectangle 4"/>
          <p:cNvSpPr>
            <a:spLocks noChangeArrowheads="1"/>
          </p:cNvSpPr>
          <p:nvPr/>
        </p:nvSpPr>
        <p:spPr bwMode="auto">
          <a:xfrm>
            <a:off x="0" y="4314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2230" name="Rectangle 5"/>
          <p:cNvSpPr>
            <a:spLocks noChangeArrowheads="1"/>
          </p:cNvSpPr>
          <p:nvPr/>
        </p:nvSpPr>
        <p:spPr bwMode="auto">
          <a:xfrm>
            <a:off x="706438" y="1897063"/>
            <a:ext cx="7762875" cy="3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indent="77152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利用负反馈抑制放大器</a:t>
            </a:r>
            <a:r>
              <a:rPr lang="zh-CN" altLang="zh-CN" sz="2800" dirty="0">
                <a:solidFill>
                  <a:srgbClr val="0000CC"/>
                </a:solidFill>
                <a:latin typeface="Times New Roman" panose="02020603050405020304" pitchFamily="18" charset="0"/>
              </a:rPr>
              <a:t>内部</a:t>
            </a:r>
            <a:r>
              <a:rPr lang="zh-CN" altLang="zh-CN" sz="2800" dirty="0">
                <a:latin typeface="Times New Roman" panose="02020603050405020304" pitchFamily="18" charset="0"/>
              </a:rPr>
              <a:t>噪声及干扰的机理与减小非线性失真是一样的。</a:t>
            </a:r>
            <a:endParaRPr lang="zh-CN" altLang="zh-CN" sz="2800" dirty="0">
              <a:latin typeface="Times New Roman" panose="02020603050405020304" pitchFamily="18" charset="0"/>
            </a:endParaRPr>
          </a:p>
          <a:p>
            <a:pPr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负反馈输出噪声下降(1+AF)倍。如果输入信号本身不携带噪声和干扰，且其幅度可以增大，输出信号分量保持不变，那么放大器的信噪比将提高(1+AF)倍。 </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9C0876F-1C2F-4103-8D2B-9FADBB88A21D}" type="slidenum">
              <a:rPr lang="zh-CN" altLang="zh-CN" sz="1400" smtClean="0"/>
            </a:fld>
            <a:endParaRPr lang="zh-CN" altLang="zh-CN" sz="1400" smtClean="0"/>
          </a:p>
        </p:txBody>
      </p:sp>
      <p:sp>
        <p:nvSpPr>
          <p:cNvPr id="53251" name="Rectangle 2"/>
          <p:cNvSpPr>
            <a:spLocks noChangeArrowheads="1"/>
          </p:cNvSpPr>
          <p:nvPr/>
        </p:nvSpPr>
        <p:spPr bwMode="auto">
          <a:xfrm>
            <a:off x="0" y="4314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3252" name="Rectangle 3"/>
          <p:cNvSpPr>
            <a:spLocks noChangeArrowheads="1"/>
          </p:cNvSpPr>
          <p:nvPr/>
        </p:nvSpPr>
        <p:spPr bwMode="auto">
          <a:xfrm>
            <a:off x="0" y="4314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pic>
        <p:nvPicPr>
          <p:cNvPr id="53253" name="Picture 4"/>
          <p:cNvPicPr>
            <a:picLocks noChangeAspect="1" noChangeArrowheads="1"/>
          </p:cNvPicPr>
          <p:nvPr/>
        </p:nvPicPr>
        <p:blipFill>
          <a:blip r:embed="rId1">
            <a:extLst>
              <a:ext uri="{28A0092B-C50C-407E-A947-70E740481C1C}">
                <a14:useLocalDpi xmlns:a14="http://schemas.microsoft.com/office/drawing/2010/main" val="0"/>
              </a:ext>
            </a:extLst>
          </a:blip>
          <a:srcRect r="6667"/>
          <a:stretch>
            <a:fillRect/>
          </a:stretch>
        </p:blipFill>
        <p:spPr bwMode="auto">
          <a:xfrm>
            <a:off x="409575" y="296863"/>
            <a:ext cx="3670300"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5"/>
          <p:cNvPicPr>
            <a:picLocks noChangeAspect="1" noChangeArrowheads="1"/>
          </p:cNvPicPr>
          <p:nvPr/>
        </p:nvPicPr>
        <p:blipFill>
          <a:blip r:embed="rId2">
            <a:extLst>
              <a:ext uri="{28A0092B-C50C-407E-A947-70E740481C1C}">
                <a14:useLocalDpi xmlns:a14="http://schemas.microsoft.com/office/drawing/2010/main" val="0"/>
              </a:ext>
            </a:extLst>
          </a:blip>
          <a:srcRect l="3043" r="8290"/>
          <a:stretch>
            <a:fillRect/>
          </a:stretch>
        </p:blipFill>
        <p:spPr bwMode="auto">
          <a:xfrm>
            <a:off x="4572000" y="1141413"/>
            <a:ext cx="3819525"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6"/>
          <p:cNvPicPr>
            <a:picLocks noChangeAspect="1" noChangeArrowheads="1"/>
          </p:cNvPicPr>
          <p:nvPr/>
        </p:nvPicPr>
        <p:blipFill>
          <a:blip r:embed="rId3">
            <a:extLst>
              <a:ext uri="{28A0092B-C50C-407E-A947-70E740481C1C}">
                <a14:useLocalDpi xmlns:a14="http://schemas.microsoft.com/office/drawing/2010/main" val="0"/>
              </a:ext>
            </a:extLst>
          </a:blip>
          <a:srcRect r="5093"/>
          <a:stretch>
            <a:fillRect/>
          </a:stretch>
        </p:blipFill>
        <p:spPr bwMode="auto">
          <a:xfrm>
            <a:off x="2276475" y="3303588"/>
            <a:ext cx="4268788"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Rectangle 7"/>
          <p:cNvSpPr>
            <a:spLocks noChangeArrowheads="1"/>
          </p:cNvSpPr>
          <p:nvPr/>
        </p:nvSpPr>
        <p:spPr bwMode="auto">
          <a:xfrm>
            <a:off x="1962150" y="6094413"/>
            <a:ext cx="50911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zh-CN" sz="2800" dirty="0">
                <a:latin typeface="Times New Roman" panose="02020603050405020304" pitchFamily="18" charset="0"/>
              </a:rPr>
              <a:t>图 6.2.2  负反馈抑制干扰和噪声</a:t>
            </a:r>
            <a:endParaRPr lang="zh-CN" altLang="zh-CN" sz="2800" dirty="0">
              <a:latin typeface="Times New Roman" panose="02020603050405020304" pitchFamily="18" charset="0"/>
            </a:endParaRPr>
          </a:p>
        </p:txBody>
      </p:sp>
      <p:sp>
        <p:nvSpPr>
          <p:cNvPr id="53257" name="Rectangle 8"/>
          <p:cNvSpPr>
            <a:spLocks noChangeArrowheads="1"/>
          </p:cNvSpPr>
          <p:nvPr/>
        </p:nvSpPr>
        <p:spPr bwMode="auto">
          <a:xfrm>
            <a:off x="-33338" y="2870200"/>
            <a:ext cx="445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000" dirty="0">
                <a:latin typeface="Times New Roman" panose="02020603050405020304" pitchFamily="18" charset="0"/>
              </a:rPr>
              <a:t>（a）无反馈，信号与噪声的输出波形 </a:t>
            </a:r>
            <a:endParaRPr lang="zh-CN" altLang="zh-CN" sz="2000" dirty="0">
              <a:latin typeface="Times New Roman" panose="02020603050405020304" pitchFamily="18" charset="0"/>
            </a:endParaRPr>
          </a:p>
        </p:txBody>
      </p:sp>
      <p:sp>
        <p:nvSpPr>
          <p:cNvPr id="53258" name="Rectangle 9"/>
          <p:cNvSpPr>
            <a:spLocks noChangeArrowheads="1"/>
          </p:cNvSpPr>
          <p:nvPr/>
        </p:nvSpPr>
        <p:spPr bwMode="auto">
          <a:xfrm>
            <a:off x="4297363" y="2870200"/>
            <a:ext cx="44783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000" dirty="0">
                <a:latin typeface="Times New Roman" panose="02020603050405020304" pitchFamily="18" charset="0"/>
              </a:rPr>
              <a:t>（b）有反馈，信号与噪声的输出波形 </a:t>
            </a:r>
            <a:endParaRPr lang="zh-CN" altLang="zh-CN" sz="2000" dirty="0">
              <a:latin typeface="Times New Roman" panose="02020603050405020304" pitchFamily="18" charset="0"/>
            </a:endParaRPr>
          </a:p>
        </p:txBody>
      </p:sp>
      <p:sp>
        <p:nvSpPr>
          <p:cNvPr id="53259" name="Rectangle 10"/>
          <p:cNvSpPr>
            <a:spLocks noChangeArrowheads="1"/>
          </p:cNvSpPr>
          <p:nvPr/>
        </p:nvSpPr>
        <p:spPr bwMode="auto">
          <a:xfrm>
            <a:off x="2108200" y="5651500"/>
            <a:ext cx="4449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000" dirty="0">
                <a:latin typeface="Times New Roman" panose="02020603050405020304" pitchFamily="18" charset="0"/>
              </a:rPr>
              <a:t>（c）提高输入信号幅度后的输出波形 </a:t>
            </a:r>
            <a:endParaRPr lang="zh-CN" altLang="zh-CN" sz="20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9063047-3330-4902-BED2-3C2AE5E46339}" type="slidenum">
              <a:rPr lang="zh-CN" altLang="zh-CN" sz="1400" smtClean="0"/>
            </a:fld>
            <a:endParaRPr lang="zh-CN" altLang="zh-CN" sz="1400" smtClean="0"/>
          </a:p>
        </p:txBody>
      </p:sp>
      <p:sp>
        <p:nvSpPr>
          <p:cNvPr id="54275" name="Rectangle 2"/>
          <p:cNvSpPr>
            <a:spLocks noChangeArrowheads="1"/>
          </p:cNvSpPr>
          <p:nvPr/>
        </p:nvSpPr>
        <p:spPr bwMode="auto">
          <a:xfrm>
            <a:off x="711200" y="1333500"/>
            <a:ext cx="77216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indent="66675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Font typeface="Arial" panose="020B0604020202020204" pitchFamily="34" charset="0"/>
              <a:buNone/>
            </a:pPr>
            <a:r>
              <a:rPr lang="zh-CN" altLang="zh-CN" sz="2800" dirty="0">
                <a:latin typeface="Times New Roman" panose="02020603050405020304" pitchFamily="18" charset="0"/>
              </a:rPr>
              <a:t>(1)负反馈使放大器的放大倍数下降，但增益稳定度提高，频带展宽，非线性失真减小，内部噪声干扰得到抑制，且所有性能改善的程度均与反馈深度(1+AF)有关。</a:t>
            </a:r>
            <a:endParaRPr lang="zh-CN" altLang="zh-CN" sz="2800" dirty="0">
              <a:latin typeface="Times New Roman" panose="02020603050405020304" pitchFamily="18" charset="0"/>
            </a:endParaRPr>
          </a:p>
        </p:txBody>
      </p:sp>
      <p:sp>
        <p:nvSpPr>
          <p:cNvPr id="54276" name="Rectangle 3"/>
          <p:cNvSpPr>
            <a:spLocks noChangeArrowheads="1"/>
          </p:cNvSpPr>
          <p:nvPr/>
        </p:nvSpPr>
        <p:spPr bwMode="auto">
          <a:xfrm>
            <a:off x="723900" y="3633788"/>
            <a:ext cx="7721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indent="66675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(2)被改善的对象就是被取样的对象。</a:t>
            </a:r>
            <a:endParaRPr lang="zh-CN" altLang="zh-CN" sz="2800" dirty="0">
              <a:latin typeface="Times New Roman" panose="02020603050405020304" pitchFamily="18" charset="0"/>
            </a:endParaRPr>
          </a:p>
        </p:txBody>
      </p:sp>
      <p:sp>
        <p:nvSpPr>
          <p:cNvPr id="54277" name="Rectangle 4"/>
          <p:cNvSpPr>
            <a:spLocks noChangeArrowheads="1"/>
          </p:cNvSpPr>
          <p:nvPr/>
        </p:nvSpPr>
        <p:spPr bwMode="auto">
          <a:xfrm>
            <a:off x="2809875" y="598488"/>
            <a:ext cx="31908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3600">
                <a:latin typeface="Times New Roman" panose="02020603050405020304" pitchFamily="18" charset="0"/>
              </a:rPr>
              <a:t>负反馈的特点</a:t>
            </a:r>
            <a:endParaRPr lang="zh-CN" altLang="zh-CN" sz="3600">
              <a:latin typeface="Times New Roman" panose="02020603050405020304" pitchFamily="18" charset="0"/>
            </a:endParaRPr>
          </a:p>
        </p:txBody>
      </p:sp>
      <p:sp>
        <p:nvSpPr>
          <p:cNvPr id="54278" name="Rectangle 5"/>
          <p:cNvSpPr>
            <a:spLocks noChangeArrowheads="1"/>
          </p:cNvSpPr>
          <p:nvPr/>
        </p:nvSpPr>
        <p:spPr bwMode="auto">
          <a:xfrm>
            <a:off x="654050" y="4271963"/>
            <a:ext cx="77216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indent="76708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(3)负反馈只能改善包含在</a:t>
            </a:r>
            <a:r>
              <a:rPr lang="zh-CN" altLang="zh-CN" sz="2800" dirty="0">
                <a:solidFill>
                  <a:srgbClr val="0000CC"/>
                </a:solidFill>
                <a:latin typeface="Times New Roman" panose="02020603050405020304" pitchFamily="18" charset="0"/>
              </a:rPr>
              <a:t>负反馈环节以内</a:t>
            </a:r>
            <a:r>
              <a:rPr lang="zh-CN" altLang="zh-CN" sz="2800" dirty="0">
                <a:latin typeface="Times New Roman" panose="02020603050405020304" pitchFamily="18" charset="0"/>
              </a:rPr>
              <a:t>的放大器性能，对反馈环以外的，与输入信号一起进来的失真、干扰、噪声及其它不稳定因素是无能为力的。</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405076F4-3BAE-4355-A948-67FFADBED3D8}" type="slidenum">
              <a:rPr lang="zh-CN" altLang="zh-CN" sz="1400" smtClean="0"/>
            </a:fld>
            <a:endParaRPr lang="zh-CN" altLang="zh-CN" sz="1400" smtClean="0"/>
          </a:p>
        </p:txBody>
      </p:sp>
      <p:grpSp>
        <p:nvGrpSpPr>
          <p:cNvPr id="55299" name="Group 2"/>
          <p:cNvGrpSpPr/>
          <p:nvPr/>
        </p:nvGrpSpPr>
        <p:grpSpPr bwMode="auto">
          <a:xfrm>
            <a:off x="1428750" y="1454150"/>
            <a:ext cx="3922713" cy="2536825"/>
            <a:chOff x="0" y="0"/>
            <a:chExt cx="3281" cy="2130"/>
          </a:xfrm>
        </p:grpSpPr>
        <p:sp>
          <p:nvSpPr>
            <p:cNvPr id="55306" name="Rectangle 3"/>
            <p:cNvSpPr>
              <a:spLocks noChangeArrowheads="1"/>
            </p:cNvSpPr>
            <p:nvPr/>
          </p:nvSpPr>
          <p:spPr bwMode="auto">
            <a:xfrm>
              <a:off x="1656" y="278"/>
              <a:ext cx="1277" cy="1059"/>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5307" name="Line 4"/>
            <p:cNvSpPr>
              <a:spLocks noChangeShapeType="1"/>
            </p:cNvSpPr>
            <p:nvPr/>
          </p:nvSpPr>
          <p:spPr bwMode="auto">
            <a:xfrm>
              <a:off x="2261" y="585"/>
              <a:ext cx="369"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08" name="Freeform 5"/>
            <p:cNvSpPr/>
            <p:nvPr/>
          </p:nvSpPr>
          <p:spPr bwMode="auto">
            <a:xfrm>
              <a:off x="2462" y="543"/>
              <a:ext cx="168" cy="70"/>
            </a:xfrm>
            <a:custGeom>
              <a:avLst/>
              <a:gdLst>
                <a:gd name="T0" fmla="*/ 0 w 112"/>
                <a:gd name="T1" fmla="*/ 0 h 47"/>
                <a:gd name="T2" fmla="*/ 332 w 112"/>
                <a:gd name="T3" fmla="*/ 463 h 47"/>
                <a:gd name="T4" fmla="*/ 0 w 112"/>
                <a:gd name="T5" fmla="*/ 763 h 47"/>
                <a:gd name="T6" fmla="*/ 1916 w 112"/>
                <a:gd name="T7" fmla="*/ 463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55309" name="Rectangle 6"/>
            <p:cNvSpPr>
              <a:spLocks noChangeArrowheads="1"/>
            </p:cNvSpPr>
            <p:nvPr/>
          </p:nvSpPr>
          <p:spPr bwMode="auto">
            <a:xfrm>
              <a:off x="2362" y="669"/>
              <a:ext cx="17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i="1">
                  <a:solidFill>
                    <a:srgbClr val="000000"/>
                  </a:solidFill>
                  <a:latin typeface="Times New Roman" panose="02020603050405020304" pitchFamily="18" charset="0"/>
                </a:rPr>
                <a:t>A</a:t>
              </a:r>
              <a:endParaRPr lang="zh-CN" altLang="zh-CN" sz="2400">
                <a:latin typeface="Times New Roman" panose="02020603050405020304" pitchFamily="18" charset="0"/>
              </a:endParaRPr>
            </a:p>
          </p:txBody>
        </p:sp>
        <p:sp>
          <p:nvSpPr>
            <p:cNvPr id="55310" name="Line 7"/>
            <p:cNvSpPr>
              <a:spLocks noChangeShapeType="1"/>
            </p:cNvSpPr>
            <p:nvPr/>
          </p:nvSpPr>
          <p:spPr bwMode="auto">
            <a:xfrm>
              <a:off x="74" y="417"/>
              <a:ext cx="191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1" name="Line 8"/>
            <p:cNvSpPr>
              <a:spLocks noChangeShapeType="1"/>
            </p:cNvSpPr>
            <p:nvPr/>
          </p:nvSpPr>
          <p:spPr bwMode="auto">
            <a:xfrm>
              <a:off x="1124" y="1198"/>
              <a:ext cx="86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2" name="Line 9"/>
            <p:cNvSpPr>
              <a:spLocks noChangeShapeType="1"/>
            </p:cNvSpPr>
            <p:nvPr/>
          </p:nvSpPr>
          <p:spPr bwMode="auto">
            <a:xfrm>
              <a:off x="1992" y="417"/>
              <a:ext cx="2" cy="78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3" name="Line 10"/>
            <p:cNvSpPr>
              <a:spLocks noChangeShapeType="1"/>
            </p:cNvSpPr>
            <p:nvPr/>
          </p:nvSpPr>
          <p:spPr bwMode="auto">
            <a:xfrm flipV="1">
              <a:off x="1992" y="613"/>
              <a:ext cx="2" cy="334"/>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4" name="Rectangle 11"/>
            <p:cNvSpPr>
              <a:spLocks noChangeArrowheads="1"/>
            </p:cNvSpPr>
            <p:nvPr/>
          </p:nvSpPr>
          <p:spPr bwMode="auto">
            <a:xfrm>
              <a:off x="1922" y="613"/>
              <a:ext cx="126" cy="334"/>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5315" name="Rectangle 12"/>
            <p:cNvSpPr>
              <a:spLocks noChangeArrowheads="1"/>
            </p:cNvSpPr>
            <p:nvPr/>
          </p:nvSpPr>
          <p:spPr bwMode="auto">
            <a:xfrm>
              <a:off x="2103" y="698"/>
              <a:ext cx="1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R</a:t>
              </a:r>
              <a:endParaRPr lang="zh-CN" altLang="zh-CN" sz="1800">
                <a:latin typeface="Times New Roman" panose="02020603050405020304" pitchFamily="18" charset="0"/>
              </a:endParaRPr>
            </a:p>
          </p:txBody>
        </p:sp>
        <p:sp>
          <p:nvSpPr>
            <p:cNvPr id="55316" name="Rectangle 13"/>
            <p:cNvSpPr>
              <a:spLocks noChangeArrowheads="1"/>
            </p:cNvSpPr>
            <p:nvPr/>
          </p:nvSpPr>
          <p:spPr bwMode="auto">
            <a:xfrm>
              <a:off x="2229" y="786"/>
              <a:ext cx="48"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55317" name="Line 14"/>
            <p:cNvSpPr>
              <a:spLocks noChangeShapeType="1"/>
            </p:cNvSpPr>
            <p:nvPr/>
          </p:nvSpPr>
          <p:spPr bwMode="auto">
            <a:xfrm>
              <a:off x="1124" y="1198"/>
              <a:ext cx="1" cy="52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18" name="Rectangle 15"/>
            <p:cNvSpPr>
              <a:spLocks noChangeArrowheads="1"/>
            </p:cNvSpPr>
            <p:nvPr/>
          </p:nvSpPr>
          <p:spPr bwMode="auto">
            <a:xfrm>
              <a:off x="1922" y="1600"/>
              <a:ext cx="1051" cy="530"/>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5319" name="Line 16"/>
            <p:cNvSpPr>
              <a:spLocks noChangeShapeType="1"/>
            </p:cNvSpPr>
            <p:nvPr/>
          </p:nvSpPr>
          <p:spPr bwMode="auto">
            <a:xfrm>
              <a:off x="2189" y="1768"/>
              <a:ext cx="517"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0" name="Freeform 17"/>
            <p:cNvSpPr/>
            <p:nvPr/>
          </p:nvSpPr>
          <p:spPr bwMode="auto">
            <a:xfrm>
              <a:off x="2189" y="1726"/>
              <a:ext cx="168" cy="70"/>
            </a:xfrm>
            <a:custGeom>
              <a:avLst/>
              <a:gdLst>
                <a:gd name="T0" fmla="*/ 1916 w 112"/>
                <a:gd name="T1" fmla="*/ 0 h 47"/>
                <a:gd name="T2" fmla="*/ 1598 w 112"/>
                <a:gd name="T3" fmla="*/ 463 h 47"/>
                <a:gd name="T4" fmla="*/ 1916 w 112"/>
                <a:gd name="T5" fmla="*/ 763 h 47"/>
                <a:gd name="T6" fmla="*/ 0 w 112"/>
                <a:gd name="T7" fmla="*/ 463 h 47"/>
                <a:gd name="T8" fmla="*/ 1916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112" y="0"/>
                  </a:moveTo>
                  <a:lnTo>
                    <a:pt x="93" y="28"/>
                  </a:lnTo>
                  <a:lnTo>
                    <a:pt x="112" y="47"/>
                  </a:lnTo>
                  <a:lnTo>
                    <a:pt x="0" y="28"/>
                  </a:lnTo>
                  <a:lnTo>
                    <a:pt x="112" y="0"/>
                  </a:lnTo>
                  <a:close/>
                </a:path>
              </a:pathLst>
            </a:custGeom>
            <a:solidFill>
              <a:srgbClr val="000000"/>
            </a:solidFill>
            <a:ln w="14288">
              <a:solidFill>
                <a:srgbClr val="000000"/>
              </a:solidFill>
              <a:round/>
            </a:ln>
          </p:spPr>
          <p:txBody>
            <a:bodyPr/>
            <a:lstStyle/>
            <a:p>
              <a:endParaRPr lang="zh-CN" altLang="en-US"/>
            </a:p>
          </p:txBody>
        </p:sp>
        <p:sp>
          <p:nvSpPr>
            <p:cNvPr id="55321" name="Rectangle 18"/>
            <p:cNvSpPr>
              <a:spLocks noChangeArrowheads="1"/>
            </p:cNvSpPr>
            <p:nvPr/>
          </p:nvSpPr>
          <p:spPr bwMode="auto">
            <a:xfrm>
              <a:off x="2346" y="1813"/>
              <a:ext cx="170"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400" i="1">
                  <a:solidFill>
                    <a:srgbClr val="000000"/>
                  </a:solidFill>
                  <a:latin typeface="Times New Roman" panose="02020603050405020304" pitchFamily="18" charset="0"/>
                </a:rPr>
                <a:t>F</a:t>
              </a:r>
              <a:endParaRPr lang="zh-CN" altLang="zh-CN" sz="2400">
                <a:latin typeface="Times New Roman" panose="02020603050405020304" pitchFamily="18" charset="0"/>
              </a:endParaRPr>
            </a:p>
          </p:txBody>
        </p:sp>
        <p:sp>
          <p:nvSpPr>
            <p:cNvPr id="55322" name="Line 19"/>
            <p:cNvSpPr>
              <a:spLocks noChangeShapeType="1"/>
            </p:cNvSpPr>
            <p:nvPr/>
          </p:nvSpPr>
          <p:spPr bwMode="auto">
            <a:xfrm>
              <a:off x="1124" y="1726"/>
              <a:ext cx="798"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3" name="Line 20"/>
            <p:cNvSpPr>
              <a:spLocks noChangeShapeType="1"/>
            </p:cNvSpPr>
            <p:nvPr/>
          </p:nvSpPr>
          <p:spPr bwMode="auto">
            <a:xfrm>
              <a:off x="591" y="1991"/>
              <a:ext cx="1331"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4" name="Line 21"/>
            <p:cNvSpPr>
              <a:spLocks noChangeShapeType="1"/>
            </p:cNvSpPr>
            <p:nvPr/>
          </p:nvSpPr>
          <p:spPr bwMode="auto">
            <a:xfrm>
              <a:off x="591" y="1198"/>
              <a:ext cx="2" cy="793"/>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5" name="Line 22"/>
            <p:cNvSpPr>
              <a:spLocks noChangeShapeType="1"/>
            </p:cNvSpPr>
            <p:nvPr/>
          </p:nvSpPr>
          <p:spPr bwMode="auto">
            <a:xfrm flipH="1">
              <a:off x="74" y="1198"/>
              <a:ext cx="517" cy="2"/>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6" name="Freeform 23"/>
            <p:cNvSpPr/>
            <p:nvPr/>
          </p:nvSpPr>
          <p:spPr bwMode="auto">
            <a:xfrm>
              <a:off x="74" y="390"/>
              <a:ext cx="55" cy="56"/>
            </a:xfrm>
            <a:custGeom>
              <a:avLst/>
              <a:gdLst>
                <a:gd name="T0" fmla="*/ 0 w 37"/>
                <a:gd name="T1" fmla="*/ 325 h 37"/>
                <a:gd name="T2" fmla="*/ 137 w 37"/>
                <a:gd name="T3" fmla="*/ 0 h 37"/>
                <a:gd name="T4" fmla="*/ 450 w 37"/>
                <a:gd name="T5" fmla="*/ 0 h 37"/>
                <a:gd name="T6" fmla="*/ 595 w 37"/>
                <a:gd name="T7" fmla="*/ 325 h 37"/>
                <a:gd name="T8" fmla="*/ 450 w 37"/>
                <a:gd name="T9" fmla="*/ 675 h 37"/>
                <a:gd name="T10" fmla="*/ 137 w 37"/>
                <a:gd name="T11" fmla="*/ 675 h 37"/>
                <a:gd name="T12" fmla="*/ 0 w 37"/>
                <a:gd name="T13" fmla="*/ 325 h 37"/>
                <a:gd name="T14" fmla="*/ 0 60000 65536"/>
                <a:gd name="T15" fmla="*/ 0 60000 65536"/>
                <a:gd name="T16" fmla="*/ 0 60000 65536"/>
                <a:gd name="T17" fmla="*/ 0 60000 65536"/>
                <a:gd name="T18" fmla="*/ 0 60000 65536"/>
                <a:gd name="T19" fmla="*/ 0 60000 65536"/>
                <a:gd name="T20" fmla="*/ 0 60000 65536"/>
                <a:gd name="T21" fmla="*/ 0 w 37"/>
                <a:gd name="T22" fmla="*/ 0 h 37"/>
                <a:gd name="T23" fmla="*/ 37 w 3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7">
                  <a:moveTo>
                    <a:pt x="0" y="18"/>
                  </a:moveTo>
                  <a:lnTo>
                    <a:pt x="9" y="0"/>
                  </a:lnTo>
                  <a:lnTo>
                    <a:pt x="28" y="0"/>
                  </a:lnTo>
                  <a:lnTo>
                    <a:pt x="37" y="18"/>
                  </a:lnTo>
                  <a:lnTo>
                    <a:pt x="28" y="37"/>
                  </a:lnTo>
                  <a:lnTo>
                    <a:pt x="9" y="37"/>
                  </a:lnTo>
                  <a:lnTo>
                    <a:pt x="0" y="18"/>
                  </a:lnTo>
                  <a:close/>
                </a:path>
              </a:pathLst>
            </a:custGeom>
            <a:solidFill>
              <a:srgbClr val="FFFFFF"/>
            </a:solidFill>
            <a:ln w="14288">
              <a:solidFill>
                <a:srgbClr val="000000"/>
              </a:solidFill>
              <a:round/>
            </a:ln>
          </p:spPr>
          <p:txBody>
            <a:bodyPr/>
            <a:lstStyle/>
            <a:p>
              <a:endParaRPr lang="zh-CN" altLang="en-US"/>
            </a:p>
          </p:txBody>
        </p:sp>
        <p:sp>
          <p:nvSpPr>
            <p:cNvPr id="55327" name="Freeform 24"/>
            <p:cNvSpPr/>
            <p:nvPr/>
          </p:nvSpPr>
          <p:spPr bwMode="auto">
            <a:xfrm>
              <a:off x="74" y="1170"/>
              <a:ext cx="55" cy="55"/>
            </a:xfrm>
            <a:custGeom>
              <a:avLst/>
              <a:gdLst>
                <a:gd name="T0" fmla="*/ 0 w 37"/>
                <a:gd name="T1" fmla="*/ 303 h 37"/>
                <a:gd name="T2" fmla="*/ 137 w 37"/>
                <a:gd name="T3" fmla="*/ 0 h 37"/>
                <a:gd name="T4" fmla="*/ 450 w 37"/>
                <a:gd name="T5" fmla="*/ 0 h 37"/>
                <a:gd name="T6" fmla="*/ 595 w 37"/>
                <a:gd name="T7" fmla="*/ 303 h 37"/>
                <a:gd name="T8" fmla="*/ 450 w 37"/>
                <a:gd name="T9" fmla="*/ 595 h 37"/>
                <a:gd name="T10" fmla="*/ 137 w 37"/>
                <a:gd name="T11" fmla="*/ 595 h 37"/>
                <a:gd name="T12" fmla="*/ 0 w 37"/>
                <a:gd name="T13" fmla="*/ 303 h 37"/>
                <a:gd name="T14" fmla="*/ 0 60000 65536"/>
                <a:gd name="T15" fmla="*/ 0 60000 65536"/>
                <a:gd name="T16" fmla="*/ 0 60000 65536"/>
                <a:gd name="T17" fmla="*/ 0 60000 65536"/>
                <a:gd name="T18" fmla="*/ 0 60000 65536"/>
                <a:gd name="T19" fmla="*/ 0 60000 65536"/>
                <a:gd name="T20" fmla="*/ 0 60000 65536"/>
                <a:gd name="T21" fmla="*/ 0 w 37"/>
                <a:gd name="T22" fmla="*/ 0 h 37"/>
                <a:gd name="T23" fmla="*/ 37 w 3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37">
                  <a:moveTo>
                    <a:pt x="0" y="19"/>
                  </a:moveTo>
                  <a:lnTo>
                    <a:pt x="9" y="0"/>
                  </a:lnTo>
                  <a:lnTo>
                    <a:pt x="28" y="0"/>
                  </a:lnTo>
                  <a:lnTo>
                    <a:pt x="37" y="19"/>
                  </a:lnTo>
                  <a:lnTo>
                    <a:pt x="28" y="37"/>
                  </a:lnTo>
                  <a:lnTo>
                    <a:pt x="9" y="37"/>
                  </a:lnTo>
                  <a:lnTo>
                    <a:pt x="0" y="19"/>
                  </a:lnTo>
                  <a:close/>
                </a:path>
              </a:pathLst>
            </a:custGeom>
            <a:solidFill>
              <a:srgbClr val="FFFFFF"/>
            </a:solidFill>
            <a:ln w="14288">
              <a:solidFill>
                <a:srgbClr val="000000"/>
              </a:solidFill>
              <a:round/>
            </a:ln>
          </p:spPr>
          <p:txBody>
            <a:bodyPr/>
            <a:lstStyle/>
            <a:p>
              <a:endParaRPr lang="zh-CN" altLang="en-US"/>
            </a:p>
          </p:txBody>
        </p:sp>
        <p:sp>
          <p:nvSpPr>
            <p:cNvPr id="55328" name="Line 25"/>
            <p:cNvSpPr>
              <a:spLocks noChangeShapeType="1"/>
            </p:cNvSpPr>
            <p:nvPr/>
          </p:nvSpPr>
          <p:spPr bwMode="auto">
            <a:xfrm>
              <a:off x="2951" y="417"/>
              <a:ext cx="312"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29" name="Line 26"/>
            <p:cNvSpPr>
              <a:spLocks noChangeShapeType="1"/>
            </p:cNvSpPr>
            <p:nvPr/>
          </p:nvSpPr>
          <p:spPr bwMode="auto">
            <a:xfrm>
              <a:off x="2951" y="1198"/>
              <a:ext cx="330"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0" name="Line 27"/>
            <p:cNvSpPr>
              <a:spLocks noChangeShapeType="1"/>
            </p:cNvSpPr>
            <p:nvPr/>
          </p:nvSpPr>
          <p:spPr bwMode="auto">
            <a:xfrm>
              <a:off x="2973" y="1726"/>
              <a:ext cx="240"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1" name="Line 28"/>
            <p:cNvSpPr>
              <a:spLocks noChangeShapeType="1"/>
            </p:cNvSpPr>
            <p:nvPr/>
          </p:nvSpPr>
          <p:spPr bwMode="auto">
            <a:xfrm>
              <a:off x="2973" y="1991"/>
              <a:ext cx="222"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2" name="Rectangle 29"/>
            <p:cNvSpPr>
              <a:spLocks noChangeArrowheads="1"/>
            </p:cNvSpPr>
            <p:nvPr/>
          </p:nvSpPr>
          <p:spPr bwMode="auto">
            <a:xfrm>
              <a:off x="212" y="447"/>
              <a:ext cx="16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33" name="Rectangle 30"/>
            <p:cNvSpPr>
              <a:spLocks noChangeArrowheads="1"/>
            </p:cNvSpPr>
            <p:nvPr/>
          </p:nvSpPr>
          <p:spPr bwMode="auto">
            <a:xfrm>
              <a:off x="212" y="104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34" name="Rectangle 31"/>
            <p:cNvSpPr>
              <a:spLocks noChangeArrowheads="1"/>
            </p:cNvSpPr>
            <p:nvPr/>
          </p:nvSpPr>
          <p:spPr bwMode="auto">
            <a:xfrm>
              <a:off x="0" y="750"/>
              <a:ext cx="1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55335" name="Rectangle 32"/>
            <p:cNvSpPr>
              <a:spLocks noChangeArrowheads="1"/>
            </p:cNvSpPr>
            <p:nvPr/>
          </p:nvSpPr>
          <p:spPr bwMode="auto">
            <a:xfrm>
              <a:off x="144" y="818"/>
              <a:ext cx="48"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55336" name="Rectangle 33"/>
            <p:cNvSpPr>
              <a:spLocks noChangeArrowheads="1"/>
            </p:cNvSpPr>
            <p:nvPr/>
          </p:nvSpPr>
          <p:spPr bwMode="auto">
            <a:xfrm>
              <a:off x="105" y="600"/>
              <a:ext cx="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37" name="Line 34"/>
            <p:cNvSpPr>
              <a:spLocks noChangeShapeType="1"/>
            </p:cNvSpPr>
            <p:nvPr/>
          </p:nvSpPr>
          <p:spPr bwMode="auto">
            <a:xfrm>
              <a:off x="396" y="808"/>
              <a:ext cx="0" cy="653"/>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38" name="Rectangle 35"/>
            <p:cNvSpPr>
              <a:spLocks noChangeArrowheads="1"/>
            </p:cNvSpPr>
            <p:nvPr/>
          </p:nvSpPr>
          <p:spPr bwMode="auto">
            <a:xfrm>
              <a:off x="451" y="124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39" name="Line 36"/>
            <p:cNvSpPr>
              <a:spLocks noChangeShapeType="1"/>
            </p:cNvSpPr>
            <p:nvPr/>
          </p:nvSpPr>
          <p:spPr bwMode="auto">
            <a:xfrm flipH="1">
              <a:off x="396" y="808"/>
              <a:ext cx="266"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340" name="Freeform 37"/>
            <p:cNvSpPr/>
            <p:nvPr/>
          </p:nvSpPr>
          <p:spPr bwMode="auto">
            <a:xfrm>
              <a:off x="549" y="779"/>
              <a:ext cx="183" cy="57"/>
            </a:xfrm>
            <a:custGeom>
              <a:avLst/>
              <a:gdLst>
                <a:gd name="T0" fmla="*/ 0 w 122"/>
                <a:gd name="T1" fmla="*/ 0 h 38"/>
                <a:gd name="T2" fmla="*/ 477 w 122"/>
                <a:gd name="T3" fmla="*/ 324 h 38"/>
                <a:gd name="T4" fmla="*/ 0 w 122"/>
                <a:gd name="T5" fmla="*/ 647 h 38"/>
                <a:gd name="T6" fmla="*/ 2093 w 122"/>
                <a:gd name="T7" fmla="*/ 324 h 38"/>
                <a:gd name="T8" fmla="*/ 0 w 122"/>
                <a:gd name="T9" fmla="*/ 0 h 38"/>
                <a:gd name="T10" fmla="*/ 0 60000 65536"/>
                <a:gd name="T11" fmla="*/ 0 60000 65536"/>
                <a:gd name="T12" fmla="*/ 0 60000 65536"/>
                <a:gd name="T13" fmla="*/ 0 60000 65536"/>
                <a:gd name="T14" fmla="*/ 0 60000 65536"/>
                <a:gd name="T15" fmla="*/ 0 w 122"/>
                <a:gd name="T16" fmla="*/ 0 h 38"/>
                <a:gd name="T17" fmla="*/ 122 w 122"/>
                <a:gd name="T18" fmla="*/ 38 h 38"/>
              </a:gdLst>
              <a:ahLst/>
              <a:cxnLst>
                <a:cxn ang="T10">
                  <a:pos x="T0" y="T1"/>
                </a:cxn>
                <a:cxn ang="T11">
                  <a:pos x="T2" y="T3"/>
                </a:cxn>
                <a:cxn ang="T12">
                  <a:pos x="T4" y="T5"/>
                </a:cxn>
                <a:cxn ang="T13">
                  <a:pos x="T6" y="T7"/>
                </a:cxn>
                <a:cxn ang="T14">
                  <a:pos x="T8" y="T9"/>
                </a:cxn>
              </a:cxnLst>
              <a:rect l="T15" t="T16" r="T17" b="T18"/>
              <a:pathLst>
                <a:path w="122" h="38">
                  <a:moveTo>
                    <a:pt x="0" y="0"/>
                  </a:moveTo>
                  <a:lnTo>
                    <a:pt x="28" y="19"/>
                  </a:lnTo>
                  <a:lnTo>
                    <a:pt x="0" y="38"/>
                  </a:lnTo>
                  <a:lnTo>
                    <a:pt x="122" y="19"/>
                  </a:lnTo>
                  <a:lnTo>
                    <a:pt x="0" y="0"/>
                  </a:lnTo>
                  <a:close/>
                </a:path>
              </a:pathLst>
            </a:custGeom>
            <a:solidFill>
              <a:srgbClr val="000000"/>
            </a:solidFill>
            <a:ln w="14288">
              <a:solidFill>
                <a:srgbClr val="000000"/>
              </a:solidFill>
              <a:round/>
            </a:ln>
          </p:spPr>
          <p:txBody>
            <a:bodyPr/>
            <a:lstStyle/>
            <a:p>
              <a:endParaRPr lang="zh-CN" altLang="en-US"/>
            </a:p>
          </p:txBody>
        </p:sp>
        <p:sp>
          <p:nvSpPr>
            <p:cNvPr id="55341" name="Rectangle 38"/>
            <p:cNvSpPr>
              <a:spLocks noChangeArrowheads="1"/>
            </p:cNvSpPr>
            <p:nvPr/>
          </p:nvSpPr>
          <p:spPr bwMode="auto">
            <a:xfrm>
              <a:off x="94" y="1316"/>
              <a:ext cx="12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R</a:t>
              </a:r>
              <a:endParaRPr lang="zh-CN" altLang="zh-CN" sz="1800">
                <a:latin typeface="Times New Roman" panose="02020603050405020304" pitchFamily="18" charset="0"/>
              </a:endParaRPr>
            </a:p>
          </p:txBody>
        </p:sp>
        <p:sp>
          <p:nvSpPr>
            <p:cNvPr id="55342" name="Rectangle 39"/>
            <p:cNvSpPr>
              <a:spLocks noChangeArrowheads="1"/>
            </p:cNvSpPr>
            <p:nvPr/>
          </p:nvSpPr>
          <p:spPr bwMode="auto">
            <a:xfrm>
              <a:off x="210" y="1414"/>
              <a:ext cx="4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55343" name="Rectangle 40"/>
            <p:cNvSpPr>
              <a:spLocks noChangeArrowheads="1"/>
            </p:cNvSpPr>
            <p:nvPr/>
          </p:nvSpPr>
          <p:spPr bwMode="auto">
            <a:xfrm>
              <a:off x="240" y="1414"/>
              <a:ext cx="5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f</a:t>
              </a:r>
              <a:endParaRPr lang="zh-CN" altLang="zh-CN" sz="1600">
                <a:latin typeface="Times New Roman" panose="02020603050405020304" pitchFamily="18" charset="0"/>
              </a:endParaRPr>
            </a:p>
          </p:txBody>
        </p:sp>
        <p:sp>
          <p:nvSpPr>
            <p:cNvPr id="55344" name="Rectangle 41"/>
            <p:cNvSpPr>
              <a:spLocks noChangeArrowheads="1"/>
            </p:cNvSpPr>
            <p:nvPr/>
          </p:nvSpPr>
          <p:spPr bwMode="auto">
            <a:xfrm>
              <a:off x="810" y="1128"/>
              <a:ext cx="13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55345" name="Rectangle 42"/>
            <p:cNvSpPr>
              <a:spLocks noChangeArrowheads="1"/>
            </p:cNvSpPr>
            <p:nvPr/>
          </p:nvSpPr>
          <p:spPr bwMode="auto">
            <a:xfrm>
              <a:off x="927" y="1212"/>
              <a:ext cx="5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f</a:t>
              </a:r>
              <a:endParaRPr lang="zh-CN" altLang="zh-CN" sz="1600">
                <a:latin typeface="Times New Roman" panose="02020603050405020304" pitchFamily="18" charset="0"/>
              </a:endParaRPr>
            </a:p>
          </p:txBody>
        </p:sp>
        <p:sp>
          <p:nvSpPr>
            <p:cNvPr id="55346" name="Rectangle 43"/>
            <p:cNvSpPr>
              <a:spLocks noChangeArrowheads="1"/>
            </p:cNvSpPr>
            <p:nvPr/>
          </p:nvSpPr>
          <p:spPr bwMode="auto">
            <a:xfrm>
              <a:off x="1421" y="447"/>
              <a:ext cx="159"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47" name="Rectangle 44"/>
            <p:cNvSpPr>
              <a:spLocks noChangeArrowheads="1"/>
            </p:cNvSpPr>
            <p:nvPr/>
          </p:nvSpPr>
          <p:spPr bwMode="auto">
            <a:xfrm>
              <a:off x="1421" y="1046"/>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48" name="Rectangle 45"/>
            <p:cNvSpPr>
              <a:spLocks noChangeArrowheads="1"/>
            </p:cNvSpPr>
            <p:nvPr/>
          </p:nvSpPr>
          <p:spPr bwMode="auto">
            <a:xfrm>
              <a:off x="1235" y="1240"/>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49" name="Rectangle 46"/>
            <p:cNvSpPr>
              <a:spLocks noChangeArrowheads="1"/>
            </p:cNvSpPr>
            <p:nvPr/>
          </p:nvSpPr>
          <p:spPr bwMode="auto">
            <a:xfrm>
              <a:off x="1318" y="696"/>
              <a:ext cx="13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U</a:t>
              </a:r>
              <a:endParaRPr lang="zh-CN" altLang="zh-CN" sz="1800">
                <a:latin typeface="Times New Roman" panose="02020603050405020304" pitchFamily="18" charset="0"/>
              </a:endParaRPr>
            </a:p>
          </p:txBody>
        </p:sp>
        <p:sp>
          <p:nvSpPr>
            <p:cNvPr id="55350" name="Rectangle 47"/>
            <p:cNvSpPr>
              <a:spLocks noChangeArrowheads="1"/>
            </p:cNvSpPr>
            <p:nvPr/>
          </p:nvSpPr>
          <p:spPr bwMode="auto">
            <a:xfrm>
              <a:off x="1447" y="778"/>
              <a:ext cx="48"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55351" name="Rectangle 48"/>
            <p:cNvSpPr>
              <a:spLocks noChangeArrowheads="1"/>
            </p:cNvSpPr>
            <p:nvPr/>
          </p:nvSpPr>
          <p:spPr bwMode="auto">
            <a:xfrm>
              <a:off x="1452" y="660"/>
              <a:ext cx="17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55352" name="Rectangle 49"/>
            <p:cNvSpPr>
              <a:spLocks noChangeArrowheads="1"/>
            </p:cNvSpPr>
            <p:nvPr/>
          </p:nvSpPr>
          <p:spPr bwMode="auto">
            <a:xfrm>
              <a:off x="997" y="152"/>
              <a:ext cx="7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5353" name="Rectangle 50"/>
            <p:cNvSpPr>
              <a:spLocks noChangeArrowheads="1"/>
            </p:cNvSpPr>
            <p:nvPr/>
          </p:nvSpPr>
          <p:spPr bwMode="auto">
            <a:xfrm>
              <a:off x="1097" y="207"/>
              <a:ext cx="4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i</a:t>
              </a:r>
              <a:endParaRPr lang="zh-CN" altLang="zh-CN" sz="1600">
                <a:latin typeface="Times New Roman" panose="02020603050405020304" pitchFamily="18" charset="0"/>
              </a:endParaRPr>
            </a:p>
          </p:txBody>
        </p:sp>
        <p:sp>
          <p:nvSpPr>
            <p:cNvPr id="55354" name="Rectangle 51"/>
            <p:cNvSpPr>
              <a:spLocks noChangeArrowheads="1"/>
            </p:cNvSpPr>
            <p:nvPr/>
          </p:nvSpPr>
          <p:spPr bwMode="auto">
            <a:xfrm>
              <a:off x="1035" y="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55" name="Freeform 52"/>
            <p:cNvSpPr/>
            <p:nvPr/>
          </p:nvSpPr>
          <p:spPr bwMode="auto">
            <a:xfrm>
              <a:off x="620" y="375"/>
              <a:ext cx="168" cy="71"/>
            </a:xfrm>
            <a:custGeom>
              <a:avLst/>
              <a:gdLst>
                <a:gd name="T0" fmla="*/ 0 w 112"/>
                <a:gd name="T1" fmla="*/ 0 h 47"/>
                <a:gd name="T2" fmla="*/ 332 w 112"/>
                <a:gd name="T3" fmla="*/ 497 h 47"/>
                <a:gd name="T4" fmla="*/ 0 w 112"/>
                <a:gd name="T5" fmla="*/ 844 h 47"/>
                <a:gd name="T6" fmla="*/ 1916 w 112"/>
                <a:gd name="T7" fmla="*/ 497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55356" name="Rectangle 53"/>
            <p:cNvSpPr>
              <a:spLocks noChangeArrowheads="1"/>
            </p:cNvSpPr>
            <p:nvPr/>
          </p:nvSpPr>
          <p:spPr bwMode="auto">
            <a:xfrm>
              <a:off x="1385" y="542"/>
              <a:ext cx="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5357" name="Rectangle 54"/>
            <p:cNvSpPr>
              <a:spLocks noChangeArrowheads="1"/>
            </p:cNvSpPr>
            <p:nvPr/>
          </p:nvSpPr>
          <p:spPr bwMode="auto">
            <a:xfrm>
              <a:off x="859" y="980"/>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grpSp>
      <p:sp>
        <p:nvSpPr>
          <p:cNvPr id="55300" name="Rectangle 55"/>
          <p:cNvSpPr>
            <a:spLocks noChangeArrowheads="1"/>
          </p:cNvSpPr>
          <p:nvPr/>
        </p:nvSpPr>
        <p:spPr bwMode="auto">
          <a:xfrm>
            <a:off x="5781675" y="2627313"/>
            <a:ext cx="2263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dirty="0">
                <a:latin typeface="Times New Roman" panose="02020603050405020304" pitchFamily="18" charset="0"/>
              </a:rPr>
              <a:t>(a)串联反馈</a:t>
            </a:r>
            <a:endParaRPr lang="zh-CN" altLang="zh-CN" sz="2800" dirty="0">
              <a:latin typeface="Times New Roman" panose="02020603050405020304" pitchFamily="18" charset="0"/>
            </a:endParaRPr>
          </a:p>
        </p:txBody>
      </p:sp>
      <p:sp>
        <p:nvSpPr>
          <p:cNvPr id="55301" name="Rectangle 56"/>
          <p:cNvSpPr>
            <a:spLocks noChangeArrowheads="1"/>
          </p:cNvSpPr>
          <p:nvPr/>
        </p:nvSpPr>
        <p:spPr bwMode="auto">
          <a:xfrm>
            <a:off x="0" y="3228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24578" name="Object 57"/>
          <p:cNvGraphicFramePr>
            <a:graphicFrameLocks noChangeAspect="1"/>
          </p:cNvGraphicFramePr>
          <p:nvPr/>
        </p:nvGraphicFramePr>
        <p:xfrm>
          <a:off x="606425" y="4214813"/>
          <a:ext cx="7862888" cy="1300162"/>
        </p:xfrm>
        <a:graphic>
          <a:graphicData uri="http://schemas.openxmlformats.org/presentationml/2006/ole">
            <mc:AlternateContent xmlns:mc="http://schemas.openxmlformats.org/markup-compatibility/2006">
              <mc:Choice xmlns:v="urn:schemas-microsoft-com:vml" Requires="v">
                <p:oleObj spid="_x0000_s55420" name="" r:id="rId1" imgW="2959100" imgH="482600" progId="Equation.3">
                  <p:embed/>
                </p:oleObj>
              </mc:Choice>
              <mc:Fallback>
                <p:oleObj name="" r:id="rId1" imgW="2959100" imgH="482600" progId="Equation.3">
                  <p:embed/>
                  <p:pic>
                    <p:nvPicPr>
                      <p:cNvPr id="0" name="Object 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425" y="4214813"/>
                        <a:ext cx="7862888" cy="130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79" name="Object 58"/>
          <p:cNvGraphicFramePr>
            <a:graphicFrameLocks noChangeAspect="1"/>
          </p:cNvGraphicFramePr>
          <p:nvPr/>
        </p:nvGraphicFramePr>
        <p:xfrm>
          <a:off x="2311400" y="5686425"/>
          <a:ext cx="3086100" cy="741363"/>
        </p:xfrm>
        <a:graphic>
          <a:graphicData uri="http://schemas.openxmlformats.org/presentationml/2006/ole">
            <mc:AlternateContent xmlns:mc="http://schemas.openxmlformats.org/markup-compatibility/2006">
              <mc:Choice xmlns:v="urn:schemas-microsoft-com:vml" Requires="v">
                <p:oleObj spid="_x0000_s55421" name="" r:id="rId3" imgW="1625600" imgH="355600" progId="Equation.3">
                  <p:embed/>
                </p:oleObj>
              </mc:Choice>
              <mc:Fallback>
                <p:oleObj name="" r:id="rId3" imgW="1625600" imgH="355600" progId="Equation.3">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400" y="5686425"/>
                        <a:ext cx="3086100" cy="74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4" name="Rectangle 59"/>
          <p:cNvSpPr>
            <a:spLocks noChangeArrowheads="1"/>
          </p:cNvSpPr>
          <p:nvPr/>
        </p:nvSpPr>
        <p:spPr bwMode="auto">
          <a:xfrm>
            <a:off x="344488" y="257175"/>
            <a:ext cx="6911975"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dirty="0">
                <a:latin typeface="Times New Roman" panose="02020603050405020304" pitchFamily="18" charset="0"/>
              </a:rPr>
              <a:t>   6.2.5 改变输入电阻和输出电阻</a:t>
            </a:r>
            <a:endParaRPr lang="zh-CN" altLang="zh-CN" dirty="0">
              <a:latin typeface="Times New Roman" panose="02020603050405020304" pitchFamily="18" charset="0"/>
            </a:endParaRPr>
          </a:p>
        </p:txBody>
      </p:sp>
      <p:sp>
        <p:nvSpPr>
          <p:cNvPr id="55305" name="Rectangle 60"/>
          <p:cNvSpPr>
            <a:spLocks noChangeArrowheads="1"/>
          </p:cNvSpPr>
          <p:nvPr/>
        </p:nvSpPr>
        <p:spPr bwMode="auto">
          <a:xfrm>
            <a:off x="665163" y="949325"/>
            <a:ext cx="4375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dirty="0">
                <a:latin typeface="Times New Roman" panose="02020603050405020304" pitchFamily="18" charset="0"/>
              </a:rPr>
              <a:t>一、对输入电阻的影响</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4274FCF-AE00-441D-8290-76155F0BC80E}" type="slidenum">
              <a:rPr lang="zh-CN" altLang="zh-CN" sz="1400" smtClean="0"/>
            </a:fld>
            <a:endParaRPr lang="zh-CN" altLang="zh-CN" sz="1400" smtClean="0"/>
          </a:p>
        </p:txBody>
      </p:sp>
      <p:sp>
        <p:nvSpPr>
          <p:cNvPr id="56323" name="Rectangle 2"/>
          <p:cNvSpPr>
            <a:spLocks noChangeArrowheads="1"/>
          </p:cNvSpPr>
          <p:nvPr/>
        </p:nvSpPr>
        <p:spPr bwMode="auto">
          <a:xfrm>
            <a:off x="3937000" y="900113"/>
            <a:ext cx="2298700" cy="1606550"/>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6324" name="Line 3"/>
          <p:cNvSpPr>
            <a:spLocks noChangeShapeType="1"/>
          </p:cNvSpPr>
          <p:nvPr/>
        </p:nvSpPr>
        <p:spPr bwMode="auto">
          <a:xfrm>
            <a:off x="5162550" y="1365250"/>
            <a:ext cx="619125"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5" name="Freeform 4"/>
          <p:cNvSpPr/>
          <p:nvPr/>
        </p:nvSpPr>
        <p:spPr bwMode="auto">
          <a:xfrm>
            <a:off x="5489575" y="1301750"/>
            <a:ext cx="292100" cy="106363"/>
          </a:xfrm>
          <a:custGeom>
            <a:avLst/>
            <a:gdLst>
              <a:gd name="T0" fmla="*/ 0 w 112"/>
              <a:gd name="T1" fmla="*/ 0 h 47"/>
              <a:gd name="T2" fmla="*/ 2147483646 w 112"/>
              <a:gd name="T3" fmla="*/ 2147483646 h 47"/>
              <a:gd name="T4" fmla="*/ 0 w 112"/>
              <a:gd name="T5" fmla="*/ 2147483646 h 47"/>
              <a:gd name="T6" fmla="*/ 2147483646 w 112"/>
              <a:gd name="T7" fmla="*/ 2147483646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8"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56326" name="Rectangle 5"/>
          <p:cNvSpPr>
            <a:spLocks noChangeArrowheads="1"/>
          </p:cNvSpPr>
          <p:nvPr/>
        </p:nvSpPr>
        <p:spPr bwMode="auto">
          <a:xfrm>
            <a:off x="5275263" y="1492250"/>
            <a:ext cx="271462"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i="1">
                <a:solidFill>
                  <a:srgbClr val="000000"/>
                </a:solidFill>
                <a:latin typeface="Times New Roman" panose="02020603050405020304" pitchFamily="18" charset="0"/>
              </a:rPr>
              <a:t>A</a:t>
            </a:r>
            <a:endParaRPr lang="zh-CN" altLang="zh-CN">
              <a:latin typeface="Times New Roman" panose="02020603050405020304" pitchFamily="18" charset="0"/>
            </a:endParaRPr>
          </a:p>
        </p:txBody>
      </p:sp>
      <p:sp>
        <p:nvSpPr>
          <p:cNvPr id="56327" name="Line 6"/>
          <p:cNvSpPr>
            <a:spLocks noChangeShapeType="1"/>
          </p:cNvSpPr>
          <p:nvPr/>
        </p:nvSpPr>
        <p:spPr bwMode="auto">
          <a:xfrm>
            <a:off x="1195388" y="1111250"/>
            <a:ext cx="3322637"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8" name="Line 7"/>
          <p:cNvSpPr>
            <a:spLocks noChangeShapeType="1"/>
          </p:cNvSpPr>
          <p:nvPr/>
        </p:nvSpPr>
        <p:spPr bwMode="auto">
          <a:xfrm>
            <a:off x="1317625" y="2295525"/>
            <a:ext cx="3200400" cy="31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29" name="Line 8"/>
          <p:cNvSpPr>
            <a:spLocks noChangeShapeType="1"/>
          </p:cNvSpPr>
          <p:nvPr/>
        </p:nvSpPr>
        <p:spPr bwMode="auto">
          <a:xfrm>
            <a:off x="4518025" y="1111250"/>
            <a:ext cx="3175" cy="11842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30" name="Line 9"/>
          <p:cNvSpPr>
            <a:spLocks noChangeShapeType="1"/>
          </p:cNvSpPr>
          <p:nvPr/>
        </p:nvSpPr>
        <p:spPr bwMode="auto">
          <a:xfrm flipV="1">
            <a:off x="4518025" y="1408113"/>
            <a:ext cx="3175" cy="506412"/>
          </a:xfrm>
          <a:prstGeom prst="line">
            <a:avLst/>
          </a:prstGeom>
          <a:noFill/>
          <a:ln w="14288">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31" name="Rectangle 10"/>
          <p:cNvSpPr>
            <a:spLocks noChangeArrowheads="1"/>
          </p:cNvSpPr>
          <p:nvPr/>
        </p:nvSpPr>
        <p:spPr bwMode="auto">
          <a:xfrm>
            <a:off x="4398963" y="1408113"/>
            <a:ext cx="241300" cy="506412"/>
          </a:xfrm>
          <a:prstGeom prst="rect">
            <a:avLst/>
          </a:prstGeom>
          <a:solidFill>
            <a:srgbClr val="FFFFFF"/>
          </a:solidFill>
          <a:ln w="14288">
            <a:solidFill>
              <a:srgbClr val="000000"/>
            </a:solidFill>
            <a:miter lim="800000"/>
          </a:ln>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6332" name="Rectangle 11"/>
          <p:cNvSpPr>
            <a:spLocks noChangeArrowheads="1"/>
          </p:cNvSpPr>
          <p:nvPr/>
        </p:nvSpPr>
        <p:spPr bwMode="auto">
          <a:xfrm>
            <a:off x="4797425" y="1428750"/>
            <a:ext cx="169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R</a:t>
            </a:r>
            <a:endParaRPr lang="zh-CN" altLang="zh-CN" sz="2000">
              <a:latin typeface="Times New Roman" panose="02020603050405020304" pitchFamily="18" charset="0"/>
            </a:endParaRPr>
          </a:p>
        </p:txBody>
      </p:sp>
      <p:sp>
        <p:nvSpPr>
          <p:cNvPr id="56333" name="Rectangle 12"/>
          <p:cNvSpPr>
            <a:spLocks noChangeArrowheads="1"/>
          </p:cNvSpPr>
          <p:nvPr/>
        </p:nvSpPr>
        <p:spPr bwMode="auto">
          <a:xfrm>
            <a:off x="5016500" y="1547813"/>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6334" name="Line 13"/>
          <p:cNvSpPr>
            <a:spLocks noChangeShapeType="1"/>
          </p:cNvSpPr>
          <p:nvPr/>
        </p:nvSpPr>
        <p:spPr bwMode="auto">
          <a:xfrm>
            <a:off x="3016250" y="1111250"/>
            <a:ext cx="3175" cy="1985963"/>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35" name="Rectangle 14"/>
          <p:cNvSpPr>
            <a:spLocks noChangeArrowheads="1"/>
          </p:cNvSpPr>
          <p:nvPr/>
        </p:nvSpPr>
        <p:spPr bwMode="auto">
          <a:xfrm>
            <a:off x="4398963" y="2906713"/>
            <a:ext cx="1530350" cy="803275"/>
          </a:xfrm>
          <a:prstGeom prst="rect">
            <a:avLst/>
          </a:prstGeom>
          <a:noFill/>
          <a:ln w="14288">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6336" name="Line 15"/>
          <p:cNvSpPr>
            <a:spLocks noChangeShapeType="1"/>
          </p:cNvSpPr>
          <p:nvPr/>
        </p:nvSpPr>
        <p:spPr bwMode="auto">
          <a:xfrm>
            <a:off x="4859338" y="3089275"/>
            <a:ext cx="609600"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37" name="Freeform 16"/>
          <p:cNvSpPr/>
          <p:nvPr/>
        </p:nvSpPr>
        <p:spPr bwMode="auto">
          <a:xfrm>
            <a:off x="4859338" y="3025775"/>
            <a:ext cx="290512" cy="106363"/>
          </a:xfrm>
          <a:custGeom>
            <a:avLst/>
            <a:gdLst>
              <a:gd name="T0" fmla="*/ 2147483646 w 112"/>
              <a:gd name="T1" fmla="*/ 0 h 47"/>
              <a:gd name="T2" fmla="*/ 2147483646 w 112"/>
              <a:gd name="T3" fmla="*/ 2147483646 h 47"/>
              <a:gd name="T4" fmla="*/ 2147483646 w 112"/>
              <a:gd name="T5" fmla="*/ 2147483646 h 47"/>
              <a:gd name="T6" fmla="*/ 0 w 112"/>
              <a:gd name="T7" fmla="*/ 2147483646 h 47"/>
              <a:gd name="T8" fmla="*/ 2147483646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112" y="0"/>
                </a:moveTo>
                <a:lnTo>
                  <a:pt x="93" y="28"/>
                </a:lnTo>
                <a:lnTo>
                  <a:pt x="112" y="47"/>
                </a:lnTo>
                <a:lnTo>
                  <a:pt x="0" y="28"/>
                </a:lnTo>
                <a:lnTo>
                  <a:pt x="112" y="0"/>
                </a:lnTo>
                <a:close/>
              </a:path>
            </a:pathLst>
          </a:custGeom>
          <a:solidFill>
            <a:srgbClr val="000000"/>
          </a:solidFill>
          <a:ln w="14288">
            <a:solidFill>
              <a:srgbClr val="000000"/>
            </a:solidFill>
            <a:round/>
          </a:ln>
        </p:spPr>
        <p:txBody>
          <a:bodyPr/>
          <a:lstStyle/>
          <a:p>
            <a:endParaRPr lang="zh-CN" altLang="en-US"/>
          </a:p>
        </p:txBody>
      </p:sp>
      <p:sp>
        <p:nvSpPr>
          <p:cNvPr id="56338" name="Rectangle 17"/>
          <p:cNvSpPr>
            <a:spLocks noChangeArrowheads="1"/>
          </p:cNvSpPr>
          <p:nvPr/>
        </p:nvSpPr>
        <p:spPr bwMode="auto">
          <a:xfrm>
            <a:off x="5048250" y="3171825"/>
            <a:ext cx="2714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i="1">
                <a:solidFill>
                  <a:srgbClr val="000000"/>
                </a:solidFill>
                <a:latin typeface="Times New Roman" panose="02020603050405020304" pitchFamily="18" charset="0"/>
              </a:rPr>
              <a:t>F</a:t>
            </a:r>
            <a:endParaRPr lang="zh-CN" altLang="zh-CN">
              <a:latin typeface="Times New Roman" panose="02020603050405020304" pitchFamily="18" charset="0"/>
            </a:endParaRPr>
          </a:p>
        </p:txBody>
      </p:sp>
      <p:sp>
        <p:nvSpPr>
          <p:cNvPr id="56339" name="Line 18"/>
          <p:cNvSpPr>
            <a:spLocks noChangeShapeType="1"/>
          </p:cNvSpPr>
          <p:nvPr/>
        </p:nvSpPr>
        <p:spPr bwMode="auto">
          <a:xfrm>
            <a:off x="3016250" y="3097213"/>
            <a:ext cx="1382713" cy="15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0" name="Line 19"/>
          <p:cNvSpPr>
            <a:spLocks noChangeShapeType="1"/>
          </p:cNvSpPr>
          <p:nvPr/>
        </p:nvSpPr>
        <p:spPr bwMode="auto">
          <a:xfrm>
            <a:off x="2117725" y="3498850"/>
            <a:ext cx="2281238"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1" name="Line 20"/>
          <p:cNvSpPr>
            <a:spLocks noChangeShapeType="1"/>
          </p:cNvSpPr>
          <p:nvPr/>
        </p:nvSpPr>
        <p:spPr bwMode="auto">
          <a:xfrm>
            <a:off x="2117725" y="2295525"/>
            <a:ext cx="0" cy="1203325"/>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2" name="Freeform 21"/>
          <p:cNvSpPr/>
          <p:nvPr/>
        </p:nvSpPr>
        <p:spPr bwMode="auto">
          <a:xfrm>
            <a:off x="1195388" y="1069975"/>
            <a:ext cx="122237" cy="84138"/>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8"/>
                </a:moveTo>
                <a:lnTo>
                  <a:pt x="10" y="0"/>
                </a:lnTo>
                <a:lnTo>
                  <a:pt x="28" y="0"/>
                </a:lnTo>
                <a:lnTo>
                  <a:pt x="47" y="18"/>
                </a:lnTo>
                <a:lnTo>
                  <a:pt x="28" y="37"/>
                </a:lnTo>
                <a:lnTo>
                  <a:pt x="10" y="37"/>
                </a:lnTo>
                <a:lnTo>
                  <a:pt x="0" y="18"/>
                </a:lnTo>
                <a:close/>
              </a:path>
            </a:pathLst>
          </a:custGeom>
          <a:solidFill>
            <a:srgbClr val="FFFFFF"/>
          </a:solidFill>
          <a:ln w="14288">
            <a:solidFill>
              <a:srgbClr val="000000"/>
            </a:solidFill>
            <a:round/>
          </a:ln>
        </p:spPr>
        <p:txBody>
          <a:bodyPr/>
          <a:lstStyle/>
          <a:p>
            <a:endParaRPr lang="zh-CN" altLang="en-US"/>
          </a:p>
        </p:txBody>
      </p:sp>
      <p:sp>
        <p:nvSpPr>
          <p:cNvPr id="56343" name="Freeform 22"/>
          <p:cNvSpPr/>
          <p:nvPr/>
        </p:nvSpPr>
        <p:spPr bwMode="auto">
          <a:xfrm>
            <a:off x="1195388" y="2252663"/>
            <a:ext cx="122237" cy="84137"/>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9"/>
                </a:moveTo>
                <a:lnTo>
                  <a:pt x="10" y="0"/>
                </a:lnTo>
                <a:lnTo>
                  <a:pt x="28" y="0"/>
                </a:lnTo>
                <a:lnTo>
                  <a:pt x="47" y="19"/>
                </a:lnTo>
                <a:lnTo>
                  <a:pt x="28" y="37"/>
                </a:lnTo>
                <a:lnTo>
                  <a:pt x="10" y="37"/>
                </a:lnTo>
                <a:lnTo>
                  <a:pt x="0" y="19"/>
                </a:lnTo>
                <a:close/>
              </a:path>
            </a:pathLst>
          </a:custGeom>
          <a:solidFill>
            <a:srgbClr val="FFFFFF"/>
          </a:solidFill>
          <a:ln w="14288">
            <a:solidFill>
              <a:srgbClr val="000000"/>
            </a:solidFill>
            <a:round/>
          </a:ln>
        </p:spPr>
        <p:txBody>
          <a:bodyPr/>
          <a:lstStyle/>
          <a:p>
            <a:endParaRPr lang="zh-CN" altLang="en-US"/>
          </a:p>
        </p:txBody>
      </p:sp>
      <p:sp>
        <p:nvSpPr>
          <p:cNvPr id="56344" name="Line 23"/>
          <p:cNvSpPr>
            <a:spLocks noChangeShapeType="1"/>
          </p:cNvSpPr>
          <p:nvPr/>
        </p:nvSpPr>
        <p:spPr bwMode="auto">
          <a:xfrm>
            <a:off x="6235700" y="1111250"/>
            <a:ext cx="577850" cy="1588"/>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5" name="Line 24"/>
          <p:cNvSpPr>
            <a:spLocks noChangeShapeType="1"/>
          </p:cNvSpPr>
          <p:nvPr/>
        </p:nvSpPr>
        <p:spPr bwMode="auto">
          <a:xfrm>
            <a:off x="6235700" y="2295525"/>
            <a:ext cx="795338" cy="317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6" name="Line 25"/>
          <p:cNvSpPr>
            <a:spLocks noChangeShapeType="1"/>
          </p:cNvSpPr>
          <p:nvPr/>
        </p:nvSpPr>
        <p:spPr bwMode="auto">
          <a:xfrm>
            <a:off x="5929313" y="3097213"/>
            <a:ext cx="547687"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7" name="Line 26"/>
          <p:cNvSpPr>
            <a:spLocks noChangeShapeType="1"/>
          </p:cNvSpPr>
          <p:nvPr/>
        </p:nvSpPr>
        <p:spPr bwMode="auto">
          <a:xfrm>
            <a:off x="5929313" y="3498850"/>
            <a:ext cx="547687" cy="0"/>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48" name="Rectangle 27"/>
          <p:cNvSpPr>
            <a:spLocks noChangeArrowheads="1"/>
          </p:cNvSpPr>
          <p:nvPr/>
        </p:nvSpPr>
        <p:spPr bwMode="auto">
          <a:xfrm>
            <a:off x="1476375" y="1154113"/>
            <a:ext cx="1889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6349" name="Rectangle 28"/>
          <p:cNvSpPr>
            <a:spLocks noChangeArrowheads="1"/>
          </p:cNvSpPr>
          <p:nvPr/>
        </p:nvSpPr>
        <p:spPr bwMode="auto">
          <a:xfrm>
            <a:off x="1476375" y="2063750"/>
            <a:ext cx="18891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6350" name="Rectangle 29"/>
          <p:cNvSpPr>
            <a:spLocks noChangeArrowheads="1"/>
          </p:cNvSpPr>
          <p:nvPr/>
        </p:nvSpPr>
        <p:spPr bwMode="auto">
          <a:xfrm>
            <a:off x="1116013" y="16176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U</a:t>
            </a:r>
            <a:endParaRPr lang="zh-CN" altLang="zh-CN" sz="2000">
              <a:latin typeface="Times New Roman" panose="02020603050405020304" pitchFamily="18" charset="0"/>
            </a:endParaRPr>
          </a:p>
        </p:txBody>
      </p:sp>
      <p:sp>
        <p:nvSpPr>
          <p:cNvPr id="56351" name="Rectangle 30"/>
          <p:cNvSpPr>
            <a:spLocks noChangeArrowheads="1"/>
          </p:cNvSpPr>
          <p:nvPr/>
        </p:nvSpPr>
        <p:spPr bwMode="auto">
          <a:xfrm>
            <a:off x="1360488" y="17462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6352" name="Rectangle 31"/>
          <p:cNvSpPr>
            <a:spLocks noChangeArrowheads="1"/>
          </p:cNvSpPr>
          <p:nvPr/>
        </p:nvSpPr>
        <p:spPr bwMode="auto">
          <a:xfrm>
            <a:off x="1206500" y="1373188"/>
            <a:ext cx="9525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6353" name="Line 32"/>
          <p:cNvSpPr>
            <a:spLocks noChangeShapeType="1"/>
          </p:cNvSpPr>
          <p:nvPr/>
        </p:nvSpPr>
        <p:spPr bwMode="auto">
          <a:xfrm>
            <a:off x="1754188" y="1703388"/>
            <a:ext cx="0" cy="992187"/>
          </a:xfrm>
          <a:prstGeom prst="line">
            <a:avLst/>
          </a:prstGeom>
          <a:noFill/>
          <a:ln w="14351">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4" name="Line 33"/>
          <p:cNvSpPr>
            <a:spLocks noChangeShapeType="1"/>
          </p:cNvSpPr>
          <p:nvPr/>
        </p:nvSpPr>
        <p:spPr bwMode="auto">
          <a:xfrm flipH="1">
            <a:off x="1754188" y="1703388"/>
            <a:ext cx="460375" cy="15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5" name="Freeform 34"/>
          <p:cNvSpPr/>
          <p:nvPr/>
        </p:nvSpPr>
        <p:spPr bwMode="auto">
          <a:xfrm>
            <a:off x="2044700" y="1660525"/>
            <a:ext cx="292100" cy="85725"/>
          </a:xfrm>
          <a:custGeom>
            <a:avLst/>
            <a:gdLst>
              <a:gd name="T0" fmla="*/ 0 w 112"/>
              <a:gd name="T1" fmla="*/ 0 h 38"/>
              <a:gd name="T2" fmla="*/ 2147483646 w 112"/>
              <a:gd name="T3" fmla="*/ 2147483646 h 38"/>
              <a:gd name="T4" fmla="*/ 0 w 112"/>
              <a:gd name="T5" fmla="*/ 2147483646 h 38"/>
              <a:gd name="T6" fmla="*/ 2147483646 w 112"/>
              <a:gd name="T7" fmla="*/ 2147483646 h 38"/>
              <a:gd name="T8" fmla="*/ 0 w 112"/>
              <a:gd name="T9" fmla="*/ 0 h 38"/>
              <a:gd name="T10" fmla="*/ 0 60000 65536"/>
              <a:gd name="T11" fmla="*/ 0 60000 65536"/>
              <a:gd name="T12" fmla="*/ 0 60000 65536"/>
              <a:gd name="T13" fmla="*/ 0 60000 65536"/>
              <a:gd name="T14" fmla="*/ 0 60000 65536"/>
              <a:gd name="T15" fmla="*/ 0 w 112"/>
              <a:gd name="T16" fmla="*/ 0 h 38"/>
              <a:gd name="T17" fmla="*/ 112 w 112"/>
              <a:gd name="T18" fmla="*/ 38 h 38"/>
            </a:gdLst>
            <a:ahLst/>
            <a:cxnLst>
              <a:cxn ang="T10">
                <a:pos x="T0" y="T1"/>
              </a:cxn>
              <a:cxn ang="T11">
                <a:pos x="T2" y="T3"/>
              </a:cxn>
              <a:cxn ang="T12">
                <a:pos x="T4" y="T5"/>
              </a:cxn>
              <a:cxn ang="T13">
                <a:pos x="T6" y="T7"/>
              </a:cxn>
              <a:cxn ang="T14">
                <a:pos x="T8" y="T9"/>
              </a:cxn>
            </a:cxnLst>
            <a:rect l="T15" t="T16" r="T17" b="T18"/>
            <a:pathLst>
              <a:path w="112" h="38">
                <a:moveTo>
                  <a:pt x="0" y="0"/>
                </a:moveTo>
                <a:lnTo>
                  <a:pt x="19" y="19"/>
                </a:lnTo>
                <a:lnTo>
                  <a:pt x="0" y="38"/>
                </a:lnTo>
                <a:lnTo>
                  <a:pt x="112" y="19"/>
                </a:lnTo>
                <a:lnTo>
                  <a:pt x="0" y="0"/>
                </a:lnTo>
                <a:close/>
              </a:path>
            </a:pathLst>
          </a:custGeom>
          <a:solidFill>
            <a:srgbClr val="000000"/>
          </a:solidFill>
          <a:ln w="14288">
            <a:solidFill>
              <a:srgbClr val="000000"/>
            </a:solidFill>
            <a:round/>
          </a:ln>
        </p:spPr>
        <p:txBody>
          <a:bodyPr/>
          <a:lstStyle/>
          <a:p>
            <a:endParaRPr lang="zh-CN" altLang="en-US"/>
          </a:p>
        </p:txBody>
      </p:sp>
      <p:sp>
        <p:nvSpPr>
          <p:cNvPr id="56356" name="Rectangle 35"/>
          <p:cNvSpPr>
            <a:spLocks noChangeArrowheads="1"/>
          </p:cNvSpPr>
          <p:nvPr/>
        </p:nvSpPr>
        <p:spPr bwMode="auto">
          <a:xfrm>
            <a:off x="1284288" y="2506663"/>
            <a:ext cx="169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R</a:t>
            </a:r>
            <a:endParaRPr lang="zh-CN" altLang="zh-CN" sz="2000">
              <a:latin typeface="Times New Roman" panose="02020603050405020304" pitchFamily="18" charset="0"/>
            </a:endParaRPr>
          </a:p>
        </p:txBody>
      </p:sp>
      <p:sp>
        <p:nvSpPr>
          <p:cNvPr id="56357" name="Rectangle 36"/>
          <p:cNvSpPr>
            <a:spLocks noChangeArrowheads="1"/>
          </p:cNvSpPr>
          <p:nvPr/>
        </p:nvSpPr>
        <p:spPr bwMode="auto">
          <a:xfrm>
            <a:off x="1493838" y="26416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6358" name="Rectangle 37"/>
          <p:cNvSpPr>
            <a:spLocks noChangeArrowheads="1"/>
          </p:cNvSpPr>
          <p:nvPr/>
        </p:nvSpPr>
        <p:spPr bwMode="auto">
          <a:xfrm>
            <a:off x="1595438" y="2655888"/>
            <a:ext cx="76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f</a:t>
            </a:r>
            <a:endParaRPr lang="zh-CN" altLang="zh-CN" sz="1800">
              <a:latin typeface="Times New Roman" panose="02020603050405020304" pitchFamily="18" charset="0"/>
            </a:endParaRPr>
          </a:p>
        </p:txBody>
      </p:sp>
      <p:sp>
        <p:nvSpPr>
          <p:cNvPr id="56359" name="Rectangle 38"/>
          <p:cNvSpPr>
            <a:spLocks noChangeArrowheads="1"/>
          </p:cNvSpPr>
          <p:nvPr/>
        </p:nvSpPr>
        <p:spPr bwMode="auto">
          <a:xfrm>
            <a:off x="2228850" y="568325"/>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56360" name="Rectangle 39"/>
          <p:cNvSpPr>
            <a:spLocks noChangeArrowheads="1"/>
          </p:cNvSpPr>
          <p:nvPr/>
        </p:nvSpPr>
        <p:spPr bwMode="auto">
          <a:xfrm>
            <a:off x="2355850" y="6667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6361" name="Freeform 40"/>
          <p:cNvSpPr/>
          <p:nvPr/>
        </p:nvSpPr>
        <p:spPr bwMode="auto">
          <a:xfrm>
            <a:off x="2967038" y="1069975"/>
            <a:ext cx="122237" cy="84138"/>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8"/>
                </a:moveTo>
                <a:lnTo>
                  <a:pt x="9" y="0"/>
                </a:lnTo>
                <a:lnTo>
                  <a:pt x="37" y="0"/>
                </a:lnTo>
                <a:lnTo>
                  <a:pt x="47" y="18"/>
                </a:lnTo>
                <a:lnTo>
                  <a:pt x="37" y="37"/>
                </a:lnTo>
                <a:lnTo>
                  <a:pt x="9" y="37"/>
                </a:lnTo>
                <a:lnTo>
                  <a:pt x="0" y="18"/>
                </a:lnTo>
                <a:close/>
              </a:path>
            </a:pathLst>
          </a:custGeom>
          <a:solidFill>
            <a:srgbClr val="000000"/>
          </a:solidFill>
          <a:ln w="14288">
            <a:solidFill>
              <a:srgbClr val="000000"/>
            </a:solidFill>
            <a:round/>
          </a:ln>
        </p:spPr>
        <p:txBody>
          <a:bodyPr/>
          <a:lstStyle/>
          <a:p>
            <a:endParaRPr lang="zh-CN" altLang="en-US"/>
          </a:p>
        </p:txBody>
      </p:sp>
      <p:sp>
        <p:nvSpPr>
          <p:cNvPr id="56362" name="Freeform 41"/>
          <p:cNvSpPr/>
          <p:nvPr/>
        </p:nvSpPr>
        <p:spPr bwMode="auto">
          <a:xfrm>
            <a:off x="2214563" y="1047750"/>
            <a:ext cx="315912" cy="106363"/>
          </a:xfrm>
          <a:custGeom>
            <a:avLst/>
            <a:gdLst>
              <a:gd name="T0" fmla="*/ 0 w 122"/>
              <a:gd name="T1" fmla="*/ 0 h 47"/>
              <a:gd name="T2" fmla="*/ 2147483646 w 122"/>
              <a:gd name="T3" fmla="*/ 2147483646 h 47"/>
              <a:gd name="T4" fmla="*/ 0 w 122"/>
              <a:gd name="T5" fmla="*/ 2147483646 h 47"/>
              <a:gd name="T6" fmla="*/ 2147483646 w 122"/>
              <a:gd name="T7" fmla="*/ 2147483646 h 47"/>
              <a:gd name="T8" fmla="*/ 0 w 122"/>
              <a:gd name="T9" fmla="*/ 0 h 47"/>
              <a:gd name="T10" fmla="*/ 0 60000 65536"/>
              <a:gd name="T11" fmla="*/ 0 60000 65536"/>
              <a:gd name="T12" fmla="*/ 0 60000 65536"/>
              <a:gd name="T13" fmla="*/ 0 60000 65536"/>
              <a:gd name="T14" fmla="*/ 0 60000 65536"/>
              <a:gd name="T15" fmla="*/ 0 w 122"/>
              <a:gd name="T16" fmla="*/ 0 h 47"/>
              <a:gd name="T17" fmla="*/ 122 w 122"/>
              <a:gd name="T18" fmla="*/ 47 h 47"/>
            </a:gdLst>
            <a:ahLst/>
            <a:cxnLst>
              <a:cxn ang="T10">
                <a:pos x="T0" y="T1"/>
              </a:cxn>
              <a:cxn ang="T11">
                <a:pos x="T2" y="T3"/>
              </a:cxn>
              <a:cxn ang="T12">
                <a:pos x="T4" y="T5"/>
              </a:cxn>
              <a:cxn ang="T13">
                <a:pos x="T6" y="T7"/>
              </a:cxn>
              <a:cxn ang="T14">
                <a:pos x="T8" y="T9"/>
              </a:cxn>
            </a:cxnLst>
            <a:rect l="T15" t="T16" r="T17" b="T18"/>
            <a:pathLst>
              <a:path w="122" h="47">
                <a:moveTo>
                  <a:pt x="0" y="0"/>
                </a:moveTo>
                <a:lnTo>
                  <a:pt x="28" y="28"/>
                </a:lnTo>
                <a:lnTo>
                  <a:pt x="0" y="47"/>
                </a:lnTo>
                <a:lnTo>
                  <a:pt x="122" y="28"/>
                </a:lnTo>
                <a:lnTo>
                  <a:pt x="0" y="0"/>
                </a:lnTo>
                <a:close/>
              </a:path>
            </a:pathLst>
          </a:custGeom>
          <a:solidFill>
            <a:srgbClr val="000000"/>
          </a:solidFill>
          <a:ln w="14288">
            <a:solidFill>
              <a:srgbClr val="000000"/>
            </a:solidFill>
            <a:round/>
          </a:ln>
        </p:spPr>
        <p:txBody>
          <a:bodyPr/>
          <a:lstStyle/>
          <a:p>
            <a:endParaRPr lang="zh-CN" altLang="en-US"/>
          </a:p>
        </p:txBody>
      </p:sp>
      <p:sp>
        <p:nvSpPr>
          <p:cNvPr id="56363" name="Freeform 42"/>
          <p:cNvSpPr/>
          <p:nvPr/>
        </p:nvSpPr>
        <p:spPr bwMode="auto">
          <a:xfrm>
            <a:off x="3427413" y="1047750"/>
            <a:ext cx="290512" cy="106363"/>
          </a:xfrm>
          <a:custGeom>
            <a:avLst/>
            <a:gdLst>
              <a:gd name="T0" fmla="*/ 0 w 112"/>
              <a:gd name="T1" fmla="*/ 0 h 47"/>
              <a:gd name="T2" fmla="*/ 2147483646 w 112"/>
              <a:gd name="T3" fmla="*/ 2147483646 h 47"/>
              <a:gd name="T4" fmla="*/ 0 w 112"/>
              <a:gd name="T5" fmla="*/ 2147483646 h 47"/>
              <a:gd name="T6" fmla="*/ 2147483646 w 112"/>
              <a:gd name="T7" fmla="*/ 2147483646 h 47"/>
              <a:gd name="T8" fmla="*/ 0 w 112"/>
              <a:gd name="T9" fmla="*/ 0 h 47"/>
              <a:gd name="T10" fmla="*/ 0 60000 65536"/>
              <a:gd name="T11" fmla="*/ 0 60000 65536"/>
              <a:gd name="T12" fmla="*/ 0 60000 65536"/>
              <a:gd name="T13" fmla="*/ 0 60000 65536"/>
              <a:gd name="T14" fmla="*/ 0 60000 65536"/>
              <a:gd name="T15" fmla="*/ 0 w 112"/>
              <a:gd name="T16" fmla="*/ 0 h 47"/>
              <a:gd name="T17" fmla="*/ 112 w 112"/>
              <a:gd name="T18" fmla="*/ 47 h 47"/>
            </a:gdLst>
            <a:ahLst/>
            <a:cxnLst>
              <a:cxn ang="T10">
                <a:pos x="T0" y="T1"/>
              </a:cxn>
              <a:cxn ang="T11">
                <a:pos x="T2" y="T3"/>
              </a:cxn>
              <a:cxn ang="T12">
                <a:pos x="T4" y="T5"/>
              </a:cxn>
              <a:cxn ang="T13">
                <a:pos x="T6" y="T7"/>
              </a:cxn>
              <a:cxn ang="T14">
                <a:pos x="T8" y="T9"/>
              </a:cxn>
            </a:cxnLst>
            <a:rect l="T15" t="T16" r="T17" b="T18"/>
            <a:pathLst>
              <a:path w="112" h="47">
                <a:moveTo>
                  <a:pt x="0" y="0"/>
                </a:moveTo>
                <a:lnTo>
                  <a:pt x="19" y="28"/>
                </a:lnTo>
                <a:lnTo>
                  <a:pt x="0" y="47"/>
                </a:lnTo>
                <a:lnTo>
                  <a:pt x="112" y="28"/>
                </a:lnTo>
                <a:lnTo>
                  <a:pt x="0" y="0"/>
                </a:lnTo>
                <a:close/>
              </a:path>
            </a:pathLst>
          </a:custGeom>
          <a:solidFill>
            <a:srgbClr val="000000"/>
          </a:solidFill>
          <a:ln w="14288">
            <a:solidFill>
              <a:srgbClr val="000000"/>
            </a:solidFill>
            <a:round/>
          </a:ln>
        </p:spPr>
        <p:txBody>
          <a:bodyPr/>
          <a:lstStyle/>
          <a:p>
            <a:endParaRPr lang="zh-CN" altLang="en-US"/>
          </a:p>
        </p:txBody>
      </p:sp>
      <p:sp>
        <p:nvSpPr>
          <p:cNvPr id="56364" name="Rectangle 43"/>
          <p:cNvSpPr>
            <a:spLocks noChangeArrowheads="1"/>
          </p:cNvSpPr>
          <p:nvPr/>
        </p:nvSpPr>
        <p:spPr bwMode="auto">
          <a:xfrm>
            <a:off x="3535363" y="668338"/>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56365" name="Rectangle 44"/>
          <p:cNvSpPr>
            <a:spLocks noChangeArrowheads="1"/>
          </p:cNvSpPr>
          <p:nvPr/>
        </p:nvSpPr>
        <p:spPr bwMode="auto">
          <a:xfrm>
            <a:off x="3708400" y="766763"/>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i</a:t>
            </a:r>
            <a:endParaRPr lang="zh-CN" altLang="zh-CN" sz="1800">
              <a:latin typeface="Times New Roman" panose="02020603050405020304" pitchFamily="18" charset="0"/>
            </a:endParaRPr>
          </a:p>
        </p:txBody>
      </p:sp>
      <p:sp>
        <p:nvSpPr>
          <p:cNvPr id="56366" name="Rectangle 45"/>
          <p:cNvSpPr>
            <a:spLocks noChangeArrowheads="1"/>
          </p:cNvSpPr>
          <p:nvPr/>
        </p:nvSpPr>
        <p:spPr bwMode="auto">
          <a:xfrm>
            <a:off x="3706813" y="617538"/>
            <a:ext cx="20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56367" name="Freeform 46"/>
          <p:cNvSpPr/>
          <p:nvPr/>
        </p:nvSpPr>
        <p:spPr bwMode="auto">
          <a:xfrm>
            <a:off x="2967038" y="1533525"/>
            <a:ext cx="122237" cy="274638"/>
          </a:xfrm>
          <a:custGeom>
            <a:avLst/>
            <a:gdLst>
              <a:gd name="T0" fmla="*/ 0 w 47"/>
              <a:gd name="T1" fmla="*/ 0 h 121"/>
              <a:gd name="T2" fmla="*/ 2147483646 w 47"/>
              <a:gd name="T3" fmla="*/ 2147483646 h 121"/>
              <a:gd name="T4" fmla="*/ 2147483646 w 47"/>
              <a:gd name="T5" fmla="*/ 0 h 121"/>
              <a:gd name="T6" fmla="*/ 2147483646 w 47"/>
              <a:gd name="T7" fmla="*/ 2147483646 h 121"/>
              <a:gd name="T8" fmla="*/ 0 w 47"/>
              <a:gd name="T9" fmla="*/ 0 h 121"/>
              <a:gd name="T10" fmla="*/ 0 60000 65536"/>
              <a:gd name="T11" fmla="*/ 0 60000 65536"/>
              <a:gd name="T12" fmla="*/ 0 60000 65536"/>
              <a:gd name="T13" fmla="*/ 0 60000 65536"/>
              <a:gd name="T14" fmla="*/ 0 60000 65536"/>
              <a:gd name="T15" fmla="*/ 0 w 47"/>
              <a:gd name="T16" fmla="*/ 0 h 121"/>
              <a:gd name="T17" fmla="*/ 47 w 47"/>
              <a:gd name="T18" fmla="*/ 121 h 121"/>
            </a:gdLst>
            <a:ahLst/>
            <a:cxnLst>
              <a:cxn ang="T10">
                <a:pos x="T0" y="T1"/>
              </a:cxn>
              <a:cxn ang="T11">
                <a:pos x="T2" y="T3"/>
              </a:cxn>
              <a:cxn ang="T12">
                <a:pos x="T4" y="T5"/>
              </a:cxn>
              <a:cxn ang="T13">
                <a:pos x="T6" y="T7"/>
              </a:cxn>
              <a:cxn ang="T14">
                <a:pos x="T8" y="T9"/>
              </a:cxn>
            </a:cxnLst>
            <a:rect l="T15" t="T16" r="T17" b="T18"/>
            <a:pathLst>
              <a:path w="47" h="121">
                <a:moveTo>
                  <a:pt x="0" y="0"/>
                </a:moveTo>
                <a:lnTo>
                  <a:pt x="19" y="28"/>
                </a:lnTo>
                <a:lnTo>
                  <a:pt x="47" y="0"/>
                </a:lnTo>
                <a:lnTo>
                  <a:pt x="19" y="121"/>
                </a:lnTo>
                <a:lnTo>
                  <a:pt x="0" y="0"/>
                </a:lnTo>
                <a:close/>
              </a:path>
            </a:pathLst>
          </a:custGeom>
          <a:solidFill>
            <a:srgbClr val="000000"/>
          </a:solidFill>
          <a:ln w="14288">
            <a:solidFill>
              <a:srgbClr val="000000"/>
            </a:solidFill>
            <a:round/>
          </a:ln>
        </p:spPr>
        <p:txBody>
          <a:bodyPr/>
          <a:lstStyle/>
          <a:p>
            <a:endParaRPr lang="zh-CN" altLang="en-US"/>
          </a:p>
        </p:txBody>
      </p:sp>
      <p:sp>
        <p:nvSpPr>
          <p:cNvPr id="56368" name="Rectangle 47"/>
          <p:cNvSpPr>
            <a:spLocks noChangeArrowheads="1"/>
          </p:cNvSpPr>
          <p:nvPr/>
        </p:nvSpPr>
        <p:spPr bwMode="auto">
          <a:xfrm>
            <a:off x="3341688" y="1617663"/>
            <a:ext cx="9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i="1">
                <a:solidFill>
                  <a:srgbClr val="000000"/>
                </a:solidFill>
                <a:latin typeface="Times New Roman" panose="02020603050405020304" pitchFamily="18" charset="0"/>
              </a:rPr>
              <a:t>I</a:t>
            </a:r>
            <a:endParaRPr lang="zh-CN" altLang="zh-CN" sz="2000">
              <a:latin typeface="Times New Roman" panose="02020603050405020304" pitchFamily="18" charset="0"/>
            </a:endParaRPr>
          </a:p>
        </p:txBody>
      </p:sp>
      <p:sp>
        <p:nvSpPr>
          <p:cNvPr id="56369" name="Rectangle 48"/>
          <p:cNvSpPr>
            <a:spLocks noChangeArrowheads="1"/>
          </p:cNvSpPr>
          <p:nvPr/>
        </p:nvSpPr>
        <p:spPr bwMode="auto">
          <a:xfrm>
            <a:off x="3516313" y="1746250"/>
            <a:ext cx="76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800">
                <a:solidFill>
                  <a:srgbClr val="000000"/>
                </a:solidFill>
                <a:latin typeface="Times New Roman" panose="02020603050405020304" pitchFamily="18" charset="0"/>
              </a:rPr>
              <a:t>f</a:t>
            </a:r>
            <a:endParaRPr lang="zh-CN" altLang="zh-CN" sz="1800">
              <a:latin typeface="Times New Roman" panose="02020603050405020304" pitchFamily="18" charset="0"/>
            </a:endParaRPr>
          </a:p>
        </p:txBody>
      </p:sp>
      <p:sp>
        <p:nvSpPr>
          <p:cNvPr id="56370" name="Rectangle 49"/>
          <p:cNvSpPr>
            <a:spLocks noChangeArrowheads="1"/>
          </p:cNvSpPr>
          <p:nvPr/>
        </p:nvSpPr>
        <p:spPr bwMode="auto">
          <a:xfrm>
            <a:off x="3416300" y="1358900"/>
            <a:ext cx="93663"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1500">
                <a:solidFill>
                  <a:srgbClr val="000000"/>
                </a:solidFill>
                <a:latin typeface="宋体" panose="02010600030101010101" pitchFamily="2" charset="-122"/>
              </a:rPr>
              <a:t>.</a:t>
            </a:r>
            <a:endParaRPr lang="zh-CN" altLang="zh-CN" sz="2800">
              <a:latin typeface="Times New Roman" panose="02020603050405020304" pitchFamily="18" charset="0"/>
            </a:endParaRPr>
          </a:p>
        </p:txBody>
      </p:sp>
      <p:sp>
        <p:nvSpPr>
          <p:cNvPr id="56371" name="Freeform 50"/>
          <p:cNvSpPr/>
          <p:nvPr/>
        </p:nvSpPr>
        <p:spPr bwMode="auto">
          <a:xfrm>
            <a:off x="2044700" y="2252663"/>
            <a:ext cx="122238" cy="84137"/>
          </a:xfrm>
          <a:custGeom>
            <a:avLst/>
            <a:gdLst>
              <a:gd name="T0" fmla="*/ 0 w 47"/>
              <a:gd name="T1" fmla="*/ 2147483646 h 37"/>
              <a:gd name="T2" fmla="*/ 2147483646 w 47"/>
              <a:gd name="T3" fmla="*/ 0 h 37"/>
              <a:gd name="T4" fmla="*/ 2147483646 w 47"/>
              <a:gd name="T5" fmla="*/ 0 h 37"/>
              <a:gd name="T6" fmla="*/ 2147483646 w 47"/>
              <a:gd name="T7" fmla="*/ 2147483646 h 37"/>
              <a:gd name="T8" fmla="*/ 2147483646 w 47"/>
              <a:gd name="T9" fmla="*/ 2147483646 h 37"/>
              <a:gd name="T10" fmla="*/ 2147483646 w 47"/>
              <a:gd name="T11" fmla="*/ 2147483646 h 37"/>
              <a:gd name="T12" fmla="*/ 0 w 47"/>
              <a:gd name="T13" fmla="*/ 2147483646 h 37"/>
              <a:gd name="T14" fmla="*/ 0 60000 65536"/>
              <a:gd name="T15" fmla="*/ 0 60000 65536"/>
              <a:gd name="T16" fmla="*/ 0 60000 65536"/>
              <a:gd name="T17" fmla="*/ 0 60000 65536"/>
              <a:gd name="T18" fmla="*/ 0 60000 65536"/>
              <a:gd name="T19" fmla="*/ 0 60000 65536"/>
              <a:gd name="T20" fmla="*/ 0 60000 65536"/>
              <a:gd name="T21" fmla="*/ 0 w 47"/>
              <a:gd name="T22" fmla="*/ 0 h 37"/>
              <a:gd name="T23" fmla="*/ 47 w 47"/>
              <a:gd name="T24" fmla="*/ 37 h 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37">
                <a:moveTo>
                  <a:pt x="0" y="19"/>
                </a:moveTo>
                <a:lnTo>
                  <a:pt x="9" y="0"/>
                </a:lnTo>
                <a:lnTo>
                  <a:pt x="37" y="0"/>
                </a:lnTo>
                <a:lnTo>
                  <a:pt x="47" y="19"/>
                </a:lnTo>
                <a:lnTo>
                  <a:pt x="37" y="37"/>
                </a:lnTo>
                <a:lnTo>
                  <a:pt x="9" y="37"/>
                </a:lnTo>
                <a:lnTo>
                  <a:pt x="0" y="19"/>
                </a:lnTo>
                <a:close/>
              </a:path>
            </a:pathLst>
          </a:custGeom>
          <a:solidFill>
            <a:srgbClr val="000000"/>
          </a:solidFill>
          <a:ln w="14288">
            <a:solidFill>
              <a:srgbClr val="000000"/>
            </a:solidFill>
            <a:round/>
          </a:ln>
        </p:spPr>
        <p:txBody>
          <a:bodyPr/>
          <a:lstStyle/>
          <a:p>
            <a:endParaRPr lang="zh-CN" altLang="en-US"/>
          </a:p>
        </p:txBody>
      </p:sp>
      <p:sp>
        <p:nvSpPr>
          <p:cNvPr id="56372" name="Rectangle 51"/>
          <p:cNvSpPr>
            <a:spLocks noChangeArrowheads="1"/>
          </p:cNvSpPr>
          <p:nvPr/>
        </p:nvSpPr>
        <p:spPr bwMode="auto">
          <a:xfrm>
            <a:off x="6505575" y="2538413"/>
            <a:ext cx="22018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a:latin typeface="Times New Roman" panose="02020603050405020304" pitchFamily="18" charset="0"/>
              </a:rPr>
              <a:t>(b)并联反馈</a:t>
            </a:r>
            <a:endParaRPr lang="zh-CN" altLang="zh-CN" sz="2800">
              <a:latin typeface="Times New Roman" panose="02020603050405020304" pitchFamily="18" charset="0"/>
            </a:endParaRPr>
          </a:p>
        </p:txBody>
      </p:sp>
      <p:sp>
        <p:nvSpPr>
          <p:cNvPr id="56373" name="Rectangle 52"/>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56374" name="Object 53"/>
          <p:cNvGraphicFramePr>
            <a:graphicFrameLocks noChangeAspect="1"/>
          </p:cNvGraphicFramePr>
          <p:nvPr/>
        </p:nvGraphicFramePr>
        <p:xfrm>
          <a:off x="938213" y="4046538"/>
          <a:ext cx="6513512" cy="1239837"/>
        </p:xfrm>
        <a:graphic>
          <a:graphicData uri="http://schemas.openxmlformats.org/presentationml/2006/ole">
            <mc:AlternateContent xmlns:mc="http://schemas.openxmlformats.org/markup-compatibility/2006">
              <mc:Choice xmlns:v="urn:schemas-microsoft-com:vml" Requires="v">
                <p:oleObj spid="_x0000_s56438" name="" r:id="rId1" imgW="2439670" imgH="469900" progId="Equation.3">
                  <p:embed/>
                </p:oleObj>
              </mc:Choice>
              <mc:Fallback>
                <p:oleObj name="" r:id="rId1" imgW="2439670" imgH="469900" progId="Equation.3">
                  <p:embed/>
                  <p:pic>
                    <p:nvPicPr>
                      <p:cNvPr id="0" name="Object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13" y="4046538"/>
                        <a:ext cx="6513512"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75" name="Object 54"/>
          <p:cNvGraphicFramePr>
            <a:graphicFrameLocks noChangeAspect="1"/>
          </p:cNvGraphicFramePr>
          <p:nvPr/>
        </p:nvGraphicFramePr>
        <p:xfrm>
          <a:off x="3032125" y="5376863"/>
          <a:ext cx="2359025" cy="1160462"/>
        </p:xfrm>
        <a:graphic>
          <a:graphicData uri="http://schemas.openxmlformats.org/presentationml/2006/ole">
            <mc:AlternateContent xmlns:mc="http://schemas.openxmlformats.org/markup-compatibility/2006">
              <mc:Choice xmlns:v="urn:schemas-microsoft-com:vml" Requires="v">
                <p:oleObj spid="_x0000_s56439" name="" r:id="rId3" imgW="1282700" imgH="609600" progId="Equation.3">
                  <p:embed/>
                </p:oleObj>
              </mc:Choice>
              <mc:Fallback>
                <p:oleObj name="" r:id="rId3" imgW="1282700" imgH="609600"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2125" y="5376863"/>
                        <a:ext cx="2359025" cy="1160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FDA484F-0E98-4BF0-BFA3-29942A64F6C3}" type="slidenum">
              <a:rPr lang="zh-CN" altLang="zh-CN" sz="1400" smtClean="0"/>
            </a:fld>
            <a:endParaRPr lang="zh-CN" altLang="zh-CN" sz="1400" smtClean="0"/>
          </a:p>
        </p:txBody>
      </p:sp>
      <p:sp>
        <p:nvSpPr>
          <p:cNvPr id="57347" name="Rectangle 2"/>
          <p:cNvSpPr>
            <a:spLocks noChangeArrowheads="1"/>
          </p:cNvSpPr>
          <p:nvPr/>
        </p:nvSpPr>
        <p:spPr bwMode="auto">
          <a:xfrm>
            <a:off x="0" y="3895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57348" name="Text Box 3"/>
          <p:cNvSpPr txBox="1">
            <a:spLocks noChangeArrowheads="1"/>
          </p:cNvSpPr>
          <p:nvPr/>
        </p:nvSpPr>
        <p:spPr bwMode="auto">
          <a:xfrm>
            <a:off x="1747838" y="3889375"/>
            <a:ext cx="589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400">
                <a:latin typeface="Times New Roman" panose="02020603050405020304" pitchFamily="18" charset="0"/>
              </a:rPr>
              <a:t> 图6.2.4 电压负反馈放大器输出电阻的计算 </a:t>
            </a:r>
            <a:endParaRPr lang="zh-CN" altLang="zh-CN" sz="2400">
              <a:latin typeface="Times New Roman" panose="02020603050405020304" pitchFamily="18" charset="0"/>
            </a:endParaRPr>
          </a:p>
        </p:txBody>
      </p:sp>
      <p:sp>
        <p:nvSpPr>
          <p:cNvPr id="2" name="Text Box 4"/>
          <p:cNvSpPr txBox="1">
            <a:spLocks noChangeArrowheads="1"/>
          </p:cNvSpPr>
          <p:nvPr/>
        </p:nvSpPr>
        <p:spPr bwMode="auto">
          <a:xfrm>
            <a:off x="550863" y="4732338"/>
            <a:ext cx="78311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 </a:t>
            </a:r>
            <a:r>
              <a:rPr lang="zh-CN" altLang="zh-CN" sz="2800" i="1">
                <a:latin typeface="Times New Roman" panose="02020603050405020304" pitchFamily="18" charset="0"/>
              </a:rPr>
              <a:t>R</a:t>
            </a:r>
            <a:r>
              <a:rPr lang="zh-CN" altLang="zh-CN" sz="2800" i="1" baseline="-25000">
                <a:latin typeface="Times New Roman" panose="02020603050405020304" pitchFamily="18" charset="0"/>
              </a:rPr>
              <a:t>o</a:t>
            </a:r>
            <a:r>
              <a:rPr lang="zh-CN" altLang="zh-CN" sz="2800">
                <a:latin typeface="Times New Roman" panose="02020603050405020304" pitchFamily="18" charset="0"/>
              </a:rPr>
              <a:t>为基本放大器的输出电阻（即开环输出电阻） </a:t>
            </a:r>
            <a:endParaRPr lang="zh-CN" altLang="zh-CN" sz="2800">
              <a:latin typeface="Times New Roman" panose="02020603050405020304" pitchFamily="18" charset="0"/>
            </a:endParaRPr>
          </a:p>
        </p:txBody>
      </p:sp>
      <p:sp>
        <p:nvSpPr>
          <p:cNvPr id="57349" name="Text Box 5"/>
          <p:cNvSpPr txBox="1">
            <a:spLocks noChangeArrowheads="1"/>
          </p:cNvSpPr>
          <p:nvPr/>
        </p:nvSpPr>
        <p:spPr bwMode="auto">
          <a:xfrm>
            <a:off x="1419225" y="5545138"/>
            <a:ext cx="73866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为等效开路电压（</a:t>
            </a:r>
            <a:r>
              <a:rPr lang="zh-CN" altLang="zh-CN" sz="2800" i="1">
                <a:latin typeface="Times New Roman" panose="02020603050405020304" pitchFamily="18" charset="0"/>
              </a:rPr>
              <a:t>A</a:t>
            </a:r>
            <a:r>
              <a:rPr lang="zh-CN" altLang="zh-CN" sz="2800" i="1" baseline="-25000">
                <a:latin typeface="Times New Roman" panose="02020603050405020304" pitchFamily="18" charset="0"/>
              </a:rPr>
              <a:t>o</a:t>
            </a:r>
            <a:r>
              <a:rPr lang="zh-CN" altLang="zh-CN" sz="2800">
                <a:latin typeface="Times New Roman" panose="02020603050405020304" pitchFamily="18" charset="0"/>
              </a:rPr>
              <a:t>为负载开路放大倍数）。 </a:t>
            </a:r>
            <a:endParaRPr lang="zh-CN" altLang="zh-CN" sz="2800">
              <a:latin typeface="Times New Roman" panose="02020603050405020304" pitchFamily="18" charset="0"/>
            </a:endParaRPr>
          </a:p>
        </p:txBody>
      </p:sp>
      <p:sp>
        <p:nvSpPr>
          <p:cNvPr id="5735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3" name="Object 7"/>
          <p:cNvGraphicFramePr>
            <a:graphicFrameLocks noChangeAspect="1"/>
          </p:cNvGraphicFramePr>
          <p:nvPr/>
        </p:nvGraphicFramePr>
        <p:xfrm>
          <a:off x="522288" y="5559425"/>
          <a:ext cx="1104900" cy="712788"/>
        </p:xfrm>
        <a:graphic>
          <a:graphicData uri="http://schemas.openxmlformats.org/presentationml/2006/ole">
            <mc:AlternateContent xmlns:mc="http://schemas.openxmlformats.org/markup-compatibility/2006">
              <mc:Choice xmlns:v="urn:schemas-microsoft-com:vml" Requires="v">
                <p:oleObj spid="_x0000_s57387" name="" r:id="rId1" imgW="369570" imgH="241935" progId="Equation.3">
                  <p:embed/>
                </p:oleObj>
              </mc:Choice>
              <mc:Fallback>
                <p:oleObj name="" r:id="rId1" imgW="369570" imgH="24193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288" y="5559425"/>
                        <a:ext cx="1104900"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3" name="Rectangle 8"/>
          <p:cNvSpPr>
            <a:spLocks noChangeArrowheads="1"/>
          </p:cNvSpPr>
          <p:nvPr/>
        </p:nvSpPr>
        <p:spPr bwMode="auto">
          <a:xfrm>
            <a:off x="612775" y="334963"/>
            <a:ext cx="4375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a:latin typeface="Times New Roman" panose="02020603050405020304" pitchFamily="18" charset="0"/>
              </a:rPr>
              <a:t>二、对输出电阻的影响</a:t>
            </a:r>
            <a:endParaRPr lang="zh-CN" altLang="zh-CN" sz="2800">
              <a:latin typeface="Times New Roman" panose="02020603050405020304" pitchFamily="18" charset="0"/>
            </a:endParaRPr>
          </a:p>
        </p:txBody>
      </p:sp>
      <p:pic>
        <p:nvPicPr>
          <p:cNvPr id="5735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163" y="1057275"/>
            <a:ext cx="7869237"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7F4E07B-87FD-43D4-9BCE-5E10ACE49017}" type="slidenum">
              <a:rPr lang="zh-CN" altLang="zh-CN" sz="1400" smtClean="0"/>
            </a:fld>
            <a:endParaRPr lang="zh-CN" altLang="zh-CN" sz="1400" smtClean="0"/>
          </a:p>
        </p:txBody>
      </p:sp>
      <p:sp>
        <p:nvSpPr>
          <p:cNvPr id="58371" name="Text Box 2"/>
          <p:cNvSpPr txBox="1">
            <a:spLocks noChangeArrowheads="1"/>
          </p:cNvSpPr>
          <p:nvPr/>
        </p:nvSpPr>
        <p:spPr bwMode="auto">
          <a:xfrm>
            <a:off x="330200" y="3359150"/>
            <a:ext cx="793115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solidFill>
                  <a:srgbClr val="CC0099"/>
                </a:solidFill>
                <a:latin typeface="Times New Roman" panose="02020603050405020304" pitchFamily="18" charset="0"/>
              </a:rPr>
              <a:t>分析：</a:t>
            </a:r>
            <a:r>
              <a:rPr lang="zh-CN" altLang="zh-CN" sz="2800">
                <a:latin typeface="Times New Roman" panose="02020603050405020304" pitchFamily="18" charset="0"/>
              </a:rPr>
              <a:t>在无反馈时，将输入短路</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=0，则净输入</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’=0，所以</a:t>
            </a:r>
            <a:r>
              <a:rPr lang="zh-CN" altLang="zh-CN" sz="2800" i="1">
                <a:latin typeface="Times New Roman" panose="02020603050405020304" pitchFamily="18" charset="0"/>
              </a:rPr>
              <a:t>A</a:t>
            </a:r>
            <a:r>
              <a:rPr lang="zh-CN" altLang="zh-CN" sz="2800" i="1" baseline="-25000">
                <a:latin typeface="Times New Roman" panose="02020603050405020304" pitchFamily="18" charset="0"/>
              </a:rPr>
              <a:t>o</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’=0，此时的输出电阻为</a:t>
            </a:r>
            <a:r>
              <a:rPr lang="zh-CN" altLang="zh-CN" sz="2800" i="1">
                <a:latin typeface="Times New Roman" panose="02020603050405020304" pitchFamily="18" charset="0"/>
              </a:rPr>
              <a:t>Ro</a:t>
            </a:r>
            <a:r>
              <a:rPr lang="zh-CN" altLang="zh-CN" sz="2800">
                <a:latin typeface="Times New Roman" panose="02020603050405020304" pitchFamily="18" charset="0"/>
              </a:rPr>
              <a:t>。 </a:t>
            </a:r>
            <a:endParaRPr lang="zh-CN" altLang="zh-CN" sz="2800">
              <a:latin typeface="Times New Roman" panose="02020603050405020304" pitchFamily="18" charset="0"/>
            </a:endParaRPr>
          </a:p>
        </p:txBody>
      </p:sp>
      <p:sp>
        <p:nvSpPr>
          <p:cNvPr id="58372" name="Text Box 3"/>
          <p:cNvSpPr txBox="1">
            <a:spLocks noChangeArrowheads="1"/>
          </p:cNvSpPr>
          <p:nvPr/>
        </p:nvSpPr>
        <p:spPr bwMode="auto">
          <a:xfrm>
            <a:off x="282575" y="4589463"/>
            <a:ext cx="83693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引入反馈后，当</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=0时，净输入</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a:t>
            </a:r>
            <a:r>
              <a:rPr lang="zh-CN" altLang="zh-CN" sz="2800">
                <a:latin typeface="Times New Roman" panose="02020603050405020304" pitchFamily="18" charset="0"/>
                <a:sym typeface="Symbol" panose="05050102010706020507" pitchFamily="18" charset="2"/>
              </a:rPr>
              <a:t></a:t>
            </a:r>
            <a:r>
              <a:rPr lang="zh-CN" altLang="zh-CN" sz="2800">
                <a:latin typeface="Times New Roman" panose="02020603050405020304" pitchFamily="18" charset="0"/>
              </a:rPr>
              <a:t>0，而是</a:t>
            </a:r>
            <a:r>
              <a:rPr lang="zh-CN" altLang="zh-CN" sz="2800" i="1">
                <a:latin typeface="Times New Roman" panose="02020603050405020304" pitchFamily="18" charset="0"/>
              </a:rPr>
              <a:t>X</a:t>
            </a:r>
            <a:r>
              <a:rPr lang="zh-CN" altLang="zh-CN" sz="2800" i="1" baseline="-25000">
                <a:latin typeface="Times New Roman" panose="02020603050405020304" pitchFamily="18" charset="0"/>
              </a:rPr>
              <a:t>i</a:t>
            </a:r>
            <a:r>
              <a:rPr lang="zh-CN" altLang="zh-CN" sz="2800">
                <a:latin typeface="Times New Roman" panose="02020603050405020304" pitchFamily="18" charset="0"/>
              </a:rPr>
              <a:t>’= </a:t>
            </a:r>
            <a:r>
              <a:rPr lang="zh-CN" altLang="zh-CN" sz="2800">
                <a:latin typeface="Times New Roman" panose="02020603050405020304" pitchFamily="18" charset="0"/>
                <a:cs typeface="Times New Roman" panose="02020603050405020304" pitchFamily="18" charset="0"/>
              </a:rPr>
              <a:t>-</a:t>
            </a:r>
            <a:r>
              <a:rPr lang="zh-CN" altLang="zh-CN" sz="2800" i="1">
                <a:latin typeface="Times New Roman" panose="02020603050405020304" pitchFamily="18" charset="0"/>
                <a:cs typeface="Times New Roman" panose="02020603050405020304" pitchFamily="18" charset="0"/>
              </a:rPr>
              <a:t>X</a:t>
            </a:r>
            <a:r>
              <a:rPr lang="zh-CN" altLang="zh-CN" sz="2800" i="1" baseline="-25000">
                <a:latin typeface="Times New Roman" panose="02020603050405020304" pitchFamily="18" charset="0"/>
                <a:cs typeface="Times New Roman" panose="02020603050405020304" pitchFamily="18" charset="0"/>
              </a:rPr>
              <a:t>f</a:t>
            </a:r>
            <a:r>
              <a:rPr lang="zh-CN" altLang="zh-CN" sz="2800">
                <a:latin typeface="Times New Roman" panose="02020603050405020304" pitchFamily="18" charset="0"/>
              </a:rPr>
              <a:t>，此时反馈放大器的输出电阻为： </a:t>
            </a:r>
            <a:endParaRPr lang="zh-CN" altLang="zh-CN" sz="2800">
              <a:latin typeface="Times New Roman" panose="02020603050405020304" pitchFamily="18" charset="0"/>
            </a:endParaRPr>
          </a:p>
        </p:txBody>
      </p:sp>
      <p:graphicFrame>
        <p:nvGraphicFramePr>
          <p:cNvPr id="58373" name="Object 4"/>
          <p:cNvGraphicFramePr>
            <a:graphicFrameLocks noChangeAspect="1"/>
          </p:cNvGraphicFramePr>
          <p:nvPr/>
        </p:nvGraphicFramePr>
        <p:xfrm>
          <a:off x="5595938" y="5345113"/>
          <a:ext cx="2601912" cy="1189037"/>
        </p:xfrm>
        <a:graphic>
          <a:graphicData uri="http://schemas.openxmlformats.org/presentationml/2006/ole">
            <mc:AlternateContent xmlns:mc="http://schemas.openxmlformats.org/markup-compatibility/2006">
              <mc:Choice xmlns:v="urn:schemas-microsoft-com:vml" Requires="v">
                <p:oleObj spid="_x0000_s58407" name="" r:id="rId1" imgW="1080135" imgH="495935" progId="Equation.3">
                  <p:embed/>
                </p:oleObj>
              </mc:Choice>
              <mc:Fallback>
                <p:oleObj name="" r:id="rId1" imgW="1080135" imgH="49593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938" y="5345113"/>
                        <a:ext cx="2601912"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74" name="Rectangle 5"/>
          <p:cNvSpPr>
            <a:spLocks noChangeArrowheads="1"/>
          </p:cNvSpPr>
          <p:nvPr/>
        </p:nvSpPr>
        <p:spPr bwMode="auto">
          <a:xfrm>
            <a:off x="1295400" y="2890838"/>
            <a:ext cx="6535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图 6.2.4  负反馈电路的输出电阻（a）电压反馈  </a:t>
            </a:r>
            <a:endParaRPr lang="zh-CN" altLang="zh-CN" sz="2400">
              <a:latin typeface="Times New Roman" panose="02020603050405020304" pitchFamily="18" charset="0"/>
            </a:endParaRPr>
          </a:p>
        </p:txBody>
      </p:sp>
      <p:pic>
        <p:nvPicPr>
          <p:cNvPr id="5837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0" y="161925"/>
            <a:ext cx="7869238"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D24F145-B124-4063-B595-E893015E3997}" type="slidenum">
              <a:rPr lang="zh-CN" altLang="zh-CN" sz="1400" smtClean="0"/>
            </a:fld>
            <a:endParaRPr lang="zh-CN" altLang="zh-CN" sz="1400" smtClean="0"/>
          </a:p>
        </p:txBody>
      </p:sp>
      <p:graphicFrame>
        <p:nvGraphicFramePr>
          <p:cNvPr id="59395" name="Object 2"/>
          <p:cNvGraphicFramePr>
            <a:graphicFrameLocks noChangeAspect="1"/>
          </p:cNvGraphicFramePr>
          <p:nvPr/>
        </p:nvGraphicFramePr>
        <p:xfrm>
          <a:off x="660400" y="3783013"/>
          <a:ext cx="7615238" cy="619125"/>
        </p:xfrm>
        <a:graphic>
          <a:graphicData uri="http://schemas.openxmlformats.org/presentationml/2006/ole">
            <mc:AlternateContent xmlns:mc="http://schemas.openxmlformats.org/markup-compatibility/2006">
              <mc:Choice xmlns:v="urn:schemas-microsoft-com:vml" Requires="v">
                <p:oleObj spid="_x0000_s59462" name="" r:id="rId1" imgW="3340100" imgH="254000" progId="Equation.3">
                  <p:embed/>
                </p:oleObj>
              </mc:Choice>
              <mc:Fallback>
                <p:oleObj name="" r:id="rId1" imgW="3340100" imgH="254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3783013"/>
                        <a:ext cx="76152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6" name="Rectangle 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59397" name="Object 4"/>
          <p:cNvGraphicFramePr>
            <a:graphicFrameLocks noChangeAspect="1"/>
          </p:cNvGraphicFramePr>
          <p:nvPr/>
        </p:nvGraphicFramePr>
        <p:xfrm>
          <a:off x="854075" y="4771209"/>
          <a:ext cx="4186238" cy="1200150"/>
        </p:xfrm>
        <a:graphic>
          <a:graphicData uri="http://schemas.openxmlformats.org/presentationml/2006/ole">
            <mc:AlternateContent xmlns:mc="http://schemas.openxmlformats.org/markup-compatibility/2006">
              <mc:Choice xmlns:v="urn:schemas-microsoft-com:vml" Requires="v">
                <p:oleObj spid="_x0000_s59463" name="" r:id="rId3" imgW="1727200" imgH="495300" progId="Equation.3">
                  <p:embed/>
                </p:oleObj>
              </mc:Choice>
              <mc:Fallback>
                <p:oleObj name="" r:id="rId3" imgW="1727200" imgH="495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075" y="4771209"/>
                        <a:ext cx="41862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8" name="Rectangle 5"/>
          <p:cNvSpPr>
            <a:spLocks noChangeArrowheads="1"/>
          </p:cNvSpPr>
          <p:nvPr/>
        </p:nvSpPr>
        <p:spPr bwMode="auto">
          <a:xfrm>
            <a:off x="1166813" y="2967038"/>
            <a:ext cx="6535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图 6.2.4  负反馈电路的输出电阻（a）电压反馈  </a:t>
            </a:r>
            <a:endParaRPr lang="zh-CN" altLang="zh-CN" sz="2400">
              <a:latin typeface="Times New Roman" panose="02020603050405020304" pitchFamily="18" charset="0"/>
            </a:endParaRPr>
          </a:p>
        </p:txBody>
      </p:sp>
      <p:pic>
        <p:nvPicPr>
          <p:cNvPr id="5939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150" y="161925"/>
            <a:ext cx="7869238"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71B7602-FDF5-4719-B7CB-5F4CFBFD1874}" type="slidenum">
              <a:rPr lang="zh-CN" altLang="zh-CN" sz="1400" smtClean="0"/>
            </a:fld>
            <a:endParaRPr lang="zh-CN" altLang="zh-CN" sz="1400" smtClean="0"/>
          </a:p>
        </p:txBody>
      </p:sp>
      <p:sp>
        <p:nvSpPr>
          <p:cNvPr id="60419" name="Rectangle 2"/>
          <p:cNvSpPr>
            <a:spLocks noChangeArrowheads="1"/>
          </p:cNvSpPr>
          <p:nvPr/>
        </p:nvSpPr>
        <p:spPr bwMode="auto">
          <a:xfrm>
            <a:off x="0" y="3248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60420" name="Object 3"/>
          <p:cNvGraphicFramePr>
            <a:graphicFrameLocks noChangeAspect="1"/>
          </p:cNvGraphicFramePr>
          <p:nvPr/>
        </p:nvGraphicFramePr>
        <p:xfrm>
          <a:off x="963613" y="3951288"/>
          <a:ext cx="5272087" cy="1171575"/>
        </p:xfrm>
        <a:graphic>
          <a:graphicData uri="http://schemas.openxmlformats.org/presentationml/2006/ole">
            <mc:AlternateContent xmlns:mc="http://schemas.openxmlformats.org/markup-compatibility/2006">
              <mc:Choice xmlns:v="urn:schemas-microsoft-com:vml" Requires="v">
                <p:oleObj spid="_x0000_s60486" name="" r:id="rId1" imgW="2019935" imgH="457200" progId="Equation.3">
                  <p:embed/>
                </p:oleObj>
              </mc:Choice>
              <mc:Fallback>
                <p:oleObj name="" r:id="rId1" imgW="2019935" imgH="457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613" y="3951288"/>
                        <a:ext cx="5272087"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1" name="Rectangle 4"/>
          <p:cNvSpPr>
            <a:spLocks noChangeArrowheads="1"/>
          </p:cNvSpPr>
          <p:nvPr/>
        </p:nvSpPr>
        <p:spPr bwMode="auto">
          <a:xfrm>
            <a:off x="1063625" y="3405188"/>
            <a:ext cx="6535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a:latin typeface="Times New Roman" panose="02020603050405020304" pitchFamily="18" charset="0"/>
              </a:rPr>
              <a:t>图 6.2.4  负反馈电路的输出电阻（a）电流反馈  </a:t>
            </a:r>
            <a:endParaRPr lang="zh-CN" altLang="zh-CN" sz="2400">
              <a:latin typeface="Times New Roman" panose="02020603050405020304" pitchFamily="18" charset="0"/>
            </a:endParaRPr>
          </a:p>
        </p:txBody>
      </p:sp>
      <p:graphicFrame>
        <p:nvGraphicFramePr>
          <p:cNvPr id="60422" name="Object 5"/>
          <p:cNvGraphicFramePr>
            <a:graphicFrameLocks noChangeAspect="1"/>
          </p:cNvGraphicFramePr>
          <p:nvPr/>
        </p:nvGraphicFramePr>
        <p:xfrm>
          <a:off x="877888" y="5089525"/>
          <a:ext cx="5592762" cy="1414463"/>
        </p:xfrm>
        <a:graphic>
          <a:graphicData uri="http://schemas.openxmlformats.org/presentationml/2006/ole">
            <mc:AlternateContent xmlns:mc="http://schemas.openxmlformats.org/markup-compatibility/2006">
              <mc:Choice xmlns:v="urn:schemas-microsoft-com:vml" Requires="v">
                <p:oleObj spid="_x0000_s60487" name="" r:id="rId3" imgW="1969135" imgH="495300" progId="Equation.3">
                  <p:embed/>
                </p:oleObj>
              </mc:Choice>
              <mc:Fallback>
                <p:oleObj name="" r:id="rId3" imgW="1969135" imgH="495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888" y="5089525"/>
                        <a:ext cx="5592762"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042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25" y="485775"/>
            <a:ext cx="8154988"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矩形 2"/>
          <p:cNvSpPr/>
          <p:nvPr/>
        </p:nvSpPr>
        <p:spPr>
          <a:xfrm>
            <a:off x="291737" y="105605"/>
            <a:ext cx="4572000" cy="652486"/>
          </a:xfrm>
          <a:prstGeom prst="rect">
            <a:avLst/>
          </a:prstGeom>
        </p:spPr>
        <p:txBody>
          <a:bodyPr>
            <a:spAutoFit/>
          </a:bodyPr>
          <a:lstStyle/>
          <a:p>
            <a:pPr eaLnBrk="1" hangingPunct="1">
              <a:lnSpc>
                <a:spcPct val="130000"/>
              </a:lnSpc>
              <a:buClrTx/>
              <a:buSzTx/>
              <a:buFont typeface="Arial" panose="020B0604020202020204" pitchFamily="34" charset="0"/>
              <a:buNone/>
            </a:pPr>
            <a:r>
              <a:rPr lang="zh-CN" altLang="zh-CN" dirty="0"/>
              <a:t>6.2</a:t>
            </a:r>
            <a:r>
              <a:rPr lang="zh-CN" altLang="zh-CN" dirty="0" smtClean="0"/>
              <a:t>.</a:t>
            </a:r>
            <a:r>
              <a:rPr lang="en-US" altLang="zh-CN" dirty="0" smtClean="0"/>
              <a:t>6 </a:t>
            </a:r>
            <a:r>
              <a:rPr lang="zh-CN" altLang="en-US" dirty="0" smtClean="0"/>
              <a:t>引入</a:t>
            </a:r>
            <a:r>
              <a:rPr lang="zh-CN" altLang="en-US" dirty="0"/>
              <a:t>负反馈的一般原则</a:t>
            </a:r>
            <a:r>
              <a:rPr lang="zh-CN" altLang="en-US" b="0" dirty="0"/>
              <a:t> </a:t>
            </a:r>
            <a:endParaRPr lang="zh-CN" altLang="zh-CN" dirty="0"/>
          </a:p>
        </p:txBody>
      </p:sp>
      <p:sp>
        <p:nvSpPr>
          <p:cNvPr id="4" name="矩形 3"/>
          <p:cNvSpPr/>
          <p:nvPr/>
        </p:nvSpPr>
        <p:spPr>
          <a:xfrm>
            <a:off x="361315" y="758190"/>
            <a:ext cx="8273415" cy="6092825"/>
          </a:xfrm>
          <a:prstGeom prst="rect">
            <a:avLst/>
          </a:prstGeom>
        </p:spPr>
        <p:txBody>
          <a:bodyPr wrap="square">
            <a:spAutoFit/>
          </a:bodyPr>
          <a:lstStyle/>
          <a:p>
            <a:pPr>
              <a:lnSpc>
                <a:spcPct val="130000"/>
              </a:lnSpc>
            </a:pPr>
            <a:r>
              <a:rPr lang="zh-CN" altLang="en-US" sz="2000" dirty="0">
                <a:solidFill>
                  <a:srgbClr val="000000"/>
                </a:solidFill>
                <a:latin typeface="宋体" panose="02010600030101010101" pitchFamily="2" charset="-122"/>
                <a:ea typeface="宋体" panose="02010600030101010101" pitchFamily="2" charset="-122"/>
              </a:rPr>
              <a:t>引入负反馈可以改善放大电路多方面的性能，而且反馈组态不同，所产生的影响也各</a:t>
            </a:r>
            <a:r>
              <a:rPr lang="zh-CN" altLang="en-US" sz="2000" dirty="0" smtClean="0">
                <a:solidFill>
                  <a:srgbClr val="000000"/>
                </a:solidFill>
                <a:latin typeface="宋体" panose="02010600030101010101" pitchFamily="2" charset="-122"/>
                <a:ea typeface="宋体" panose="02010600030101010101" pitchFamily="2" charset="-122"/>
              </a:rPr>
              <a:t>不相同</a:t>
            </a:r>
            <a:r>
              <a:rPr lang="zh-CN" altLang="en-US" sz="2000" dirty="0">
                <a:solidFill>
                  <a:srgbClr val="000000"/>
                </a:solidFill>
                <a:latin typeface="宋体" panose="02010600030101010101" pitchFamily="2" charset="-122"/>
                <a:ea typeface="宋体" panose="02010600030101010101" pitchFamily="2" charset="-122"/>
              </a:rPr>
              <a:t>。因此，在设计放大电路时，应根据需要和目的，引入合适的反馈，一般原则可以</a:t>
            </a:r>
            <a:r>
              <a:rPr lang="zh-CN" altLang="en-US" sz="2000" dirty="0" smtClean="0">
                <a:solidFill>
                  <a:srgbClr val="000000"/>
                </a:solidFill>
                <a:latin typeface="宋体" panose="02010600030101010101" pitchFamily="2" charset="-122"/>
                <a:ea typeface="宋体" panose="02010600030101010101" pitchFamily="2" charset="-122"/>
              </a:rPr>
              <a:t>总结如下：</a:t>
            </a:r>
            <a:endParaRPr lang="en-US" altLang="zh-CN" sz="2000" dirty="0">
              <a:solidFill>
                <a:srgbClr val="000000"/>
              </a:solidFill>
              <a:latin typeface="宋体" panose="02010600030101010101" pitchFamily="2" charset="-122"/>
              <a:ea typeface="宋体" panose="02010600030101010101" pitchFamily="2" charset="-122"/>
            </a:endParaRPr>
          </a:p>
          <a:p>
            <a:pPr>
              <a:lnSpc>
                <a:spcPct val="130000"/>
              </a:lnSpc>
            </a:pPr>
            <a:r>
              <a:rPr lang="en-US" altLang="zh-CN" sz="2000" dirty="0" smtClean="0">
                <a:solidFill>
                  <a:srgbClr val="000000"/>
                </a:solidFill>
                <a:latin typeface="宋体" panose="02010600030101010101" pitchFamily="2" charset="-122"/>
                <a:ea typeface="宋体" panose="02010600030101010101" pitchFamily="2" charset="-122"/>
              </a:rPr>
              <a:t>(</a:t>
            </a:r>
            <a:r>
              <a:rPr lang="en-US" altLang="zh-CN" sz="2000" dirty="0" smtClean="0">
                <a:solidFill>
                  <a:srgbClr val="000000"/>
                </a:solidFill>
                <a:latin typeface="TimesNewRomanPSMT"/>
              </a:rPr>
              <a:t>1</a:t>
            </a:r>
            <a:r>
              <a:rPr lang="zh-CN" altLang="en-US" sz="2000" dirty="0">
                <a:solidFill>
                  <a:srgbClr val="000000"/>
                </a:solidFill>
                <a:latin typeface="宋体" panose="02010600030101010101" pitchFamily="2" charset="-122"/>
                <a:ea typeface="宋体" panose="02010600030101010101" pitchFamily="2" charset="-122"/>
              </a:rPr>
              <a:t>） 根据信号源的性质决定引入串联、并联负反馈。当信号源为电压源时，为了</a:t>
            </a:r>
            <a:r>
              <a:rPr lang="zh-CN" altLang="en-US" sz="2000" dirty="0" smtClean="0">
                <a:solidFill>
                  <a:srgbClr val="000000"/>
                </a:solidFill>
                <a:latin typeface="宋体" panose="02010600030101010101" pitchFamily="2" charset="-122"/>
                <a:ea typeface="宋体" panose="02010600030101010101" pitchFamily="2" charset="-122"/>
              </a:rPr>
              <a:t>使电路</a:t>
            </a:r>
            <a:r>
              <a:rPr lang="zh-CN" altLang="en-US" sz="2000" dirty="0">
                <a:solidFill>
                  <a:srgbClr val="000000"/>
                </a:solidFill>
                <a:latin typeface="宋体" panose="02010600030101010101" pitchFamily="2" charset="-122"/>
                <a:ea typeface="宋体" panose="02010600030101010101" pitchFamily="2" charset="-122"/>
              </a:rPr>
              <a:t>获得较大的输入电压，应引入串联负反馈，这样可以增大放大电路的输入电阻，从信号获得更多的电压。当信号源为电流源时，为减小放大电路的输入电阻，使电路获得更大的</a:t>
            </a:r>
            <a:r>
              <a:rPr lang="zh-CN" altLang="en-US" sz="2000" dirty="0" smtClean="0">
                <a:solidFill>
                  <a:srgbClr val="000000"/>
                </a:solidFill>
                <a:latin typeface="宋体" panose="02010600030101010101" pitchFamily="2" charset="-122"/>
                <a:ea typeface="宋体" panose="02010600030101010101" pitchFamily="2" charset="-122"/>
              </a:rPr>
              <a:t>输入</a:t>
            </a:r>
            <a:r>
              <a:rPr lang="zh-CN" altLang="en-US" sz="2000" dirty="0">
                <a:solidFill>
                  <a:srgbClr val="000000"/>
                </a:solidFill>
                <a:latin typeface="宋体" panose="02010600030101010101" pitchFamily="2" charset="-122"/>
                <a:ea typeface="宋体" panose="02010600030101010101" pitchFamily="2" charset="-122"/>
              </a:rPr>
              <a:t>电流，应引入并联负反馈</a:t>
            </a:r>
            <a:r>
              <a:rPr lang="zh-CN" altLang="en-US" sz="2000" dirty="0" smtClean="0">
                <a:solidFill>
                  <a:srgbClr val="000000"/>
                </a:solidFill>
                <a:latin typeface="宋体" panose="02010600030101010101" pitchFamily="2" charset="-122"/>
                <a:ea typeface="宋体" panose="02010600030101010101" pitchFamily="2" charset="-122"/>
              </a:rPr>
              <a:t>。</a:t>
            </a:r>
            <a:endParaRPr lang="en-US" altLang="zh-CN" sz="2000" dirty="0" smtClean="0">
              <a:solidFill>
                <a:srgbClr val="000000"/>
              </a:solidFill>
              <a:latin typeface="TimesNewRomanPSMT"/>
            </a:endParaRPr>
          </a:p>
          <a:p>
            <a:pPr>
              <a:lnSpc>
                <a:spcPct val="130000"/>
              </a:lnSpc>
            </a:pPr>
            <a:r>
              <a:rPr lang="zh-CN" altLang="en-US" sz="2000" dirty="0" smtClean="0">
                <a:solidFill>
                  <a:srgbClr val="000000"/>
                </a:solidFill>
                <a:latin typeface="宋体" panose="02010600030101010101" pitchFamily="2" charset="-122"/>
                <a:ea typeface="宋体" panose="02010600030101010101" pitchFamily="2" charset="-122"/>
              </a:rPr>
              <a:t>（</a:t>
            </a:r>
            <a:r>
              <a:rPr lang="en-US" altLang="zh-CN" sz="2000" dirty="0">
                <a:solidFill>
                  <a:srgbClr val="000000"/>
                </a:solidFill>
                <a:latin typeface="TimesNewRomanPSMT"/>
              </a:rPr>
              <a:t>2</a:t>
            </a:r>
            <a:r>
              <a:rPr lang="zh-CN" altLang="en-US" sz="2000" dirty="0">
                <a:solidFill>
                  <a:srgbClr val="000000"/>
                </a:solidFill>
                <a:latin typeface="宋体" panose="02010600030101010101" pitchFamily="2" charset="-122"/>
                <a:ea typeface="宋体" panose="02010600030101010101" pitchFamily="2" charset="-122"/>
              </a:rPr>
              <a:t>） 根据反馈对放大电路输出量的要求，即负载对其信号源的要求，决定引入电压负反馈或电流负反馈。当负载需要稳定的电压信号时，应引入电压负反馈；当负载需要</a:t>
            </a:r>
            <a:r>
              <a:rPr lang="zh-CN" altLang="en-US" sz="2000" dirty="0" smtClean="0">
                <a:solidFill>
                  <a:srgbClr val="000000"/>
                </a:solidFill>
                <a:latin typeface="宋体" panose="02010600030101010101" pitchFamily="2" charset="-122"/>
                <a:ea typeface="宋体" panose="02010600030101010101" pitchFamily="2" charset="-122"/>
              </a:rPr>
              <a:t>稳定的</a:t>
            </a:r>
            <a:r>
              <a:rPr lang="zh-CN" altLang="en-US" sz="2000" dirty="0">
                <a:solidFill>
                  <a:srgbClr val="000000"/>
                </a:solidFill>
                <a:latin typeface="宋体" panose="02010600030101010101" pitchFamily="2" charset="-122"/>
                <a:ea typeface="宋体" panose="02010600030101010101" pitchFamily="2" charset="-122"/>
              </a:rPr>
              <a:t>电流信号时，应引入电流负反馈。</a:t>
            </a:r>
            <a:r>
              <a:rPr lang="zh-CN" altLang="en-US" sz="2000" dirty="0">
                <a:solidFill>
                  <a:srgbClr val="000000"/>
                </a:solidFill>
                <a:latin typeface="TimesNewRomanPSMT"/>
              </a:rPr>
              <a:t> </a:t>
            </a:r>
            <a:r>
              <a:rPr lang="zh-CN" altLang="en-US" sz="2000" dirty="0">
                <a:solidFill>
                  <a:srgbClr val="000000"/>
                </a:solidFill>
                <a:latin typeface="宋体" panose="02010600030101010101" pitchFamily="2" charset="-122"/>
                <a:ea typeface="宋体" panose="02010600030101010101" pitchFamily="2" charset="-122"/>
              </a:rPr>
              <a:t>（</a:t>
            </a:r>
            <a:r>
              <a:rPr lang="en-US" altLang="zh-CN" sz="2000" dirty="0">
                <a:solidFill>
                  <a:srgbClr val="000000"/>
                </a:solidFill>
                <a:latin typeface="TimesNewRomanPSMT"/>
              </a:rPr>
              <a:t>3</a:t>
            </a:r>
            <a:r>
              <a:rPr lang="zh-CN" altLang="en-US" sz="2000" dirty="0" smtClean="0">
                <a:solidFill>
                  <a:srgbClr val="000000"/>
                </a:solidFill>
                <a:latin typeface="宋体" panose="02010600030101010101" pitchFamily="2" charset="-122"/>
                <a:ea typeface="宋体" panose="02010600030101010101" pitchFamily="2" charset="-122"/>
              </a:rPr>
              <a:t>）根据四</a:t>
            </a:r>
            <a:r>
              <a:rPr lang="zh-CN" altLang="en-US" sz="2000" dirty="0">
                <a:solidFill>
                  <a:srgbClr val="000000"/>
                </a:solidFill>
                <a:latin typeface="宋体" panose="02010600030101010101" pitchFamily="2" charset="-122"/>
                <a:ea typeface="宋体" panose="02010600030101010101" pitchFamily="2" charset="-122"/>
              </a:rPr>
              <a:t>种组态反馈电路的功能，在需要进行信号变换时，</a:t>
            </a:r>
            <a:r>
              <a:rPr lang="zh-CN" altLang="en-US" sz="2000" dirty="0" smtClean="0">
                <a:solidFill>
                  <a:srgbClr val="000000"/>
                </a:solidFill>
                <a:latin typeface="宋体" panose="02010600030101010101" pitchFamily="2" charset="-122"/>
                <a:ea typeface="宋体" panose="02010600030101010101" pitchFamily="2" charset="-122"/>
              </a:rPr>
              <a:t>选择合适</a:t>
            </a:r>
            <a:r>
              <a:rPr lang="zh-CN" altLang="en-US" sz="2000" dirty="0">
                <a:solidFill>
                  <a:srgbClr val="000000"/>
                </a:solidFill>
                <a:latin typeface="宋体" panose="02010600030101010101" pitchFamily="2" charset="-122"/>
                <a:ea typeface="宋体" panose="02010600030101010101" pitchFamily="2" charset="-122"/>
              </a:rPr>
              <a:t>的组态。例如，若将电流信号转换成电压信号，应在放大电路中引入电压并联负反馈； 若将电压信号转换成电流信号，应在放大电路中引入电流串联负载等等。</a:t>
            </a:r>
            <a:r>
              <a:rPr lang="zh-CN" altLang="en-US" sz="2000" dirty="0">
                <a:solidFill>
                  <a:srgbClr val="000000"/>
                </a:solidFill>
                <a:latin typeface="TimesNewRomanPSMT"/>
              </a:rPr>
              <a:t> </a:t>
            </a: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42D6AB4-65C3-4A0A-B5DE-209BC90A3201}" type="slidenum">
              <a:rPr lang="zh-CN" altLang="zh-CN" sz="1400" smtClean="0"/>
            </a:fld>
            <a:endParaRPr lang="zh-CN" altLang="zh-CN" sz="1400" smtClean="0"/>
          </a:p>
        </p:txBody>
      </p:sp>
      <p:graphicFrame>
        <p:nvGraphicFramePr>
          <p:cNvPr id="66563" name="Object 2"/>
          <p:cNvGraphicFramePr>
            <a:graphicFrameLocks noChangeAspect="1"/>
          </p:cNvGraphicFramePr>
          <p:nvPr/>
        </p:nvGraphicFramePr>
        <p:xfrm>
          <a:off x="4235450" y="4646613"/>
          <a:ext cx="1725613" cy="1044575"/>
        </p:xfrm>
        <a:graphic>
          <a:graphicData uri="http://schemas.openxmlformats.org/presentationml/2006/ole">
            <mc:AlternateContent xmlns:mc="http://schemas.openxmlformats.org/markup-compatibility/2006">
              <mc:Choice xmlns:v="urn:schemas-microsoft-com:vml" Requires="v">
                <p:oleObj spid="_x0000_s66699" name="" r:id="rId1" imgW="863600" imgH="495300" progId="Equation.3">
                  <p:embed/>
                </p:oleObj>
              </mc:Choice>
              <mc:Fallback>
                <p:oleObj name="" r:id="rId1" imgW="863600" imgH="4953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5450" y="4646613"/>
                        <a:ext cx="1725613"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4" name="Rectangle 3"/>
          <p:cNvSpPr>
            <a:spLocks noChangeArrowheads="1"/>
          </p:cNvSpPr>
          <p:nvPr/>
        </p:nvSpPr>
        <p:spPr bwMode="auto">
          <a:xfrm>
            <a:off x="700088" y="1527175"/>
            <a:ext cx="55070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ClrTx/>
              <a:buSzTx/>
              <a:buFont typeface="Arial" panose="020B0604020202020204" pitchFamily="34" charset="0"/>
              <a:buNone/>
            </a:pPr>
            <a:r>
              <a:rPr lang="zh-CN" altLang="zh-CN" sz="2800">
                <a:solidFill>
                  <a:srgbClr val="CC0099"/>
                </a:solidFill>
                <a:latin typeface="Times New Roman" panose="02020603050405020304" pitchFamily="18" charset="0"/>
              </a:rPr>
              <a:t>深度负反馈条件     D=(1十AF)&gt;&gt;1</a:t>
            </a:r>
            <a:r>
              <a:rPr lang="zh-CN" altLang="zh-CN" sz="2800">
                <a:latin typeface="Times New Roman" panose="02020603050405020304" pitchFamily="18" charset="0"/>
              </a:rPr>
              <a:t> </a:t>
            </a:r>
            <a:endParaRPr lang="zh-CN" altLang="zh-CN" sz="2800">
              <a:latin typeface="Times New Roman" panose="02020603050405020304" pitchFamily="18" charset="0"/>
            </a:endParaRPr>
          </a:p>
        </p:txBody>
      </p:sp>
      <p:sp>
        <p:nvSpPr>
          <p:cNvPr id="66565" name="Text Box 4"/>
          <p:cNvSpPr txBox="1">
            <a:spLocks noChangeArrowheads="1"/>
          </p:cNvSpPr>
          <p:nvPr/>
        </p:nvSpPr>
        <p:spPr bwMode="auto">
          <a:xfrm>
            <a:off x="1946275" y="4829175"/>
            <a:ext cx="2117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对串联反馈</a:t>
            </a:r>
            <a:endParaRPr lang="zh-CN" altLang="zh-CN" sz="2800">
              <a:latin typeface="Times New Roman" panose="02020603050405020304" pitchFamily="18" charset="0"/>
            </a:endParaRPr>
          </a:p>
        </p:txBody>
      </p:sp>
      <p:sp>
        <p:nvSpPr>
          <p:cNvPr id="66566" name="Text Box 5"/>
          <p:cNvSpPr txBox="1">
            <a:spLocks noChangeArrowheads="1"/>
          </p:cNvSpPr>
          <p:nvPr/>
        </p:nvSpPr>
        <p:spPr bwMode="auto">
          <a:xfrm>
            <a:off x="1919288" y="5618163"/>
            <a:ext cx="2155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对并联反馈</a:t>
            </a:r>
            <a:endParaRPr lang="zh-CN" altLang="zh-CN" sz="2800">
              <a:latin typeface="Times New Roman" panose="02020603050405020304" pitchFamily="18" charset="0"/>
            </a:endParaRPr>
          </a:p>
        </p:txBody>
      </p:sp>
      <p:sp>
        <p:nvSpPr>
          <p:cNvPr id="66567" name="Text Box 6"/>
          <p:cNvSpPr txBox="1">
            <a:spLocks noChangeArrowheads="1"/>
          </p:cNvSpPr>
          <p:nvPr/>
        </p:nvSpPr>
        <p:spPr bwMode="auto">
          <a:xfrm>
            <a:off x="652463" y="2154238"/>
            <a:ext cx="5988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放大器工作在深度负反馈条件下，即 </a:t>
            </a:r>
            <a:endParaRPr lang="zh-CN" altLang="zh-CN" sz="2800">
              <a:latin typeface="Times New Roman" panose="02020603050405020304" pitchFamily="18" charset="0"/>
            </a:endParaRPr>
          </a:p>
        </p:txBody>
      </p:sp>
      <p:graphicFrame>
        <p:nvGraphicFramePr>
          <p:cNvPr id="66568" name="Object 7"/>
          <p:cNvGraphicFramePr>
            <a:graphicFrameLocks noChangeAspect="1"/>
          </p:cNvGraphicFramePr>
          <p:nvPr/>
        </p:nvGraphicFramePr>
        <p:xfrm>
          <a:off x="6621463" y="2017713"/>
          <a:ext cx="1431925" cy="1041400"/>
        </p:xfrm>
        <a:graphic>
          <a:graphicData uri="http://schemas.openxmlformats.org/presentationml/2006/ole">
            <mc:AlternateContent xmlns:mc="http://schemas.openxmlformats.org/markup-compatibility/2006">
              <mc:Choice xmlns:v="urn:schemas-microsoft-com:vml" Requires="v">
                <p:oleObj spid="_x0000_s66700" name="" r:id="rId3" imgW="534035" imgH="394335" progId="Equation.3">
                  <p:embed/>
                </p:oleObj>
              </mc:Choice>
              <mc:Fallback>
                <p:oleObj name="" r:id="rId3" imgW="534035" imgH="39433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1463" y="2017713"/>
                        <a:ext cx="14319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9" name="Text Box 8"/>
          <p:cNvSpPr txBox="1">
            <a:spLocks noChangeArrowheads="1"/>
          </p:cNvSpPr>
          <p:nvPr/>
        </p:nvSpPr>
        <p:spPr bwMode="auto">
          <a:xfrm>
            <a:off x="808038" y="4148138"/>
            <a:ext cx="52593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求</a:t>
            </a:r>
            <a:r>
              <a:rPr lang="zh-CN" altLang="zh-CN" sz="2800" i="1">
                <a:latin typeface="Times New Roman" panose="02020603050405020304" pitchFamily="18" charset="0"/>
              </a:rPr>
              <a:t>A</a:t>
            </a:r>
            <a:r>
              <a:rPr lang="zh-CN" altLang="zh-CN" sz="2800" i="1" baseline="-25000">
                <a:latin typeface="Times New Roman" panose="02020603050405020304" pitchFamily="18" charset="0"/>
              </a:rPr>
              <a:t>uf</a:t>
            </a:r>
            <a:r>
              <a:rPr lang="zh-CN" altLang="zh-CN" sz="2800">
                <a:latin typeface="Times New Roman" panose="02020603050405020304" pitchFamily="18" charset="0"/>
              </a:rPr>
              <a:t>时，可以利用如下关系式：</a:t>
            </a:r>
            <a:endParaRPr lang="zh-CN" altLang="zh-CN" sz="2800">
              <a:latin typeface="Times New Roman" panose="02020603050405020304" pitchFamily="18" charset="0"/>
            </a:endParaRPr>
          </a:p>
        </p:txBody>
      </p:sp>
      <p:graphicFrame>
        <p:nvGraphicFramePr>
          <p:cNvPr id="66570" name="Object 9"/>
          <p:cNvGraphicFramePr>
            <a:graphicFrameLocks noChangeAspect="1"/>
          </p:cNvGraphicFramePr>
          <p:nvPr/>
        </p:nvGraphicFramePr>
        <p:xfrm>
          <a:off x="4217988" y="5364163"/>
          <a:ext cx="1554162" cy="1122362"/>
        </p:xfrm>
        <a:graphic>
          <a:graphicData uri="http://schemas.openxmlformats.org/presentationml/2006/ole">
            <mc:AlternateContent xmlns:mc="http://schemas.openxmlformats.org/markup-compatibility/2006">
              <mc:Choice xmlns:v="urn:schemas-microsoft-com:vml" Requires="v">
                <p:oleObj spid="_x0000_s66701" name="" r:id="rId5" imgW="711200" imgH="495300" progId="Equation.3">
                  <p:embed/>
                </p:oleObj>
              </mc:Choice>
              <mc:Fallback>
                <p:oleObj name="" r:id="rId5" imgW="711200" imgH="4953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7988" y="5364163"/>
                        <a:ext cx="1554162" cy="112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1" name="Rectangle 10"/>
          <p:cNvSpPr>
            <a:spLocks noChangeArrowheads="1"/>
          </p:cNvSpPr>
          <p:nvPr/>
        </p:nvSpPr>
        <p:spPr bwMode="auto">
          <a:xfrm>
            <a:off x="458788" y="244475"/>
            <a:ext cx="70119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a:latin typeface="Times New Roman" panose="02020603050405020304" pitchFamily="18" charset="0"/>
              </a:rPr>
              <a:t>6.3  深度负反馈放大电路的近似计算</a:t>
            </a:r>
            <a:endParaRPr lang="zh-CN" altLang="zh-CN">
              <a:latin typeface="Times New Roman" panose="02020603050405020304" pitchFamily="18" charset="0"/>
            </a:endParaRPr>
          </a:p>
        </p:txBody>
      </p:sp>
      <p:sp>
        <p:nvSpPr>
          <p:cNvPr id="66572" name="Rectangle 11"/>
          <p:cNvSpPr>
            <a:spLocks noChangeArrowheads="1"/>
          </p:cNvSpPr>
          <p:nvPr/>
        </p:nvSpPr>
        <p:spPr bwMode="auto">
          <a:xfrm>
            <a:off x="430213" y="885825"/>
            <a:ext cx="7554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a:latin typeface="Times New Roman" panose="02020603050405020304" pitchFamily="18" charset="0"/>
              </a:rPr>
              <a:t>6.3.1  深度负反馈放大电路近似计算的一般方法</a:t>
            </a:r>
            <a:endParaRPr lang="zh-CN" altLang="zh-CN" sz="2800">
              <a:latin typeface="Times New Roman" panose="02020603050405020304" pitchFamily="18" charset="0"/>
            </a:endParaRPr>
          </a:p>
        </p:txBody>
      </p:sp>
      <p:sp>
        <p:nvSpPr>
          <p:cNvPr id="66573" name="Rectangle 12"/>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66574" name="Object 13"/>
          <p:cNvGraphicFramePr>
            <a:graphicFrameLocks noChangeAspect="1"/>
          </p:cNvGraphicFramePr>
          <p:nvPr/>
        </p:nvGraphicFramePr>
        <p:xfrm>
          <a:off x="1565275" y="2989263"/>
          <a:ext cx="4008438" cy="1093787"/>
        </p:xfrm>
        <a:graphic>
          <a:graphicData uri="http://schemas.openxmlformats.org/presentationml/2006/ole">
            <mc:AlternateContent xmlns:mc="http://schemas.openxmlformats.org/markup-compatibility/2006">
              <mc:Choice xmlns:v="urn:schemas-microsoft-com:vml" Requires="v">
                <p:oleObj spid="_x0000_s66702" name="" r:id="rId7" imgW="1638300" imgH="444500" progId="Equation.3">
                  <p:embed/>
                </p:oleObj>
              </mc:Choice>
              <mc:Fallback>
                <p:oleObj name="" r:id="rId7" imgW="1638300" imgH="4445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5275" y="2989263"/>
                        <a:ext cx="4008438"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C236673-664F-44E7-99AE-11B85C7B81C4}" type="slidenum">
              <a:rPr lang="zh-CN" altLang="zh-CN" sz="1400" smtClean="0"/>
            </a:fld>
            <a:endParaRPr lang="zh-CN" altLang="zh-CN" sz="1400" smtClean="0"/>
          </a:p>
        </p:txBody>
      </p:sp>
      <p:graphicFrame>
        <p:nvGraphicFramePr>
          <p:cNvPr id="69634" name="Object 2"/>
          <p:cNvGraphicFramePr>
            <a:graphicFrameLocks noChangeAspect="1"/>
          </p:cNvGraphicFramePr>
          <p:nvPr/>
        </p:nvGraphicFramePr>
        <p:xfrm>
          <a:off x="0" y="1371600"/>
          <a:ext cx="8442325" cy="4673600"/>
        </p:xfrm>
        <a:graphic>
          <a:graphicData uri="http://schemas.openxmlformats.org/presentationml/2006/ole">
            <mc:AlternateContent xmlns:mc="http://schemas.openxmlformats.org/markup-compatibility/2006">
              <mc:Choice xmlns:v="urn:schemas-microsoft-com:vml" Requires="v">
                <p:oleObj spid="_x0000_s67622" name="" r:id="rId1" imgW="3300730" imgH="1868805" progId="Visio.Drawing.11">
                  <p:embed/>
                </p:oleObj>
              </mc:Choice>
              <mc:Fallback>
                <p:oleObj name="" r:id="rId1" imgW="3300730" imgH="186880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2034" t="6625" r="4758" b="2208"/>
                      <a:stretch>
                        <a:fillRect/>
                      </a:stretch>
                    </p:blipFill>
                    <p:spPr bwMode="auto">
                      <a:xfrm>
                        <a:off x="0" y="1371600"/>
                        <a:ext cx="8442325"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35" name="Text Box 3"/>
          <p:cNvSpPr txBox="1">
            <a:spLocks noChangeArrowheads="1"/>
          </p:cNvSpPr>
          <p:nvPr/>
        </p:nvSpPr>
        <p:spPr bwMode="auto">
          <a:xfrm>
            <a:off x="2679700" y="5994400"/>
            <a:ext cx="3754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图6.3.1电压串联负反馈</a:t>
            </a:r>
            <a:endParaRPr lang="zh-CN" altLang="zh-CN" sz="2400">
              <a:latin typeface="Times New Roman" panose="02020603050405020304" pitchFamily="18" charset="0"/>
            </a:endParaRPr>
          </a:p>
        </p:txBody>
      </p:sp>
      <p:sp>
        <p:nvSpPr>
          <p:cNvPr id="67589" name="Rectangle 4"/>
          <p:cNvSpPr>
            <a:spLocks noChangeArrowheads="1"/>
          </p:cNvSpPr>
          <p:nvPr/>
        </p:nvSpPr>
        <p:spPr bwMode="auto">
          <a:xfrm>
            <a:off x="511175" y="223838"/>
            <a:ext cx="5957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dirty="0">
                <a:latin typeface="Times New Roman" panose="02020603050405020304" pitchFamily="18" charset="0"/>
              </a:rPr>
              <a:t>6.3.2  深负反馈放大电路的近似计算</a:t>
            </a:r>
            <a:endParaRPr lang="zh-CN" altLang="zh-CN" sz="2800" dirty="0">
              <a:latin typeface="Times New Roman" panose="02020603050405020304" pitchFamily="18" charset="0"/>
            </a:endParaRPr>
          </a:p>
        </p:txBody>
      </p:sp>
      <p:sp>
        <p:nvSpPr>
          <p:cNvPr id="69637" name="Rectangle 5"/>
          <p:cNvSpPr>
            <a:spLocks noChangeArrowheads="1"/>
          </p:cNvSpPr>
          <p:nvPr/>
        </p:nvSpPr>
        <p:spPr bwMode="auto">
          <a:xfrm>
            <a:off x="430213" y="887413"/>
            <a:ext cx="3860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dirty="0">
                <a:latin typeface="Times New Roman" panose="02020603050405020304" pitchFamily="18" charset="0"/>
              </a:rPr>
              <a:t>1. 电压串联负反馈电路</a:t>
            </a:r>
            <a:endParaRPr lang="zh-CN" altLang="zh-CN" sz="28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3F54E587-7E94-447F-80BB-EA655C2C9B1E}" type="slidenum">
              <a:rPr lang="zh-CN" altLang="zh-CN" sz="1400" smtClean="0"/>
            </a:fld>
            <a:endParaRPr lang="zh-CN" altLang="zh-CN" sz="1400" smtClean="0"/>
          </a:p>
        </p:txBody>
      </p:sp>
      <p:graphicFrame>
        <p:nvGraphicFramePr>
          <p:cNvPr id="70658" name="Object 2"/>
          <p:cNvGraphicFramePr>
            <a:graphicFrameLocks noChangeAspect="1"/>
          </p:cNvGraphicFramePr>
          <p:nvPr/>
        </p:nvGraphicFramePr>
        <p:xfrm>
          <a:off x="2151063" y="4432300"/>
          <a:ext cx="3940175" cy="1127125"/>
        </p:xfrm>
        <a:graphic>
          <a:graphicData uri="http://schemas.openxmlformats.org/presentationml/2006/ole">
            <mc:AlternateContent xmlns:mc="http://schemas.openxmlformats.org/markup-compatibility/2006">
              <mc:Choice xmlns:v="urn:schemas-microsoft-com:vml" Requires="v">
                <p:oleObj spid="_x0000_s68709" name="" r:id="rId1" imgW="1511300" imgH="431800" progId="Equation.3">
                  <p:embed/>
                </p:oleObj>
              </mc:Choice>
              <mc:Fallback>
                <p:oleObj name="" r:id="rId1" imgW="1511300" imgH="431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063" y="4432300"/>
                        <a:ext cx="3940175"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9" name="Object 3"/>
          <p:cNvGraphicFramePr>
            <a:graphicFrameLocks noChangeAspect="1"/>
          </p:cNvGraphicFramePr>
          <p:nvPr/>
        </p:nvGraphicFramePr>
        <p:xfrm>
          <a:off x="2111375" y="5570538"/>
          <a:ext cx="4987925" cy="1169987"/>
        </p:xfrm>
        <a:graphic>
          <a:graphicData uri="http://schemas.openxmlformats.org/presentationml/2006/ole">
            <mc:AlternateContent xmlns:mc="http://schemas.openxmlformats.org/markup-compatibility/2006">
              <mc:Choice xmlns:v="urn:schemas-microsoft-com:vml" Requires="v">
                <p:oleObj spid="_x0000_s68710" name="" r:id="rId3" imgW="1841500" imgH="431800" progId="Equation.3">
                  <p:embed/>
                </p:oleObj>
              </mc:Choice>
              <mc:Fallback>
                <p:oleObj name="" r:id="rId3" imgW="18415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1375" y="5570538"/>
                        <a:ext cx="4987925" cy="1169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3" name="Object 4"/>
          <p:cNvGraphicFramePr>
            <a:graphicFrameLocks noChangeAspect="1"/>
          </p:cNvGraphicFramePr>
          <p:nvPr/>
        </p:nvGraphicFramePr>
        <p:xfrm>
          <a:off x="146050" y="166688"/>
          <a:ext cx="6853238" cy="3794125"/>
        </p:xfrm>
        <a:graphic>
          <a:graphicData uri="http://schemas.openxmlformats.org/presentationml/2006/ole">
            <mc:AlternateContent xmlns:mc="http://schemas.openxmlformats.org/markup-compatibility/2006">
              <mc:Choice xmlns:v="urn:schemas-microsoft-com:vml" Requires="v">
                <p:oleObj spid="_x0000_s68711" name="" r:id="rId5" imgW="3300730" imgH="1868805" progId="Visio.Drawing.11">
                  <p:embed/>
                </p:oleObj>
              </mc:Choice>
              <mc:Fallback>
                <p:oleObj name="" r:id="rId5" imgW="3300730" imgH="1868805"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l="2034" t="6625" r="4758" b="2208"/>
                      <a:stretch>
                        <a:fillRect/>
                      </a:stretch>
                    </p:blipFill>
                    <p:spPr bwMode="auto">
                      <a:xfrm>
                        <a:off x="146050" y="166688"/>
                        <a:ext cx="6853238" cy="379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8614"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4700" y="809625"/>
            <a:ext cx="201930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Text Box 6"/>
          <p:cNvSpPr txBox="1">
            <a:spLocks noChangeArrowheads="1"/>
          </p:cNvSpPr>
          <p:nvPr/>
        </p:nvSpPr>
        <p:spPr bwMode="auto">
          <a:xfrm>
            <a:off x="2332038" y="3919538"/>
            <a:ext cx="3303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图6.3.1电压串联负反馈</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BDE3A6F-59FB-4C17-A427-FD82AC3FD429}" type="slidenum">
              <a:rPr lang="zh-CN" altLang="zh-CN" sz="1400" smtClean="0"/>
            </a:fld>
            <a:endParaRPr lang="zh-CN" altLang="zh-CN" sz="1400" smtClean="0"/>
          </a:p>
        </p:txBody>
      </p:sp>
      <p:graphicFrame>
        <p:nvGraphicFramePr>
          <p:cNvPr id="69635" name="Object 2"/>
          <p:cNvGraphicFramePr>
            <a:graphicFrameLocks noChangeAspect="1"/>
          </p:cNvGraphicFramePr>
          <p:nvPr/>
        </p:nvGraphicFramePr>
        <p:xfrm>
          <a:off x="2078038" y="4835525"/>
          <a:ext cx="4127500" cy="1512888"/>
        </p:xfrm>
        <a:graphic>
          <a:graphicData uri="http://schemas.openxmlformats.org/presentationml/2006/ole">
            <mc:AlternateContent xmlns:mc="http://schemas.openxmlformats.org/markup-compatibility/2006">
              <mc:Choice xmlns:v="urn:schemas-microsoft-com:vml" Requires="v">
                <p:oleObj spid="_x0000_s69700" name="" r:id="rId1" imgW="1524635" imgH="558800" progId="Equation.3">
                  <p:embed/>
                </p:oleObj>
              </mc:Choice>
              <mc:Fallback>
                <p:oleObj name="" r:id="rId1" imgW="1524635" imgH="5588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038" y="4835525"/>
                        <a:ext cx="4127500" cy="1512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6" name="Object 3"/>
          <p:cNvGraphicFramePr>
            <a:graphicFrameLocks noChangeAspect="1"/>
          </p:cNvGraphicFramePr>
          <p:nvPr/>
        </p:nvGraphicFramePr>
        <p:xfrm>
          <a:off x="785813" y="25400"/>
          <a:ext cx="7167562" cy="3967163"/>
        </p:xfrm>
        <a:graphic>
          <a:graphicData uri="http://schemas.openxmlformats.org/presentationml/2006/ole">
            <mc:AlternateContent xmlns:mc="http://schemas.openxmlformats.org/markup-compatibility/2006">
              <mc:Choice xmlns:v="urn:schemas-microsoft-com:vml" Requires="v">
                <p:oleObj spid="_x0000_s69701" name="" r:id="rId3" imgW="3300730" imgH="1868805" progId="Visio.Drawing.11">
                  <p:embed/>
                </p:oleObj>
              </mc:Choice>
              <mc:Fallback>
                <p:oleObj name="" r:id="rId3" imgW="3300730" imgH="1868805"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2034" t="6625" r="4758" b="2208"/>
                      <a:stretch>
                        <a:fillRect/>
                      </a:stretch>
                    </p:blipFill>
                    <p:spPr bwMode="auto">
                      <a:xfrm>
                        <a:off x="785813" y="25400"/>
                        <a:ext cx="7167562" cy="396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37" name="Text Box 4"/>
          <p:cNvSpPr txBox="1">
            <a:spLocks noChangeArrowheads="1"/>
          </p:cNvSpPr>
          <p:nvPr/>
        </p:nvSpPr>
        <p:spPr bwMode="auto">
          <a:xfrm>
            <a:off x="2524125" y="4127500"/>
            <a:ext cx="3754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图6.3.1电压串联负反馈</a:t>
            </a:r>
            <a:endParaRPr lang="zh-CN" altLang="zh-CN"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D98440C-67F5-4C29-A668-1A52AEC3C2AB}" type="slidenum">
              <a:rPr lang="zh-CN" altLang="zh-CN" sz="1400" smtClean="0"/>
            </a:fld>
            <a:endParaRPr lang="zh-CN" altLang="zh-CN" sz="1400" smtClean="0"/>
          </a:p>
        </p:txBody>
      </p:sp>
      <p:graphicFrame>
        <p:nvGraphicFramePr>
          <p:cNvPr id="70659" name="Object 2"/>
          <p:cNvGraphicFramePr>
            <a:graphicFrameLocks noChangeAspect="1"/>
          </p:cNvGraphicFramePr>
          <p:nvPr/>
        </p:nvGraphicFramePr>
        <p:xfrm>
          <a:off x="460375" y="790575"/>
          <a:ext cx="8115300" cy="5246688"/>
        </p:xfrm>
        <a:graphic>
          <a:graphicData uri="http://schemas.openxmlformats.org/presentationml/2006/ole">
            <mc:AlternateContent xmlns:mc="http://schemas.openxmlformats.org/markup-compatibility/2006">
              <mc:Choice xmlns:v="urn:schemas-microsoft-com:vml" Requires="v">
                <p:oleObj spid="_x0000_s70693" name="" r:id="rId1" imgW="3888105" imgH="2298065" progId="Visio.Drawing.11">
                  <p:embed/>
                </p:oleObj>
              </mc:Choice>
              <mc:Fallback>
                <p:oleObj name="" r:id="rId1" imgW="3888105" imgH="229806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3993" t="2525" r="7257" b="410"/>
                      <a:stretch>
                        <a:fillRect/>
                      </a:stretch>
                    </p:blipFill>
                    <p:spPr bwMode="auto">
                      <a:xfrm>
                        <a:off x="460375" y="790575"/>
                        <a:ext cx="8115300" cy="524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7" name="Text Box 3"/>
          <p:cNvSpPr txBox="1">
            <a:spLocks noChangeArrowheads="1"/>
          </p:cNvSpPr>
          <p:nvPr/>
        </p:nvSpPr>
        <p:spPr bwMode="auto">
          <a:xfrm>
            <a:off x="2212975" y="5988050"/>
            <a:ext cx="4086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图6.3.2  电压并联负反馈电路 </a:t>
            </a:r>
            <a:endParaRPr lang="zh-CN" altLang="zh-CN" sz="2400">
              <a:latin typeface="Times New Roman" panose="02020603050405020304" pitchFamily="18" charset="0"/>
            </a:endParaRPr>
          </a:p>
        </p:txBody>
      </p:sp>
      <p:sp>
        <p:nvSpPr>
          <p:cNvPr id="72708" name="Rectangle 4"/>
          <p:cNvSpPr>
            <a:spLocks noChangeArrowheads="1"/>
          </p:cNvSpPr>
          <p:nvPr/>
        </p:nvSpPr>
        <p:spPr bwMode="auto">
          <a:xfrm>
            <a:off x="623888" y="655638"/>
            <a:ext cx="3860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a:latin typeface="Times New Roman" panose="02020603050405020304" pitchFamily="18" charset="0"/>
              </a:rPr>
              <a:t>2. 电压并联负反馈电路</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6F983CF-9B25-47FA-8B81-62E45A6ED771}" type="slidenum">
              <a:rPr lang="zh-CN" altLang="zh-CN" sz="1400" smtClean="0"/>
            </a:fld>
            <a:endParaRPr lang="zh-CN" altLang="zh-CN" sz="1400" smtClean="0"/>
          </a:p>
        </p:txBody>
      </p:sp>
      <p:graphicFrame>
        <p:nvGraphicFramePr>
          <p:cNvPr id="73730" name="Object 2"/>
          <p:cNvGraphicFramePr>
            <a:graphicFrameLocks noChangeAspect="1"/>
          </p:cNvGraphicFramePr>
          <p:nvPr/>
        </p:nvGraphicFramePr>
        <p:xfrm>
          <a:off x="2408238" y="4329113"/>
          <a:ext cx="4425950" cy="2395537"/>
        </p:xfrm>
        <a:graphic>
          <a:graphicData uri="http://schemas.openxmlformats.org/presentationml/2006/ole">
            <mc:AlternateContent xmlns:mc="http://schemas.openxmlformats.org/markup-compatibility/2006">
              <mc:Choice xmlns:v="urn:schemas-microsoft-com:vml" Requires="v">
                <p:oleObj spid="_x0000_s71748" name="" r:id="rId1" imgW="2018665" imgH="1091565" progId="Equation.3">
                  <p:embed/>
                </p:oleObj>
              </mc:Choice>
              <mc:Fallback>
                <p:oleObj name="" r:id="rId1" imgW="2018665" imgH="109156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8238" y="4329113"/>
                        <a:ext cx="4425950" cy="239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4" name="Object 3"/>
          <p:cNvGraphicFramePr>
            <a:graphicFrameLocks noChangeAspect="1"/>
          </p:cNvGraphicFramePr>
          <p:nvPr/>
        </p:nvGraphicFramePr>
        <p:xfrm>
          <a:off x="1246188" y="0"/>
          <a:ext cx="6559550" cy="4238625"/>
        </p:xfrm>
        <a:graphic>
          <a:graphicData uri="http://schemas.openxmlformats.org/presentationml/2006/ole">
            <mc:AlternateContent xmlns:mc="http://schemas.openxmlformats.org/markup-compatibility/2006">
              <mc:Choice xmlns:v="urn:schemas-microsoft-com:vml" Requires="v">
                <p:oleObj spid="_x0000_s71749" name="" r:id="rId3" imgW="3888105" imgH="2298065" progId="Visio.Drawing.11">
                  <p:embed/>
                </p:oleObj>
              </mc:Choice>
              <mc:Fallback>
                <p:oleObj name="" r:id="rId3" imgW="3888105" imgH="2298065"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983" t="2507" r="7225" b="470"/>
                      <a:stretch>
                        <a:fillRect/>
                      </a:stretch>
                    </p:blipFill>
                    <p:spPr bwMode="auto">
                      <a:xfrm>
                        <a:off x="1246188" y="0"/>
                        <a:ext cx="6559550" cy="423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85" name="Text Box 4"/>
          <p:cNvSpPr txBox="1">
            <a:spLocks noChangeArrowheads="1"/>
          </p:cNvSpPr>
          <p:nvPr/>
        </p:nvSpPr>
        <p:spPr bwMode="auto">
          <a:xfrm>
            <a:off x="2933700" y="4095750"/>
            <a:ext cx="343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图6.3.2  电压并联负反馈电路 </a:t>
            </a:r>
            <a:endParaRPr lang="zh-CN" altLang="zh-CN" sz="20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BD7EAF6-0109-4375-8144-7A3B7BD5F431}" type="slidenum">
              <a:rPr lang="zh-CN" altLang="zh-CN" sz="1400" smtClean="0"/>
            </a:fld>
            <a:endParaRPr lang="zh-CN" altLang="zh-CN" sz="1400" smtClean="0"/>
          </a:p>
        </p:txBody>
      </p:sp>
      <p:graphicFrame>
        <p:nvGraphicFramePr>
          <p:cNvPr id="72707" name="Object 2"/>
          <p:cNvGraphicFramePr>
            <a:graphicFrameLocks noChangeAspect="1"/>
          </p:cNvGraphicFramePr>
          <p:nvPr/>
        </p:nvGraphicFramePr>
        <p:xfrm>
          <a:off x="1246188" y="0"/>
          <a:ext cx="6559550" cy="4238625"/>
        </p:xfrm>
        <a:graphic>
          <a:graphicData uri="http://schemas.openxmlformats.org/presentationml/2006/ole">
            <mc:AlternateContent xmlns:mc="http://schemas.openxmlformats.org/markup-compatibility/2006">
              <mc:Choice xmlns:v="urn:schemas-microsoft-com:vml" Requires="v">
                <p:oleObj spid="_x0000_s72811" name="" r:id="rId1" imgW="3888105" imgH="2298065" progId="Visio.Drawing.11">
                  <p:embed/>
                </p:oleObj>
              </mc:Choice>
              <mc:Fallback>
                <p:oleObj name="" r:id="rId1" imgW="3888105" imgH="229806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3983" t="2507" r="7225" b="470"/>
                      <a:stretch>
                        <a:fillRect/>
                      </a:stretch>
                    </p:blipFill>
                    <p:spPr bwMode="auto">
                      <a:xfrm>
                        <a:off x="1246188" y="0"/>
                        <a:ext cx="6559550" cy="423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8" name="Rectangle 3"/>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72709" name="Rectangle 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72710" name="Rectangle 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72711" name="Rectangle 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72712" name="Object 7"/>
          <p:cNvGraphicFramePr>
            <a:graphicFrameLocks noChangeAspect="1"/>
          </p:cNvGraphicFramePr>
          <p:nvPr/>
        </p:nvGraphicFramePr>
        <p:xfrm>
          <a:off x="285750" y="5040313"/>
          <a:ext cx="3136900" cy="1046162"/>
        </p:xfrm>
        <a:graphic>
          <a:graphicData uri="http://schemas.openxmlformats.org/presentationml/2006/ole">
            <mc:AlternateContent xmlns:mc="http://schemas.openxmlformats.org/markup-compatibility/2006">
              <mc:Choice xmlns:v="urn:schemas-microsoft-com:vml" Requires="v">
                <p:oleObj spid="_x0000_s72812" name="" r:id="rId3" imgW="1373505" imgH="457835" progId="Equation.3">
                  <p:embed/>
                </p:oleObj>
              </mc:Choice>
              <mc:Fallback>
                <p:oleObj name="" r:id="rId3" imgW="1373505" imgH="45783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5040313"/>
                        <a:ext cx="3136900" cy="104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13" name="Rectangle 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72714" name="Object 9"/>
          <p:cNvGraphicFramePr>
            <a:graphicFrameLocks noChangeAspect="1"/>
          </p:cNvGraphicFramePr>
          <p:nvPr/>
        </p:nvGraphicFramePr>
        <p:xfrm>
          <a:off x="4492625" y="5016500"/>
          <a:ext cx="4075113" cy="1023938"/>
        </p:xfrm>
        <a:graphic>
          <a:graphicData uri="http://schemas.openxmlformats.org/presentationml/2006/ole">
            <mc:AlternateContent xmlns:mc="http://schemas.openxmlformats.org/markup-compatibility/2006">
              <mc:Choice xmlns:v="urn:schemas-microsoft-com:vml" Requires="v">
                <p:oleObj spid="_x0000_s72813" name="" r:id="rId5" imgW="1816735" imgH="457200" progId="Equation.3">
                  <p:embed/>
                </p:oleObj>
              </mc:Choice>
              <mc:Fallback>
                <p:oleObj name="" r:id="rId5" imgW="1816735"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2625" y="5016500"/>
                        <a:ext cx="4075113"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2" name="Rectangle 10"/>
          <p:cNvSpPr>
            <a:spLocks noChangeArrowheads="1"/>
          </p:cNvSpPr>
          <p:nvPr/>
        </p:nvSpPr>
        <p:spPr bwMode="auto">
          <a:xfrm>
            <a:off x="3397250" y="4824413"/>
            <a:ext cx="1241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i="1">
                <a:latin typeface="Times New Roman" panose="02020603050405020304" pitchFamily="18" charset="0"/>
              </a:rPr>
              <a:t>I</a:t>
            </a:r>
            <a:r>
              <a:rPr lang="zh-CN" altLang="zh-CN" i="1" baseline="-25000">
                <a:latin typeface="Times New Roman" panose="02020603050405020304" pitchFamily="18" charset="0"/>
              </a:rPr>
              <a:t>f</a:t>
            </a:r>
            <a:r>
              <a:rPr lang="zh-CN" altLang="zh-CN" baseline="-25000">
                <a:latin typeface="Times New Roman" panose="02020603050405020304" pitchFamily="18" charset="0"/>
              </a:rPr>
              <a:t> </a:t>
            </a:r>
            <a:r>
              <a:rPr lang="zh-CN" altLang="zh-CN">
                <a:latin typeface="Times New Roman" panose="02020603050405020304" pitchFamily="18" charset="0"/>
              </a:rPr>
              <a:t>≈</a:t>
            </a:r>
            <a:r>
              <a:rPr lang="zh-CN" altLang="zh-CN" i="1">
                <a:latin typeface="Times New Roman" panose="02020603050405020304" pitchFamily="18" charset="0"/>
              </a:rPr>
              <a:t>I</a:t>
            </a:r>
            <a:r>
              <a:rPr lang="zh-CN" altLang="zh-CN" i="1" baseline="-25000">
                <a:latin typeface="Times New Roman" panose="02020603050405020304" pitchFamily="18" charset="0"/>
              </a:rPr>
              <a:t>i</a:t>
            </a:r>
            <a:r>
              <a:rPr lang="zh-CN" altLang="zh-CN">
                <a:latin typeface="Times New Roman" panose="02020603050405020304" pitchFamily="18" charset="0"/>
              </a:rPr>
              <a:t> </a:t>
            </a:r>
            <a:endParaRPr lang="zh-CN" altLang="zh-CN">
              <a:latin typeface="Times New Roman" panose="02020603050405020304" pitchFamily="18" charset="0"/>
            </a:endParaRPr>
          </a:p>
        </p:txBody>
      </p:sp>
      <p:sp>
        <p:nvSpPr>
          <p:cNvPr id="74763" name="Line 11"/>
          <p:cNvSpPr>
            <a:spLocks noChangeShapeType="1"/>
          </p:cNvSpPr>
          <p:nvPr/>
        </p:nvSpPr>
        <p:spPr bwMode="auto">
          <a:xfrm>
            <a:off x="3503613" y="5589588"/>
            <a:ext cx="977900" cy="0"/>
          </a:xfrm>
          <a:prstGeom prst="line">
            <a:avLst/>
          </a:prstGeom>
          <a:noFill/>
          <a:ln w="57150">
            <a:solidFill>
              <a:schemeClr val="tx1"/>
            </a:solidFill>
            <a:round/>
            <a:tailEnd type="triangle" w="lg"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72717" name="Text Box 12"/>
          <p:cNvSpPr txBox="1">
            <a:spLocks noChangeArrowheads="1"/>
          </p:cNvSpPr>
          <p:nvPr/>
        </p:nvSpPr>
        <p:spPr bwMode="auto">
          <a:xfrm>
            <a:off x="3071813" y="4183063"/>
            <a:ext cx="3438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图6.3.2  电压并联负反馈电路 </a:t>
            </a:r>
            <a:endParaRPr lang="zh-CN" altLang="zh-CN" sz="20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1C8E21F3-5931-46F7-BCF6-86D9D0CC3540}" type="slidenum">
              <a:rPr lang="zh-CN" altLang="zh-CN" sz="1400" smtClean="0"/>
            </a:fld>
            <a:endParaRPr lang="zh-CN" altLang="zh-CN" sz="1400" smtClean="0"/>
          </a:p>
        </p:txBody>
      </p:sp>
      <p:graphicFrame>
        <p:nvGraphicFramePr>
          <p:cNvPr id="73731" name="Object 2"/>
          <p:cNvGraphicFramePr>
            <a:graphicFrameLocks noChangeAspect="1"/>
          </p:cNvGraphicFramePr>
          <p:nvPr/>
        </p:nvGraphicFramePr>
        <p:xfrm>
          <a:off x="314325" y="1157288"/>
          <a:ext cx="8286750" cy="4660900"/>
        </p:xfrm>
        <a:graphic>
          <a:graphicData uri="http://schemas.openxmlformats.org/presentationml/2006/ole">
            <mc:AlternateContent xmlns:mc="http://schemas.openxmlformats.org/markup-compatibility/2006">
              <mc:Choice xmlns:v="urn:schemas-microsoft-com:vml" Requires="v">
                <p:oleObj spid="_x0000_s73765" name="" r:id="rId1" imgW="3192780" imgH="1798320" progId="Visio.Drawing.11">
                  <p:embed/>
                </p:oleObj>
              </mc:Choice>
              <mc:Fallback>
                <p:oleObj name="" r:id="rId1" imgW="3192780" imgH="179832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3993" t="6668" r="4478" b="1791"/>
                      <a:stretch>
                        <a:fillRect/>
                      </a:stretch>
                    </p:blipFill>
                    <p:spPr bwMode="auto">
                      <a:xfrm>
                        <a:off x="314325" y="1157288"/>
                        <a:ext cx="8286750" cy="466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79" name="Text Box 3"/>
          <p:cNvSpPr txBox="1">
            <a:spLocks noChangeArrowheads="1"/>
          </p:cNvSpPr>
          <p:nvPr/>
        </p:nvSpPr>
        <p:spPr bwMode="auto">
          <a:xfrm>
            <a:off x="2286000" y="5945188"/>
            <a:ext cx="4695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        图6.3.3  电流串联负反馈电路 </a:t>
            </a:r>
            <a:endParaRPr lang="zh-CN" altLang="zh-CN" sz="2400">
              <a:latin typeface="Times New Roman" panose="02020603050405020304" pitchFamily="18" charset="0"/>
            </a:endParaRPr>
          </a:p>
        </p:txBody>
      </p:sp>
      <p:sp>
        <p:nvSpPr>
          <p:cNvPr id="75780" name="Rectangle 4"/>
          <p:cNvSpPr>
            <a:spLocks noChangeArrowheads="1"/>
          </p:cNvSpPr>
          <p:nvPr/>
        </p:nvSpPr>
        <p:spPr bwMode="auto">
          <a:xfrm>
            <a:off x="608013" y="658813"/>
            <a:ext cx="4051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sz="2800">
                <a:latin typeface="Times New Roman" panose="02020603050405020304" pitchFamily="18" charset="0"/>
              </a:rPr>
              <a:t>3. 电流串联负反馈电路</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05B83B94-2AF5-49FB-A7D2-C7F59CDA5E13}" type="slidenum">
              <a:rPr lang="zh-CN" altLang="zh-CN" sz="1400" smtClean="0"/>
            </a:fld>
            <a:endParaRPr lang="zh-CN" altLang="zh-CN" sz="1400" smtClean="0"/>
          </a:p>
        </p:txBody>
      </p:sp>
      <p:graphicFrame>
        <p:nvGraphicFramePr>
          <p:cNvPr id="74755" name="Object 2"/>
          <p:cNvGraphicFramePr>
            <a:graphicFrameLocks noChangeAspect="1"/>
          </p:cNvGraphicFramePr>
          <p:nvPr/>
        </p:nvGraphicFramePr>
        <p:xfrm>
          <a:off x="2098675" y="4533900"/>
          <a:ext cx="4976813" cy="2032000"/>
        </p:xfrm>
        <a:graphic>
          <a:graphicData uri="http://schemas.openxmlformats.org/presentationml/2006/ole">
            <mc:AlternateContent xmlns:mc="http://schemas.openxmlformats.org/markup-compatibility/2006">
              <mc:Choice xmlns:v="urn:schemas-microsoft-com:vml" Requires="v">
                <p:oleObj spid="_x0000_s74820" name="" r:id="rId1" imgW="1866900" imgH="762000" progId="Equation.3">
                  <p:embed/>
                </p:oleObj>
              </mc:Choice>
              <mc:Fallback>
                <p:oleObj name="" r:id="rId1" imgW="1866900" imgH="762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675" y="4533900"/>
                        <a:ext cx="4976813" cy="203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56" name="Object 3"/>
          <p:cNvGraphicFramePr>
            <a:graphicFrameLocks noChangeAspect="1"/>
          </p:cNvGraphicFramePr>
          <p:nvPr/>
        </p:nvGraphicFramePr>
        <p:xfrm>
          <a:off x="1204913" y="0"/>
          <a:ext cx="7237412" cy="4070350"/>
        </p:xfrm>
        <a:graphic>
          <a:graphicData uri="http://schemas.openxmlformats.org/presentationml/2006/ole">
            <mc:AlternateContent xmlns:mc="http://schemas.openxmlformats.org/markup-compatibility/2006">
              <mc:Choice xmlns:v="urn:schemas-microsoft-com:vml" Requires="v">
                <p:oleObj spid="_x0000_s74821" name="" r:id="rId3" imgW="3192780" imgH="1798320" progId="Visio.Drawing.11">
                  <p:embed/>
                </p:oleObj>
              </mc:Choice>
              <mc:Fallback>
                <p:oleObj name="" r:id="rId3" imgW="3192780" imgH="179832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993" t="6668" r="4478" b="1791"/>
                      <a:stretch>
                        <a:fillRect/>
                      </a:stretch>
                    </p:blipFill>
                    <p:spPr bwMode="auto">
                      <a:xfrm>
                        <a:off x="1204913" y="0"/>
                        <a:ext cx="7237412" cy="407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57" name="Text Box 4"/>
          <p:cNvSpPr txBox="1">
            <a:spLocks noChangeArrowheads="1"/>
          </p:cNvSpPr>
          <p:nvPr/>
        </p:nvSpPr>
        <p:spPr bwMode="auto">
          <a:xfrm>
            <a:off x="2479675" y="4062413"/>
            <a:ext cx="3946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        图6.3.3  电流串联负反馈电路 </a:t>
            </a:r>
            <a:endParaRPr lang="zh-CN" altLang="zh-CN" sz="20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44C0E33-7CFE-461D-A167-F2B07D803968}" type="slidenum">
              <a:rPr lang="zh-CN" altLang="zh-CN" sz="1400" smtClean="0"/>
            </a:fld>
            <a:endParaRPr lang="zh-CN" altLang="zh-CN" sz="1400" smtClean="0"/>
          </a:p>
        </p:txBody>
      </p:sp>
      <p:graphicFrame>
        <p:nvGraphicFramePr>
          <p:cNvPr id="75779" name="Object 2"/>
          <p:cNvGraphicFramePr>
            <a:graphicFrameLocks noChangeAspect="1"/>
          </p:cNvGraphicFramePr>
          <p:nvPr/>
        </p:nvGraphicFramePr>
        <p:xfrm>
          <a:off x="1403350" y="4967288"/>
          <a:ext cx="6061075" cy="1557337"/>
        </p:xfrm>
        <a:graphic>
          <a:graphicData uri="http://schemas.openxmlformats.org/presentationml/2006/ole">
            <mc:AlternateContent xmlns:mc="http://schemas.openxmlformats.org/markup-compatibility/2006">
              <mc:Choice xmlns:v="urn:schemas-microsoft-com:vml" Requires="v">
                <p:oleObj spid="_x0000_s75844" name="" r:id="rId1" imgW="2273300" imgH="584200" progId="Equation.3">
                  <p:embed/>
                </p:oleObj>
              </mc:Choice>
              <mc:Fallback>
                <p:oleObj name="" r:id="rId1" imgW="2273300" imgH="584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4967288"/>
                        <a:ext cx="6061075" cy="155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0" name="Object 3"/>
          <p:cNvGraphicFramePr>
            <a:graphicFrameLocks noChangeAspect="1"/>
          </p:cNvGraphicFramePr>
          <p:nvPr/>
        </p:nvGraphicFramePr>
        <p:xfrm>
          <a:off x="703263" y="0"/>
          <a:ext cx="7716837" cy="4340225"/>
        </p:xfrm>
        <a:graphic>
          <a:graphicData uri="http://schemas.openxmlformats.org/presentationml/2006/ole">
            <mc:AlternateContent xmlns:mc="http://schemas.openxmlformats.org/markup-compatibility/2006">
              <mc:Choice xmlns:v="urn:schemas-microsoft-com:vml" Requires="v">
                <p:oleObj spid="_x0000_s75845" name="" r:id="rId3" imgW="3192780" imgH="1798320" progId="Visio.Drawing.11">
                  <p:embed/>
                </p:oleObj>
              </mc:Choice>
              <mc:Fallback>
                <p:oleObj name="" r:id="rId3" imgW="3192780" imgH="179832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993" t="6668" r="4478" b="1791"/>
                      <a:stretch>
                        <a:fillRect/>
                      </a:stretch>
                    </p:blipFill>
                    <p:spPr bwMode="auto">
                      <a:xfrm>
                        <a:off x="703263" y="0"/>
                        <a:ext cx="7716837"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781" name="Text Box 4"/>
          <p:cNvSpPr txBox="1">
            <a:spLocks noChangeArrowheads="1"/>
          </p:cNvSpPr>
          <p:nvPr/>
        </p:nvSpPr>
        <p:spPr bwMode="auto">
          <a:xfrm>
            <a:off x="2492375" y="4525963"/>
            <a:ext cx="3946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        图6.3.3  电流串联负反馈电路 </a:t>
            </a:r>
            <a:endParaRPr lang="zh-CN" altLang="zh-CN" sz="20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DD7D1442-EFC6-4026-AF5C-510213CFA77C}" type="slidenum">
              <a:rPr lang="zh-CN" altLang="zh-CN" sz="1400" smtClean="0"/>
            </a:fld>
            <a:endParaRPr lang="zh-CN" altLang="zh-CN" sz="1400" smtClean="0"/>
          </a:p>
        </p:txBody>
      </p:sp>
      <p:graphicFrame>
        <p:nvGraphicFramePr>
          <p:cNvPr id="76803" name="Object 2"/>
          <p:cNvGraphicFramePr>
            <a:graphicFrameLocks noChangeAspect="1"/>
          </p:cNvGraphicFramePr>
          <p:nvPr/>
        </p:nvGraphicFramePr>
        <p:xfrm>
          <a:off x="1063625" y="0"/>
          <a:ext cx="6994525" cy="3933825"/>
        </p:xfrm>
        <a:graphic>
          <a:graphicData uri="http://schemas.openxmlformats.org/presentationml/2006/ole">
            <mc:AlternateContent xmlns:mc="http://schemas.openxmlformats.org/markup-compatibility/2006">
              <mc:Choice xmlns:v="urn:schemas-microsoft-com:vml" Requires="v">
                <p:oleObj spid="_x0000_s76901" name="" r:id="rId1" imgW="3192780" imgH="1798320" progId="Visio.Drawing.11">
                  <p:embed/>
                </p:oleObj>
              </mc:Choice>
              <mc:Fallback>
                <p:oleObj name="" r:id="rId1" imgW="3192780" imgH="179832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3993" t="6668" r="4478" b="1791"/>
                      <a:stretch>
                        <a:fillRect/>
                      </a:stretch>
                    </p:blipFill>
                    <p:spPr bwMode="auto">
                      <a:xfrm>
                        <a:off x="1063625" y="0"/>
                        <a:ext cx="6994525"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4" name="Text Box 3"/>
          <p:cNvSpPr txBox="1">
            <a:spLocks noChangeArrowheads="1"/>
          </p:cNvSpPr>
          <p:nvPr/>
        </p:nvSpPr>
        <p:spPr bwMode="auto">
          <a:xfrm>
            <a:off x="2581275" y="3908425"/>
            <a:ext cx="3946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        图6.3.3  电流串联负反馈电路 </a:t>
            </a:r>
            <a:endParaRPr lang="zh-CN" altLang="zh-CN" sz="2000">
              <a:latin typeface="Times New Roman" panose="02020603050405020304" pitchFamily="18" charset="0"/>
            </a:endParaRPr>
          </a:p>
        </p:txBody>
      </p:sp>
      <p:sp>
        <p:nvSpPr>
          <p:cNvPr id="76805" name="Rectangle 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76806" name="Object 5"/>
          <p:cNvGraphicFramePr>
            <a:graphicFrameLocks noChangeAspect="1"/>
          </p:cNvGraphicFramePr>
          <p:nvPr/>
        </p:nvGraphicFramePr>
        <p:xfrm>
          <a:off x="1022350" y="4386263"/>
          <a:ext cx="4408488" cy="1058862"/>
        </p:xfrm>
        <a:graphic>
          <a:graphicData uri="http://schemas.openxmlformats.org/presentationml/2006/ole">
            <mc:AlternateContent xmlns:mc="http://schemas.openxmlformats.org/markup-compatibility/2006">
              <mc:Choice xmlns:v="urn:schemas-microsoft-com:vml" Requires="v">
                <p:oleObj spid="_x0000_s76902" name="" r:id="rId3" imgW="1854200" imgH="444500" progId="Equation.3">
                  <p:embed/>
                </p:oleObj>
              </mc:Choice>
              <mc:Fallback>
                <p:oleObj name="" r:id="rId3" imgW="1854200" imgH="444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350" y="4386263"/>
                        <a:ext cx="4408488"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7" name="Object 6"/>
          <p:cNvGraphicFramePr>
            <a:graphicFrameLocks noChangeAspect="1"/>
          </p:cNvGraphicFramePr>
          <p:nvPr/>
        </p:nvGraphicFramePr>
        <p:xfrm>
          <a:off x="1016000" y="5351463"/>
          <a:ext cx="7235825" cy="1341437"/>
        </p:xfrm>
        <a:graphic>
          <a:graphicData uri="http://schemas.openxmlformats.org/presentationml/2006/ole">
            <mc:AlternateContent xmlns:mc="http://schemas.openxmlformats.org/markup-compatibility/2006">
              <mc:Choice xmlns:v="urn:schemas-microsoft-com:vml" Requires="v">
                <p:oleObj spid="_x0000_s76903" name="" r:id="rId5" imgW="3148330" imgH="584200" progId="Equation.3">
                  <p:embed/>
                </p:oleObj>
              </mc:Choice>
              <mc:Fallback>
                <p:oleObj name="" r:id="rId5" imgW="3148330" imgH="584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6000" y="5351463"/>
                        <a:ext cx="7235825" cy="1341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9E4B0FA-5AFF-4C2E-9B36-CD6CDF078B91}" type="slidenum">
              <a:rPr lang="zh-CN" altLang="zh-CN" sz="1400" smtClean="0"/>
            </a:fld>
            <a:endParaRPr lang="zh-CN" altLang="zh-CN" sz="1400" smtClean="0"/>
          </a:p>
        </p:txBody>
      </p:sp>
      <p:graphicFrame>
        <p:nvGraphicFramePr>
          <p:cNvPr id="77827" name="Object 2"/>
          <p:cNvGraphicFramePr>
            <a:graphicFrameLocks noChangeAspect="1"/>
          </p:cNvGraphicFramePr>
          <p:nvPr/>
        </p:nvGraphicFramePr>
        <p:xfrm>
          <a:off x="441325" y="874713"/>
          <a:ext cx="8024813" cy="5032375"/>
        </p:xfrm>
        <a:graphic>
          <a:graphicData uri="http://schemas.openxmlformats.org/presentationml/2006/ole">
            <mc:AlternateContent xmlns:mc="http://schemas.openxmlformats.org/markup-compatibility/2006">
              <mc:Choice xmlns:v="urn:schemas-microsoft-com:vml" Requires="v">
                <p:oleObj spid="_x0000_s77861" name="" r:id="rId1" imgW="3103245" imgH="1941195" progId="Visio.Drawing.11">
                  <p:embed/>
                </p:oleObj>
              </mc:Choice>
              <mc:Fallback>
                <p:oleObj name="" r:id="rId1" imgW="3103245" imgH="194119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2176" t="6958" r="4628" b="-412"/>
                      <a:stretch>
                        <a:fillRect/>
                      </a:stretch>
                    </p:blipFill>
                    <p:spPr bwMode="auto">
                      <a:xfrm>
                        <a:off x="441325" y="874713"/>
                        <a:ext cx="8024813" cy="503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5" name="Text Box 3"/>
          <p:cNvSpPr txBox="1">
            <a:spLocks noChangeArrowheads="1"/>
          </p:cNvSpPr>
          <p:nvPr/>
        </p:nvSpPr>
        <p:spPr bwMode="auto">
          <a:xfrm>
            <a:off x="2286000" y="6040438"/>
            <a:ext cx="438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a:latin typeface="Times New Roman" panose="02020603050405020304" pitchFamily="18" charset="0"/>
              </a:rPr>
              <a:t>           图6.3.4   电流并联负反馈 </a:t>
            </a:r>
            <a:endParaRPr lang="zh-CN" altLang="zh-CN" sz="2400">
              <a:latin typeface="Times New Roman" panose="02020603050405020304" pitchFamily="18" charset="0"/>
            </a:endParaRPr>
          </a:p>
        </p:txBody>
      </p:sp>
      <p:sp>
        <p:nvSpPr>
          <p:cNvPr id="79876" name="Rectangle 4"/>
          <p:cNvSpPr>
            <a:spLocks noChangeArrowheads="1"/>
          </p:cNvSpPr>
          <p:nvPr/>
        </p:nvSpPr>
        <p:spPr bwMode="auto">
          <a:xfrm>
            <a:off x="708025" y="339725"/>
            <a:ext cx="33956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Tx/>
              <a:buSzTx/>
              <a:buFont typeface="Arial" panose="020B0604020202020204" pitchFamily="34" charset="0"/>
              <a:buNone/>
            </a:pPr>
            <a:r>
              <a:rPr lang="zh-CN" altLang="zh-CN" sz="2800">
                <a:latin typeface="Times New Roman" panose="02020603050405020304" pitchFamily="18" charset="0"/>
              </a:rPr>
              <a:t>4.电流并联负反馈 </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A428BDD0-A566-43E6-87CA-E28E8D6CCF17}" type="slidenum">
              <a:rPr lang="zh-CN" altLang="zh-CN" sz="1400" smtClean="0"/>
            </a:fld>
            <a:endParaRPr lang="zh-CN" altLang="zh-CN" sz="1400" smtClean="0"/>
          </a:p>
        </p:txBody>
      </p:sp>
      <p:sp>
        <p:nvSpPr>
          <p:cNvPr id="78851" name="Rectangle 2"/>
          <p:cNvSpPr>
            <a:spLocks noChangeArrowheads="1"/>
          </p:cNvSpPr>
          <p:nvPr/>
        </p:nvSpPr>
        <p:spPr bwMode="auto">
          <a:xfrm>
            <a:off x="0" y="3895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78852" name="Object 3"/>
          <p:cNvGraphicFramePr>
            <a:graphicFrameLocks noChangeAspect="1"/>
          </p:cNvGraphicFramePr>
          <p:nvPr/>
        </p:nvGraphicFramePr>
        <p:xfrm>
          <a:off x="3079750" y="0"/>
          <a:ext cx="6064250" cy="3798888"/>
        </p:xfrm>
        <a:graphic>
          <a:graphicData uri="http://schemas.openxmlformats.org/presentationml/2006/ole">
            <mc:AlternateContent xmlns:mc="http://schemas.openxmlformats.org/markup-compatibility/2006">
              <mc:Choice xmlns:v="urn:schemas-microsoft-com:vml" Requires="v">
                <p:oleObj spid="_x0000_s78917" name="" r:id="rId1" imgW="3103245" imgH="1941195" progId="Visio.Drawing.11">
                  <p:embed/>
                </p:oleObj>
              </mc:Choice>
              <mc:Fallback>
                <p:oleObj name="" r:id="rId1" imgW="3103245" imgH="194119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l="2205" t="7053" r="4643" b="-371"/>
                      <a:stretch>
                        <a:fillRect/>
                      </a:stretch>
                    </p:blipFill>
                    <p:spPr bwMode="auto">
                      <a:xfrm>
                        <a:off x="3079750" y="0"/>
                        <a:ext cx="6064250" cy="3798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78853" name="Text Box 4"/>
          <p:cNvSpPr txBox="1">
            <a:spLocks noChangeArrowheads="1"/>
          </p:cNvSpPr>
          <p:nvPr/>
        </p:nvSpPr>
        <p:spPr bwMode="auto">
          <a:xfrm>
            <a:off x="4616450" y="3889375"/>
            <a:ext cx="4527550" cy="3968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           图6.3.4   电流并联负反馈 </a:t>
            </a:r>
            <a:endParaRPr lang="zh-CN" altLang="zh-CN" sz="2000">
              <a:latin typeface="Times New Roman" panose="02020603050405020304" pitchFamily="18" charset="0"/>
            </a:endParaRPr>
          </a:p>
        </p:txBody>
      </p:sp>
      <p:graphicFrame>
        <p:nvGraphicFramePr>
          <p:cNvPr id="78854" name="Object 5"/>
          <p:cNvGraphicFramePr>
            <a:graphicFrameLocks noChangeAspect="1"/>
          </p:cNvGraphicFramePr>
          <p:nvPr/>
        </p:nvGraphicFramePr>
        <p:xfrm>
          <a:off x="385763" y="1441450"/>
          <a:ext cx="6734175" cy="5078413"/>
        </p:xfrm>
        <a:graphic>
          <a:graphicData uri="http://schemas.openxmlformats.org/presentationml/2006/ole">
            <mc:AlternateContent xmlns:mc="http://schemas.openxmlformats.org/markup-compatibility/2006">
              <mc:Choice xmlns:v="urn:schemas-microsoft-com:vml" Requires="v">
                <p:oleObj spid="_x0000_s78918" name="" r:id="rId3" imgW="2895600" imgH="2184400" progId="Equation.3">
                  <p:embed/>
                </p:oleObj>
              </mc:Choice>
              <mc:Fallback>
                <p:oleObj name="" r:id="rId3" imgW="2895600" imgH="2184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3" y="1441450"/>
                        <a:ext cx="6734175" cy="507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DD74FCE-1BF3-4AF2-87F4-5F200F9D1915}" type="slidenum">
              <a:rPr lang="zh-CN" altLang="zh-CN" sz="1400" smtClean="0"/>
            </a:fld>
            <a:endParaRPr lang="zh-CN" altLang="zh-CN" sz="1400" smtClean="0"/>
          </a:p>
        </p:txBody>
      </p:sp>
      <p:sp>
        <p:nvSpPr>
          <p:cNvPr id="79875" name="Rectangle 2"/>
          <p:cNvSpPr>
            <a:spLocks noChangeArrowheads="1"/>
          </p:cNvSpPr>
          <p:nvPr/>
        </p:nvSpPr>
        <p:spPr bwMode="auto">
          <a:xfrm>
            <a:off x="0" y="3895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79876" name="Object 3"/>
          <p:cNvGraphicFramePr>
            <a:graphicFrameLocks noChangeAspect="1"/>
          </p:cNvGraphicFramePr>
          <p:nvPr/>
        </p:nvGraphicFramePr>
        <p:xfrm>
          <a:off x="2409825" y="0"/>
          <a:ext cx="6734175" cy="4217988"/>
        </p:xfrm>
        <a:graphic>
          <a:graphicData uri="http://schemas.openxmlformats.org/presentationml/2006/ole">
            <mc:AlternateContent xmlns:mc="http://schemas.openxmlformats.org/markup-compatibility/2006">
              <mc:Choice xmlns:v="urn:schemas-microsoft-com:vml" Requires="v">
                <p:oleObj spid="_x0000_s79941" name="" r:id="rId1" imgW="3103245" imgH="1941195" progId="Visio.Drawing.11">
                  <p:embed/>
                </p:oleObj>
              </mc:Choice>
              <mc:Fallback>
                <p:oleObj name="" r:id="rId1" imgW="3103245" imgH="194119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l="2205" t="7053" r="4643" b="-371"/>
                      <a:stretch>
                        <a:fillRect/>
                      </a:stretch>
                    </p:blipFill>
                    <p:spPr bwMode="auto">
                      <a:xfrm>
                        <a:off x="2409825" y="0"/>
                        <a:ext cx="6734175" cy="421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79877" name="Text Box 4"/>
          <p:cNvSpPr txBox="1">
            <a:spLocks noChangeArrowheads="1"/>
          </p:cNvSpPr>
          <p:nvPr/>
        </p:nvSpPr>
        <p:spPr bwMode="auto">
          <a:xfrm>
            <a:off x="4408488" y="4314825"/>
            <a:ext cx="4527550" cy="3968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           图6.3.4   电流并联负反馈 </a:t>
            </a:r>
            <a:endParaRPr lang="zh-CN" altLang="zh-CN" sz="2000">
              <a:latin typeface="Times New Roman" panose="02020603050405020304" pitchFamily="18" charset="0"/>
            </a:endParaRPr>
          </a:p>
        </p:txBody>
      </p:sp>
      <p:graphicFrame>
        <p:nvGraphicFramePr>
          <p:cNvPr id="79878" name="Object 5"/>
          <p:cNvGraphicFramePr>
            <a:graphicFrameLocks noChangeAspect="1"/>
          </p:cNvGraphicFramePr>
          <p:nvPr/>
        </p:nvGraphicFramePr>
        <p:xfrm>
          <a:off x="439738" y="2068513"/>
          <a:ext cx="4171950" cy="4595812"/>
        </p:xfrm>
        <a:graphic>
          <a:graphicData uri="http://schemas.openxmlformats.org/presentationml/2006/ole">
            <mc:AlternateContent xmlns:mc="http://schemas.openxmlformats.org/markup-compatibility/2006">
              <mc:Choice xmlns:v="urn:schemas-microsoft-com:vml" Requires="v">
                <p:oleObj spid="_x0000_s79942" name="" r:id="rId3" imgW="1498600" imgH="1651000" progId="Equation.3">
                  <p:embed/>
                </p:oleObj>
              </mc:Choice>
              <mc:Fallback>
                <p:oleObj name="" r:id="rId3" imgW="1498600" imgH="1651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2068513"/>
                        <a:ext cx="4171950" cy="459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93FFA40F-BC8C-4F1B-9112-CBB5B8FD582E}" type="slidenum">
              <a:rPr lang="zh-CN" altLang="zh-CN" sz="1400" smtClean="0"/>
            </a:fld>
            <a:endParaRPr lang="zh-CN" altLang="zh-CN" sz="1400" smtClean="0"/>
          </a:p>
        </p:txBody>
      </p:sp>
      <p:sp>
        <p:nvSpPr>
          <p:cNvPr id="80899" name="Rectangle 2"/>
          <p:cNvSpPr>
            <a:spLocks noChangeArrowheads="1"/>
          </p:cNvSpPr>
          <p:nvPr/>
        </p:nvSpPr>
        <p:spPr bwMode="auto">
          <a:xfrm>
            <a:off x="1908175" y="473075"/>
            <a:ext cx="5435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dirty="0">
                <a:latin typeface="Times New Roman" panose="02020603050405020304" pitchFamily="18" charset="0"/>
              </a:rPr>
              <a:t>6.4  负反馈放大电路的稳定性</a:t>
            </a:r>
            <a:endParaRPr lang="zh-CN" altLang="zh-CN" sz="2400" dirty="0">
              <a:latin typeface="Times New Roman" panose="02020603050405020304" pitchFamily="18" charset="0"/>
            </a:endParaRPr>
          </a:p>
        </p:txBody>
      </p:sp>
      <p:sp>
        <p:nvSpPr>
          <p:cNvPr id="80900" name="Rectangle 3"/>
          <p:cNvSpPr>
            <a:spLocks noChangeArrowheads="1"/>
          </p:cNvSpPr>
          <p:nvPr/>
        </p:nvSpPr>
        <p:spPr bwMode="auto">
          <a:xfrm>
            <a:off x="0" y="1141413"/>
            <a:ext cx="7092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457200" indent="-457200">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r>
              <a:rPr lang="zh-CN" altLang="zh-CN" dirty="0">
                <a:latin typeface="Times New Roman" panose="02020603050405020304" pitchFamily="18" charset="0"/>
              </a:rPr>
              <a:t>6.4.1</a:t>
            </a:r>
            <a:r>
              <a:rPr lang="zh-CN" altLang="zh-CN" sz="2800" dirty="0">
                <a:latin typeface="Times New Roman" panose="02020603050405020304" pitchFamily="18" charset="0"/>
              </a:rPr>
              <a:t>负反馈放大电路的自激振荡</a:t>
            </a:r>
            <a:endParaRPr lang="zh-CN" altLang="zh-CN" dirty="0">
              <a:latin typeface="Times New Roman" panose="02020603050405020304" pitchFamily="18" charset="0"/>
            </a:endParaRPr>
          </a:p>
        </p:txBody>
      </p:sp>
      <p:pic>
        <p:nvPicPr>
          <p:cNvPr id="8090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751013"/>
            <a:ext cx="91440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20533"/>
            <a:ext cx="9144000" cy="470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2949"/>
                                        </p:tgtEl>
                                        <p:attrNameLst>
                                          <p:attrName>ppt_x</p:attrName>
                                        </p:attrNameLst>
                                      </p:cBhvr>
                                      <p:tavLst>
                                        <p:tav tm="0">
                                          <p:val>
                                            <p:strVal val="ppt_x"/>
                                          </p:val>
                                        </p:tav>
                                        <p:tav tm="100000">
                                          <p:val>
                                            <p:strVal val="ppt_x"/>
                                          </p:val>
                                        </p:tav>
                                      </p:tavLst>
                                    </p:anim>
                                    <p:anim calcmode="lin" valueType="num">
                                      <p:cBhvr additive="base">
                                        <p:cTn id="7" dur="500"/>
                                        <p:tgtEl>
                                          <p:spTgt spid="82949"/>
                                        </p:tgtEl>
                                        <p:attrNameLst>
                                          <p:attrName>ppt_y</p:attrName>
                                        </p:attrNameLst>
                                      </p:cBhvr>
                                      <p:tavLst>
                                        <p:tav tm="0">
                                          <p:val>
                                            <p:strVal val="ppt_y"/>
                                          </p:val>
                                        </p:tav>
                                        <p:tav tm="100000">
                                          <p:val>
                                            <p:strVal val="1+ppt_h/2"/>
                                          </p:val>
                                        </p:tav>
                                      </p:tavLst>
                                    </p:anim>
                                    <p:set>
                                      <p:cBhvr>
                                        <p:cTn id="8" dur="1" fill="hold">
                                          <p:stCondLst>
                                            <p:cond delay="499"/>
                                          </p:stCondLst>
                                        </p:cTn>
                                        <p:tgtEl>
                                          <p:spTgt spid="829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B783A8E-5ABC-41AB-BBE4-A93AF22F11BF}" type="slidenum">
              <a:rPr lang="zh-CN" altLang="zh-CN" sz="1400" smtClean="0"/>
            </a:fld>
            <a:endParaRPr lang="zh-CN" altLang="zh-CN" sz="1400" smtClean="0"/>
          </a:p>
        </p:txBody>
      </p:sp>
      <p:graphicFrame>
        <p:nvGraphicFramePr>
          <p:cNvPr id="81923" name="Object 2"/>
          <p:cNvGraphicFramePr>
            <a:graphicFrameLocks noChangeAspect="1"/>
          </p:cNvGraphicFramePr>
          <p:nvPr/>
        </p:nvGraphicFramePr>
        <p:xfrm>
          <a:off x="2281238" y="4645025"/>
          <a:ext cx="4187825" cy="1046163"/>
        </p:xfrm>
        <a:graphic>
          <a:graphicData uri="http://schemas.openxmlformats.org/presentationml/2006/ole">
            <mc:AlternateContent xmlns:mc="http://schemas.openxmlformats.org/markup-compatibility/2006">
              <mc:Choice xmlns:v="urn:schemas-microsoft-com:vml" Requires="v">
                <p:oleObj spid="_x0000_s81992" name="" r:id="rId1" imgW="2743200" imgH="647700" progId="Equation.3">
                  <p:embed/>
                </p:oleObj>
              </mc:Choice>
              <mc:Fallback>
                <p:oleObj name="" r:id="rId1" imgW="2743200" imgH="647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238" y="4645025"/>
                        <a:ext cx="4187825"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4" name="Rectangle 3"/>
          <p:cNvSpPr>
            <a:spLocks noChangeArrowheads="1"/>
          </p:cNvSpPr>
          <p:nvPr/>
        </p:nvSpPr>
        <p:spPr bwMode="auto">
          <a:xfrm>
            <a:off x="488950" y="4135438"/>
            <a:ext cx="489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dirty="0">
                <a:latin typeface="Times New Roman" panose="02020603050405020304" pitchFamily="18" charset="0"/>
              </a:rPr>
              <a:t>负反馈放大电路产生自激振荡 </a:t>
            </a:r>
            <a:endParaRPr lang="zh-CN" altLang="zh-CN" sz="2800" dirty="0">
              <a:latin typeface="Times New Roman" panose="02020603050405020304" pitchFamily="18" charset="0"/>
            </a:endParaRPr>
          </a:p>
        </p:txBody>
      </p:sp>
      <p:pic>
        <p:nvPicPr>
          <p:cNvPr id="8192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26" name="Object 5"/>
          <p:cNvGraphicFramePr>
            <a:graphicFrameLocks noChangeAspect="1"/>
          </p:cNvGraphicFramePr>
          <p:nvPr/>
        </p:nvGraphicFramePr>
        <p:xfrm>
          <a:off x="400050" y="5867400"/>
          <a:ext cx="8045450" cy="536575"/>
        </p:xfrm>
        <a:graphic>
          <a:graphicData uri="http://schemas.openxmlformats.org/presentationml/2006/ole">
            <mc:AlternateContent xmlns:mc="http://schemas.openxmlformats.org/markup-compatibility/2006">
              <mc:Choice xmlns:v="urn:schemas-microsoft-com:vml" Requires="v">
                <p:oleObj spid="_x0000_s81993" name="" r:id="rId4" imgW="3806825" imgH="254000" progId="Equation.3">
                  <p:embed/>
                </p:oleObj>
              </mc:Choice>
              <mc:Fallback>
                <p:oleObj name="" r:id="rId4" imgW="3806825" imgH="254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050" y="5867400"/>
                        <a:ext cx="804545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7" name="Line 6"/>
          <p:cNvSpPr>
            <a:spLocks noChangeShapeType="1"/>
          </p:cNvSpPr>
          <p:nvPr/>
        </p:nvSpPr>
        <p:spPr bwMode="auto">
          <a:xfrm flipH="1">
            <a:off x="6526213" y="5773738"/>
            <a:ext cx="323850" cy="5524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81928" name="Line 7"/>
          <p:cNvSpPr>
            <a:spLocks noChangeShapeType="1"/>
          </p:cNvSpPr>
          <p:nvPr/>
        </p:nvSpPr>
        <p:spPr bwMode="auto">
          <a:xfrm>
            <a:off x="6546850" y="6326188"/>
            <a:ext cx="13716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81929" name="Rectangle 8"/>
          <p:cNvSpPr>
            <a:spLocks noChangeArrowheads="1"/>
          </p:cNvSpPr>
          <p:nvPr/>
        </p:nvSpPr>
        <p:spPr bwMode="auto">
          <a:xfrm>
            <a:off x="401638" y="5305425"/>
            <a:ext cx="17986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振荡条件</a:t>
            </a:r>
            <a:endParaRPr lang="zh-CN"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4F8A016-8A1B-4B8F-B7B1-30F1802D7E39}" type="slidenum">
              <a:rPr lang="zh-CN" altLang="zh-CN" sz="1400" smtClean="0"/>
            </a:fld>
            <a:endParaRPr lang="zh-CN" altLang="zh-CN" sz="1400" smtClean="0"/>
          </a:p>
        </p:txBody>
      </p:sp>
      <p:graphicFrame>
        <p:nvGraphicFramePr>
          <p:cNvPr id="82947" name="Object 2"/>
          <p:cNvGraphicFramePr>
            <a:graphicFrameLocks noChangeAspect="1"/>
          </p:cNvGraphicFramePr>
          <p:nvPr/>
        </p:nvGraphicFramePr>
        <p:xfrm>
          <a:off x="1101725" y="2005013"/>
          <a:ext cx="5683250" cy="1398587"/>
        </p:xfrm>
        <a:graphic>
          <a:graphicData uri="http://schemas.openxmlformats.org/presentationml/2006/ole">
            <mc:AlternateContent xmlns:mc="http://schemas.openxmlformats.org/markup-compatibility/2006">
              <mc:Choice xmlns:v="urn:schemas-microsoft-com:vml" Requires="v">
                <p:oleObj spid="_x0000_s83048" name="" r:id="rId1" imgW="2373630" imgH="584200" progId="Equation.3">
                  <p:embed/>
                </p:oleObj>
              </mc:Choice>
              <mc:Fallback>
                <p:oleObj name="" r:id="rId1" imgW="2373630" imgH="584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725" y="2005013"/>
                        <a:ext cx="5683250" cy="1398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8" name="Object 3"/>
          <p:cNvGraphicFramePr>
            <a:graphicFrameLocks noChangeAspect="1"/>
          </p:cNvGraphicFramePr>
          <p:nvPr/>
        </p:nvGraphicFramePr>
        <p:xfrm>
          <a:off x="568325" y="1000125"/>
          <a:ext cx="8045450" cy="536575"/>
        </p:xfrm>
        <a:graphic>
          <a:graphicData uri="http://schemas.openxmlformats.org/presentationml/2006/ole">
            <mc:AlternateContent xmlns:mc="http://schemas.openxmlformats.org/markup-compatibility/2006">
              <mc:Choice xmlns:v="urn:schemas-microsoft-com:vml" Requires="v">
                <p:oleObj spid="_x0000_s83049" name="" r:id="rId3" imgW="3806825" imgH="254000" progId="Equation.3">
                  <p:embed/>
                </p:oleObj>
              </mc:Choice>
              <mc:Fallback>
                <p:oleObj name="" r:id="rId3" imgW="3806825" imgH="254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325" y="1000125"/>
                        <a:ext cx="804545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49" name="Line 4"/>
          <p:cNvSpPr>
            <a:spLocks noChangeShapeType="1"/>
          </p:cNvSpPr>
          <p:nvPr/>
        </p:nvSpPr>
        <p:spPr bwMode="auto">
          <a:xfrm flipH="1">
            <a:off x="6680200" y="919163"/>
            <a:ext cx="323850" cy="5524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82950" name="Line 5"/>
          <p:cNvSpPr>
            <a:spLocks noChangeShapeType="1"/>
          </p:cNvSpPr>
          <p:nvPr/>
        </p:nvSpPr>
        <p:spPr bwMode="auto">
          <a:xfrm>
            <a:off x="6700838" y="1471613"/>
            <a:ext cx="137160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graphicFrame>
        <p:nvGraphicFramePr>
          <p:cNvPr id="82951" name="Object 6"/>
          <p:cNvGraphicFramePr>
            <a:graphicFrameLocks noChangeAspect="1"/>
          </p:cNvGraphicFramePr>
          <p:nvPr/>
        </p:nvGraphicFramePr>
        <p:xfrm>
          <a:off x="1143000" y="4181475"/>
          <a:ext cx="4497388" cy="1123950"/>
        </p:xfrm>
        <a:graphic>
          <a:graphicData uri="http://schemas.openxmlformats.org/presentationml/2006/ole">
            <mc:AlternateContent xmlns:mc="http://schemas.openxmlformats.org/markup-compatibility/2006">
              <mc:Choice xmlns:v="urn:schemas-microsoft-com:vml" Requires="v">
                <p:oleObj spid="_x0000_s83050" name="" r:id="rId5" imgW="1880235" imgH="469900" progId="Equation.3">
                  <p:embed/>
                </p:oleObj>
              </mc:Choice>
              <mc:Fallback>
                <p:oleObj name="" r:id="rId5" imgW="1880235" imgH="469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181475"/>
                        <a:ext cx="4497388" cy="112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2" name="Text Box 7"/>
          <p:cNvSpPr txBox="1">
            <a:spLocks noChangeArrowheads="1"/>
          </p:cNvSpPr>
          <p:nvPr/>
        </p:nvSpPr>
        <p:spPr bwMode="auto">
          <a:xfrm>
            <a:off x="4473575" y="2025650"/>
            <a:ext cx="311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dirty="0">
                <a:latin typeface="Times New Roman" panose="02020603050405020304" pitchFamily="18" charset="0"/>
              </a:rPr>
              <a:t>-------振荡的振幅条件 </a:t>
            </a:r>
            <a:endParaRPr lang="zh-CN" altLang="zh-CN" sz="2400" dirty="0">
              <a:latin typeface="Times New Roman" panose="02020603050405020304" pitchFamily="18" charset="0"/>
            </a:endParaRPr>
          </a:p>
        </p:txBody>
      </p:sp>
      <p:sp>
        <p:nvSpPr>
          <p:cNvPr id="82953" name="Text Box 8"/>
          <p:cNvSpPr txBox="1">
            <a:spLocks noChangeArrowheads="1"/>
          </p:cNvSpPr>
          <p:nvPr/>
        </p:nvSpPr>
        <p:spPr bwMode="auto">
          <a:xfrm>
            <a:off x="4016375" y="5397500"/>
            <a:ext cx="280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dirty="0">
                <a:latin typeface="Times New Roman" panose="02020603050405020304" pitchFamily="18" charset="0"/>
              </a:rPr>
              <a:t>-------产生</a:t>
            </a:r>
            <a:r>
              <a:rPr lang="zh-CN" altLang="zh-CN" sz="2400" dirty="0">
                <a:solidFill>
                  <a:schemeClr val="hlink"/>
                </a:solidFill>
                <a:latin typeface="Times New Roman" panose="02020603050405020304" pitchFamily="18" charset="0"/>
              </a:rPr>
              <a:t>自激振荡</a:t>
            </a:r>
            <a:r>
              <a:rPr lang="zh-CN" altLang="zh-CN" sz="2400" dirty="0">
                <a:latin typeface="Times New Roman" panose="02020603050405020304" pitchFamily="18" charset="0"/>
              </a:rPr>
              <a:t> </a:t>
            </a:r>
            <a:endParaRPr lang="zh-CN" altLang="zh-CN" sz="2400" dirty="0">
              <a:latin typeface="Times New Roman" panose="02020603050405020304" pitchFamily="18" charset="0"/>
            </a:endParaRPr>
          </a:p>
        </p:txBody>
      </p:sp>
      <p:sp>
        <p:nvSpPr>
          <p:cNvPr id="82954" name="Text Box 9"/>
          <p:cNvSpPr txBox="1">
            <a:spLocks noChangeArrowheads="1"/>
          </p:cNvSpPr>
          <p:nvPr/>
        </p:nvSpPr>
        <p:spPr bwMode="auto">
          <a:xfrm>
            <a:off x="4035425" y="3397250"/>
            <a:ext cx="311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400" dirty="0">
                <a:latin typeface="Times New Roman" panose="02020603050405020304" pitchFamily="18" charset="0"/>
              </a:rPr>
              <a:t>-------振荡的相位条件 </a:t>
            </a:r>
            <a:endParaRPr lang="zh-CN" altLang="zh-CN" sz="24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54F8A016-8A1B-4B8F-B7B1-30F1802D7E39}" type="slidenum">
              <a:rPr lang="zh-CN" altLang="zh-CN" sz="1400" smtClean="0"/>
            </a:fld>
            <a:endParaRPr lang="zh-CN" altLang="zh-CN" sz="1400" smtClean="0"/>
          </a:p>
        </p:txBody>
      </p:sp>
      <p:pic>
        <p:nvPicPr>
          <p:cNvPr id="11" name="Picture 12"/>
          <p:cNvPicPr>
            <a:picLocks noChangeAspect="1" noChangeArrowheads="1"/>
          </p:cNvPicPr>
          <p:nvPr/>
        </p:nvPicPr>
        <p:blipFill>
          <a:blip r:embed="rId1">
            <a:extLst>
              <a:ext uri="{28A0092B-C50C-407E-A947-70E740481C1C}">
                <a14:useLocalDpi xmlns:a14="http://schemas.microsoft.com/office/drawing/2010/main" val="0"/>
              </a:ext>
            </a:extLst>
          </a:blip>
          <a:srcRect l="2580"/>
          <a:stretch>
            <a:fillRect/>
          </a:stretch>
        </p:blipFill>
        <p:spPr bwMode="auto">
          <a:xfrm>
            <a:off x="3955587" y="357565"/>
            <a:ext cx="3742200" cy="2294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8"/>
          <p:cNvPicPr>
            <a:picLocks noChangeAspect="1" noChangeArrowheads="1"/>
          </p:cNvPicPr>
          <p:nvPr/>
        </p:nvPicPr>
        <p:blipFill rotWithShape="1">
          <a:blip r:embed="rId2">
            <a:extLst>
              <a:ext uri="{28A0092B-C50C-407E-A947-70E740481C1C}">
                <a14:useLocalDpi xmlns:a14="http://schemas.microsoft.com/office/drawing/2010/main" val="0"/>
              </a:ext>
            </a:extLst>
          </a:blip>
          <a:srcRect r="56259"/>
          <a:stretch>
            <a:fillRect/>
          </a:stretch>
        </p:blipFill>
        <p:spPr bwMode="auto">
          <a:xfrm>
            <a:off x="953942" y="357565"/>
            <a:ext cx="2378918" cy="2294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90731" y="2652551"/>
            <a:ext cx="8545483" cy="4247317"/>
          </a:xfrm>
          <a:prstGeom prst="rect">
            <a:avLst/>
          </a:prstGeom>
          <a:noFill/>
          <a:ln>
            <a:noFill/>
          </a:ln>
        </p:spPr>
        <p:txBody>
          <a:bodyPr wrap="square" rtlCol="0">
            <a:spAutoFit/>
          </a:bodyPr>
          <a:lstStyle/>
          <a:p>
            <a:pPr marL="342900" indent="-342900">
              <a:lnSpc>
                <a:spcPct val="150000"/>
              </a:lnSpc>
              <a:buFont typeface="Wingdings" panose="05000000000000000000" pitchFamily="2" charset="2"/>
              <a:buChar char="l"/>
            </a:pPr>
            <a:r>
              <a:rPr lang="zh-CN" altLang="en-US" sz="2000" dirty="0" smtClean="0"/>
              <a:t>一级</a:t>
            </a:r>
            <a:r>
              <a:rPr lang="en-US" altLang="zh-CN" sz="2000" dirty="0" smtClean="0"/>
              <a:t>RC</a:t>
            </a:r>
            <a:r>
              <a:rPr lang="zh-CN" altLang="en-US" sz="2000" dirty="0" smtClean="0"/>
              <a:t>网络产生最大相移是</a:t>
            </a:r>
            <a:r>
              <a:rPr lang="en-US" altLang="zh-CN" sz="2000" dirty="0" smtClean="0"/>
              <a:t>-90°</a:t>
            </a:r>
            <a:r>
              <a:rPr lang="zh-CN" altLang="en-US" sz="2000" dirty="0" smtClean="0"/>
              <a:t>，单管放大器不可能产生高频自激振荡</a:t>
            </a:r>
            <a:endParaRPr lang="en-US" altLang="zh-CN" sz="2000" dirty="0" smtClean="0"/>
          </a:p>
          <a:p>
            <a:pPr marL="342900" indent="-342900">
              <a:lnSpc>
                <a:spcPct val="150000"/>
              </a:lnSpc>
              <a:buFont typeface="Wingdings" panose="05000000000000000000" pitchFamily="2" charset="2"/>
              <a:buChar char="l"/>
            </a:pPr>
            <a:r>
              <a:rPr lang="zh-CN" altLang="en-US" sz="2000" dirty="0" smtClean="0"/>
              <a:t>两级</a:t>
            </a:r>
            <a:r>
              <a:rPr lang="en-US" altLang="zh-CN" sz="2000" dirty="0"/>
              <a:t>RC</a:t>
            </a:r>
            <a:r>
              <a:rPr lang="zh-CN" altLang="en-US" sz="2000" dirty="0"/>
              <a:t>网络产生最大相移是</a:t>
            </a:r>
            <a:r>
              <a:rPr lang="en-US" altLang="zh-CN" sz="2000" dirty="0" smtClean="0"/>
              <a:t>-180</a:t>
            </a:r>
            <a:r>
              <a:rPr lang="en-US" altLang="zh-CN" sz="2000" dirty="0"/>
              <a:t>°</a:t>
            </a:r>
            <a:r>
              <a:rPr lang="zh-CN" altLang="en-US" sz="2000" dirty="0" smtClean="0"/>
              <a:t>，在理论上存在满足相位条件的频率</a:t>
            </a:r>
            <a:r>
              <a:rPr lang="en-US" altLang="zh-CN" sz="2000" dirty="0" smtClean="0"/>
              <a:t>f0</a:t>
            </a:r>
            <a:r>
              <a:rPr lang="zh-CN" altLang="en-US" sz="2000" dirty="0" smtClean="0"/>
              <a:t>无穷大，在</a:t>
            </a:r>
            <a:r>
              <a:rPr lang="en-US" altLang="zh-CN" sz="2000" dirty="0" smtClean="0"/>
              <a:t>f0</a:t>
            </a:r>
            <a:r>
              <a:rPr lang="zh-CN" altLang="en-US" sz="2000" dirty="0" smtClean="0"/>
              <a:t>无穷大时，</a:t>
            </a:r>
            <a:r>
              <a:rPr lang="en-US" altLang="zh-CN" sz="2000" dirty="0" smtClean="0"/>
              <a:t>A</a:t>
            </a:r>
            <a:r>
              <a:rPr lang="zh-CN" altLang="en-US" sz="2000" dirty="0" smtClean="0"/>
              <a:t>为零，两级放大器也不可能</a:t>
            </a:r>
            <a:r>
              <a:rPr lang="zh-CN" altLang="en-US" sz="2000" dirty="0"/>
              <a:t>产生高频</a:t>
            </a:r>
            <a:r>
              <a:rPr lang="zh-CN" altLang="en-US" sz="2000" dirty="0" smtClean="0"/>
              <a:t>自激振荡</a:t>
            </a:r>
            <a:endParaRPr lang="en-US" altLang="zh-CN" sz="2000" dirty="0" smtClean="0"/>
          </a:p>
          <a:p>
            <a:pPr marL="342900" indent="-342900">
              <a:lnSpc>
                <a:spcPct val="150000"/>
              </a:lnSpc>
              <a:buFont typeface="Wingdings" panose="05000000000000000000" pitchFamily="2" charset="2"/>
              <a:buChar char="l"/>
            </a:pPr>
            <a:r>
              <a:rPr lang="zh-CN" altLang="en-US" sz="2000" dirty="0"/>
              <a:t>三</a:t>
            </a:r>
            <a:r>
              <a:rPr lang="zh-CN" altLang="en-US" sz="2000" dirty="0" smtClean="0"/>
              <a:t>级电路最大相移为</a:t>
            </a:r>
            <a:r>
              <a:rPr lang="en-US" altLang="zh-CN" sz="2000" dirty="0" smtClean="0"/>
              <a:t>-270°</a:t>
            </a:r>
            <a:r>
              <a:rPr lang="zh-CN" altLang="en-US" sz="2000" dirty="0" smtClean="0"/>
              <a:t>，存在使相移为</a:t>
            </a:r>
            <a:r>
              <a:rPr lang="en-US" altLang="zh-CN" sz="2000" dirty="0" smtClean="0"/>
              <a:t>-180°</a:t>
            </a:r>
            <a:r>
              <a:rPr lang="zh-CN" altLang="en-US" sz="2000" dirty="0" smtClean="0"/>
              <a:t>的</a:t>
            </a:r>
            <a:r>
              <a:rPr lang="en-US" altLang="zh-CN" sz="2000" dirty="0" smtClean="0"/>
              <a:t>f0</a:t>
            </a:r>
            <a:r>
              <a:rPr lang="zh-CN" altLang="en-US" sz="2000" dirty="0" smtClean="0"/>
              <a:t>，且当</a:t>
            </a:r>
            <a:r>
              <a:rPr lang="en-US" altLang="zh-CN" sz="2000" dirty="0" smtClean="0"/>
              <a:t>f=f0</a:t>
            </a:r>
            <a:r>
              <a:rPr lang="zh-CN" altLang="en-US" sz="2000" dirty="0" smtClean="0"/>
              <a:t>时，</a:t>
            </a:r>
            <a:r>
              <a:rPr lang="en-US" altLang="zh-CN" sz="2000" dirty="0" smtClean="0"/>
              <a:t>A</a:t>
            </a:r>
            <a:r>
              <a:rPr lang="zh-CN" altLang="en-US" sz="2000" dirty="0" smtClean="0"/>
              <a:t>不为</a:t>
            </a:r>
            <a:r>
              <a:rPr lang="en-US" altLang="zh-CN" sz="2000" dirty="0" smtClean="0"/>
              <a:t>0</a:t>
            </a:r>
            <a:r>
              <a:rPr lang="zh-CN" altLang="en-US" sz="2000" dirty="0" smtClean="0"/>
              <a:t>。</a:t>
            </a:r>
            <a:endParaRPr lang="en-US" altLang="zh-CN" sz="2000" dirty="0" smtClean="0"/>
          </a:p>
          <a:p>
            <a:pPr>
              <a:lnSpc>
                <a:spcPct val="150000"/>
              </a:lnSpc>
            </a:pPr>
            <a:r>
              <a:rPr lang="zh-CN" altLang="en-US" sz="2000" dirty="0">
                <a:solidFill>
                  <a:srgbClr val="FF0000"/>
                </a:solidFill>
              </a:rPr>
              <a:t>单管放大</a:t>
            </a:r>
            <a:r>
              <a:rPr lang="zh-CN" altLang="en-US" sz="2000" dirty="0" smtClean="0">
                <a:solidFill>
                  <a:srgbClr val="FF0000"/>
                </a:solidFill>
              </a:rPr>
              <a:t>电路一</a:t>
            </a:r>
            <a:r>
              <a:rPr lang="zh-CN" altLang="en-US" sz="2000" dirty="0">
                <a:solidFill>
                  <a:srgbClr val="FF0000"/>
                </a:solidFill>
              </a:rPr>
              <a:t>个由晶体管的极间电容和电阻构成的</a:t>
            </a:r>
            <a:r>
              <a:rPr lang="en-US" altLang="zh-CN" sz="2000" dirty="0">
                <a:solidFill>
                  <a:srgbClr val="FF0000"/>
                </a:solidFill>
              </a:rPr>
              <a:t>RC</a:t>
            </a:r>
            <a:r>
              <a:rPr lang="zh-CN" altLang="en-US" sz="2000" dirty="0">
                <a:solidFill>
                  <a:srgbClr val="FF0000"/>
                </a:solidFill>
              </a:rPr>
              <a:t>网络</a:t>
            </a:r>
            <a:r>
              <a:rPr lang="zh-CN" altLang="en-US" sz="2000" dirty="0" smtClean="0">
                <a:solidFill>
                  <a:srgbClr val="FF0000"/>
                </a:solidFill>
              </a:rPr>
              <a:t>，因此，放大级数越多，在引入负反馈时，越容易产生自激振荡。</a:t>
            </a:r>
            <a:endParaRPr lang="zh-CN" altLang="en-US" sz="2400" dirty="0">
              <a:solidFill>
                <a:srgbClr val="FF0000"/>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E9665214-5271-4202-8CA5-0F1DCCFC35E3}" type="slidenum">
              <a:rPr lang="zh-CN" altLang="zh-CN" sz="1400" smtClean="0"/>
            </a:fld>
            <a:endParaRPr lang="zh-CN" altLang="zh-CN" sz="1400" smtClean="0"/>
          </a:p>
        </p:txBody>
      </p:sp>
      <p:sp>
        <p:nvSpPr>
          <p:cNvPr id="83971" name="Rectangle 2"/>
          <p:cNvSpPr>
            <a:spLocks noChangeArrowheads="1"/>
          </p:cNvSpPr>
          <p:nvPr/>
        </p:nvSpPr>
        <p:spPr bwMode="auto">
          <a:xfrm>
            <a:off x="1006475" y="1970088"/>
            <a:ext cx="6775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dirty="0">
                <a:latin typeface="Times New Roman" panose="02020603050405020304" pitchFamily="18" charset="0"/>
              </a:rPr>
              <a:t>        如果幅值条件和相移条件不能同时满足,负反馈放大电路就不会产生自激振荡.</a:t>
            </a:r>
            <a:endParaRPr lang="zh-CN" altLang="zh-CN" sz="2800" dirty="0">
              <a:latin typeface="Times New Roman" panose="02020603050405020304" pitchFamily="18" charset="0"/>
            </a:endParaRPr>
          </a:p>
        </p:txBody>
      </p:sp>
      <p:sp>
        <p:nvSpPr>
          <p:cNvPr id="83972" name="Rectangle 3"/>
          <p:cNvSpPr>
            <a:spLocks noChangeArrowheads="1"/>
          </p:cNvSpPr>
          <p:nvPr/>
        </p:nvSpPr>
        <p:spPr bwMode="auto">
          <a:xfrm>
            <a:off x="554038" y="555625"/>
            <a:ext cx="5822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dirty="0">
                <a:latin typeface="Times New Roman" panose="02020603050405020304" pitchFamily="18" charset="0"/>
              </a:rPr>
              <a:t>6.4.2负反馈放大电路稳定性的判断</a:t>
            </a:r>
            <a:endParaRPr lang="zh-CN" altLang="zh-CN" sz="2800" dirty="0">
              <a:latin typeface="Times New Roman" panose="02020603050405020304" pitchFamily="18" charset="0"/>
            </a:endParaRPr>
          </a:p>
        </p:txBody>
      </p:sp>
      <p:sp>
        <p:nvSpPr>
          <p:cNvPr id="83973" name="Rectangle 4"/>
          <p:cNvSpPr>
            <a:spLocks noChangeArrowheads="1"/>
          </p:cNvSpPr>
          <p:nvPr/>
        </p:nvSpPr>
        <p:spPr bwMode="auto">
          <a:xfrm>
            <a:off x="533400" y="1265238"/>
            <a:ext cx="74136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1.利用环路增益判断负反馈放大电路的稳定性</a:t>
            </a:r>
            <a:endParaRPr lang="zh-CN" altLang="zh-CN" sz="2800">
              <a:latin typeface="Times New Roman" panose="02020603050405020304" pitchFamily="18" charset="0"/>
            </a:endParaRPr>
          </a:p>
        </p:txBody>
      </p:sp>
      <p:sp>
        <p:nvSpPr>
          <p:cNvPr id="83974" name="Rectangle 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83975" name="Object 6"/>
          <p:cNvGraphicFramePr>
            <a:graphicFrameLocks noChangeAspect="1"/>
          </p:cNvGraphicFramePr>
          <p:nvPr/>
        </p:nvGraphicFramePr>
        <p:xfrm>
          <a:off x="1584325" y="3032125"/>
          <a:ext cx="1585913" cy="679450"/>
        </p:xfrm>
        <a:graphic>
          <a:graphicData uri="http://schemas.openxmlformats.org/presentationml/2006/ole">
            <mc:AlternateContent xmlns:mc="http://schemas.openxmlformats.org/markup-compatibility/2006">
              <mc:Choice xmlns:v="urn:schemas-microsoft-com:vml" Requires="v">
                <p:oleObj spid="_x0000_s84180" name="" r:id="rId1" imgW="534035" imgH="228600" progId="Equation.3">
                  <p:embed/>
                </p:oleObj>
              </mc:Choice>
              <mc:Fallback>
                <p:oleObj name="" r:id="rId1" imgW="534035"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325" y="3032125"/>
                        <a:ext cx="158591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6" name="Rectangle 7"/>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83977" name="Object 8"/>
          <p:cNvGraphicFramePr>
            <a:graphicFrameLocks noChangeAspect="1"/>
          </p:cNvGraphicFramePr>
          <p:nvPr/>
        </p:nvGraphicFramePr>
        <p:xfrm>
          <a:off x="3854450" y="3006725"/>
          <a:ext cx="2914650" cy="735013"/>
        </p:xfrm>
        <a:graphic>
          <a:graphicData uri="http://schemas.openxmlformats.org/presentationml/2006/ole">
            <mc:AlternateContent xmlns:mc="http://schemas.openxmlformats.org/markup-compatibility/2006">
              <mc:Choice xmlns:v="urn:schemas-microsoft-com:vml" Requires="v">
                <p:oleObj spid="_x0000_s84181" name="" r:id="rId3" imgW="1092835" imgH="279400" progId="Equation.3">
                  <p:embed/>
                </p:oleObj>
              </mc:Choice>
              <mc:Fallback>
                <p:oleObj name="" r:id="rId3" imgW="1092835" imgH="2794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4450" y="3006725"/>
                        <a:ext cx="291465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8" name="Rectangle 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83979" name="Object 10"/>
          <p:cNvGraphicFramePr>
            <a:graphicFrameLocks noChangeAspect="1"/>
          </p:cNvGraphicFramePr>
          <p:nvPr/>
        </p:nvGraphicFramePr>
        <p:xfrm>
          <a:off x="2576513" y="3827463"/>
          <a:ext cx="2239962" cy="711200"/>
        </p:xfrm>
        <a:graphic>
          <a:graphicData uri="http://schemas.openxmlformats.org/presentationml/2006/ole">
            <mc:AlternateContent xmlns:mc="http://schemas.openxmlformats.org/markup-compatibility/2006">
              <mc:Choice xmlns:v="urn:schemas-microsoft-com:vml" Requires="v">
                <p:oleObj spid="_x0000_s84182" name="" r:id="rId5" imgW="813435" imgH="254000" progId="Equation.3">
                  <p:embed/>
                </p:oleObj>
              </mc:Choice>
              <mc:Fallback>
                <p:oleObj name="" r:id="rId5" imgW="813435" imgH="2540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6513" y="3827463"/>
                        <a:ext cx="2239962"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80" name="Object 11"/>
          <p:cNvGraphicFramePr>
            <a:graphicFrameLocks noChangeAspect="1"/>
          </p:cNvGraphicFramePr>
          <p:nvPr/>
        </p:nvGraphicFramePr>
        <p:xfrm>
          <a:off x="2663825" y="4833938"/>
          <a:ext cx="2232025" cy="708025"/>
        </p:xfrm>
        <a:graphic>
          <a:graphicData uri="http://schemas.openxmlformats.org/presentationml/2006/ole">
            <mc:AlternateContent xmlns:mc="http://schemas.openxmlformats.org/markup-compatibility/2006">
              <mc:Choice xmlns:v="urn:schemas-microsoft-com:vml" Requires="v">
                <p:oleObj spid="_x0000_s84183" name="" r:id="rId7" imgW="813435" imgH="254000" progId="Equation.3">
                  <p:embed/>
                </p:oleObj>
              </mc:Choice>
              <mc:Fallback>
                <p:oleObj name="" r:id="rId7" imgW="813435" imgH="2540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3825" y="4833938"/>
                        <a:ext cx="2232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81" name="Object 12"/>
          <p:cNvGraphicFramePr>
            <a:graphicFrameLocks noChangeAspect="1"/>
          </p:cNvGraphicFramePr>
          <p:nvPr/>
        </p:nvGraphicFramePr>
        <p:xfrm>
          <a:off x="1262063" y="5762625"/>
          <a:ext cx="1408112" cy="603250"/>
        </p:xfrm>
        <a:graphic>
          <a:graphicData uri="http://schemas.openxmlformats.org/presentationml/2006/ole">
            <mc:AlternateContent xmlns:mc="http://schemas.openxmlformats.org/markup-compatibility/2006">
              <mc:Choice xmlns:v="urn:schemas-microsoft-com:vml" Requires="v">
                <p:oleObj spid="_x0000_s84184" name="" r:id="rId9" imgW="534035" imgH="228600" progId="Equation.3">
                  <p:embed/>
                </p:oleObj>
              </mc:Choice>
              <mc:Fallback>
                <p:oleObj name="" r:id="rId9" imgW="534035" imgH="2286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2063" y="5762625"/>
                        <a:ext cx="1408112"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82" name="Object 13"/>
          <p:cNvGraphicFramePr>
            <a:graphicFrameLocks noChangeAspect="1"/>
          </p:cNvGraphicFramePr>
          <p:nvPr/>
        </p:nvGraphicFramePr>
        <p:xfrm>
          <a:off x="4443413" y="5700713"/>
          <a:ext cx="2833687" cy="727075"/>
        </p:xfrm>
        <a:graphic>
          <a:graphicData uri="http://schemas.openxmlformats.org/presentationml/2006/ole">
            <mc:AlternateContent xmlns:mc="http://schemas.openxmlformats.org/markup-compatibility/2006">
              <mc:Choice xmlns:v="urn:schemas-microsoft-com:vml" Requires="v">
                <p:oleObj spid="_x0000_s84185" name="" r:id="rId11" imgW="1080770" imgH="280035" progId="Equation.3">
                  <p:embed/>
                </p:oleObj>
              </mc:Choice>
              <mc:Fallback>
                <p:oleObj name="" r:id="rId11" imgW="1080770" imgH="280035"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43413" y="5700713"/>
                        <a:ext cx="283368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83" name="Rectangle 14"/>
          <p:cNvSpPr>
            <a:spLocks noChangeArrowheads="1"/>
          </p:cNvSpPr>
          <p:nvPr/>
        </p:nvSpPr>
        <p:spPr bwMode="auto">
          <a:xfrm>
            <a:off x="1198563" y="4845050"/>
            <a:ext cx="898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或者</a:t>
            </a:r>
            <a:endParaRPr lang="zh-CN" altLang="zh-CN" sz="2800">
              <a:latin typeface="Times New Roman" panose="02020603050405020304" pitchFamily="18" charset="0"/>
            </a:endParaRPr>
          </a:p>
        </p:txBody>
      </p:sp>
      <p:sp>
        <p:nvSpPr>
          <p:cNvPr id="83984" name="Rectangle 15"/>
          <p:cNvSpPr>
            <a:spLocks noChangeArrowheads="1"/>
          </p:cNvSpPr>
          <p:nvPr/>
        </p:nvSpPr>
        <p:spPr bwMode="auto">
          <a:xfrm>
            <a:off x="6815138" y="2911475"/>
            <a:ext cx="5413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时</a:t>
            </a:r>
            <a:endParaRPr lang="zh-CN" altLang="zh-CN" sz="2800">
              <a:latin typeface="Times New Roman" panose="02020603050405020304" pitchFamily="18" charset="0"/>
            </a:endParaRPr>
          </a:p>
        </p:txBody>
      </p:sp>
      <p:sp>
        <p:nvSpPr>
          <p:cNvPr id="83985" name="Rectangle 16"/>
          <p:cNvSpPr>
            <a:spLocks noChangeArrowheads="1"/>
          </p:cNvSpPr>
          <p:nvPr/>
        </p:nvSpPr>
        <p:spPr bwMode="auto">
          <a:xfrm>
            <a:off x="4945063" y="4762500"/>
            <a:ext cx="5413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800">
                <a:latin typeface="Times New Roman" panose="02020603050405020304" pitchFamily="18" charset="0"/>
              </a:rPr>
              <a:t>时</a:t>
            </a:r>
            <a:endParaRPr lang="zh-CN" altLang="zh-CN" sz="2800">
              <a:latin typeface="Times New Roman" panose="02020603050405020304" pitchFamily="18" charset="0"/>
            </a:endParaRPr>
          </a:p>
        </p:txBody>
      </p:sp>
      <p:sp>
        <p:nvSpPr>
          <p:cNvPr id="83986" name="Line 17"/>
          <p:cNvSpPr>
            <a:spLocks noChangeShapeType="1"/>
          </p:cNvSpPr>
          <p:nvPr/>
        </p:nvSpPr>
        <p:spPr bwMode="auto">
          <a:xfrm>
            <a:off x="1079500" y="4651375"/>
            <a:ext cx="72644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3987" name="Text Box 18"/>
          <p:cNvSpPr txBox="1">
            <a:spLocks noChangeArrowheads="1"/>
          </p:cNvSpPr>
          <p:nvPr/>
        </p:nvSpPr>
        <p:spPr bwMode="auto">
          <a:xfrm>
            <a:off x="530225" y="3400425"/>
            <a:ext cx="609600" cy="297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a:solidFill>
                  <a:schemeClr val="tx2"/>
                </a:solidFill>
                <a:latin typeface="Times New Roman" panose="02020603050405020304" pitchFamily="18" charset="0"/>
              </a:rPr>
              <a:t>稳定工作的条件</a:t>
            </a:r>
            <a:endParaRPr lang="zh-CN" altLang="zh-CN" sz="2800">
              <a:solidFill>
                <a:schemeClr val="tx2"/>
              </a:solidFill>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F61D753A-13AB-4FB4-9B5C-FE73BB3717CD}" type="slidenum">
              <a:rPr lang="zh-CN" altLang="zh-CN" sz="1400" smtClean="0"/>
            </a:fld>
            <a:endParaRPr lang="zh-CN" altLang="zh-CN" sz="1400" smtClean="0"/>
          </a:p>
        </p:txBody>
      </p:sp>
      <p:pic>
        <p:nvPicPr>
          <p:cNvPr id="8499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46525" y="206375"/>
            <a:ext cx="4184650" cy="585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ext Box 3"/>
          <p:cNvSpPr txBox="1">
            <a:spLocks noChangeArrowheads="1"/>
          </p:cNvSpPr>
          <p:nvPr/>
        </p:nvSpPr>
        <p:spPr bwMode="auto">
          <a:xfrm>
            <a:off x="3602038" y="6135688"/>
            <a:ext cx="4779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sz="2000">
                <a:latin typeface="Times New Roman" panose="02020603050405020304" pitchFamily="18" charset="0"/>
              </a:rPr>
              <a:t>图 6.4.2   负反馈电路环路增益的频率特性</a:t>
            </a:r>
            <a:endParaRPr lang="zh-CN" altLang="zh-CN" sz="2000">
              <a:latin typeface="Times New Roman" panose="02020603050405020304" pitchFamily="18" charset="0"/>
            </a:endParaRPr>
          </a:p>
        </p:txBody>
      </p:sp>
      <p:sp>
        <p:nvSpPr>
          <p:cNvPr id="84997" name="Rectangle 4"/>
          <p:cNvSpPr>
            <a:spLocks noChangeArrowheads="1"/>
          </p:cNvSpPr>
          <p:nvPr/>
        </p:nvSpPr>
        <p:spPr bwMode="auto">
          <a:xfrm>
            <a:off x="336550" y="3014663"/>
            <a:ext cx="3090863" cy="304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3812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400" dirty="0">
                <a:latin typeface="Times New Roman" panose="02020603050405020304" pitchFamily="18" charset="0"/>
              </a:rPr>
              <a:t>（1）若不存在</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π</a:t>
            </a:r>
            <a:r>
              <a:rPr lang="zh-CN" altLang="zh-CN" sz="2400" dirty="0">
                <a:latin typeface="Times New Roman" panose="02020603050405020304" pitchFamily="18" charset="0"/>
              </a:rPr>
              <a:t>，则电路稳定；</a:t>
            </a:r>
            <a:endParaRPr lang="zh-CN" altLang="zh-CN" sz="2400" dirty="0">
              <a:latin typeface="Times New Roman" panose="02020603050405020304" pitchFamily="18" charset="0"/>
            </a:endParaRPr>
          </a:p>
          <a:p>
            <a:pPr>
              <a:lnSpc>
                <a:spcPct val="130000"/>
              </a:lnSpc>
              <a:spcBef>
                <a:spcPct val="5000"/>
              </a:spcBef>
              <a:buClrTx/>
              <a:buSzTx/>
              <a:buFont typeface="Arial" panose="020B0604020202020204" pitchFamily="34" charset="0"/>
              <a:buNone/>
            </a:pPr>
            <a:r>
              <a:rPr lang="zh-CN" altLang="zh-CN" sz="2400" dirty="0">
                <a:latin typeface="Times New Roman" panose="02020603050405020304" pitchFamily="18" charset="0"/>
              </a:rPr>
              <a:t>（2）若存在</a:t>
            </a:r>
            <a:r>
              <a:rPr lang="zh-CN" altLang="zh-CN" sz="2800" i="1" dirty="0">
                <a:latin typeface="Times New Roman" panose="02020603050405020304" pitchFamily="18" charset="0"/>
              </a:rPr>
              <a:t>f</a:t>
            </a:r>
            <a:r>
              <a:rPr lang="zh-CN" altLang="zh-CN" sz="2800" baseline="-25000" dirty="0">
                <a:latin typeface="Times New Roman" panose="02020603050405020304" pitchFamily="18" charset="0"/>
              </a:rPr>
              <a:t>π</a:t>
            </a:r>
            <a:r>
              <a:rPr lang="zh-CN" altLang="zh-CN" sz="2800" dirty="0">
                <a:latin typeface="Times New Roman" panose="02020603050405020304" pitchFamily="18" charset="0"/>
              </a:rPr>
              <a:t> </a:t>
            </a:r>
            <a:r>
              <a:rPr lang="zh-CN" altLang="zh-CN" sz="2400" dirty="0">
                <a:latin typeface="Times New Roman" panose="02020603050405020304" pitchFamily="18" charset="0"/>
              </a:rPr>
              <a:t>，且</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π</a:t>
            </a:r>
            <a:r>
              <a:rPr lang="zh-CN" altLang="zh-CN" sz="2400" i="1" dirty="0">
                <a:latin typeface="Times New Roman" panose="02020603050405020304" pitchFamily="18" charset="0"/>
              </a:rPr>
              <a:t>&gt;f</a:t>
            </a:r>
            <a:r>
              <a:rPr lang="zh-CN" altLang="zh-CN" sz="2400" baseline="-25000" dirty="0">
                <a:latin typeface="Times New Roman" panose="02020603050405020304" pitchFamily="18" charset="0"/>
              </a:rPr>
              <a:t>0</a:t>
            </a:r>
            <a:r>
              <a:rPr lang="zh-CN" altLang="zh-CN" sz="2400" dirty="0">
                <a:latin typeface="Times New Roman" panose="02020603050405020304" pitchFamily="18" charset="0"/>
              </a:rPr>
              <a:t>，则电路稳定；若存在</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π</a:t>
            </a:r>
            <a:r>
              <a:rPr lang="zh-CN" altLang="zh-CN" sz="2400" dirty="0">
                <a:latin typeface="Times New Roman" panose="02020603050405020304" pitchFamily="18" charset="0"/>
              </a:rPr>
              <a:t>，但</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π</a:t>
            </a:r>
            <a:r>
              <a:rPr lang="zh-CN" altLang="zh-CN" sz="2400" i="1" dirty="0">
                <a:latin typeface="Times New Roman" panose="02020603050405020304" pitchFamily="18" charset="0"/>
              </a:rPr>
              <a:t>&lt;f</a:t>
            </a:r>
            <a:r>
              <a:rPr lang="zh-CN" altLang="zh-CN" sz="2400" baseline="-25000" dirty="0">
                <a:latin typeface="Times New Roman" panose="02020603050405020304" pitchFamily="18" charset="0"/>
              </a:rPr>
              <a:t>0</a:t>
            </a:r>
            <a:r>
              <a:rPr lang="zh-CN" altLang="zh-CN" sz="2400" dirty="0">
                <a:latin typeface="Times New Roman" panose="02020603050405020304" pitchFamily="18" charset="0"/>
              </a:rPr>
              <a:t>，则电路不稳定。</a:t>
            </a:r>
            <a:endParaRPr lang="zh-CN" altLang="zh-CN" sz="2400" dirty="0">
              <a:latin typeface="Times New Roman" panose="02020603050405020304" pitchFamily="18" charset="0"/>
            </a:endParaRPr>
          </a:p>
        </p:txBody>
      </p:sp>
      <p:sp>
        <p:nvSpPr>
          <p:cNvPr id="84998" name="Rectangle 5"/>
          <p:cNvSpPr>
            <a:spLocks noChangeArrowheads="1"/>
          </p:cNvSpPr>
          <p:nvPr/>
        </p:nvSpPr>
        <p:spPr bwMode="auto">
          <a:xfrm>
            <a:off x="88900" y="590550"/>
            <a:ext cx="3795713"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400" dirty="0">
                <a:latin typeface="Times New Roman" panose="02020603050405020304" pitchFamily="18" charset="0"/>
              </a:rPr>
              <a:t>使</a:t>
            </a:r>
            <a:r>
              <a:rPr lang="zh-CN" altLang="zh-CN" sz="2800" i="1" dirty="0">
                <a:latin typeface="Times New Roman" panose="02020603050405020304" pitchFamily="18" charset="0"/>
              </a:rPr>
              <a:t>     +     </a:t>
            </a:r>
            <a:r>
              <a:rPr lang="zh-CN" altLang="zh-CN" sz="2800" dirty="0">
                <a:latin typeface="Times New Roman" panose="02020603050405020304" pitchFamily="18" charset="0"/>
              </a:rPr>
              <a:t>=-180</a:t>
            </a:r>
            <a:r>
              <a:rPr lang="zh-CN" altLang="zh-CN" sz="2400" dirty="0">
                <a:latin typeface="Times New Roman" panose="02020603050405020304" pitchFamily="18" charset="0"/>
              </a:rPr>
              <a:t>°的频率为</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π</a:t>
            </a:r>
            <a:r>
              <a:rPr lang="zh-CN" altLang="zh-CN" sz="2400" dirty="0">
                <a:latin typeface="Times New Roman" panose="02020603050405020304" pitchFamily="18" charset="0"/>
              </a:rPr>
              <a:t>，称为</a:t>
            </a:r>
            <a:r>
              <a:rPr lang="zh-CN" altLang="zh-CN" sz="2400" dirty="0">
                <a:solidFill>
                  <a:schemeClr val="tx2"/>
                </a:solidFill>
                <a:latin typeface="Times New Roman" panose="02020603050405020304" pitchFamily="18" charset="0"/>
              </a:rPr>
              <a:t>相位交界频率</a:t>
            </a:r>
            <a:endParaRPr lang="zh-CN" altLang="zh-CN" sz="2400" dirty="0">
              <a:solidFill>
                <a:schemeClr val="tx2"/>
              </a:solidFill>
              <a:latin typeface="Times New Roman" panose="02020603050405020304" pitchFamily="18" charset="0"/>
            </a:endParaRPr>
          </a:p>
          <a:p>
            <a:pPr eaLnBrk="1" hangingPunct="1">
              <a:spcBef>
                <a:spcPct val="0"/>
              </a:spcBef>
              <a:buClrTx/>
              <a:buSzTx/>
              <a:buFont typeface="Arial" panose="020B0604020202020204" pitchFamily="34" charset="0"/>
              <a:buNone/>
            </a:pPr>
            <a:endParaRPr lang="zh-CN" altLang="zh-CN" sz="2400" dirty="0">
              <a:latin typeface="Times New Roman" panose="02020603050405020304" pitchFamily="18" charset="0"/>
            </a:endParaRPr>
          </a:p>
          <a:p>
            <a:pPr eaLnBrk="1" hangingPunct="1">
              <a:spcBef>
                <a:spcPct val="0"/>
              </a:spcBef>
              <a:buClrTx/>
              <a:buSzTx/>
              <a:buFont typeface="Arial" panose="020B0604020202020204" pitchFamily="34" charset="0"/>
              <a:buNone/>
            </a:pPr>
            <a:r>
              <a:rPr lang="zh-CN" altLang="zh-CN" sz="2400" dirty="0">
                <a:latin typeface="Times New Roman" panose="02020603050405020304" pitchFamily="18" charset="0"/>
              </a:rPr>
              <a:t>使20lg|</a:t>
            </a:r>
            <a:r>
              <a:rPr lang="zh-CN" altLang="zh-CN" sz="2400" i="1" dirty="0">
                <a:latin typeface="Times New Roman" panose="02020603050405020304" pitchFamily="18" charset="0"/>
              </a:rPr>
              <a:t>AF</a:t>
            </a:r>
            <a:r>
              <a:rPr lang="zh-CN" altLang="zh-CN" sz="2400" dirty="0">
                <a:latin typeface="Times New Roman" panose="02020603050405020304" pitchFamily="18" charset="0"/>
              </a:rPr>
              <a:t>|=0dB的频率为</a:t>
            </a:r>
            <a:r>
              <a:rPr lang="zh-CN" altLang="zh-CN" sz="2400" i="1" dirty="0">
                <a:latin typeface="Times New Roman" panose="02020603050405020304" pitchFamily="18" charset="0"/>
              </a:rPr>
              <a:t>f</a:t>
            </a:r>
            <a:r>
              <a:rPr lang="zh-CN" altLang="zh-CN" sz="2400" baseline="-25000" dirty="0">
                <a:latin typeface="Times New Roman" panose="02020603050405020304" pitchFamily="18" charset="0"/>
              </a:rPr>
              <a:t>0</a:t>
            </a:r>
            <a:r>
              <a:rPr lang="zh-CN" altLang="zh-CN" sz="2400" dirty="0">
                <a:latin typeface="Times New Roman" panose="02020603050405020304" pitchFamily="18" charset="0"/>
              </a:rPr>
              <a:t>，称为</a:t>
            </a:r>
            <a:r>
              <a:rPr lang="zh-CN" altLang="zh-CN" sz="2400" dirty="0">
                <a:solidFill>
                  <a:schemeClr val="tx2"/>
                </a:solidFill>
                <a:latin typeface="Times New Roman" panose="02020603050405020304" pitchFamily="18" charset="0"/>
              </a:rPr>
              <a:t>增益交界频率</a:t>
            </a:r>
            <a:r>
              <a:rPr lang="zh-CN" altLang="zh-CN" sz="2400" dirty="0">
                <a:latin typeface="Times New Roman" panose="02020603050405020304" pitchFamily="18" charset="0"/>
              </a:rPr>
              <a:t> </a:t>
            </a:r>
            <a:endParaRPr lang="zh-CN" altLang="zh-CN" sz="2400" dirty="0">
              <a:latin typeface="Times New Roman" panose="02020603050405020304" pitchFamily="18" charset="0"/>
            </a:endParaRPr>
          </a:p>
        </p:txBody>
      </p:sp>
      <p:graphicFrame>
        <p:nvGraphicFramePr>
          <p:cNvPr id="84999" name="Object 6"/>
          <p:cNvGraphicFramePr>
            <a:graphicFrameLocks noChangeAspect="1"/>
          </p:cNvGraphicFramePr>
          <p:nvPr/>
        </p:nvGraphicFramePr>
        <p:xfrm>
          <a:off x="1177925" y="565150"/>
          <a:ext cx="446088" cy="504825"/>
        </p:xfrm>
        <a:graphic>
          <a:graphicData uri="http://schemas.openxmlformats.org/presentationml/2006/ole">
            <mc:AlternateContent xmlns:mc="http://schemas.openxmlformats.org/markup-compatibility/2006">
              <mc:Choice xmlns:v="urn:schemas-microsoft-com:vml" Requires="v">
                <p:oleObj spid="_x0000_s85063" name="" r:id="rId2" imgW="191135" imgH="216535" progId="Equation.3">
                  <p:embed/>
                </p:oleObj>
              </mc:Choice>
              <mc:Fallback>
                <p:oleObj name="" r:id="rId2" imgW="191135" imgH="216535"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925" y="565150"/>
                        <a:ext cx="44608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0" name="Object 7"/>
          <p:cNvGraphicFramePr>
            <a:graphicFrameLocks noChangeAspect="1"/>
          </p:cNvGraphicFramePr>
          <p:nvPr/>
        </p:nvGraphicFramePr>
        <p:xfrm>
          <a:off x="555625" y="581025"/>
          <a:ext cx="476250" cy="504825"/>
        </p:xfrm>
        <a:graphic>
          <a:graphicData uri="http://schemas.openxmlformats.org/presentationml/2006/ole">
            <mc:AlternateContent xmlns:mc="http://schemas.openxmlformats.org/markup-compatibility/2006">
              <mc:Choice xmlns:v="urn:schemas-microsoft-com:vml" Requires="v">
                <p:oleObj spid="_x0000_s85064" name="" r:id="rId4" imgW="203835" imgH="216535" progId="Equation.3">
                  <p:embed/>
                </p:oleObj>
              </mc:Choice>
              <mc:Fallback>
                <p:oleObj name="" r:id="rId4" imgW="203835" imgH="21653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625" y="581025"/>
                        <a:ext cx="4762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C4B0F2AE-DC3D-4D2C-BBB9-4D54169F5338}" type="slidenum">
              <a:rPr lang="zh-CN" altLang="zh-CN" sz="1400" smtClean="0"/>
            </a:fld>
            <a:endParaRPr lang="zh-CN" altLang="zh-CN" sz="1400" dirty="0" smtClean="0"/>
          </a:p>
        </p:txBody>
      </p:sp>
      <p:sp>
        <p:nvSpPr>
          <p:cNvPr id="86019" name="Rectangle 2"/>
          <p:cNvSpPr>
            <a:spLocks noChangeArrowheads="1"/>
          </p:cNvSpPr>
          <p:nvPr/>
        </p:nvSpPr>
        <p:spPr bwMode="auto">
          <a:xfrm>
            <a:off x="317500" y="446088"/>
            <a:ext cx="22479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Font typeface="Arial" panose="020B0604020202020204" pitchFamily="34" charset="0"/>
              <a:buNone/>
            </a:pPr>
            <a:r>
              <a:rPr lang="zh-CN" altLang="zh-CN" sz="2800" dirty="0">
                <a:latin typeface="Times New Roman" panose="02020603050405020304" pitchFamily="18" charset="0"/>
              </a:rPr>
              <a:t>2、稳定裕度</a:t>
            </a:r>
            <a:endParaRPr lang="zh-CN" altLang="zh-CN" sz="2800" b="0" dirty="0">
              <a:latin typeface="Times New Roman" panose="02020603050405020304" pitchFamily="18" charset="0"/>
            </a:endParaRPr>
          </a:p>
        </p:txBody>
      </p:sp>
      <p:sp>
        <p:nvSpPr>
          <p:cNvPr id="86020" name="Rectangle 3"/>
          <p:cNvSpPr>
            <a:spLocks noChangeArrowheads="1"/>
          </p:cNvSpPr>
          <p:nvPr/>
        </p:nvSpPr>
        <p:spPr bwMode="auto">
          <a:xfrm>
            <a:off x="344488" y="1179513"/>
            <a:ext cx="49688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zh-CN" sz="2800" dirty="0">
                <a:latin typeface="Times New Roman" panose="02020603050405020304" pitchFamily="18" charset="0"/>
              </a:rPr>
              <a:t>        理论上只要</a:t>
            </a:r>
            <a:r>
              <a:rPr lang="zh-CN" altLang="zh-CN" sz="2800" i="1" dirty="0">
                <a:latin typeface="Times New Roman" panose="02020603050405020304" pitchFamily="18" charset="0"/>
              </a:rPr>
              <a:t>f</a:t>
            </a:r>
            <a:r>
              <a:rPr lang="zh-CN" altLang="zh-CN" sz="2800" baseline="-25000" dirty="0">
                <a:latin typeface="Times New Roman" panose="02020603050405020304" pitchFamily="18" charset="0"/>
              </a:rPr>
              <a:t>π</a:t>
            </a:r>
            <a:r>
              <a:rPr lang="zh-CN" altLang="zh-CN" sz="2800" i="1" dirty="0">
                <a:latin typeface="Times New Roman" panose="02020603050405020304" pitchFamily="18" charset="0"/>
              </a:rPr>
              <a:t>&gt;f</a:t>
            </a:r>
            <a:r>
              <a:rPr lang="zh-CN" altLang="zh-CN" sz="2800" baseline="-25000" dirty="0">
                <a:latin typeface="Times New Roman" panose="02020603050405020304" pitchFamily="18" charset="0"/>
              </a:rPr>
              <a:t>0</a:t>
            </a:r>
            <a:r>
              <a:rPr lang="zh-CN" altLang="zh-CN" sz="2800" dirty="0">
                <a:latin typeface="Times New Roman" panose="02020603050405020304" pitchFamily="18" charset="0"/>
              </a:rPr>
              <a:t>，电路就稳定。但是实际中，人们常常发现某些放大电路虽然满足</a:t>
            </a:r>
            <a:r>
              <a:rPr lang="zh-CN" altLang="zh-CN" sz="2800" i="1" dirty="0">
                <a:latin typeface="Times New Roman" panose="02020603050405020304" pitchFamily="18" charset="0"/>
              </a:rPr>
              <a:t>f</a:t>
            </a:r>
            <a:r>
              <a:rPr lang="zh-CN" altLang="zh-CN" sz="2800" baseline="-25000" dirty="0">
                <a:latin typeface="Times New Roman" panose="02020603050405020304" pitchFamily="18" charset="0"/>
              </a:rPr>
              <a:t>π</a:t>
            </a:r>
            <a:r>
              <a:rPr lang="zh-CN" altLang="zh-CN" sz="2800" i="1" dirty="0">
                <a:latin typeface="Times New Roman" panose="02020603050405020304" pitchFamily="18" charset="0"/>
              </a:rPr>
              <a:t>&gt;f</a:t>
            </a:r>
            <a:r>
              <a:rPr lang="zh-CN" altLang="zh-CN" sz="2800" baseline="-25000" dirty="0">
                <a:latin typeface="Times New Roman" panose="02020603050405020304" pitchFamily="18" charset="0"/>
              </a:rPr>
              <a:t>0</a:t>
            </a:r>
            <a:r>
              <a:rPr lang="zh-CN" altLang="zh-CN" sz="2800" dirty="0">
                <a:latin typeface="Times New Roman" panose="02020603050405020304" pitchFamily="18" charset="0"/>
              </a:rPr>
              <a:t>，但是</a:t>
            </a:r>
            <a:r>
              <a:rPr lang="zh-CN" altLang="zh-CN" sz="2800" i="1" dirty="0">
                <a:latin typeface="Times New Roman" panose="02020603050405020304" pitchFamily="18" charset="0"/>
              </a:rPr>
              <a:t>f</a:t>
            </a:r>
            <a:r>
              <a:rPr lang="zh-CN" altLang="zh-CN" sz="2800" baseline="-25000" dirty="0">
                <a:latin typeface="Times New Roman" panose="02020603050405020304" pitchFamily="18" charset="0"/>
              </a:rPr>
              <a:t>π</a:t>
            </a:r>
            <a:r>
              <a:rPr lang="zh-CN" altLang="zh-CN" sz="2800" dirty="0">
                <a:latin typeface="Times New Roman" panose="02020603050405020304" pitchFamily="18" charset="0"/>
              </a:rPr>
              <a:t>和</a:t>
            </a:r>
            <a:r>
              <a:rPr lang="zh-CN" altLang="zh-CN" sz="2800" i="1" dirty="0">
                <a:latin typeface="Times New Roman" panose="02020603050405020304" pitchFamily="18" charset="0"/>
              </a:rPr>
              <a:t>f</a:t>
            </a:r>
            <a:r>
              <a:rPr lang="zh-CN" altLang="zh-CN" sz="2800" baseline="-25000" dirty="0">
                <a:latin typeface="Times New Roman" panose="02020603050405020304" pitchFamily="18" charset="0"/>
              </a:rPr>
              <a:t>0</a:t>
            </a:r>
            <a:r>
              <a:rPr lang="zh-CN" altLang="zh-CN" sz="2800" dirty="0">
                <a:latin typeface="Times New Roman" panose="02020603050405020304" pitchFamily="18" charset="0"/>
              </a:rPr>
              <a:t>靠得很近，此时电路也非常容易产生自激振荡。 </a:t>
            </a:r>
            <a:endParaRPr lang="zh-CN" altLang="zh-CN" sz="2800" dirty="0">
              <a:latin typeface="Times New Roman" panose="02020603050405020304" pitchFamily="18" charset="0"/>
            </a:endParaRPr>
          </a:p>
        </p:txBody>
      </p:sp>
      <p:sp>
        <p:nvSpPr>
          <p:cNvPr id="86021" name="Rectangle 4"/>
          <p:cNvSpPr>
            <a:spLocks noChangeArrowheads="1"/>
          </p:cNvSpPr>
          <p:nvPr/>
        </p:nvSpPr>
        <p:spPr bwMode="auto">
          <a:xfrm>
            <a:off x="311150" y="4283075"/>
            <a:ext cx="49815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zh-CN" sz="2800" dirty="0">
                <a:latin typeface="Times New Roman" panose="02020603050405020304" pitchFamily="18" charset="0"/>
              </a:rPr>
              <a:t>         因此，为保证放大器稳定工作，必须使它远离自激振荡状态，远离自激振荡状态的程度用</a:t>
            </a:r>
            <a:r>
              <a:rPr lang="zh-CN" altLang="zh-CN" sz="2800" dirty="0">
                <a:solidFill>
                  <a:schemeClr val="tx2"/>
                </a:solidFill>
                <a:latin typeface="Times New Roman" panose="02020603050405020304" pitchFamily="18" charset="0"/>
              </a:rPr>
              <a:t>稳定裕度</a:t>
            </a:r>
            <a:r>
              <a:rPr lang="zh-CN" altLang="zh-CN" sz="2800" dirty="0">
                <a:latin typeface="Times New Roman" panose="02020603050405020304" pitchFamily="18" charset="0"/>
              </a:rPr>
              <a:t>表示。 </a:t>
            </a:r>
            <a:endParaRPr lang="zh-CN" altLang="zh-CN" sz="2800" dirty="0">
              <a:latin typeface="Times New Roman" panose="02020603050405020304" pitchFamily="18" charset="0"/>
            </a:endParaRPr>
          </a:p>
        </p:txBody>
      </p:sp>
      <p:pic>
        <p:nvPicPr>
          <p:cNvPr id="8602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64150" y="593725"/>
            <a:ext cx="3879850" cy="542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8F5E9DBA-7634-4EF7-A259-F9868E04C632}" type="slidenum">
              <a:rPr lang="zh-CN" altLang="zh-CN" sz="1400" smtClean="0"/>
            </a:fld>
            <a:endParaRPr lang="zh-CN" altLang="zh-CN" sz="1400" smtClean="0"/>
          </a:p>
        </p:txBody>
      </p:sp>
      <p:graphicFrame>
        <p:nvGraphicFramePr>
          <p:cNvPr id="87043" name="Object 2"/>
          <p:cNvGraphicFramePr>
            <a:graphicFrameLocks noChangeAspect="1"/>
          </p:cNvGraphicFramePr>
          <p:nvPr/>
        </p:nvGraphicFramePr>
        <p:xfrm>
          <a:off x="347663" y="609600"/>
          <a:ext cx="3763962" cy="668338"/>
        </p:xfrm>
        <a:graphic>
          <a:graphicData uri="http://schemas.openxmlformats.org/presentationml/2006/ole">
            <mc:AlternateContent xmlns:mc="http://schemas.openxmlformats.org/markup-compatibility/2006">
              <mc:Choice xmlns:v="urn:schemas-microsoft-com:vml" Requires="v">
                <p:oleObj spid="_x0000_s87145" name="" r:id="rId1" imgW="1449070" imgH="254000" progId="Equation.3">
                  <p:embed/>
                </p:oleObj>
              </mc:Choice>
              <mc:Fallback>
                <p:oleObj name="" r:id="rId1" imgW="1449070" imgH="254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609600"/>
                        <a:ext cx="3763962"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4" name="Rectangle 3"/>
          <p:cNvSpPr>
            <a:spLocks noChangeArrowheads="1"/>
          </p:cNvSpPr>
          <p:nvPr/>
        </p:nvSpPr>
        <p:spPr bwMode="auto">
          <a:xfrm>
            <a:off x="369888" y="1404938"/>
            <a:ext cx="372268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dirty="0">
                <a:latin typeface="Times New Roman" panose="02020603050405020304" pitchFamily="18" charset="0"/>
              </a:rPr>
              <a:t>工程上，</a:t>
            </a:r>
            <a:r>
              <a:rPr lang="zh-CN" altLang="zh-CN" sz="2800" i="1" dirty="0">
                <a:latin typeface="Times New Roman" panose="02020603050405020304" pitchFamily="18" charset="0"/>
              </a:rPr>
              <a:t>G</a:t>
            </a:r>
            <a:r>
              <a:rPr lang="zh-CN" altLang="zh-CN" sz="2800" baseline="-25000" dirty="0">
                <a:latin typeface="Times New Roman" panose="02020603050405020304" pitchFamily="18" charset="0"/>
              </a:rPr>
              <a:t>m</a:t>
            </a:r>
            <a:r>
              <a:rPr lang="zh-CN" altLang="zh-CN" sz="2800" dirty="0">
                <a:latin typeface="Times New Roman" panose="02020603050405020304" pitchFamily="18" charset="0"/>
              </a:rPr>
              <a:t> ≥10dB，可认为放大器是稳定的 </a:t>
            </a:r>
            <a:endParaRPr lang="zh-CN" altLang="zh-CN" sz="2800" dirty="0">
              <a:latin typeface="Times New Roman" panose="02020603050405020304" pitchFamily="18" charset="0"/>
            </a:endParaRPr>
          </a:p>
        </p:txBody>
      </p:sp>
      <p:pic>
        <p:nvPicPr>
          <p:cNvPr id="870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244475"/>
            <a:ext cx="4184650" cy="585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5"/>
          <p:cNvSpPr>
            <a:spLocks noChangeArrowheads="1"/>
          </p:cNvSpPr>
          <p:nvPr/>
        </p:nvSpPr>
        <p:spPr bwMode="auto">
          <a:xfrm>
            <a:off x="8062913" y="3305175"/>
            <a:ext cx="1081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chemeClr val="hlink"/>
                </a:solidFill>
                <a:latin typeface="宋体" panose="02010600030101010101" pitchFamily="2" charset="-122"/>
              </a:rPr>
              <a:t>幅度裕度</a:t>
            </a:r>
            <a:endParaRPr lang="zh-CN" altLang="zh-CN" sz="2000">
              <a:solidFill>
                <a:schemeClr val="hlink"/>
              </a:solidFill>
              <a:latin typeface="Times New Roman" panose="02020603050405020304" pitchFamily="18" charset="0"/>
            </a:endParaRPr>
          </a:p>
        </p:txBody>
      </p:sp>
      <p:sp>
        <p:nvSpPr>
          <p:cNvPr id="87047" name="Rectangle 6"/>
          <p:cNvSpPr>
            <a:spLocks noChangeArrowheads="1"/>
          </p:cNvSpPr>
          <p:nvPr/>
        </p:nvSpPr>
        <p:spPr bwMode="auto">
          <a:xfrm>
            <a:off x="5387975" y="5018088"/>
            <a:ext cx="1030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000">
                <a:solidFill>
                  <a:schemeClr val="hlink"/>
                </a:solidFill>
                <a:latin typeface="宋体" panose="02010600030101010101" pitchFamily="2" charset="-122"/>
              </a:rPr>
              <a:t>相位裕度</a:t>
            </a:r>
            <a:endParaRPr lang="zh-CN" altLang="zh-CN" sz="2000">
              <a:solidFill>
                <a:schemeClr val="hlink"/>
              </a:solidFill>
              <a:latin typeface="Times New Roman" panose="02020603050405020304" pitchFamily="18" charset="0"/>
            </a:endParaRPr>
          </a:p>
        </p:txBody>
      </p:sp>
      <p:sp>
        <p:nvSpPr>
          <p:cNvPr id="87048" name="Rectangle 7"/>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87049" name="Object 8"/>
          <p:cNvGraphicFramePr>
            <a:graphicFrameLocks noChangeAspect="1"/>
          </p:cNvGraphicFramePr>
          <p:nvPr/>
        </p:nvGraphicFramePr>
        <p:xfrm>
          <a:off x="268288" y="3494088"/>
          <a:ext cx="4005262" cy="739775"/>
        </p:xfrm>
        <a:graphic>
          <a:graphicData uri="http://schemas.openxmlformats.org/presentationml/2006/ole">
            <mc:AlternateContent xmlns:mc="http://schemas.openxmlformats.org/markup-compatibility/2006">
              <mc:Choice xmlns:v="urn:schemas-microsoft-com:vml" Requires="v">
                <p:oleObj spid="_x0000_s87146" name="" r:id="rId4" imgW="1499235" imgH="279400" progId="Equation.3">
                  <p:embed/>
                </p:oleObj>
              </mc:Choice>
              <mc:Fallback>
                <p:oleObj name="" r:id="rId4" imgW="1499235" imgH="2794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288" y="3494088"/>
                        <a:ext cx="400526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50" name="Rectangle 9"/>
          <p:cNvSpPr>
            <a:spLocks noChangeArrowheads="1"/>
          </p:cNvSpPr>
          <p:nvPr/>
        </p:nvSpPr>
        <p:spPr bwMode="auto">
          <a:xfrm>
            <a:off x="461963" y="4287838"/>
            <a:ext cx="36322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800" dirty="0">
                <a:latin typeface="Times New Roman" panose="02020603050405020304" pitchFamily="18" charset="0"/>
              </a:rPr>
              <a:t>工程上，          45°，可认为放大器是稳定的 </a:t>
            </a:r>
            <a:endParaRPr lang="zh-CN" altLang="zh-CN" sz="2800" dirty="0">
              <a:latin typeface="Times New Roman" panose="02020603050405020304" pitchFamily="18" charset="0"/>
            </a:endParaRPr>
          </a:p>
        </p:txBody>
      </p:sp>
      <p:graphicFrame>
        <p:nvGraphicFramePr>
          <p:cNvPr id="87051" name="Object 10"/>
          <p:cNvGraphicFramePr>
            <a:graphicFrameLocks noChangeAspect="1"/>
          </p:cNvGraphicFramePr>
          <p:nvPr/>
        </p:nvGraphicFramePr>
        <p:xfrm>
          <a:off x="1914525" y="4229100"/>
          <a:ext cx="898525" cy="622300"/>
        </p:xfrm>
        <a:graphic>
          <a:graphicData uri="http://schemas.openxmlformats.org/presentationml/2006/ole">
            <mc:AlternateContent xmlns:mc="http://schemas.openxmlformats.org/markup-compatibility/2006">
              <mc:Choice xmlns:v="urn:schemas-microsoft-com:vml" Requires="v">
                <p:oleObj spid="_x0000_s87147" name="" r:id="rId6" imgW="330835" imgH="229235" progId="Equation.3">
                  <p:embed/>
                </p:oleObj>
              </mc:Choice>
              <mc:Fallback>
                <p:oleObj name="" r:id="rId6" imgW="330835" imgH="229235"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4525" y="4229100"/>
                        <a:ext cx="898525"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22444A62-7368-4908-9AD9-EA31654226EE}" type="slidenum">
              <a:rPr lang="zh-CN" altLang="zh-CN" sz="1400" smtClean="0"/>
            </a:fld>
            <a:endParaRPr lang="zh-CN" altLang="zh-CN" sz="1400" smtClean="0"/>
          </a:p>
        </p:txBody>
      </p:sp>
      <p:sp>
        <p:nvSpPr>
          <p:cNvPr id="88067" name="Rectangle 2"/>
          <p:cNvSpPr>
            <a:spLocks noChangeArrowheads="1"/>
          </p:cNvSpPr>
          <p:nvPr/>
        </p:nvSpPr>
        <p:spPr bwMode="auto">
          <a:xfrm>
            <a:off x="238131" y="226800"/>
            <a:ext cx="6893931" cy="57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Font typeface="Arial" panose="020B0604020202020204" pitchFamily="34" charset="0"/>
              <a:buNone/>
            </a:pPr>
            <a:r>
              <a:rPr lang="zh-CN" altLang="zh-CN" sz="2400" dirty="0">
                <a:latin typeface="Times New Roman" panose="02020603050405020304" pitchFamily="18" charset="0"/>
              </a:rPr>
              <a:t>3、利用开环增益的波特图来判别放大器的稳定性</a:t>
            </a:r>
            <a:endParaRPr lang="zh-CN" altLang="zh-CN" sz="2400" b="0" dirty="0">
              <a:latin typeface="Times New Roman" panose="02020603050405020304" pitchFamily="18" charset="0"/>
            </a:endParaRPr>
          </a:p>
        </p:txBody>
      </p:sp>
      <p:grpSp>
        <p:nvGrpSpPr>
          <p:cNvPr id="88068" name="Group 3"/>
          <p:cNvGrpSpPr>
            <a:grpSpLocks noChangeAspect="1"/>
          </p:cNvGrpSpPr>
          <p:nvPr/>
        </p:nvGrpSpPr>
        <p:grpSpPr bwMode="auto">
          <a:xfrm>
            <a:off x="727075" y="1425575"/>
            <a:ext cx="7694613" cy="3424238"/>
            <a:chOff x="0" y="0"/>
            <a:chExt cx="6599" cy="3007"/>
          </a:xfrm>
        </p:grpSpPr>
        <p:sp>
          <p:nvSpPr>
            <p:cNvPr id="88070" name="AutoShape 4"/>
            <p:cNvSpPr>
              <a:spLocks noChangeAspect="1" noChangeArrowheads="1"/>
            </p:cNvSpPr>
            <p:nvPr/>
          </p:nvSpPr>
          <p:spPr bwMode="auto">
            <a:xfrm>
              <a:off x="0" y="0"/>
              <a:ext cx="6599" cy="3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88071" name="Rectangle 5"/>
            <p:cNvSpPr>
              <a:spLocks noChangeArrowheads="1"/>
            </p:cNvSpPr>
            <p:nvPr/>
          </p:nvSpPr>
          <p:spPr bwMode="auto">
            <a:xfrm>
              <a:off x="5434" y="2003"/>
              <a:ext cx="116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-60dB/10</a:t>
              </a:r>
              <a:r>
                <a:rPr lang="zh-CN" altLang="zh-CN" sz="1800">
                  <a:solidFill>
                    <a:srgbClr val="000000"/>
                  </a:solidFill>
                  <a:latin typeface="宋体" panose="02010600030101010101" pitchFamily="2" charset="-122"/>
                </a:rPr>
                <a:t>倍频</a:t>
              </a:r>
              <a:endParaRPr lang="zh-CN" altLang="zh-CN" sz="1800">
                <a:latin typeface="Times New Roman" panose="02020603050405020304" pitchFamily="18" charset="0"/>
              </a:endParaRPr>
            </a:p>
          </p:txBody>
        </p:sp>
        <p:sp>
          <p:nvSpPr>
            <p:cNvPr id="88072" name="Freeform 6"/>
            <p:cNvSpPr>
              <a:spLocks noEditPoints="1"/>
            </p:cNvSpPr>
            <p:nvPr/>
          </p:nvSpPr>
          <p:spPr bwMode="auto">
            <a:xfrm>
              <a:off x="277" y="138"/>
              <a:ext cx="87" cy="2553"/>
            </a:xfrm>
            <a:custGeom>
              <a:avLst/>
              <a:gdLst>
                <a:gd name="T0" fmla="*/ 0 w 400"/>
                <a:gd name="T1" fmla="*/ 0 h 11750"/>
                <a:gd name="T2" fmla="*/ 0 w 400"/>
                <a:gd name="T3" fmla="*/ 0 h 11750"/>
                <a:gd name="T4" fmla="*/ 0 w 400"/>
                <a:gd name="T5" fmla="*/ 0 h 11750"/>
                <a:gd name="T6" fmla="*/ 0 w 400"/>
                <a:gd name="T7" fmla="*/ 0 h 11750"/>
                <a:gd name="T8" fmla="*/ 0 w 400"/>
                <a:gd name="T9" fmla="*/ 0 h 11750"/>
                <a:gd name="T10" fmla="*/ 0 w 400"/>
                <a:gd name="T11" fmla="*/ 0 h 11750"/>
                <a:gd name="T12" fmla="*/ 0 w 400"/>
                <a:gd name="T13" fmla="*/ 0 h 11750"/>
                <a:gd name="T14" fmla="*/ 0 w 400"/>
                <a:gd name="T15" fmla="*/ 0 h 11750"/>
                <a:gd name="T16" fmla="*/ 0 w 400"/>
                <a:gd name="T17" fmla="*/ 0 h 11750"/>
                <a:gd name="T18" fmla="*/ 0 w 400"/>
                <a:gd name="T19" fmla="*/ 0 h 11750"/>
                <a:gd name="T20" fmla="*/ 0 w 400"/>
                <a:gd name="T21" fmla="*/ 0 h 11750"/>
                <a:gd name="T22" fmla="*/ 0 w 400"/>
                <a:gd name="T23" fmla="*/ 0 h 117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0"/>
                <a:gd name="T37" fmla="*/ 0 h 11750"/>
                <a:gd name="T38" fmla="*/ 400 w 400"/>
                <a:gd name="T39" fmla="*/ 11750 h 117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0" h="11750">
                  <a:moveTo>
                    <a:pt x="167" y="11717"/>
                  </a:moveTo>
                  <a:lnTo>
                    <a:pt x="167" y="400"/>
                  </a:lnTo>
                  <a:cubicBezTo>
                    <a:pt x="167" y="382"/>
                    <a:pt x="182" y="367"/>
                    <a:pt x="200" y="367"/>
                  </a:cubicBezTo>
                  <a:cubicBezTo>
                    <a:pt x="219" y="367"/>
                    <a:pt x="233" y="382"/>
                    <a:pt x="233" y="400"/>
                  </a:cubicBezTo>
                  <a:lnTo>
                    <a:pt x="233" y="11717"/>
                  </a:lnTo>
                  <a:cubicBezTo>
                    <a:pt x="233" y="11735"/>
                    <a:pt x="219" y="11750"/>
                    <a:pt x="200" y="11750"/>
                  </a:cubicBezTo>
                  <a:cubicBezTo>
                    <a:pt x="182" y="11750"/>
                    <a:pt x="167" y="11735"/>
                    <a:pt x="167" y="11717"/>
                  </a:cubicBezTo>
                  <a:close/>
                  <a:moveTo>
                    <a:pt x="200" y="400"/>
                  </a:moveTo>
                  <a:lnTo>
                    <a:pt x="0" y="667"/>
                  </a:lnTo>
                  <a:lnTo>
                    <a:pt x="200" y="0"/>
                  </a:lnTo>
                  <a:lnTo>
                    <a:pt x="400" y="667"/>
                  </a:lnTo>
                  <a:lnTo>
                    <a:pt x="200" y="400"/>
                  </a:lnTo>
                  <a:close/>
                </a:path>
              </a:pathLst>
            </a:custGeom>
            <a:solidFill>
              <a:srgbClr val="000000"/>
            </a:solidFill>
            <a:ln w="1270">
              <a:solidFill>
                <a:srgbClr val="000000"/>
              </a:solidFill>
              <a:round/>
            </a:ln>
          </p:spPr>
          <p:txBody>
            <a:bodyPr/>
            <a:lstStyle/>
            <a:p>
              <a:endParaRPr lang="zh-CN" altLang="en-US"/>
            </a:p>
          </p:txBody>
        </p:sp>
        <p:sp>
          <p:nvSpPr>
            <p:cNvPr id="88073" name="Freeform 7"/>
            <p:cNvSpPr>
              <a:spLocks noEditPoints="1"/>
            </p:cNvSpPr>
            <p:nvPr/>
          </p:nvSpPr>
          <p:spPr bwMode="auto">
            <a:xfrm>
              <a:off x="309" y="2539"/>
              <a:ext cx="6236" cy="87"/>
            </a:xfrm>
            <a:custGeom>
              <a:avLst/>
              <a:gdLst>
                <a:gd name="T0" fmla="*/ 0 w 23475"/>
                <a:gd name="T1" fmla="*/ 0 h 400"/>
                <a:gd name="T2" fmla="*/ 2 w 23475"/>
                <a:gd name="T3" fmla="*/ 0 h 400"/>
                <a:gd name="T4" fmla="*/ 2 w 23475"/>
                <a:gd name="T5" fmla="*/ 0 h 400"/>
                <a:gd name="T6" fmla="*/ 2 w 23475"/>
                <a:gd name="T7" fmla="*/ 0 h 400"/>
                <a:gd name="T8" fmla="*/ 0 w 23475"/>
                <a:gd name="T9" fmla="*/ 0 h 400"/>
                <a:gd name="T10" fmla="*/ 0 w 23475"/>
                <a:gd name="T11" fmla="*/ 0 h 400"/>
                <a:gd name="T12" fmla="*/ 0 w 23475"/>
                <a:gd name="T13" fmla="*/ 0 h 400"/>
                <a:gd name="T14" fmla="*/ 2 w 23475"/>
                <a:gd name="T15" fmla="*/ 0 h 400"/>
                <a:gd name="T16" fmla="*/ 2 w 23475"/>
                <a:gd name="T17" fmla="*/ 0 h 400"/>
                <a:gd name="T18" fmla="*/ 2 w 23475"/>
                <a:gd name="T19" fmla="*/ 0 h 400"/>
                <a:gd name="T20" fmla="*/ 2 w 23475"/>
                <a:gd name="T21" fmla="*/ 0 h 400"/>
                <a:gd name="T22" fmla="*/ 2 w 23475"/>
                <a:gd name="T23" fmla="*/ 0 h 4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475"/>
                <a:gd name="T37" fmla="*/ 0 h 400"/>
                <a:gd name="T38" fmla="*/ 23475 w 23475"/>
                <a:gd name="T39" fmla="*/ 400 h 4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475" h="400">
                  <a:moveTo>
                    <a:pt x="33" y="167"/>
                  </a:moveTo>
                  <a:lnTo>
                    <a:pt x="23075" y="167"/>
                  </a:lnTo>
                  <a:cubicBezTo>
                    <a:pt x="23094" y="167"/>
                    <a:pt x="23109" y="182"/>
                    <a:pt x="23109" y="200"/>
                  </a:cubicBezTo>
                  <a:cubicBezTo>
                    <a:pt x="23109" y="219"/>
                    <a:pt x="23094" y="233"/>
                    <a:pt x="23075" y="233"/>
                  </a:cubicBezTo>
                  <a:lnTo>
                    <a:pt x="33" y="233"/>
                  </a:lnTo>
                  <a:cubicBezTo>
                    <a:pt x="15" y="233"/>
                    <a:pt x="0" y="219"/>
                    <a:pt x="0" y="200"/>
                  </a:cubicBezTo>
                  <a:cubicBezTo>
                    <a:pt x="0" y="182"/>
                    <a:pt x="15" y="167"/>
                    <a:pt x="33" y="167"/>
                  </a:cubicBezTo>
                  <a:close/>
                  <a:moveTo>
                    <a:pt x="23075" y="200"/>
                  </a:moveTo>
                  <a:lnTo>
                    <a:pt x="22808" y="0"/>
                  </a:lnTo>
                  <a:lnTo>
                    <a:pt x="23475" y="200"/>
                  </a:lnTo>
                  <a:lnTo>
                    <a:pt x="22808" y="400"/>
                  </a:lnTo>
                  <a:lnTo>
                    <a:pt x="23075" y="200"/>
                  </a:lnTo>
                  <a:close/>
                </a:path>
              </a:pathLst>
            </a:custGeom>
            <a:solidFill>
              <a:srgbClr val="000000"/>
            </a:solidFill>
            <a:ln w="1270">
              <a:solidFill>
                <a:srgbClr val="000000"/>
              </a:solidFill>
              <a:round/>
            </a:ln>
          </p:spPr>
          <p:txBody>
            <a:bodyPr/>
            <a:lstStyle/>
            <a:p>
              <a:endParaRPr lang="zh-CN" altLang="en-US"/>
            </a:p>
          </p:txBody>
        </p:sp>
        <p:sp>
          <p:nvSpPr>
            <p:cNvPr id="88074" name="Line 8"/>
            <p:cNvSpPr>
              <a:spLocks noChangeShapeType="1"/>
            </p:cNvSpPr>
            <p:nvPr/>
          </p:nvSpPr>
          <p:spPr bwMode="auto">
            <a:xfrm>
              <a:off x="1394"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5" name="Line 9"/>
            <p:cNvSpPr>
              <a:spLocks noChangeShapeType="1"/>
            </p:cNvSpPr>
            <p:nvPr/>
          </p:nvSpPr>
          <p:spPr bwMode="auto">
            <a:xfrm>
              <a:off x="2549"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6" name="Line 10"/>
            <p:cNvSpPr>
              <a:spLocks noChangeShapeType="1"/>
            </p:cNvSpPr>
            <p:nvPr/>
          </p:nvSpPr>
          <p:spPr bwMode="auto">
            <a:xfrm>
              <a:off x="3700"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7" name="Line 11"/>
            <p:cNvSpPr>
              <a:spLocks noChangeShapeType="1"/>
            </p:cNvSpPr>
            <p:nvPr/>
          </p:nvSpPr>
          <p:spPr bwMode="auto">
            <a:xfrm>
              <a:off x="4859"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8" name="Line 12"/>
            <p:cNvSpPr>
              <a:spLocks noChangeShapeType="1"/>
            </p:cNvSpPr>
            <p:nvPr/>
          </p:nvSpPr>
          <p:spPr bwMode="auto">
            <a:xfrm>
              <a:off x="320" y="2192"/>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79" name="Line 13"/>
            <p:cNvSpPr>
              <a:spLocks noChangeShapeType="1"/>
            </p:cNvSpPr>
            <p:nvPr/>
          </p:nvSpPr>
          <p:spPr bwMode="auto">
            <a:xfrm>
              <a:off x="320" y="1780"/>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0" name="Line 14"/>
            <p:cNvSpPr>
              <a:spLocks noChangeShapeType="1"/>
            </p:cNvSpPr>
            <p:nvPr/>
          </p:nvSpPr>
          <p:spPr bwMode="auto">
            <a:xfrm>
              <a:off x="320" y="1370"/>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1" name="Line 15"/>
            <p:cNvSpPr>
              <a:spLocks noChangeShapeType="1"/>
            </p:cNvSpPr>
            <p:nvPr/>
          </p:nvSpPr>
          <p:spPr bwMode="auto">
            <a:xfrm>
              <a:off x="320" y="958"/>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2" name="Line 16"/>
            <p:cNvSpPr>
              <a:spLocks noChangeShapeType="1"/>
            </p:cNvSpPr>
            <p:nvPr/>
          </p:nvSpPr>
          <p:spPr bwMode="auto">
            <a:xfrm>
              <a:off x="320" y="547"/>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083" name="Rectangle 17"/>
            <p:cNvSpPr>
              <a:spLocks noChangeArrowheads="1"/>
            </p:cNvSpPr>
            <p:nvPr/>
          </p:nvSpPr>
          <p:spPr bwMode="auto">
            <a:xfrm>
              <a:off x="434" y="123"/>
              <a:ext cx="56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20lg|</a:t>
              </a:r>
              <a:r>
                <a:rPr lang="zh-CN" altLang="zh-CN" sz="1800" i="1">
                  <a:solidFill>
                    <a:srgbClr val="000000"/>
                  </a:solidFill>
                  <a:latin typeface="Times New Roman" panose="02020603050405020304" pitchFamily="18" charset="0"/>
                </a:rPr>
                <a:t>A</a:t>
              </a:r>
              <a:r>
                <a:rPr lang="zh-CN" altLang="zh-CN" sz="1800">
                  <a:solidFill>
                    <a:srgbClr val="000000"/>
                  </a:solidFill>
                  <a:latin typeface="Times New Roman" panose="02020603050405020304" pitchFamily="18" charset="0"/>
                </a:rPr>
                <a:t>|</a:t>
              </a:r>
              <a:endParaRPr lang="zh-CN" altLang="zh-CN" sz="1800">
                <a:latin typeface="Times New Roman" panose="02020603050405020304" pitchFamily="18" charset="0"/>
              </a:endParaRPr>
            </a:p>
          </p:txBody>
        </p:sp>
        <p:sp>
          <p:nvSpPr>
            <p:cNvPr id="88084" name="Rectangle 18"/>
            <p:cNvSpPr>
              <a:spLocks noChangeArrowheads="1"/>
            </p:cNvSpPr>
            <p:nvPr/>
          </p:nvSpPr>
          <p:spPr bwMode="auto">
            <a:xfrm>
              <a:off x="795" y="0"/>
              <a:ext cx="5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a:t>
              </a:r>
              <a:endParaRPr lang="zh-CN" altLang="zh-CN" sz="1800">
                <a:latin typeface="Times New Roman" panose="02020603050405020304" pitchFamily="18" charset="0"/>
              </a:endParaRPr>
            </a:p>
          </p:txBody>
        </p:sp>
        <p:sp>
          <p:nvSpPr>
            <p:cNvPr id="88085" name="Rectangle 19"/>
            <p:cNvSpPr>
              <a:spLocks noChangeArrowheads="1"/>
            </p:cNvSpPr>
            <p:nvPr/>
          </p:nvSpPr>
          <p:spPr bwMode="auto">
            <a:xfrm>
              <a:off x="86" y="2092"/>
              <a:ext cx="1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20</a:t>
              </a:r>
              <a:endParaRPr lang="zh-CN" altLang="zh-CN" sz="1800">
                <a:latin typeface="Times New Roman" panose="02020603050405020304" pitchFamily="18" charset="0"/>
              </a:endParaRPr>
            </a:p>
          </p:txBody>
        </p:sp>
        <p:sp>
          <p:nvSpPr>
            <p:cNvPr id="88086" name="Rectangle 20"/>
            <p:cNvSpPr>
              <a:spLocks noChangeArrowheads="1"/>
            </p:cNvSpPr>
            <p:nvPr/>
          </p:nvSpPr>
          <p:spPr bwMode="auto">
            <a:xfrm>
              <a:off x="86" y="1678"/>
              <a:ext cx="1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40</a:t>
              </a:r>
              <a:endParaRPr lang="zh-CN" altLang="zh-CN" sz="1800">
                <a:latin typeface="Times New Roman" panose="02020603050405020304" pitchFamily="18" charset="0"/>
              </a:endParaRPr>
            </a:p>
          </p:txBody>
        </p:sp>
        <p:sp>
          <p:nvSpPr>
            <p:cNvPr id="88087" name="Rectangle 21"/>
            <p:cNvSpPr>
              <a:spLocks noChangeArrowheads="1"/>
            </p:cNvSpPr>
            <p:nvPr/>
          </p:nvSpPr>
          <p:spPr bwMode="auto">
            <a:xfrm>
              <a:off x="86" y="1269"/>
              <a:ext cx="19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60</a:t>
              </a:r>
              <a:endParaRPr lang="zh-CN" altLang="zh-CN" sz="1800">
                <a:latin typeface="Times New Roman" panose="02020603050405020304" pitchFamily="18" charset="0"/>
              </a:endParaRPr>
            </a:p>
          </p:txBody>
        </p:sp>
        <p:sp>
          <p:nvSpPr>
            <p:cNvPr id="88088" name="Rectangle 22"/>
            <p:cNvSpPr>
              <a:spLocks noChangeArrowheads="1"/>
            </p:cNvSpPr>
            <p:nvPr/>
          </p:nvSpPr>
          <p:spPr bwMode="auto">
            <a:xfrm>
              <a:off x="86" y="857"/>
              <a:ext cx="1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80</a:t>
              </a:r>
              <a:endParaRPr lang="zh-CN" altLang="zh-CN" sz="1800">
                <a:latin typeface="Times New Roman" panose="02020603050405020304" pitchFamily="18" charset="0"/>
              </a:endParaRPr>
            </a:p>
          </p:txBody>
        </p:sp>
        <p:sp>
          <p:nvSpPr>
            <p:cNvPr id="88089" name="Rectangle 23"/>
            <p:cNvSpPr>
              <a:spLocks noChangeArrowheads="1"/>
            </p:cNvSpPr>
            <p:nvPr/>
          </p:nvSpPr>
          <p:spPr bwMode="auto">
            <a:xfrm>
              <a:off x="0" y="447"/>
              <a:ext cx="29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100</a:t>
              </a:r>
              <a:endParaRPr lang="zh-CN" altLang="zh-CN" sz="1800">
                <a:latin typeface="Times New Roman" panose="02020603050405020304" pitchFamily="18" charset="0"/>
              </a:endParaRPr>
            </a:p>
          </p:txBody>
        </p:sp>
        <p:sp>
          <p:nvSpPr>
            <p:cNvPr id="88090" name="Rectangle 24"/>
            <p:cNvSpPr>
              <a:spLocks noChangeArrowheads="1"/>
            </p:cNvSpPr>
            <p:nvPr/>
          </p:nvSpPr>
          <p:spPr bwMode="auto">
            <a:xfrm>
              <a:off x="176" y="2417"/>
              <a:ext cx="9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0</a:t>
              </a:r>
              <a:endParaRPr lang="zh-CN" altLang="zh-CN" sz="1800">
                <a:latin typeface="Times New Roman" panose="02020603050405020304" pitchFamily="18" charset="0"/>
              </a:endParaRPr>
            </a:p>
          </p:txBody>
        </p:sp>
        <p:sp>
          <p:nvSpPr>
            <p:cNvPr id="88091" name="Rectangle 25"/>
            <p:cNvSpPr>
              <a:spLocks noChangeArrowheads="1"/>
            </p:cNvSpPr>
            <p:nvPr/>
          </p:nvSpPr>
          <p:spPr bwMode="auto">
            <a:xfrm>
              <a:off x="1302" y="2693"/>
              <a:ext cx="1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10</a:t>
              </a:r>
              <a:endParaRPr lang="zh-CN" altLang="zh-CN" sz="1800">
                <a:latin typeface="Times New Roman" panose="02020603050405020304" pitchFamily="18" charset="0"/>
              </a:endParaRPr>
            </a:p>
          </p:txBody>
        </p:sp>
        <p:sp>
          <p:nvSpPr>
            <p:cNvPr id="88092" name="Rectangle 26"/>
            <p:cNvSpPr>
              <a:spLocks noChangeArrowheads="1"/>
            </p:cNvSpPr>
            <p:nvPr/>
          </p:nvSpPr>
          <p:spPr bwMode="auto">
            <a:xfrm>
              <a:off x="1510" y="2592"/>
              <a:ext cx="9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dirty="0">
                  <a:solidFill>
                    <a:srgbClr val="000000"/>
                  </a:solidFill>
                  <a:latin typeface="Times New Roman" panose="02020603050405020304" pitchFamily="18" charset="0"/>
                </a:rPr>
                <a:t>0</a:t>
              </a:r>
              <a:endParaRPr lang="zh-CN" altLang="zh-CN" sz="1800" dirty="0">
                <a:latin typeface="Times New Roman" panose="02020603050405020304" pitchFamily="18" charset="0"/>
              </a:endParaRPr>
            </a:p>
          </p:txBody>
        </p:sp>
        <p:sp>
          <p:nvSpPr>
            <p:cNvPr id="88093" name="Rectangle 27"/>
            <p:cNvSpPr>
              <a:spLocks noChangeArrowheads="1"/>
            </p:cNvSpPr>
            <p:nvPr/>
          </p:nvSpPr>
          <p:spPr bwMode="auto">
            <a:xfrm>
              <a:off x="2455" y="2692"/>
              <a:ext cx="19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10</a:t>
              </a:r>
              <a:endParaRPr lang="zh-CN" altLang="zh-CN" sz="1800">
                <a:latin typeface="Times New Roman" panose="02020603050405020304" pitchFamily="18" charset="0"/>
              </a:endParaRPr>
            </a:p>
          </p:txBody>
        </p:sp>
        <p:sp>
          <p:nvSpPr>
            <p:cNvPr id="88094" name="Rectangle 28"/>
            <p:cNvSpPr>
              <a:spLocks noChangeArrowheads="1"/>
            </p:cNvSpPr>
            <p:nvPr/>
          </p:nvSpPr>
          <p:spPr bwMode="auto">
            <a:xfrm>
              <a:off x="2634" y="2586"/>
              <a:ext cx="9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a:t>
              </a:r>
              <a:endParaRPr lang="zh-CN" altLang="zh-CN" sz="1800">
                <a:latin typeface="Times New Roman" panose="02020603050405020304" pitchFamily="18" charset="0"/>
              </a:endParaRPr>
            </a:p>
          </p:txBody>
        </p:sp>
        <p:sp>
          <p:nvSpPr>
            <p:cNvPr id="88095" name="Rectangle 29"/>
            <p:cNvSpPr>
              <a:spLocks noChangeArrowheads="1"/>
            </p:cNvSpPr>
            <p:nvPr/>
          </p:nvSpPr>
          <p:spPr bwMode="auto">
            <a:xfrm>
              <a:off x="3580" y="2692"/>
              <a:ext cx="23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10</a:t>
              </a:r>
              <a:endParaRPr lang="zh-CN" altLang="zh-CN" sz="1800">
                <a:latin typeface="Times New Roman" panose="02020603050405020304" pitchFamily="18" charset="0"/>
              </a:endParaRPr>
            </a:p>
          </p:txBody>
        </p:sp>
        <p:sp>
          <p:nvSpPr>
            <p:cNvPr id="88096" name="Rectangle 30"/>
            <p:cNvSpPr>
              <a:spLocks noChangeArrowheads="1"/>
            </p:cNvSpPr>
            <p:nvPr/>
          </p:nvSpPr>
          <p:spPr bwMode="auto">
            <a:xfrm>
              <a:off x="3801" y="2599"/>
              <a:ext cx="9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2</a:t>
              </a:r>
              <a:endParaRPr lang="zh-CN" altLang="zh-CN" sz="1800">
                <a:latin typeface="Times New Roman" panose="02020603050405020304" pitchFamily="18" charset="0"/>
              </a:endParaRPr>
            </a:p>
          </p:txBody>
        </p:sp>
        <p:sp>
          <p:nvSpPr>
            <p:cNvPr id="88097" name="Rectangle 31"/>
            <p:cNvSpPr>
              <a:spLocks noChangeArrowheads="1"/>
            </p:cNvSpPr>
            <p:nvPr/>
          </p:nvSpPr>
          <p:spPr bwMode="auto">
            <a:xfrm>
              <a:off x="4766" y="2692"/>
              <a:ext cx="197"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10</a:t>
              </a:r>
              <a:endParaRPr lang="zh-CN" altLang="zh-CN" sz="1800">
                <a:latin typeface="Times New Roman" panose="02020603050405020304" pitchFamily="18" charset="0"/>
              </a:endParaRPr>
            </a:p>
          </p:txBody>
        </p:sp>
        <p:sp>
          <p:nvSpPr>
            <p:cNvPr id="88098" name="Rectangle 32"/>
            <p:cNvSpPr>
              <a:spLocks noChangeArrowheads="1"/>
            </p:cNvSpPr>
            <p:nvPr/>
          </p:nvSpPr>
          <p:spPr bwMode="auto">
            <a:xfrm>
              <a:off x="4973" y="2601"/>
              <a:ext cx="9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3</a:t>
              </a:r>
              <a:endParaRPr lang="zh-CN" altLang="zh-CN" sz="1800">
                <a:latin typeface="Times New Roman" panose="02020603050405020304" pitchFamily="18" charset="0"/>
              </a:endParaRPr>
            </a:p>
          </p:txBody>
        </p:sp>
        <p:sp>
          <p:nvSpPr>
            <p:cNvPr id="88099" name="Rectangle 33"/>
            <p:cNvSpPr>
              <a:spLocks noChangeArrowheads="1"/>
            </p:cNvSpPr>
            <p:nvPr/>
          </p:nvSpPr>
          <p:spPr bwMode="auto">
            <a:xfrm>
              <a:off x="6281" y="2640"/>
              <a:ext cx="236"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i="1">
                  <a:solidFill>
                    <a:srgbClr val="000000"/>
                  </a:solidFill>
                  <a:latin typeface="Times New Roman" panose="02020603050405020304" pitchFamily="18" charset="0"/>
                </a:rPr>
                <a:t>f</a:t>
              </a:r>
              <a:endParaRPr lang="zh-CN" altLang="zh-CN" sz="1800">
                <a:latin typeface="Times New Roman" panose="02020603050405020304" pitchFamily="18" charset="0"/>
              </a:endParaRPr>
            </a:p>
          </p:txBody>
        </p:sp>
        <p:sp>
          <p:nvSpPr>
            <p:cNvPr id="88100" name="Line 34"/>
            <p:cNvSpPr>
              <a:spLocks noChangeShapeType="1"/>
            </p:cNvSpPr>
            <p:nvPr/>
          </p:nvSpPr>
          <p:spPr bwMode="auto">
            <a:xfrm>
              <a:off x="329" y="547"/>
              <a:ext cx="2197" cy="1"/>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101" name="Rectangle 35"/>
            <p:cNvSpPr>
              <a:spLocks noChangeArrowheads="1"/>
            </p:cNvSpPr>
            <p:nvPr/>
          </p:nvSpPr>
          <p:spPr bwMode="auto">
            <a:xfrm>
              <a:off x="3171" y="478"/>
              <a:ext cx="1255"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-20dB/10</a:t>
              </a:r>
              <a:r>
                <a:rPr lang="zh-CN" altLang="zh-CN" sz="1800">
                  <a:solidFill>
                    <a:srgbClr val="000000"/>
                  </a:solidFill>
                  <a:latin typeface="宋体" panose="02010600030101010101" pitchFamily="2" charset="-122"/>
                </a:rPr>
                <a:t>倍频</a:t>
              </a:r>
              <a:endParaRPr lang="zh-CN" altLang="zh-CN" sz="1800">
                <a:latin typeface="Times New Roman" panose="02020603050405020304" pitchFamily="18" charset="0"/>
              </a:endParaRPr>
            </a:p>
          </p:txBody>
        </p:sp>
        <p:sp>
          <p:nvSpPr>
            <p:cNvPr id="88102" name="Rectangle 36"/>
            <p:cNvSpPr>
              <a:spLocks noChangeArrowheads="1"/>
            </p:cNvSpPr>
            <p:nvPr/>
          </p:nvSpPr>
          <p:spPr bwMode="auto">
            <a:xfrm>
              <a:off x="4373" y="1125"/>
              <a:ext cx="118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-40dB/10</a:t>
              </a:r>
              <a:r>
                <a:rPr lang="zh-CN" altLang="zh-CN" sz="1800">
                  <a:solidFill>
                    <a:srgbClr val="000000"/>
                  </a:solidFill>
                  <a:latin typeface="宋体" panose="02010600030101010101" pitchFamily="2" charset="-122"/>
                </a:rPr>
                <a:t>倍频</a:t>
              </a:r>
              <a:endParaRPr lang="zh-CN" altLang="zh-CN" sz="1800">
                <a:latin typeface="Times New Roman" panose="02020603050405020304" pitchFamily="18" charset="0"/>
              </a:endParaRPr>
            </a:p>
          </p:txBody>
        </p:sp>
        <p:sp>
          <p:nvSpPr>
            <p:cNvPr id="88103" name="Line 37"/>
            <p:cNvSpPr>
              <a:spLocks noChangeShapeType="1"/>
            </p:cNvSpPr>
            <p:nvPr/>
          </p:nvSpPr>
          <p:spPr bwMode="auto">
            <a:xfrm>
              <a:off x="3705" y="960"/>
              <a:ext cx="1156" cy="834"/>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104" name="Line 38"/>
            <p:cNvSpPr>
              <a:spLocks noChangeShapeType="1"/>
            </p:cNvSpPr>
            <p:nvPr/>
          </p:nvSpPr>
          <p:spPr bwMode="auto">
            <a:xfrm>
              <a:off x="2547" y="549"/>
              <a:ext cx="1152" cy="411"/>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105" name="Line 39"/>
            <p:cNvSpPr>
              <a:spLocks noChangeShapeType="1"/>
            </p:cNvSpPr>
            <p:nvPr/>
          </p:nvSpPr>
          <p:spPr bwMode="auto">
            <a:xfrm>
              <a:off x="4857" y="1790"/>
              <a:ext cx="908" cy="865"/>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106" name="Rectangle 40"/>
            <p:cNvSpPr>
              <a:spLocks noChangeArrowheads="1"/>
            </p:cNvSpPr>
            <p:nvPr/>
          </p:nvSpPr>
          <p:spPr bwMode="auto">
            <a:xfrm>
              <a:off x="2713" y="348"/>
              <a:ext cx="26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-45</a:t>
              </a:r>
              <a:endParaRPr lang="zh-CN" altLang="zh-CN" sz="1800">
                <a:latin typeface="Times New Roman" panose="02020603050405020304" pitchFamily="18" charset="0"/>
              </a:endParaRPr>
            </a:p>
          </p:txBody>
        </p:sp>
        <p:sp>
          <p:nvSpPr>
            <p:cNvPr id="88107" name="Rectangle 41"/>
            <p:cNvSpPr>
              <a:spLocks noChangeArrowheads="1"/>
            </p:cNvSpPr>
            <p:nvPr/>
          </p:nvSpPr>
          <p:spPr bwMode="auto">
            <a:xfrm>
              <a:off x="2950" y="296"/>
              <a:ext cx="198"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宋体" panose="02010600030101010101" pitchFamily="2" charset="-122"/>
                </a:rPr>
                <a:t>°</a:t>
              </a:r>
              <a:endParaRPr lang="zh-CN" altLang="zh-CN" sz="1800">
                <a:latin typeface="Times New Roman" panose="02020603050405020304" pitchFamily="18" charset="0"/>
              </a:endParaRPr>
            </a:p>
          </p:txBody>
        </p:sp>
        <p:sp>
          <p:nvSpPr>
            <p:cNvPr id="88108" name="Rectangle 42"/>
            <p:cNvSpPr>
              <a:spLocks noChangeArrowheads="1"/>
            </p:cNvSpPr>
            <p:nvPr/>
          </p:nvSpPr>
          <p:spPr bwMode="auto">
            <a:xfrm>
              <a:off x="3886" y="815"/>
              <a:ext cx="40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-135</a:t>
              </a:r>
              <a:endParaRPr lang="zh-CN" altLang="zh-CN" sz="1800">
                <a:latin typeface="Times New Roman" panose="02020603050405020304" pitchFamily="18" charset="0"/>
              </a:endParaRPr>
            </a:p>
          </p:txBody>
        </p:sp>
        <p:sp>
          <p:nvSpPr>
            <p:cNvPr id="88109" name="Rectangle 43"/>
            <p:cNvSpPr>
              <a:spLocks noChangeArrowheads="1"/>
            </p:cNvSpPr>
            <p:nvPr/>
          </p:nvSpPr>
          <p:spPr bwMode="auto">
            <a:xfrm>
              <a:off x="4216" y="807"/>
              <a:ext cx="198"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宋体" panose="02010600030101010101" pitchFamily="2" charset="-122"/>
                </a:rPr>
                <a:t>°</a:t>
              </a:r>
              <a:endParaRPr lang="zh-CN" altLang="zh-CN" sz="1800">
                <a:latin typeface="Times New Roman" panose="02020603050405020304" pitchFamily="18" charset="0"/>
              </a:endParaRPr>
            </a:p>
          </p:txBody>
        </p:sp>
        <p:sp>
          <p:nvSpPr>
            <p:cNvPr id="88110" name="Rectangle 44"/>
            <p:cNvSpPr>
              <a:spLocks noChangeArrowheads="1"/>
            </p:cNvSpPr>
            <p:nvPr/>
          </p:nvSpPr>
          <p:spPr bwMode="auto">
            <a:xfrm>
              <a:off x="4956" y="1595"/>
              <a:ext cx="42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Times New Roman" panose="02020603050405020304" pitchFamily="18" charset="0"/>
                </a:rPr>
                <a:t>-225</a:t>
              </a:r>
              <a:endParaRPr lang="zh-CN" altLang="zh-CN" sz="1800">
                <a:latin typeface="Times New Roman" panose="02020603050405020304" pitchFamily="18" charset="0"/>
              </a:endParaRPr>
            </a:p>
          </p:txBody>
        </p:sp>
        <p:sp>
          <p:nvSpPr>
            <p:cNvPr id="88111" name="Rectangle 45"/>
            <p:cNvSpPr>
              <a:spLocks noChangeArrowheads="1"/>
            </p:cNvSpPr>
            <p:nvPr/>
          </p:nvSpPr>
          <p:spPr bwMode="auto">
            <a:xfrm>
              <a:off x="5296" y="1552"/>
              <a:ext cx="197"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800">
                  <a:solidFill>
                    <a:srgbClr val="000000"/>
                  </a:solidFill>
                  <a:latin typeface="宋体" panose="02010600030101010101" pitchFamily="2" charset="-122"/>
                </a:rPr>
                <a:t>°</a:t>
              </a:r>
              <a:endParaRPr lang="zh-CN" altLang="zh-CN" sz="1800">
                <a:latin typeface="Times New Roman" panose="02020603050405020304" pitchFamily="18" charset="0"/>
              </a:endParaRPr>
            </a:p>
          </p:txBody>
        </p:sp>
        <p:sp>
          <p:nvSpPr>
            <p:cNvPr id="88112" name="Freeform 46"/>
            <p:cNvSpPr>
              <a:spLocks noEditPoints="1"/>
            </p:cNvSpPr>
            <p:nvPr/>
          </p:nvSpPr>
          <p:spPr bwMode="auto">
            <a:xfrm>
              <a:off x="2548" y="543"/>
              <a:ext cx="1" cy="2002"/>
            </a:xfrm>
            <a:custGeom>
              <a:avLst/>
              <a:gdLst>
                <a:gd name="T0" fmla="*/ 0 w 50"/>
                <a:gd name="T1" fmla="*/ 0 h 9300"/>
                <a:gd name="T2" fmla="*/ 0 w 50"/>
                <a:gd name="T3" fmla="*/ 0 h 9300"/>
                <a:gd name="T4" fmla="*/ 0 w 50"/>
                <a:gd name="T5" fmla="*/ 0 h 9300"/>
                <a:gd name="T6" fmla="*/ 0 w 50"/>
                <a:gd name="T7" fmla="*/ 0 h 9300"/>
                <a:gd name="T8" fmla="*/ 0 w 50"/>
                <a:gd name="T9" fmla="*/ 0 h 9300"/>
                <a:gd name="T10" fmla="*/ 0 w 50"/>
                <a:gd name="T11" fmla="*/ 0 h 9300"/>
                <a:gd name="T12" fmla="*/ 0 w 50"/>
                <a:gd name="T13" fmla="*/ 0 h 9300"/>
                <a:gd name="T14" fmla="*/ 0 w 50"/>
                <a:gd name="T15" fmla="*/ 0 h 9300"/>
                <a:gd name="T16" fmla="*/ 0 w 50"/>
                <a:gd name="T17" fmla="*/ 0 h 9300"/>
                <a:gd name="T18" fmla="*/ 0 w 50"/>
                <a:gd name="T19" fmla="*/ 0 h 9300"/>
                <a:gd name="T20" fmla="*/ 0 w 50"/>
                <a:gd name="T21" fmla="*/ 0 h 9300"/>
                <a:gd name="T22" fmla="*/ 0 w 50"/>
                <a:gd name="T23" fmla="*/ 0 h 9300"/>
                <a:gd name="T24" fmla="*/ 0 w 50"/>
                <a:gd name="T25" fmla="*/ 0 h 9300"/>
                <a:gd name="T26" fmla="*/ 0 w 50"/>
                <a:gd name="T27" fmla="*/ 0 h 9300"/>
                <a:gd name="T28" fmla="*/ 0 w 50"/>
                <a:gd name="T29" fmla="*/ 0 h 9300"/>
                <a:gd name="T30" fmla="*/ 0 w 50"/>
                <a:gd name="T31" fmla="*/ 0 h 9300"/>
                <a:gd name="T32" fmla="*/ 0 w 50"/>
                <a:gd name="T33" fmla="*/ 0 h 9300"/>
                <a:gd name="T34" fmla="*/ 0 w 50"/>
                <a:gd name="T35" fmla="*/ 0 h 9300"/>
                <a:gd name="T36" fmla="*/ 0 w 50"/>
                <a:gd name="T37" fmla="*/ 0 h 9300"/>
                <a:gd name="T38" fmla="*/ 0 w 50"/>
                <a:gd name="T39" fmla="*/ 0 h 9300"/>
                <a:gd name="T40" fmla="*/ 0 w 50"/>
                <a:gd name="T41" fmla="*/ 0 h 9300"/>
                <a:gd name="T42" fmla="*/ 0 w 50"/>
                <a:gd name="T43" fmla="*/ 0 h 9300"/>
                <a:gd name="T44" fmla="*/ 0 w 50"/>
                <a:gd name="T45" fmla="*/ 0 h 9300"/>
                <a:gd name="T46" fmla="*/ 0 w 50"/>
                <a:gd name="T47" fmla="*/ 0 h 9300"/>
                <a:gd name="T48" fmla="*/ 0 w 50"/>
                <a:gd name="T49" fmla="*/ 0 h 9300"/>
                <a:gd name="T50" fmla="*/ 0 w 50"/>
                <a:gd name="T51" fmla="*/ 0 h 9300"/>
                <a:gd name="T52" fmla="*/ 0 w 50"/>
                <a:gd name="T53" fmla="*/ 0 h 9300"/>
                <a:gd name="T54" fmla="*/ 0 w 50"/>
                <a:gd name="T55" fmla="*/ 0 h 9300"/>
                <a:gd name="T56" fmla="*/ 0 w 50"/>
                <a:gd name="T57" fmla="*/ 0 h 9300"/>
                <a:gd name="T58" fmla="*/ 0 w 50"/>
                <a:gd name="T59" fmla="*/ 0 h 9300"/>
                <a:gd name="T60" fmla="*/ 0 w 50"/>
                <a:gd name="T61" fmla="*/ 0 h 9300"/>
                <a:gd name="T62" fmla="*/ 0 w 50"/>
                <a:gd name="T63" fmla="*/ 0 h 9300"/>
                <a:gd name="T64" fmla="*/ 0 w 50"/>
                <a:gd name="T65" fmla="*/ 0 h 9300"/>
                <a:gd name="T66" fmla="*/ 0 w 50"/>
                <a:gd name="T67" fmla="*/ 0 h 9300"/>
                <a:gd name="T68" fmla="*/ 0 w 50"/>
                <a:gd name="T69" fmla="*/ 0 h 9300"/>
                <a:gd name="T70" fmla="*/ 0 w 50"/>
                <a:gd name="T71" fmla="*/ 0 h 9300"/>
                <a:gd name="T72" fmla="*/ 0 w 50"/>
                <a:gd name="T73" fmla="*/ 0 h 9300"/>
                <a:gd name="T74" fmla="*/ 0 w 50"/>
                <a:gd name="T75" fmla="*/ 0 h 9300"/>
                <a:gd name="T76" fmla="*/ 0 w 50"/>
                <a:gd name="T77" fmla="*/ 0 h 9300"/>
                <a:gd name="T78" fmla="*/ 0 w 50"/>
                <a:gd name="T79" fmla="*/ 0 h 9300"/>
                <a:gd name="T80" fmla="*/ 0 w 50"/>
                <a:gd name="T81" fmla="*/ 0 h 9300"/>
                <a:gd name="T82" fmla="*/ 0 w 50"/>
                <a:gd name="T83" fmla="*/ 0 h 9300"/>
                <a:gd name="T84" fmla="*/ 0 w 50"/>
                <a:gd name="T85" fmla="*/ 0 h 9300"/>
                <a:gd name="T86" fmla="*/ 0 w 50"/>
                <a:gd name="T87" fmla="*/ 0 h 9300"/>
                <a:gd name="T88" fmla="*/ 0 w 50"/>
                <a:gd name="T89" fmla="*/ 0 h 9300"/>
                <a:gd name="T90" fmla="*/ 0 w 50"/>
                <a:gd name="T91" fmla="*/ 0 h 9300"/>
                <a:gd name="T92" fmla="*/ 0 w 50"/>
                <a:gd name="T93" fmla="*/ 0 h 9300"/>
                <a:gd name="T94" fmla="*/ 0 w 50"/>
                <a:gd name="T95" fmla="*/ 0 h 9300"/>
                <a:gd name="T96" fmla="*/ 0 w 50"/>
                <a:gd name="T97" fmla="*/ 0 h 9300"/>
                <a:gd name="T98" fmla="*/ 0 w 50"/>
                <a:gd name="T99" fmla="*/ 0 h 9300"/>
                <a:gd name="T100" fmla="*/ 0 w 50"/>
                <a:gd name="T101" fmla="*/ 0 h 9300"/>
                <a:gd name="T102" fmla="*/ 0 w 50"/>
                <a:gd name="T103" fmla="*/ 0 h 9300"/>
                <a:gd name="T104" fmla="*/ 0 w 50"/>
                <a:gd name="T105" fmla="*/ 0 h 9300"/>
                <a:gd name="T106" fmla="*/ 0 w 50"/>
                <a:gd name="T107" fmla="*/ 0 h 9300"/>
                <a:gd name="T108" fmla="*/ 0 w 50"/>
                <a:gd name="T109" fmla="*/ 0 h 9300"/>
                <a:gd name="T110" fmla="*/ 0 w 50"/>
                <a:gd name="T111" fmla="*/ 0 h 9300"/>
                <a:gd name="T112" fmla="*/ 0 w 50"/>
                <a:gd name="T113" fmla="*/ 0 h 9300"/>
                <a:gd name="T114" fmla="*/ 0 w 50"/>
                <a:gd name="T115" fmla="*/ 0 h 9300"/>
                <a:gd name="T116" fmla="*/ 0 w 50"/>
                <a:gd name="T117" fmla="*/ 0 h 9300"/>
                <a:gd name="T118" fmla="*/ 0 w 50"/>
                <a:gd name="T119" fmla="*/ 0 h 9300"/>
                <a:gd name="T120" fmla="*/ 0 w 50"/>
                <a:gd name="T121" fmla="*/ 0 h 9300"/>
                <a:gd name="T122" fmla="*/ 0 w 50"/>
                <a:gd name="T123" fmla="*/ 0 h 9300"/>
                <a:gd name="T124" fmla="*/ 0 w 50"/>
                <a:gd name="T125" fmla="*/ 0 h 9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0"/>
                <a:gd name="T190" fmla="*/ 0 h 9300"/>
                <a:gd name="T191" fmla="*/ 50 w 50"/>
                <a:gd name="T192" fmla="*/ 9300 h 930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0" h="9300">
                  <a:moveTo>
                    <a:pt x="50" y="25"/>
                  </a:moveTo>
                  <a:lnTo>
                    <a:pt x="50" y="175"/>
                  </a:lnTo>
                  <a:cubicBezTo>
                    <a:pt x="50" y="189"/>
                    <a:pt x="39" y="200"/>
                    <a:pt x="25" y="200"/>
                  </a:cubicBezTo>
                  <a:cubicBezTo>
                    <a:pt x="11" y="200"/>
                    <a:pt x="0" y="189"/>
                    <a:pt x="0" y="175"/>
                  </a:cubicBezTo>
                  <a:lnTo>
                    <a:pt x="0" y="25"/>
                  </a:lnTo>
                  <a:cubicBezTo>
                    <a:pt x="0" y="11"/>
                    <a:pt x="11" y="0"/>
                    <a:pt x="25" y="0"/>
                  </a:cubicBezTo>
                  <a:cubicBezTo>
                    <a:pt x="39" y="0"/>
                    <a:pt x="50" y="11"/>
                    <a:pt x="50" y="25"/>
                  </a:cubicBezTo>
                  <a:close/>
                  <a:moveTo>
                    <a:pt x="50" y="375"/>
                  </a:moveTo>
                  <a:lnTo>
                    <a:pt x="50" y="525"/>
                  </a:lnTo>
                  <a:cubicBezTo>
                    <a:pt x="50" y="539"/>
                    <a:pt x="39" y="550"/>
                    <a:pt x="25" y="550"/>
                  </a:cubicBezTo>
                  <a:cubicBezTo>
                    <a:pt x="11" y="550"/>
                    <a:pt x="0" y="539"/>
                    <a:pt x="0" y="525"/>
                  </a:cubicBezTo>
                  <a:lnTo>
                    <a:pt x="0" y="375"/>
                  </a:lnTo>
                  <a:cubicBezTo>
                    <a:pt x="0" y="361"/>
                    <a:pt x="11" y="350"/>
                    <a:pt x="25" y="350"/>
                  </a:cubicBezTo>
                  <a:cubicBezTo>
                    <a:pt x="39" y="350"/>
                    <a:pt x="50" y="361"/>
                    <a:pt x="50" y="375"/>
                  </a:cubicBezTo>
                  <a:close/>
                  <a:moveTo>
                    <a:pt x="50" y="725"/>
                  </a:moveTo>
                  <a:lnTo>
                    <a:pt x="50" y="875"/>
                  </a:lnTo>
                  <a:cubicBezTo>
                    <a:pt x="50" y="889"/>
                    <a:pt x="39" y="900"/>
                    <a:pt x="25" y="900"/>
                  </a:cubicBezTo>
                  <a:cubicBezTo>
                    <a:pt x="11" y="900"/>
                    <a:pt x="0" y="889"/>
                    <a:pt x="0" y="875"/>
                  </a:cubicBezTo>
                  <a:lnTo>
                    <a:pt x="0" y="725"/>
                  </a:lnTo>
                  <a:cubicBezTo>
                    <a:pt x="0" y="711"/>
                    <a:pt x="11" y="700"/>
                    <a:pt x="25" y="700"/>
                  </a:cubicBezTo>
                  <a:cubicBezTo>
                    <a:pt x="39" y="700"/>
                    <a:pt x="50" y="711"/>
                    <a:pt x="50" y="725"/>
                  </a:cubicBezTo>
                  <a:close/>
                  <a:moveTo>
                    <a:pt x="50" y="1075"/>
                  </a:moveTo>
                  <a:lnTo>
                    <a:pt x="50" y="1225"/>
                  </a:lnTo>
                  <a:cubicBezTo>
                    <a:pt x="50" y="1239"/>
                    <a:pt x="39" y="1250"/>
                    <a:pt x="25" y="1250"/>
                  </a:cubicBezTo>
                  <a:cubicBezTo>
                    <a:pt x="11" y="1250"/>
                    <a:pt x="0" y="1239"/>
                    <a:pt x="0" y="1225"/>
                  </a:cubicBezTo>
                  <a:lnTo>
                    <a:pt x="0" y="1075"/>
                  </a:lnTo>
                  <a:cubicBezTo>
                    <a:pt x="0" y="1061"/>
                    <a:pt x="11" y="1050"/>
                    <a:pt x="25" y="1050"/>
                  </a:cubicBezTo>
                  <a:cubicBezTo>
                    <a:pt x="39" y="1050"/>
                    <a:pt x="50" y="1061"/>
                    <a:pt x="50" y="1075"/>
                  </a:cubicBezTo>
                  <a:close/>
                  <a:moveTo>
                    <a:pt x="50" y="1425"/>
                  </a:moveTo>
                  <a:lnTo>
                    <a:pt x="50" y="1575"/>
                  </a:lnTo>
                  <a:cubicBezTo>
                    <a:pt x="50" y="1589"/>
                    <a:pt x="39" y="1600"/>
                    <a:pt x="25" y="1600"/>
                  </a:cubicBezTo>
                  <a:cubicBezTo>
                    <a:pt x="11" y="1600"/>
                    <a:pt x="0" y="1589"/>
                    <a:pt x="0" y="1575"/>
                  </a:cubicBezTo>
                  <a:lnTo>
                    <a:pt x="0" y="1425"/>
                  </a:lnTo>
                  <a:cubicBezTo>
                    <a:pt x="0" y="1411"/>
                    <a:pt x="11" y="1400"/>
                    <a:pt x="25" y="1400"/>
                  </a:cubicBezTo>
                  <a:cubicBezTo>
                    <a:pt x="39" y="1400"/>
                    <a:pt x="50" y="1411"/>
                    <a:pt x="50" y="1425"/>
                  </a:cubicBezTo>
                  <a:close/>
                  <a:moveTo>
                    <a:pt x="50" y="1775"/>
                  </a:moveTo>
                  <a:lnTo>
                    <a:pt x="50" y="1925"/>
                  </a:lnTo>
                  <a:cubicBezTo>
                    <a:pt x="50" y="1939"/>
                    <a:pt x="39" y="1950"/>
                    <a:pt x="25" y="1950"/>
                  </a:cubicBezTo>
                  <a:cubicBezTo>
                    <a:pt x="11" y="1950"/>
                    <a:pt x="0" y="1939"/>
                    <a:pt x="0" y="1925"/>
                  </a:cubicBezTo>
                  <a:lnTo>
                    <a:pt x="0" y="1775"/>
                  </a:lnTo>
                  <a:cubicBezTo>
                    <a:pt x="0" y="1761"/>
                    <a:pt x="11" y="1750"/>
                    <a:pt x="25" y="1750"/>
                  </a:cubicBezTo>
                  <a:cubicBezTo>
                    <a:pt x="39" y="1750"/>
                    <a:pt x="50" y="1761"/>
                    <a:pt x="50" y="1775"/>
                  </a:cubicBezTo>
                  <a:close/>
                  <a:moveTo>
                    <a:pt x="50" y="2125"/>
                  </a:moveTo>
                  <a:lnTo>
                    <a:pt x="50" y="2275"/>
                  </a:lnTo>
                  <a:cubicBezTo>
                    <a:pt x="50" y="2289"/>
                    <a:pt x="39" y="2300"/>
                    <a:pt x="25" y="2300"/>
                  </a:cubicBezTo>
                  <a:cubicBezTo>
                    <a:pt x="11" y="2300"/>
                    <a:pt x="0" y="2289"/>
                    <a:pt x="0" y="2275"/>
                  </a:cubicBezTo>
                  <a:lnTo>
                    <a:pt x="0" y="2125"/>
                  </a:lnTo>
                  <a:cubicBezTo>
                    <a:pt x="0" y="2111"/>
                    <a:pt x="11" y="2100"/>
                    <a:pt x="25" y="2100"/>
                  </a:cubicBezTo>
                  <a:cubicBezTo>
                    <a:pt x="39" y="2100"/>
                    <a:pt x="50" y="2111"/>
                    <a:pt x="50" y="2125"/>
                  </a:cubicBezTo>
                  <a:close/>
                  <a:moveTo>
                    <a:pt x="50" y="2475"/>
                  </a:moveTo>
                  <a:lnTo>
                    <a:pt x="50" y="2625"/>
                  </a:lnTo>
                  <a:cubicBezTo>
                    <a:pt x="50" y="2639"/>
                    <a:pt x="39" y="2650"/>
                    <a:pt x="25" y="2650"/>
                  </a:cubicBezTo>
                  <a:cubicBezTo>
                    <a:pt x="11" y="2650"/>
                    <a:pt x="0" y="2639"/>
                    <a:pt x="0" y="2625"/>
                  </a:cubicBezTo>
                  <a:lnTo>
                    <a:pt x="0" y="2475"/>
                  </a:lnTo>
                  <a:cubicBezTo>
                    <a:pt x="0" y="2461"/>
                    <a:pt x="11" y="2450"/>
                    <a:pt x="25" y="2450"/>
                  </a:cubicBezTo>
                  <a:cubicBezTo>
                    <a:pt x="39" y="2450"/>
                    <a:pt x="50" y="2461"/>
                    <a:pt x="50" y="2475"/>
                  </a:cubicBezTo>
                  <a:close/>
                  <a:moveTo>
                    <a:pt x="50" y="2825"/>
                  </a:moveTo>
                  <a:lnTo>
                    <a:pt x="50" y="2975"/>
                  </a:lnTo>
                  <a:cubicBezTo>
                    <a:pt x="50" y="2989"/>
                    <a:pt x="39" y="3000"/>
                    <a:pt x="25" y="3000"/>
                  </a:cubicBezTo>
                  <a:cubicBezTo>
                    <a:pt x="11" y="3000"/>
                    <a:pt x="0" y="2989"/>
                    <a:pt x="0" y="2975"/>
                  </a:cubicBezTo>
                  <a:lnTo>
                    <a:pt x="0" y="2825"/>
                  </a:lnTo>
                  <a:cubicBezTo>
                    <a:pt x="0" y="2811"/>
                    <a:pt x="11" y="2800"/>
                    <a:pt x="25" y="2800"/>
                  </a:cubicBezTo>
                  <a:cubicBezTo>
                    <a:pt x="39" y="2800"/>
                    <a:pt x="50" y="2811"/>
                    <a:pt x="50" y="2825"/>
                  </a:cubicBezTo>
                  <a:close/>
                  <a:moveTo>
                    <a:pt x="50" y="3175"/>
                  </a:moveTo>
                  <a:lnTo>
                    <a:pt x="50" y="3325"/>
                  </a:lnTo>
                  <a:cubicBezTo>
                    <a:pt x="50" y="3339"/>
                    <a:pt x="39" y="3350"/>
                    <a:pt x="25" y="3350"/>
                  </a:cubicBezTo>
                  <a:cubicBezTo>
                    <a:pt x="11" y="3350"/>
                    <a:pt x="0" y="3339"/>
                    <a:pt x="0" y="3325"/>
                  </a:cubicBezTo>
                  <a:lnTo>
                    <a:pt x="0" y="3175"/>
                  </a:lnTo>
                  <a:cubicBezTo>
                    <a:pt x="0" y="3161"/>
                    <a:pt x="11" y="3150"/>
                    <a:pt x="25" y="3150"/>
                  </a:cubicBezTo>
                  <a:cubicBezTo>
                    <a:pt x="39" y="3150"/>
                    <a:pt x="50" y="3161"/>
                    <a:pt x="50" y="3175"/>
                  </a:cubicBezTo>
                  <a:close/>
                  <a:moveTo>
                    <a:pt x="50" y="3525"/>
                  </a:moveTo>
                  <a:lnTo>
                    <a:pt x="50" y="3675"/>
                  </a:lnTo>
                  <a:cubicBezTo>
                    <a:pt x="50" y="3689"/>
                    <a:pt x="39" y="3700"/>
                    <a:pt x="25" y="3700"/>
                  </a:cubicBezTo>
                  <a:cubicBezTo>
                    <a:pt x="11" y="3700"/>
                    <a:pt x="0" y="3689"/>
                    <a:pt x="0" y="3675"/>
                  </a:cubicBezTo>
                  <a:lnTo>
                    <a:pt x="0" y="3525"/>
                  </a:lnTo>
                  <a:cubicBezTo>
                    <a:pt x="0" y="3511"/>
                    <a:pt x="11" y="3500"/>
                    <a:pt x="25" y="3500"/>
                  </a:cubicBezTo>
                  <a:cubicBezTo>
                    <a:pt x="39" y="3500"/>
                    <a:pt x="50" y="3511"/>
                    <a:pt x="50" y="3525"/>
                  </a:cubicBezTo>
                  <a:close/>
                  <a:moveTo>
                    <a:pt x="50" y="3875"/>
                  </a:moveTo>
                  <a:lnTo>
                    <a:pt x="50" y="4025"/>
                  </a:lnTo>
                  <a:cubicBezTo>
                    <a:pt x="50" y="4039"/>
                    <a:pt x="39" y="4050"/>
                    <a:pt x="25" y="4050"/>
                  </a:cubicBezTo>
                  <a:cubicBezTo>
                    <a:pt x="11" y="4050"/>
                    <a:pt x="0" y="4039"/>
                    <a:pt x="0" y="4025"/>
                  </a:cubicBezTo>
                  <a:lnTo>
                    <a:pt x="0" y="3875"/>
                  </a:lnTo>
                  <a:cubicBezTo>
                    <a:pt x="0" y="3861"/>
                    <a:pt x="11" y="3850"/>
                    <a:pt x="25" y="3850"/>
                  </a:cubicBezTo>
                  <a:cubicBezTo>
                    <a:pt x="39" y="3850"/>
                    <a:pt x="50" y="3861"/>
                    <a:pt x="50" y="3875"/>
                  </a:cubicBezTo>
                  <a:close/>
                  <a:moveTo>
                    <a:pt x="50" y="4225"/>
                  </a:moveTo>
                  <a:lnTo>
                    <a:pt x="50" y="4375"/>
                  </a:lnTo>
                  <a:cubicBezTo>
                    <a:pt x="50" y="4389"/>
                    <a:pt x="39" y="4400"/>
                    <a:pt x="25" y="4400"/>
                  </a:cubicBezTo>
                  <a:cubicBezTo>
                    <a:pt x="11" y="4400"/>
                    <a:pt x="0" y="4389"/>
                    <a:pt x="0" y="4375"/>
                  </a:cubicBezTo>
                  <a:lnTo>
                    <a:pt x="0" y="4225"/>
                  </a:lnTo>
                  <a:cubicBezTo>
                    <a:pt x="0" y="4211"/>
                    <a:pt x="11" y="4200"/>
                    <a:pt x="25" y="4200"/>
                  </a:cubicBezTo>
                  <a:cubicBezTo>
                    <a:pt x="39" y="4200"/>
                    <a:pt x="50" y="4211"/>
                    <a:pt x="50" y="4225"/>
                  </a:cubicBezTo>
                  <a:close/>
                  <a:moveTo>
                    <a:pt x="50" y="4575"/>
                  </a:moveTo>
                  <a:lnTo>
                    <a:pt x="50" y="4725"/>
                  </a:lnTo>
                  <a:cubicBezTo>
                    <a:pt x="50" y="4739"/>
                    <a:pt x="39" y="4750"/>
                    <a:pt x="25" y="4750"/>
                  </a:cubicBezTo>
                  <a:cubicBezTo>
                    <a:pt x="11" y="4750"/>
                    <a:pt x="0" y="4739"/>
                    <a:pt x="0" y="4725"/>
                  </a:cubicBezTo>
                  <a:lnTo>
                    <a:pt x="0" y="4575"/>
                  </a:lnTo>
                  <a:cubicBezTo>
                    <a:pt x="0" y="4561"/>
                    <a:pt x="11" y="4550"/>
                    <a:pt x="25" y="4550"/>
                  </a:cubicBezTo>
                  <a:cubicBezTo>
                    <a:pt x="39" y="4550"/>
                    <a:pt x="50" y="4561"/>
                    <a:pt x="50" y="4575"/>
                  </a:cubicBezTo>
                  <a:close/>
                  <a:moveTo>
                    <a:pt x="50" y="4925"/>
                  </a:moveTo>
                  <a:lnTo>
                    <a:pt x="50" y="5075"/>
                  </a:lnTo>
                  <a:cubicBezTo>
                    <a:pt x="50" y="5089"/>
                    <a:pt x="39" y="5100"/>
                    <a:pt x="25" y="5100"/>
                  </a:cubicBezTo>
                  <a:cubicBezTo>
                    <a:pt x="11" y="5100"/>
                    <a:pt x="0" y="5089"/>
                    <a:pt x="0" y="5075"/>
                  </a:cubicBezTo>
                  <a:lnTo>
                    <a:pt x="0" y="4925"/>
                  </a:lnTo>
                  <a:cubicBezTo>
                    <a:pt x="0" y="4911"/>
                    <a:pt x="11" y="4900"/>
                    <a:pt x="25" y="4900"/>
                  </a:cubicBezTo>
                  <a:cubicBezTo>
                    <a:pt x="39" y="4900"/>
                    <a:pt x="50" y="4911"/>
                    <a:pt x="50" y="4925"/>
                  </a:cubicBezTo>
                  <a:close/>
                  <a:moveTo>
                    <a:pt x="50" y="5275"/>
                  </a:moveTo>
                  <a:lnTo>
                    <a:pt x="50" y="5425"/>
                  </a:lnTo>
                  <a:cubicBezTo>
                    <a:pt x="50" y="5439"/>
                    <a:pt x="39" y="5450"/>
                    <a:pt x="25" y="5450"/>
                  </a:cubicBezTo>
                  <a:cubicBezTo>
                    <a:pt x="11" y="5450"/>
                    <a:pt x="0" y="5439"/>
                    <a:pt x="0" y="5425"/>
                  </a:cubicBezTo>
                  <a:lnTo>
                    <a:pt x="0" y="5275"/>
                  </a:lnTo>
                  <a:cubicBezTo>
                    <a:pt x="0" y="5261"/>
                    <a:pt x="11" y="5250"/>
                    <a:pt x="25" y="5250"/>
                  </a:cubicBezTo>
                  <a:cubicBezTo>
                    <a:pt x="39" y="5250"/>
                    <a:pt x="50" y="5261"/>
                    <a:pt x="50" y="5275"/>
                  </a:cubicBezTo>
                  <a:close/>
                  <a:moveTo>
                    <a:pt x="50" y="5625"/>
                  </a:moveTo>
                  <a:lnTo>
                    <a:pt x="50" y="5775"/>
                  </a:lnTo>
                  <a:cubicBezTo>
                    <a:pt x="50" y="5789"/>
                    <a:pt x="39" y="5800"/>
                    <a:pt x="25" y="5800"/>
                  </a:cubicBezTo>
                  <a:cubicBezTo>
                    <a:pt x="11" y="5800"/>
                    <a:pt x="0" y="5789"/>
                    <a:pt x="0" y="5775"/>
                  </a:cubicBezTo>
                  <a:lnTo>
                    <a:pt x="0" y="5625"/>
                  </a:lnTo>
                  <a:cubicBezTo>
                    <a:pt x="0" y="5611"/>
                    <a:pt x="11" y="5600"/>
                    <a:pt x="25" y="5600"/>
                  </a:cubicBezTo>
                  <a:cubicBezTo>
                    <a:pt x="39" y="5600"/>
                    <a:pt x="50" y="5611"/>
                    <a:pt x="50" y="5625"/>
                  </a:cubicBezTo>
                  <a:close/>
                  <a:moveTo>
                    <a:pt x="50" y="5975"/>
                  </a:moveTo>
                  <a:lnTo>
                    <a:pt x="50" y="6125"/>
                  </a:lnTo>
                  <a:cubicBezTo>
                    <a:pt x="50" y="6139"/>
                    <a:pt x="39" y="6150"/>
                    <a:pt x="25" y="6150"/>
                  </a:cubicBezTo>
                  <a:cubicBezTo>
                    <a:pt x="11" y="6150"/>
                    <a:pt x="0" y="6139"/>
                    <a:pt x="0" y="6125"/>
                  </a:cubicBezTo>
                  <a:lnTo>
                    <a:pt x="0" y="5975"/>
                  </a:lnTo>
                  <a:cubicBezTo>
                    <a:pt x="0" y="5961"/>
                    <a:pt x="11" y="5950"/>
                    <a:pt x="25" y="5950"/>
                  </a:cubicBezTo>
                  <a:cubicBezTo>
                    <a:pt x="39" y="5950"/>
                    <a:pt x="50" y="5961"/>
                    <a:pt x="50" y="5975"/>
                  </a:cubicBezTo>
                  <a:close/>
                  <a:moveTo>
                    <a:pt x="50" y="6325"/>
                  </a:moveTo>
                  <a:lnTo>
                    <a:pt x="50" y="6475"/>
                  </a:lnTo>
                  <a:cubicBezTo>
                    <a:pt x="50" y="6489"/>
                    <a:pt x="39" y="6500"/>
                    <a:pt x="25" y="6500"/>
                  </a:cubicBezTo>
                  <a:cubicBezTo>
                    <a:pt x="11" y="6500"/>
                    <a:pt x="0" y="6489"/>
                    <a:pt x="0" y="6475"/>
                  </a:cubicBezTo>
                  <a:lnTo>
                    <a:pt x="0" y="6325"/>
                  </a:lnTo>
                  <a:cubicBezTo>
                    <a:pt x="0" y="6311"/>
                    <a:pt x="11" y="6300"/>
                    <a:pt x="25" y="6300"/>
                  </a:cubicBezTo>
                  <a:cubicBezTo>
                    <a:pt x="39" y="6300"/>
                    <a:pt x="50" y="6311"/>
                    <a:pt x="50" y="6325"/>
                  </a:cubicBezTo>
                  <a:close/>
                  <a:moveTo>
                    <a:pt x="50" y="6675"/>
                  </a:moveTo>
                  <a:lnTo>
                    <a:pt x="50" y="6825"/>
                  </a:lnTo>
                  <a:cubicBezTo>
                    <a:pt x="50" y="6839"/>
                    <a:pt x="39" y="6850"/>
                    <a:pt x="25" y="6850"/>
                  </a:cubicBezTo>
                  <a:cubicBezTo>
                    <a:pt x="11" y="6850"/>
                    <a:pt x="0" y="6839"/>
                    <a:pt x="0" y="6825"/>
                  </a:cubicBezTo>
                  <a:lnTo>
                    <a:pt x="0" y="6675"/>
                  </a:lnTo>
                  <a:cubicBezTo>
                    <a:pt x="0" y="6661"/>
                    <a:pt x="11" y="6650"/>
                    <a:pt x="25" y="6650"/>
                  </a:cubicBezTo>
                  <a:cubicBezTo>
                    <a:pt x="39" y="6650"/>
                    <a:pt x="50" y="6661"/>
                    <a:pt x="50" y="6675"/>
                  </a:cubicBezTo>
                  <a:close/>
                  <a:moveTo>
                    <a:pt x="50" y="7025"/>
                  </a:moveTo>
                  <a:lnTo>
                    <a:pt x="50" y="7175"/>
                  </a:lnTo>
                  <a:cubicBezTo>
                    <a:pt x="50" y="7189"/>
                    <a:pt x="39" y="7200"/>
                    <a:pt x="25" y="7200"/>
                  </a:cubicBezTo>
                  <a:cubicBezTo>
                    <a:pt x="11" y="7200"/>
                    <a:pt x="0" y="7189"/>
                    <a:pt x="0" y="7175"/>
                  </a:cubicBezTo>
                  <a:lnTo>
                    <a:pt x="0" y="7025"/>
                  </a:lnTo>
                  <a:cubicBezTo>
                    <a:pt x="0" y="7011"/>
                    <a:pt x="11" y="7000"/>
                    <a:pt x="25" y="7000"/>
                  </a:cubicBezTo>
                  <a:cubicBezTo>
                    <a:pt x="39" y="7000"/>
                    <a:pt x="50" y="7011"/>
                    <a:pt x="50" y="7025"/>
                  </a:cubicBezTo>
                  <a:close/>
                  <a:moveTo>
                    <a:pt x="50" y="7375"/>
                  </a:moveTo>
                  <a:lnTo>
                    <a:pt x="50" y="7525"/>
                  </a:lnTo>
                  <a:cubicBezTo>
                    <a:pt x="50" y="7539"/>
                    <a:pt x="39" y="7550"/>
                    <a:pt x="25" y="7550"/>
                  </a:cubicBezTo>
                  <a:cubicBezTo>
                    <a:pt x="11" y="7550"/>
                    <a:pt x="0" y="7539"/>
                    <a:pt x="0" y="7525"/>
                  </a:cubicBezTo>
                  <a:lnTo>
                    <a:pt x="0" y="7375"/>
                  </a:lnTo>
                  <a:cubicBezTo>
                    <a:pt x="0" y="7361"/>
                    <a:pt x="11" y="7350"/>
                    <a:pt x="25" y="7350"/>
                  </a:cubicBezTo>
                  <a:cubicBezTo>
                    <a:pt x="39" y="7350"/>
                    <a:pt x="50" y="7361"/>
                    <a:pt x="50" y="7375"/>
                  </a:cubicBezTo>
                  <a:close/>
                  <a:moveTo>
                    <a:pt x="50" y="7725"/>
                  </a:moveTo>
                  <a:lnTo>
                    <a:pt x="50" y="7875"/>
                  </a:lnTo>
                  <a:cubicBezTo>
                    <a:pt x="50" y="7889"/>
                    <a:pt x="39" y="7900"/>
                    <a:pt x="25" y="7900"/>
                  </a:cubicBezTo>
                  <a:cubicBezTo>
                    <a:pt x="11" y="7900"/>
                    <a:pt x="0" y="7889"/>
                    <a:pt x="0" y="7875"/>
                  </a:cubicBezTo>
                  <a:lnTo>
                    <a:pt x="0" y="7725"/>
                  </a:lnTo>
                  <a:cubicBezTo>
                    <a:pt x="0" y="7711"/>
                    <a:pt x="11" y="7700"/>
                    <a:pt x="25" y="7700"/>
                  </a:cubicBezTo>
                  <a:cubicBezTo>
                    <a:pt x="39" y="7700"/>
                    <a:pt x="50" y="7711"/>
                    <a:pt x="50" y="7725"/>
                  </a:cubicBezTo>
                  <a:close/>
                  <a:moveTo>
                    <a:pt x="50" y="8075"/>
                  </a:moveTo>
                  <a:lnTo>
                    <a:pt x="50" y="8225"/>
                  </a:lnTo>
                  <a:cubicBezTo>
                    <a:pt x="50" y="8239"/>
                    <a:pt x="39" y="8250"/>
                    <a:pt x="25" y="8250"/>
                  </a:cubicBezTo>
                  <a:cubicBezTo>
                    <a:pt x="11" y="8250"/>
                    <a:pt x="0" y="8239"/>
                    <a:pt x="0" y="8225"/>
                  </a:cubicBezTo>
                  <a:lnTo>
                    <a:pt x="0" y="8075"/>
                  </a:lnTo>
                  <a:cubicBezTo>
                    <a:pt x="0" y="8061"/>
                    <a:pt x="11" y="8050"/>
                    <a:pt x="25" y="8050"/>
                  </a:cubicBezTo>
                  <a:cubicBezTo>
                    <a:pt x="39" y="8050"/>
                    <a:pt x="50" y="8061"/>
                    <a:pt x="50" y="8075"/>
                  </a:cubicBezTo>
                  <a:close/>
                  <a:moveTo>
                    <a:pt x="50" y="8425"/>
                  </a:moveTo>
                  <a:lnTo>
                    <a:pt x="50" y="8575"/>
                  </a:lnTo>
                  <a:cubicBezTo>
                    <a:pt x="50" y="8589"/>
                    <a:pt x="39" y="8600"/>
                    <a:pt x="25" y="8600"/>
                  </a:cubicBezTo>
                  <a:cubicBezTo>
                    <a:pt x="11" y="8600"/>
                    <a:pt x="0" y="8589"/>
                    <a:pt x="0" y="8575"/>
                  </a:cubicBezTo>
                  <a:lnTo>
                    <a:pt x="0" y="8425"/>
                  </a:lnTo>
                  <a:cubicBezTo>
                    <a:pt x="0" y="8411"/>
                    <a:pt x="11" y="8400"/>
                    <a:pt x="25" y="8400"/>
                  </a:cubicBezTo>
                  <a:cubicBezTo>
                    <a:pt x="39" y="8400"/>
                    <a:pt x="50" y="8411"/>
                    <a:pt x="50" y="8425"/>
                  </a:cubicBezTo>
                  <a:close/>
                  <a:moveTo>
                    <a:pt x="50" y="8775"/>
                  </a:moveTo>
                  <a:lnTo>
                    <a:pt x="50" y="8925"/>
                  </a:lnTo>
                  <a:cubicBezTo>
                    <a:pt x="50" y="8939"/>
                    <a:pt x="39" y="8950"/>
                    <a:pt x="25" y="8950"/>
                  </a:cubicBezTo>
                  <a:cubicBezTo>
                    <a:pt x="11" y="8950"/>
                    <a:pt x="0" y="8939"/>
                    <a:pt x="0" y="8925"/>
                  </a:cubicBezTo>
                  <a:lnTo>
                    <a:pt x="0" y="8775"/>
                  </a:lnTo>
                  <a:cubicBezTo>
                    <a:pt x="0" y="8761"/>
                    <a:pt x="11" y="8750"/>
                    <a:pt x="25" y="8750"/>
                  </a:cubicBezTo>
                  <a:cubicBezTo>
                    <a:pt x="39" y="8750"/>
                    <a:pt x="50" y="8761"/>
                    <a:pt x="50" y="8775"/>
                  </a:cubicBezTo>
                  <a:close/>
                  <a:moveTo>
                    <a:pt x="50" y="9125"/>
                  </a:moveTo>
                  <a:lnTo>
                    <a:pt x="50" y="9275"/>
                  </a:lnTo>
                  <a:cubicBezTo>
                    <a:pt x="50" y="9289"/>
                    <a:pt x="39" y="9300"/>
                    <a:pt x="25" y="9300"/>
                  </a:cubicBezTo>
                  <a:cubicBezTo>
                    <a:pt x="11" y="9300"/>
                    <a:pt x="0" y="9289"/>
                    <a:pt x="0" y="9275"/>
                  </a:cubicBezTo>
                  <a:lnTo>
                    <a:pt x="0" y="9125"/>
                  </a:lnTo>
                  <a:cubicBezTo>
                    <a:pt x="0" y="9111"/>
                    <a:pt x="11" y="9100"/>
                    <a:pt x="25" y="9100"/>
                  </a:cubicBezTo>
                  <a:cubicBezTo>
                    <a:pt x="39" y="9100"/>
                    <a:pt x="50" y="9111"/>
                    <a:pt x="50" y="9125"/>
                  </a:cubicBezTo>
                  <a:close/>
                </a:path>
              </a:pathLst>
            </a:custGeom>
            <a:solidFill>
              <a:srgbClr val="000000"/>
            </a:solidFill>
            <a:ln w="1270">
              <a:solidFill>
                <a:srgbClr val="000000"/>
              </a:solidFill>
              <a:round/>
            </a:ln>
          </p:spPr>
          <p:txBody>
            <a:bodyPr/>
            <a:lstStyle/>
            <a:p>
              <a:endParaRPr lang="zh-CN" altLang="en-US"/>
            </a:p>
          </p:txBody>
        </p:sp>
        <p:sp>
          <p:nvSpPr>
            <p:cNvPr id="88113" name="Freeform 47"/>
            <p:cNvSpPr>
              <a:spLocks noEditPoints="1"/>
            </p:cNvSpPr>
            <p:nvPr/>
          </p:nvSpPr>
          <p:spPr bwMode="auto">
            <a:xfrm>
              <a:off x="3701" y="948"/>
              <a:ext cx="1" cy="1640"/>
            </a:xfrm>
            <a:custGeom>
              <a:avLst/>
              <a:gdLst>
                <a:gd name="T0" fmla="*/ 0 w 50"/>
                <a:gd name="T1" fmla="*/ 0 h 6475"/>
                <a:gd name="T2" fmla="*/ 0 w 50"/>
                <a:gd name="T3" fmla="*/ 0 h 6475"/>
                <a:gd name="T4" fmla="*/ 0 w 50"/>
                <a:gd name="T5" fmla="*/ 0 h 6475"/>
                <a:gd name="T6" fmla="*/ 0 w 50"/>
                <a:gd name="T7" fmla="*/ 0 h 6475"/>
                <a:gd name="T8" fmla="*/ 0 w 50"/>
                <a:gd name="T9" fmla="*/ 0 h 6475"/>
                <a:gd name="T10" fmla="*/ 0 w 50"/>
                <a:gd name="T11" fmla="*/ 0 h 6475"/>
                <a:gd name="T12" fmla="*/ 0 w 50"/>
                <a:gd name="T13" fmla="*/ 0 h 6475"/>
                <a:gd name="T14" fmla="*/ 0 w 50"/>
                <a:gd name="T15" fmla="*/ 0 h 6475"/>
                <a:gd name="T16" fmla="*/ 0 w 50"/>
                <a:gd name="T17" fmla="*/ 0 h 6475"/>
                <a:gd name="T18" fmla="*/ 0 w 50"/>
                <a:gd name="T19" fmla="*/ 0 h 6475"/>
                <a:gd name="T20" fmla="*/ 0 w 50"/>
                <a:gd name="T21" fmla="*/ 0 h 6475"/>
                <a:gd name="T22" fmla="*/ 0 w 50"/>
                <a:gd name="T23" fmla="*/ 0 h 6475"/>
                <a:gd name="T24" fmla="*/ 0 w 50"/>
                <a:gd name="T25" fmla="*/ 0 h 6475"/>
                <a:gd name="T26" fmla="*/ 0 w 50"/>
                <a:gd name="T27" fmla="*/ 0 h 6475"/>
                <a:gd name="T28" fmla="*/ 0 w 50"/>
                <a:gd name="T29" fmla="*/ 0 h 6475"/>
                <a:gd name="T30" fmla="*/ 0 w 50"/>
                <a:gd name="T31" fmla="*/ 0 h 6475"/>
                <a:gd name="T32" fmla="*/ 0 w 50"/>
                <a:gd name="T33" fmla="*/ 0 h 6475"/>
                <a:gd name="T34" fmla="*/ 0 w 50"/>
                <a:gd name="T35" fmla="*/ 0 h 6475"/>
                <a:gd name="T36" fmla="*/ 0 w 50"/>
                <a:gd name="T37" fmla="*/ 0 h 6475"/>
                <a:gd name="T38" fmla="*/ 0 w 50"/>
                <a:gd name="T39" fmla="*/ 0 h 6475"/>
                <a:gd name="T40" fmla="*/ 0 w 50"/>
                <a:gd name="T41" fmla="*/ 0 h 6475"/>
                <a:gd name="T42" fmla="*/ 0 w 50"/>
                <a:gd name="T43" fmla="*/ 0 h 6475"/>
                <a:gd name="T44" fmla="*/ 0 w 50"/>
                <a:gd name="T45" fmla="*/ 0 h 6475"/>
                <a:gd name="T46" fmla="*/ 0 w 50"/>
                <a:gd name="T47" fmla="*/ 0 h 6475"/>
                <a:gd name="T48" fmla="*/ 0 w 50"/>
                <a:gd name="T49" fmla="*/ 0 h 6475"/>
                <a:gd name="T50" fmla="*/ 0 w 50"/>
                <a:gd name="T51" fmla="*/ 0 h 6475"/>
                <a:gd name="T52" fmla="*/ 0 w 50"/>
                <a:gd name="T53" fmla="*/ 0 h 6475"/>
                <a:gd name="T54" fmla="*/ 0 w 50"/>
                <a:gd name="T55" fmla="*/ 0 h 6475"/>
                <a:gd name="T56" fmla="*/ 0 w 50"/>
                <a:gd name="T57" fmla="*/ 0 h 6475"/>
                <a:gd name="T58" fmla="*/ 0 w 50"/>
                <a:gd name="T59" fmla="*/ 0 h 6475"/>
                <a:gd name="T60" fmla="*/ 0 w 50"/>
                <a:gd name="T61" fmla="*/ 0 h 6475"/>
                <a:gd name="T62" fmla="*/ 0 w 50"/>
                <a:gd name="T63" fmla="*/ 0 h 6475"/>
                <a:gd name="T64" fmla="*/ 0 w 50"/>
                <a:gd name="T65" fmla="*/ 0 h 6475"/>
                <a:gd name="T66" fmla="*/ 0 w 50"/>
                <a:gd name="T67" fmla="*/ 0 h 6475"/>
                <a:gd name="T68" fmla="*/ 0 w 50"/>
                <a:gd name="T69" fmla="*/ 0 h 6475"/>
                <a:gd name="T70" fmla="*/ 0 w 50"/>
                <a:gd name="T71" fmla="*/ 1 h 6475"/>
                <a:gd name="T72" fmla="*/ 0 w 50"/>
                <a:gd name="T73" fmla="*/ 1 h 6475"/>
                <a:gd name="T74" fmla="*/ 0 w 50"/>
                <a:gd name="T75" fmla="*/ 1 h 6475"/>
                <a:gd name="T76" fmla="*/ 0 w 50"/>
                <a:gd name="T77" fmla="*/ 1 h 6475"/>
                <a:gd name="T78" fmla="*/ 0 w 50"/>
                <a:gd name="T79" fmla="*/ 1 h 6475"/>
                <a:gd name="T80" fmla="*/ 0 w 50"/>
                <a:gd name="T81" fmla="*/ 1 h 6475"/>
                <a:gd name="T82" fmla="*/ 0 w 50"/>
                <a:gd name="T83" fmla="*/ 1 h 6475"/>
                <a:gd name="T84" fmla="*/ 0 w 50"/>
                <a:gd name="T85" fmla="*/ 1 h 6475"/>
                <a:gd name="T86" fmla="*/ 0 w 50"/>
                <a:gd name="T87" fmla="*/ 1 h 647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0"/>
                <a:gd name="T133" fmla="*/ 0 h 6475"/>
                <a:gd name="T134" fmla="*/ 50 w 50"/>
                <a:gd name="T135" fmla="*/ 6475 h 647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0" h="6475">
                  <a:moveTo>
                    <a:pt x="50" y="25"/>
                  </a:moveTo>
                  <a:lnTo>
                    <a:pt x="50" y="175"/>
                  </a:lnTo>
                  <a:cubicBezTo>
                    <a:pt x="50" y="189"/>
                    <a:pt x="39" y="200"/>
                    <a:pt x="25" y="200"/>
                  </a:cubicBezTo>
                  <a:cubicBezTo>
                    <a:pt x="12" y="200"/>
                    <a:pt x="0" y="189"/>
                    <a:pt x="0" y="175"/>
                  </a:cubicBezTo>
                  <a:lnTo>
                    <a:pt x="0" y="25"/>
                  </a:lnTo>
                  <a:cubicBezTo>
                    <a:pt x="0" y="11"/>
                    <a:pt x="12" y="0"/>
                    <a:pt x="25" y="0"/>
                  </a:cubicBezTo>
                  <a:cubicBezTo>
                    <a:pt x="39" y="0"/>
                    <a:pt x="50" y="11"/>
                    <a:pt x="50" y="25"/>
                  </a:cubicBezTo>
                  <a:close/>
                  <a:moveTo>
                    <a:pt x="50" y="375"/>
                  </a:moveTo>
                  <a:lnTo>
                    <a:pt x="50" y="525"/>
                  </a:lnTo>
                  <a:cubicBezTo>
                    <a:pt x="50" y="539"/>
                    <a:pt x="39" y="550"/>
                    <a:pt x="25" y="550"/>
                  </a:cubicBezTo>
                  <a:cubicBezTo>
                    <a:pt x="12" y="550"/>
                    <a:pt x="0" y="539"/>
                    <a:pt x="0" y="525"/>
                  </a:cubicBezTo>
                  <a:lnTo>
                    <a:pt x="0" y="375"/>
                  </a:lnTo>
                  <a:cubicBezTo>
                    <a:pt x="0" y="361"/>
                    <a:pt x="12" y="350"/>
                    <a:pt x="25" y="350"/>
                  </a:cubicBezTo>
                  <a:cubicBezTo>
                    <a:pt x="39" y="350"/>
                    <a:pt x="50" y="361"/>
                    <a:pt x="50" y="375"/>
                  </a:cubicBezTo>
                  <a:close/>
                  <a:moveTo>
                    <a:pt x="50" y="725"/>
                  </a:moveTo>
                  <a:lnTo>
                    <a:pt x="50" y="875"/>
                  </a:lnTo>
                  <a:cubicBezTo>
                    <a:pt x="50" y="889"/>
                    <a:pt x="39" y="900"/>
                    <a:pt x="25" y="900"/>
                  </a:cubicBezTo>
                  <a:cubicBezTo>
                    <a:pt x="12" y="900"/>
                    <a:pt x="0" y="889"/>
                    <a:pt x="0" y="875"/>
                  </a:cubicBezTo>
                  <a:lnTo>
                    <a:pt x="0" y="725"/>
                  </a:lnTo>
                  <a:cubicBezTo>
                    <a:pt x="0" y="711"/>
                    <a:pt x="12" y="700"/>
                    <a:pt x="25" y="700"/>
                  </a:cubicBezTo>
                  <a:cubicBezTo>
                    <a:pt x="39" y="700"/>
                    <a:pt x="50" y="711"/>
                    <a:pt x="50" y="725"/>
                  </a:cubicBezTo>
                  <a:close/>
                  <a:moveTo>
                    <a:pt x="50" y="1075"/>
                  </a:moveTo>
                  <a:lnTo>
                    <a:pt x="50" y="1225"/>
                  </a:lnTo>
                  <a:cubicBezTo>
                    <a:pt x="50" y="1239"/>
                    <a:pt x="39" y="1250"/>
                    <a:pt x="25" y="1250"/>
                  </a:cubicBezTo>
                  <a:cubicBezTo>
                    <a:pt x="12" y="1250"/>
                    <a:pt x="0" y="1239"/>
                    <a:pt x="0" y="1225"/>
                  </a:cubicBezTo>
                  <a:lnTo>
                    <a:pt x="0" y="1075"/>
                  </a:lnTo>
                  <a:cubicBezTo>
                    <a:pt x="0" y="1061"/>
                    <a:pt x="12" y="1050"/>
                    <a:pt x="25" y="1050"/>
                  </a:cubicBezTo>
                  <a:cubicBezTo>
                    <a:pt x="39" y="1050"/>
                    <a:pt x="50" y="1061"/>
                    <a:pt x="50" y="1075"/>
                  </a:cubicBezTo>
                  <a:close/>
                  <a:moveTo>
                    <a:pt x="50" y="1425"/>
                  </a:moveTo>
                  <a:lnTo>
                    <a:pt x="50" y="1575"/>
                  </a:lnTo>
                  <a:cubicBezTo>
                    <a:pt x="50" y="1589"/>
                    <a:pt x="39" y="1600"/>
                    <a:pt x="25" y="1600"/>
                  </a:cubicBezTo>
                  <a:cubicBezTo>
                    <a:pt x="12" y="1600"/>
                    <a:pt x="0" y="1589"/>
                    <a:pt x="0" y="1575"/>
                  </a:cubicBezTo>
                  <a:lnTo>
                    <a:pt x="0" y="1425"/>
                  </a:lnTo>
                  <a:cubicBezTo>
                    <a:pt x="0" y="1411"/>
                    <a:pt x="12" y="1400"/>
                    <a:pt x="25" y="1400"/>
                  </a:cubicBezTo>
                  <a:cubicBezTo>
                    <a:pt x="39" y="1400"/>
                    <a:pt x="50" y="1411"/>
                    <a:pt x="50" y="1425"/>
                  </a:cubicBezTo>
                  <a:close/>
                  <a:moveTo>
                    <a:pt x="50" y="1775"/>
                  </a:moveTo>
                  <a:lnTo>
                    <a:pt x="50" y="1925"/>
                  </a:lnTo>
                  <a:cubicBezTo>
                    <a:pt x="50" y="1939"/>
                    <a:pt x="39" y="1950"/>
                    <a:pt x="25" y="1950"/>
                  </a:cubicBezTo>
                  <a:cubicBezTo>
                    <a:pt x="12" y="1950"/>
                    <a:pt x="0" y="1939"/>
                    <a:pt x="0" y="1925"/>
                  </a:cubicBezTo>
                  <a:lnTo>
                    <a:pt x="0" y="1775"/>
                  </a:lnTo>
                  <a:cubicBezTo>
                    <a:pt x="0" y="1761"/>
                    <a:pt x="12" y="1750"/>
                    <a:pt x="25" y="1750"/>
                  </a:cubicBezTo>
                  <a:cubicBezTo>
                    <a:pt x="39" y="1750"/>
                    <a:pt x="50" y="1761"/>
                    <a:pt x="50" y="1775"/>
                  </a:cubicBezTo>
                  <a:close/>
                  <a:moveTo>
                    <a:pt x="50" y="2125"/>
                  </a:moveTo>
                  <a:lnTo>
                    <a:pt x="50" y="2275"/>
                  </a:lnTo>
                  <a:cubicBezTo>
                    <a:pt x="50" y="2289"/>
                    <a:pt x="39" y="2300"/>
                    <a:pt x="25" y="2300"/>
                  </a:cubicBezTo>
                  <a:cubicBezTo>
                    <a:pt x="12" y="2300"/>
                    <a:pt x="0" y="2289"/>
                    <a:pt x="0" y="2275"/>
                  </a:cubicBezTo>
                  <a:lnTo>
                    <a:pt x="0" y="2125"/>
                  </a:lnTo>
                  <a:cubicBezTo>
                    <a:pt x="0" y="2111"/>
                    <a:pt x="12" y="2100"/>
                    <a:pt x="25" y="2100"/>
                  </a:cubicBezTo>
                  <a:cubicBezTo>
                    <a:pt x="39" y="2100"/>
                    <a:pt x="50" y="2111"/>
                    <a:pt x="50" y="2125"/>
                  </a:cubicBezTo>
                  <a:close/>
                  <a:moveTo>
                    <a:pt x="50" y="2475"/>
                  </a:moveTo>
                  <a:lnTo>
                    <a:pt x="50" y="2625"/>
                  </a:lnTo>
                  <a:cubicBezTo>
                    <a:pt x="50" y="2639"/>
                    <a:pt x="39" y="2650"/>
                    <a:pt x="25" y="2650"/>
                  </a:cubicBezTo>
                  <a:cubicBezTo>
                    <a:pt x="12" y="2650"/>
                    <a:pt x="0" y="2639"/>
                    <a:pt x="0" y="2625"/>
                  </a:cubicBezTo>
                  <a:lnTo>
                    <a:pt x="0" y="2475"/>
                  </a:lnTo>
                  <a:cubicBezTo>
                    <a:pt x="0" y="2461"/>
                    <a:pt x="12" y="2450"/>
                    <a:pt x="25" y="2450"/>
                  </a:cubicBezTo>
                  <a:cubicBezTo>
                    <a:pt x="39" y="2450"/>
                    <a:pt x="50" y="2461"/>
                    <a:pt x="50" y="2475"/>
                  </a:cubicBezTo>
                  <a:close/>
                  <a:moveTo>
                    <a:pt x="50" y="2825"/>
                  </a:moveTo>
                  <a:lnTo>
                    <a:pt x="50" y="2975"/>
                  </a:lnTo>
                  <a:cubicBezTo>
                    <a:pt x="50" y="2989"/>
                    <a:pt x="39" y="3000"/>
                    <a:pt x="25" y="3000"/>
                  </a:cubicBezTo>
                  <a:cubicBezTo>
                    <a:pt x="12" y="3000"/>
                    <a:pt x="0" y="2989"/>
                    <a:pt x="0" y="2975"/>
                  </a:cubicBezTo>
                  <a:lnTo>
                    <a:pt x="0" y="2825"/>
                  </a:lnTo>
                  <a:cubicBezTo>
                    <a:pt x="0" y="2811"/>
                    <a:pt x="12" y="2800"/>
                    <a:pt x="25" y="2800"/>
                  </a:cubicBezTo>
                  <a:cubicBezTo>
                    <a:pt x="39" y="2800"/>
                    <a:pt x="50" y="2811"/>
                    <a:pt x="50" y="2825"/>
                  </a:cubicBezTo>
                  <a:close/>
                  <a:moveTo>
                    <a:pt x="50" y="3175"/>
                  </a:moveTo>
                  <a:lnTo>
                    <a:pt x="50" y="3325"/>
                  </a:lnTo>
                  <a:cubicBezTo>
                    <a:pt x="50" y="3339"/>
                    <a:pt x="39" y="3350"/>
                    <a:pt x="25" y="3350"/>
                  </a:cubicBezTo>
                  <a:cubicBezTo>
                    <a:pt x="12" y="3350"/>
                    <a:pt x="0" y="3339"/>
                    <a:pt x="0" y="3325"/>
                  </a:cubicBezTo>
                  <a:lnTo>
                    <a:pt x="0" y="3175"/>
                  </a:lnTo>
                  <a:cubicBezTo>
                    <a:pt x="0" y="3161"/>
                    <a:pt x="12" y="3150"/>
                    <a:pt x="25" y="3150"/>
                  </a:cubicBezTo>
                  <a:cubicBezTo>
                    <a:pt x="39" y="3150"/>
                    <a:pt x="50" y="3161"/>
                    <a:pt x="50" y="3175"/>
                  </a:cubicBezTo>
                  <a:close/>
                  <a:moveTo>
                    <a:pt x="50" y="3525"/>
                  </a:moveTo>
                  <a:lnTo>
                    <a:pt x="50" y="3675"/>
                  </a:lnTo>
                  <a:cubicBezTo>
                    <a:pt x="50" y="3689"/>
                    <a:pt x="39" y="3700"/>
                    <a:pt x="25" y="3700"/>
                  </a:cubicBezTo>
                  <a:cubicBezTo>
                    <a:pt x="12" y="3700"/>
                    <a:pt x="0" y="3689"/>
                    <a:pt x="0" y="3675"/>
                  </a:cubicBezTo>
                  <a:lnTo>
                    <a:pt x="0" y="3525"/>
                  </a:lnTo>
                  <a:cubicBezTo>
                    <a:pt x="0" y="3511"/>
                    <a:pt x="12" y="3500"/>
                    <a:pt x="25" y="3500"/>
                  </a:cubicBezTo>
                  <a:cubicBezTo>
                    <a:pt x="39" y="3500"/>
                    <a:pt x="50" y="3511"/>
                    <a:pt x="50" y="3525"/>
                  </a:cubicBezTo>
                  <a:close/>
                  <a:moveTo>
                    <a:pt x="50" y="3875"/>
                  </a:moveTo>
                  <a:lnTo>
                    <a:pt x="50" y="4025"/>
                  </a:lnTo>
                  <a:cubicBezTo>
                    <a:pt x="50" y="4039"/>
                    <a:pt x="39" y="4050"/>
                    <a:pt x="25" y="4050"/>
                  </a:cubicBezTo>
                  <a:cubicBezTo>
                    <a:pt x="12" y="4050"/>
                    <a:pt x="0" y="4039"/>
                    <a:pt x="0" y="4025"/>
                  </a:cubicBezTo>
                  <a:lnTo>
                    <a:pt x="0" y="3875"/>
                  </a:lnTo>
                  <a:cubicBezTo>
                    <a:pt x="0" y="3861"/>
                    <a:pt x="12" y="3850"/>
                    <a:pt x="25" y="3850"/>
                  </a:cubicBezTo>
                  <a:cubicBezTo>
                    <a:pt x="39" y="3850"/>
                    <a:pt x="50" y="3861"/>
                    <a:pt x="50" y="3875"/>
                  </a:cubicBezTo>
                  <a:close/>
                  <a:moveTo>
                    <a:pt x="50" y="4225"/>
                  </a:moveTo>
                  <a:lnTo>
                    <a:pt x="50" y="4375"/>
                  </a:lnTo>
                  <a:cubicBezTo>
                    <a:pt x="50" y="4389"/>
                    <a:pt x="39" y="4400"/>
                    <a:pt x="25" y="4400"/>
                  </a:cubicBezTo>
                  <a:cubicBezTo>
                    <a:pt x="12" y="4400"/>
                    <a:pt x="0" y="4389"/>
                    <a:pt x="0" y="4375"/>
                  </a:cubicBezTo>
                  <a:lnTo>
                    <a:pt x="0" y="4225"/>
                  </a:lnTo>
                  <a:cubicBezTo>
                    <a:pt x="0" y="4211"/>
                    <a:pt x="12" y="4200"/>
                    <a:pt x="25" y="4200"/>
                  </a:cubicBezTo>
                  <a:cubicBezTo>
                    <a:pt x="39" y="4200"/>
                    <a:pt x="50" y="4211"/>
                    <a:pt x="50" y="4225"/>
                  </a:cubicBezTo>
                  <a:close/>
                  <a:moveTo>
                    <a:pt x="50" y="4575"/>
                  </a:moveTo>
                  <a:lnTo>
                    <a:pt x="50" y="4725"/>
                  </a:lnTo>
                  <a:cubicBezTo>
                    <a:pt x="50" y="4739"/>
                    <a:pt x="39" y="4750"/>
                    <a:pt x="25" y="4750"/>
                  </a:cubicBezTo>
                  <a:cubicBezTo>
                    <a:pt x="12" y="4750"/>
                    <a:pt x="0" y="4739"/>
                    <a:pt x="0" y="4725"/>
                  </a:cubicBezTo>
                  <a:lnTo>
                    <a:pt x="0" y="4575"/>
                  </a:lnTo>
                  <a:cubicBezTo>
                    <a:pt x="0" y="4561"/>
                    <a:pt x="12" y="4550"/>
                    <a:pt x="25" y="4550"/>
                  </a:cubicBezTo>
                  <a:cubicBezTo>
                    <a:pt x="39" y="4550"/>
                    <a:pt x="50" y="4561"/>
                    <a:pt x="50" y="4575"/>
                  </a:cubicBezTo>
                  <a:close/>
                  <a:moveTo>
                    <a:pt x="50" y="4925"/>
                  </a:moveTo>
                  <a:lnTo>
                    <a:pt x="50" y="5075"/>
                  </a:lnTo>
                  <a:cubicBezTo>
                    <a:pt x="50" y="5089"/>
                    <a:pt x="39" y="5100"/>
                    <a:pt x="25" y="5100"/>
                  </a:cubicBezTo>
                  <a:cubicBezTo>
                    <a:pt x="12" y="5100"/>
                    <a:pt x="0" y="5089"/>
                    <a:pt x="0" y="5075"/>
                  </a:cubicBezTo>
                  <a:lnTo>
                    <a:pt x="0" y="4925"/>
                  </a:lnTo>
                  <a:cubicBezTo>
                    <a:pt x="0" y="4911"/>
                    <a:pt x="12" y="4900"/>
                    <a:pt x="25" y="4900"/>
                  </a:cubicBezTo>
                  <a:cubicBezTo>
                    <a:pt x="39" y="4900"/>
                    <a:pt x="50" y="4911"/>
                    <a:pt x="50" y="4925"/>
                  </a:cubicBezTo>
                  <a:close/>
                  <a:moveTo>
                    <a:pt x="50" y="5275"/>
                  </a:moveTo>
                  <a:lnTo>
                    <a:pt x="50" y="5425"/>
                  </a:lnTo>
                  <a:cubicBezTo>
                    <a:pt x="50" y="5439"/>
                    <a:pt x="39" y="5450"/>
                    <a:pt x="25" y="5450"/>
                  </a:cubicBezTo>
                  <a:cubicBezTo>
                    <a:pt x="12" y="5450"/>
                    <a:pt x="0" y="5439"/>
                    <a:pt x="0" y="5425"/>
                  </a:cubicBezTo>
                  <a:lnTo>
                    <a:pt x="0" y="5275"/>
                  </a:lnTo>
                  <a:cubicBezTo>
                    <a:pt x="0" y="5261"/>
                    <a:pt x="12" y="5250"/>
                    <a:pt x="25" y="5250"/>
                  </a:cubicBezTo>
                  <a:cubicBezTo>
                    <a:pt x="39" y="5250"/>
                    <a:pt x="50" y="5261"/>
                    <a:pt x="50" y="5275"/>
                  </a:cubicBezTo>
                  <a:close/>
                  <a:moveTo>
                    <a:pt x="50" y="5625"/>
                  </a:moveTo>
                  <a:lnTo>
                    <a:pt x="50" y="5775"/>
                  </a:lnTo>
                  <a:cubicBezTo>
                    <a:pt x="50" y="5789"/>
                    <a:pt x="39" y="5800"/>
                    <a:pt x="25" y="5800"/>
                  </a:cubicBezTo>
                  <a:cubicBezTo>
                    <a:pt x="12" y="5800"/>
                    <a:pt x="0" y="5789"/>
                    <a:pt x="0" y="5775"/>
                  </a:cubicBezTo>
                  <a:lnTo>
                    <a:pt x="0" y="5625"/>
                  </a:lnTo>
                  <a:cubicBezTo>
                    <a:pt x="0" y="5611"/>
                    <a:pt x="12" y="5600"/>
                    <a:pt x="25" y="5600"/>
                  </a:cubicBezTo>
                  <a:cubicBezTo>
                    <a:pt x="39" y="5600"/>
                    <a:pt x="50" y="5611"/>
                    <a:pt x="50" y="5625"/>
                  </a:cubicBezTo>
                  <a:close/>
                  <a:moveTo>
                    <a:pt x="50" y="5975"/>
                  </a:moveTo>
                  <a:lnTo>
                    <a:pt x="50" y="6125"/>
                  </a:lnTo>
                  <a:cubicBezTo>
                    <a:pt x="50" y="6139"/>
                    <a:pt x="39" y="6150"/>
                    <a:pt x="25" y="6150"/>
                  </a:cubicBezTo>
                  <a:cubicBezTo>
                    <a:pt x="12" y="6150"/>
                    <a:pt x="0" y="6139"/>
                    <a:pt x="0" y="6125"/>
                  </a:cubicBezTo>
                  <a:lnTo>
                    <a:pt x="0" y="5975"/>
                  </a:lnTo>
                  <a:cubicBezTo>
                    <a:pt x="0" y="5961"/>
                    <a:pt x="12" y="5950"/>
                    <a:pt x="25" y="5950"/>
                  </a:cubicBezTo>
                  <a:cubicBezTo>
                    <a:pt x="39" y="5950"/>
                    <a:pt x="50" y="5961"/>
                    <a:pt x="50" y="5975"/>
                  </a:cubicBezTo>
                  <a:close/>
                  <a:moveTo>
                    <a:pt x="50" y="6325"/>
                  </a:moveTo>
                  <a:lnTo>
                    <a:pt x="50" y="6450"/>
                  </a:lnTo>
                  <a:cubicBezTo>
                    <a:pt x="50" y="6464"/>
                    <a:pt x="39" y="6475"/>
                    <a:pt x="25" y="6475"/>
                  </a:cubicBezTo>
                  <a:cubicBezTo>
                    <a:pt x="12" y="6475"/>
                    <a:pt x="0" y="6464"/>
                    <a:pt x="0" y="6450"/>
                  </a:cubicBezTo>
                  <a:lnTo>
                    <a:pt x="0" y="6325"/>
                  </a:lnTo>
                  <a:cubicBezTo>
                    <a:pt x="0" y="6311"/>
                    <a:pt x="12" y="6300"/>
                    <a:pt x="25" y="6300"/>
                  </a:cubicBezTo>
                  <a:cubicBezTo>
                    <a:pt x="39" y="6300"/>
                    <a:pt x="50" y="6311"/>
                    <a:pt x="50" y="6325"/>
                  </a:cubicBezTo>
                  <a:close/>
                </a:path>
              </a:pathLst>
            </a:custGeom>
            <a:solidFill>
              <a:srgbClr val="000000"/>
            </a:solidFill>
            <a:ln w="1270">
              <a:solidFill>
                <a:srgbClr val="000000"/>
              </a:solidFill>
              <a:round/>
            </a:ln>
          </p:spPr>
          <p:txBody>
            <a:bodyPr/>
            <a:lstStyle/>
            <a:p>
              <a:endParaRPr lang="zh-CN" altLang="en-US"/>
            </a:p>
          </p:txBody>
        </p:sp>
        <p:sp>
          <p:nvSpPr>
            <p:cNvPr id="88114" name="Freeform 48"/>
            <p:cNvSpPr>
              <a:spLocks noEditPoints="1"/>
            </p:cNvSpPr>
            <p:nvPr/>
          </p:nvSpPr>
          <p:spPr bwMode="auto">
            <a:xfrm flipH="1">
              <a:off x="4858" y="1783"/>
              <a:ext cx="1" cy="794"/>
            </a:xfrm>
            <a:custGeom>
              <a:avLst/>
              <a:gdLst>
                <a:gd name="T0" fmla="*/ 0 w 50"/>
                <a:gd name="T1" fmla="*/ 0 h 3350"/>
                <a:gd name="T2" fmla="*/ 0 w 50"/>
                <a:gd name="T3" fmla="*/ 0 h 3350"/>
                <a:gd name="T4" fmla="*/ 0 w 50"/>
                <a:gd name="T5" fmla="*/ 0 h 3350"/>
                <a:gd name="T6" fmla="*/ 0 w 50"/>
                <a:gd name="T7" fmla="*/ 0 h 3350"/>
                <a:gd name="T8" fmla="*/ 0 w 50"/>
                <a:gd name="T9" fmla="*/ 0 h 3350"/>
                <a:gd name="T10" fmla="*/ 0 w 50"/>
                <a:gd name="T11" fmla="*/ 0 h 3350"/>
                <a:gd name="T12" fmla="*/ 0 w 50"/>
                <a:gd name="T13" fmla="*/ 0 h 3350"/>
                <a:gd name="T14" fmla="*/ 0 w 50"/>
                <a:gd name="T15" fmla="*/ 0 h 3350"/>
                <a:gd name="T16" fmla="*/ 0 w 50"/>
                <a:gd name="T17" fmla="*/ 0 h 3350"/>
                <a:gd name="T18" fmla="*/ 0 w 50"/>
                <a:gd name="T19" fmla="*/ 0 h 3350"/>
                <a:gd name="T20" fmla="*/ 0 w 50"/>
                <a:gd name="T21" fmla="*/ 0 h 3350"/>
                <a:gd name="T22" fmla="*/ 0 w 50"/>
                <a:gd name="T23" fmla="*/ 0 h 3350"/>
                <a:gd name="T24" fmla="*/ 0 w 50"/>
                <a:gd name="T25" fmla="*/ 0 h 3350"/>
                <a:gd name="T26" fmla="*/ 0 w 50"/>
                <a:gd name="T27" fmla="*/ 0 h 3350"/>
                <a:gd name="T28" fmla="*/ 0 w 50"/>
                <a:gd name="T29" fmla="*/ 0 h 3350"/>
                <a:gd name="T30" fmla="*/ 0 w 50"/>
                <a:gd name="T31" fmla="*/ 0 h 3350"/>
                <a:gd name="T32" fmla="*/ 0 w 50"/>
                <a:gd name="T33" fmla="*/ 0 h 3350"/>
                <a:gd name="T34" fmla="*/ 0 w 50"/>
                <a:gd name="T35" fmla="*/ 0 h 3350"/>
                <a:gd name="T36" fmla="*/ 0 w 50"/>
                <a:gd name="T37" fmla="*/ 0 h 3350"/>
                <a:gd name="T38" fmla="*/ 0 w 50"/>
                <a:gd name="T39" fmla="*/ 0 h 3350"/>
                <a:gd name="T40" fmla="*/ 0 w 50"/>
                <a:gd name="T41" fmla="*/ 0 h 3350"/>
                <a:gd name="T42" fmla="*/ 0 w 50"/>
                <a:gd name="T43" fmla="*/ 0 h 3350"/>
                <a:gd name="T44" fmla="*/ 0 w 50"/>
                <a:gd name="T45" fmla="*/ 0 h 3350"/>
                <a:gd name="T46" fmla="*/ 0 w 50"/>
                <a:gd name="T47" fmla="*/ 0 h 3350"/>
                <a:gd name="T48" fmla="*/ 0 w 50"/>
                <a:gd name="T49" fmla="*/ 0 h 3350"/>
                <a:gd name="T50" fmla="*/ 0 w 50"/>
                <a:gd name="T51" fmla="*/ 0 h 3350"/>
                <a:gd name="T52" fmla="*/ 0 w 50"/>
                <a:gd name="T53" fmla="*/ 0 h 3350"/>
                <a:gd name="T54" fmla="*/ 0 w 50"/>
                <a:gd name="T55" fmla="*/ 0 h 3350"/>
                <a:gd name="T56" fmla="*/ 0 w 50"/>
                <a:gd name="T57" fmla="*/ 0 h 3350"/>
                <a:gd name="T58" fmla="*/ 0 w 50"/>
                <a:gd name="T59" fmla="*/ 0 h 3350"/>
                <a:gd name="T60" fmla="*/ 0 w 50"/>
                <a:gd name="T61" fmla="*/ 0 h 3350"/>
                <a:gd name="T62" fmla="*/ 0 w 50"/>
                <a:gd name="T63" fmla="*/ 0 h 3350"/>
                <a:gd name="T64" fmla="*/ 0 w 50"/>
                <a:gd name="T65" fmla="*/ 0 h 3350"/>
                <a:gd name="T66" fmla="*/ 0 w 50"/>
                <a:gd name="T67" fmla="*/ 0 h 3350"/>
                <a:gd name="T68" fmla="*/ 0 w 50"/>
                <a:gd name="T69" fmla="*/ 0 h 33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0"/>
                <a:gd name="T106" fmla="*/ 0 h 3350"/>
                <a:gd name="T107" fmla="*/ 50 w 50"/>
                <a:gd name="T108" fmla="*/ 3350 h 33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0" h="3350">
                  <a:moveTo>
                    <a:pt x="50" y="25"/>
                  </a:moveTo>
                  <a:lnTo>
                    <a:pt x="50" y="175"/>
                  </a:lnTo>
                  <a:cubicBezTo>
                    <a:pt x="50" y="189"/>
                    <a:pt x="39" y="200"/>
                    <a:pt x="25" y="200"/>
                  </a:cubicBezTo>
                  <a:cubicBezTo>
                    <a:pt x="12" y="200"/>
                    <a:pt x="0" y="189"/>
                    <a:pt x="0" y="175"/>
                  </a:cubicBezTo>
                  <a:lnTo>
                    <a:pt x="0" y="25"/>
                  </a:lnTo>
                  <a:cubicBezTo>
                    <a:pt x="0" y="11"/>
                    <a:pt x="12" y="0"/>
                    <a:pt x="25" y="0"/>
                  </a:cubicBezTo>
                  <a:cubicBezTo>
                    <a:pt x="39" y="0"/>
                    <a:pt x="50" y="11"/>
                    <a:pt x="50" y="25"/>
                  </a:cubicBezTo>
                  <a:close/>
                  <a:moveTo>
                    <a:pt x="50" y="375"/>
                  </a:moveTo>
                  <a:lnTo>
                    <a:pt x="50" y="525"/>
                  </a:lnTo>
                  <a:cubicBezTo>
                    <a:pt x="50" y="539"/>
                    <a:pt x="39" y="550"/>
                    <a:pt x="25" y="550"/>
                  </a:cubicBezTo>
                  <a:cubicBezTo>
                    <a:pt x="12" y="550"/>
                    <a:pt x="0" y="539"/>
                    <a:pt x="0" y="525"/>
                  </a:cubicBezTo>
                  <a:lnTo>
                    <a:pt x="0" y="375"/>
                  </a:lnTo>
                  <a:cubicBezTo>
                    <a:pt x="0" y="361"/>
                    <a:pt x="12" y="350"/>
                    <a:pt x="25" y="350"/>
                  </a:cubicBezTo>
                  <a:cubicBezTo>
                    <a:pt x="39" y="350"/>
                    <a:pt x="50" y="361"/>
                    <a:pt x="50" y="375"/>
                  </a:cubicBezTo>
                  <a:close/>
                  <a:moveTo>
                    <a:pt x="50" y="725"/>
                  </a:moveTo>
                  <a:lnTo>
                    <a:pt x="50" y="875"/>
                  </a:lnTo>
                  <a:cubicBezTo>
                    <a:pt x="50" y="889"/>
                    <a:pt x="39" y="900"/>
                    <a:pt x="25" y="900"/>
                  </a:cubicBezTo>
                  <a:cubicBezTo>
                    <a:pt x="12" y="900"/>
                    <a:pt x="0" y="889"/>
                    <a:pt x="0" y="875"/>
                  </a:cubicBezTo>
                  <a:lnTo>
                    <a:pt x="0" y="725"/>
                  </a:lnTo>
                  <a:cubicBezTo>
                    <a:pt x="0" y="711"/>
                    <a:pt x="12" y="700"/>
                    <a:pt x="25" y="700"/>
                  </a:cubicBezTo>
                  <a:cubicBezTo>
                    <a:pt x="39" y="700"/>
                    <a:pt x="50" y="711"/>
                    <a:pt x="50" y="725"/>
                  </a:cubicBezTo>
                  <a:close/>
                  <a:moveTo>
                    <a:pt x="50" y="1075"/>
                  </a:moveTo>
                  <a:lnTo>
                    <a:pt x="50" y="1225"/>
                  </a:lnTo>
                  <a:cubicBezTo>
                    <a:pt x="50" y="1239"/>
                    <a:pt x="39" y="1250"/>
                    <a:pt x="25" y="1250"/>
                  </a:cubicBezTo>
                  <a:cubicBezTo>
                    <a:pt x="12" y="1250"/>
                    <a:pt x="0" y="1239"/>
                    <a:pt x="0" y="1225"/>
                  </a:cubicBezTo>
                  <a:lnTo>
                    <a:pt x="0" y="1075"/>
                  </a:lnTo>
                  <a:cubicBezTo>
                    <a:pt x="0" y="1061"/>
                    <a:pt x="12" y="1050"/>
                    <a:pt x="25" y="1050"/>
                  </a:cubicBezTo>
                  <a:cubicBezTo>
                    <a:pt x="39" y="1050"/>
                    <a:pt x="50" y="1061"/>
                    <a:pt x="50" y="1075"/>
                  </a:cubicBezTo>
                  <a:close/>
                  <a:moveTo>
                    <a:pt x="50" y="1425"/>
                  </a:moveTo>
                  <a:lnTo>
                    <a:pt x="50" y="1575"/>
                  </a:lnTo>
                  <a:cubicBezTo>
                    <a:pt x="50" y="1589"/>
                    <a:pt x="39" y="1600"/>
                    <a:pt x="25" y="1600"/>
                  </a:cubicBezTo>
                  <a:cubicBezTo>
                    <a:pt x="12" y="1600"/>
                    <a:pt x="0" y="1589"/>
                    <a:pt x="0" y="1575"/>
                  </a:cubicBezTo>
                  <a:lnTo>
                    <a:pt x="0" y="1425"/>
                  </a:lnTo>
                  <a:cubicBezTo>
                    <a:pt x="0" y="1411"/>
                    <a:pt x="12" y="1400"/>
                    <a:pt x="25" y="1400"/>
                  </a:cubicBezTo>
                  <a:cubicBezTo>
                    <a:pt x="39" y="1400"/>
                    <a:pt x="50" y="1411"/>
                    <a:pt x="50" y="1425"/>
                  </a:cubicBezTo>
                  <a:close/>
                  <a:moveTo>
                    <a:pt x="50" y="1775"/>
                  </a:moveTo>
                  <a:lnTo>
                    <a:pt x="50" y="1925"/>
                  </a:lnTo>
                  <a:cubicBezTo>
                    <a:pt x="50" y="1939"/>
                    <a:pt x="39" y="1950"/>
                    <a:pt x="25" y="1950"/>
                  </a:cubicBezTo>
                  <a:cubicBezTo>
                    <a:pt x="12" y="1950"/>
                    <a:pt x="0" y="1939"/>
                    <a:pt x="0" y="1925"/>
                  </a:cubicBezTo>
                  <a:lnTo>
                    <a:pt x="0" y="1775"/>
                  </a:lnTo>
                  <a:cubicBezTo>
                    <a:pt x="0" y="1761"/>
                    <a:pt x="12" y="1750"/>
                    <a:pt x="25" y="1750"/>
                  </a:cubicBezTo>
                  <a:cubicBezTo>
                    <a:pt x="39" y="1750"/>
                    <a:pt x="50" y="1761"/>
                    <a:pt x="50" y="1775"/>
                  </a:cubicBezTo>
                  <a:close/>
                  <a:moveTo>
                    <a:pt x="50" y="2125"/>
                  </a:moveTo>
                  <a:lnTo>
                    <a:pt x="50" y="2275"/>
                  </a:lnTo>
                  <a:cubicBezTo>
                    <a:pt x="50" y="2289"/>
                    <a:pt x="39" y="2300"/>
                    <a:pt x="25" y="2300"/>
                  </a:cubicBezTo>
                  <a:cubicBezTo>
                    <a:pt x="12" y="2300"/>
                    <a:pt x="0" y="2289"/>
                    <a:pt x="0" y="2275"/>
                  </a:cubicBezTo>
                  <a:lnTo>
                    <a:pt x="0" y="2125"/>
                  </a:lnTo>
                  <a:cubicBezTo>
                    <a:pt x="0" y="2111"/>
                    <a:pt x="12" y="2100"/>
                    <a:pt x="25" y="2100"/>
                  </a:cubicBezTo>
                  <a:cubicBezTo>
                    <a:pt x="39" y="2100"/>
                    <a:pt x="50" y="2111"/>
                    <a:pt x="50" y="2125"/>
                  </a:cubicBezTo>
                  <a:close/>
                  <a:moveTo>
                    <a:pt x="50" y="2475"/>
                  </a:moveTo>
                  <a:lnTo>
                    <a:pt x="50" y="2625"/>
                  </a:lnTo>
                  <a:cubicBezTo>
                    <a:pt x="50" y="2639"/>
                    <a:pt x="39" y="2650"/>
                    <a:pt x="25" y="2650"/>
                  </a:cubicBezTo>
                  <a:cubicBezTo>
                    <a:pt x="12" y="2650"/>
                    <a:pt x="0" y="2639"/>
                    <a:pt x="0" y="2625"/>
                  </a:cubicBezTo>
                  <a:lnTo>
                    <a:pt x="0" y="2475"/>
                  </a:lnTo>
                  <a:cubicBezTo>
                    <a:pt x="0" y="2461"/>
                    <a:pt x="12" y="2450"/>
                    <a:pt x="25" y="2450"/>
                  </a:cubicBezTo>
                  <a:cubicBezTo>
                    <a:pt x="39" y="2450"/>
                    <a:pt x="50" y="2461"/>
                    <a:pt x="50" y="2475"/>
                  </a:cubicBezTo>
                  <a:close/>
                  <a:moveTo>
                    <a:pt x="50" y="2825"/>
                  </a:moveTo>
                  <a:lnTo>
                    <a:pt x="50" y="2975"/>
                  </a:lnTo>
                  <a:cubicBezTo>
                    <a:pt x="50" y="2989"/>
                    <a:pt x="39" y="3000"/>
                    <a:pt x="25" y="3000"/>
                  </a:cubicBezTo>
                  <a:cubicBezTo>
                    <a:pt x="12" y="3000"/>
                    <a:pt x="0" y="2989"/>
                    <a:pt x="0" y="2975"/>
                  </a:cubicBezTo>
                  <a:lnTo>
                    <a:pt x="0" y="2825"/>
                  </a:lnTo>
                  <a:cubicBezTo>
                    <a:pt x="0" y="2811"/>
                    <a:pt x="12" y="2800"/>
                    <a:pt x="25" y="2800"/>
                  </a:cubicBezTo>
                  <a:cubicBezTo>
                    <a:pt x="39" y="2800"/>
                    <a:pt x="50" y="2811"/>
                    <a:pt x="50" y="2825"/>
                  </a:cubicBezTo>
                  <a:close/>
                  <a:moveTo>
                    <a:pt x="50" y="3175"/>
                  </a:moveTo>
                  <a:lnTo>
                    <a:pt x="50" y="3325"/>
                  </a:lnTo>
                  <a:cubicBezTo>
                    <a:pt x="50" y="3339"/>
                    <a:pt x="39" y="3350"/>
                    <a:pt x="25" y="3350"/>
                  </a:cubicBezTo>
                  <a:cubicBezTo>
                    <a:pt x="12" y="3350"/>
                    <a:pt x="0" y="3339"/>
                    <a:pt x="0" y="3325"/>
                  </a:cubicBezTo>
                  <a:lnTo>
                    <a:pt x="0" y="3175"/>
                  </a:lnTo>
                  <a:cubicBezTo>
                    <a:pt x="0" y="3161"/>
                    <a:pt x="12" y="3150"/>
                    <a:pt x="25" y="3150"/>
                  </a:cubicBezTo>
                  <a:cubicBezTo>
                    <a:pt x="39" y="3150"/>
                    <a:pt x="50" y="3161"/>
                    <a:pt x="50" y="3175"/>
                  </a:cubicBezTo>
                  <a:close/>
                </a:path>
              </a:pathLst>
            </a:custGeom>
            <a:solidFill>
              <a:srgbClr val="000000"/>
            </a:solidFill>
            <a:ln w="1270">
              <a:solidFill>
                <a:srgbClr val="000000"/>
              </a:solidFill>
              <a:round/>
            </a:ln>
          </p:spPr>
          <p:txBody>
            <a:bodyPr/>
            <a:lstStyle/>
            <a:p>
              <a:endParaRPr lang="zh-CN" altLang="en-US"/>
            </a:p>
          </p:txBody>
        </p:sp>
      </p:grpSp>
      <p:graphicFrame>
        <p:nvGraphicFramePr>
          <p:cNvPr id="88069" name="Object 49"/>
          <p:cNvGraphicFramePr>
            <a:graphicFrameLocks noChangeAspect="1"/>
          </p:cNvGraphicFramePr>
          <p:nvPr/>
        </p:nvGraphicFramePr>
        <p:xfrm>
          <a:off x="1576388" y="5032375"/>
          <a:ext cx="5686425" cy="1530350"/>
        </p:xfrm>
        <a:graphic>
          <a:graphicData uri="http://schemas.openxmlformats.org/presentationml/2006/ole">
            <mc:AlternateContent xmlns:mc="http://schemas.openxmlformats.org/markup-compatibility/2006">
              <mc:Choice xmlns:v="urn:schemas-microsoft-com:vml" Requires="v">
                <p:oleObj spid="_x0000_s88146" name="" r:id="rId1" imgW="2310130" imgH="622300" progId="Equation.3">
                  <p:embed/>
                </p:oleObj>
              </mc:Choice>
              <mc:Fallback>
                <p:oleObj name="" r:id="rId1" imgW="2310130" imgH="622300" progId="Equation.3">
                  <p:embed/>
                  <p:pic>
                    <p:nvPicPr>
                      <p:cNvPr id="0" name="Object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388" y="5032375"/>
                        <a:ext cx="5686425" cy="153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73E04574-B319-41CB-BE77-205332E3E04F}" type="slidenum">
              <a:rPr lang="zh-CN" altLang="zh-CN" sz="1400" smtClean="0"/>
            </a:fld>
            <a:endParaRPr lang="zh-CN" altLang="zh-CN" sz="1400" smtClean="0"/>
          </a:p>
        </p:txBody>
      </p:sp>
      <p:graphicFrame>
        <p:nvGraphicFramePr>
          <p:cNvPr id="89091" name="Object 2"/>
          <p:cNvGraphicFramePr>
            <a:graphicFrameLocks noChangeAspect="1"/>
          </p:cNvGraphicFramePr>
          <p:nvPr/>
        </p:nvGraphicFramePr>
        <p:xfrm>
          <a:off x="5376863" y="708025"/>
          <a:ext cx="3709987" cy="5054600"/>
        </p:xfrm>
        <a:graphic>
          <a:graphicData uri="http://schemas.openxmlformats.org/presentationml/2006/ole">
            <mc:AlternateContent xmlns:mc="http://schemas.openxmlformats.org/markup-compatibility/2006">
              <mc:Choice xmlns:v="urn:schemas-microsoft-com:vml" Requires="v">
                <p:oleObj spid="_x0000_s89124" name="" r:id="rId1" imgW="2019300" imgH="2755900" progId="Equation.3">
                  <p:embed/>
                </p:oleObj>
              </mc:Choice>
              <mc:Fallback>
                <p:oleObj name="" r:id="rId1" imgW="2019300" imgH="275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6863" y="708025"/>
                        <a:ext cx="3709987" cy="505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890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2244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75A9E4F-7658-4758-9EEE-C27B0356DF9D}" type="slidenum">
              <a:rPr lang="zh-CN" altLang="zh-CN" sz="1400" smtClean="0"/>
            </a:fld>
            <a:endParaRPr lang="zh-CN" altLang="zh-CN" sz="1400" smtClean="0"/>
          </a:p>
        </p:txBody>
      </p:sp>
      <p:sp>
        <p:nvSpPr>
          <p:cNvPr id="90115" name="Rectangle 2"/>
          <p:cNvSpPr>
            <a:spLocks noChangeArrowheads="1"/>
          </p:cNvSpPr>
          <p:nvPr/>
        </p:nvSpPr>
        <p:spPr bwMode="auto">
          <a:xfrm>
            <a:off x="812800" y="3019741"/>
            <a:ext cx="7505700"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38125">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zh-CN" sz="2400" dirty="0">
                <a:latin typeface="Times New Roman" panose="02020603050405020304" pitchFamily="18" charset="0"/>
              </a:rPr>
              <a:t>若      恒为0°，    为常数，在已知开环增益的幅频渐近波特图时，负反馈放大电路稳定的条件如下： </a:t>
            </a:r>
            <a:endParaRPr lang="zh-CN" altLang="zh-CN" sz="2400" dirty="0">
              <a:latin typeface="Times New Roman" panose="02020603050405020304" pitchFamily="18" charset="0"/>
            </a:endParaRPr>
          </a:p>
          <a:p>
            <a:pPr>
              <a:lnSpc>
                <a:spcPct val="120000"/>
              </a:lnSpc>
              <a:spcBef>
                <a:spcPct val="0"/>
              </a:spcBef>
              <a:buClrTx/>
              <a:buSzTx/>
              <a:buFont typeface="Arial" panose="020B0604020202020204" pitchFamily="34" charset="0"/>
              <a:buNone/>
            </a:pPr>
            <a:r>
              <a:rPr lang="zh-CN" altLang="zh-CN" sz="2400" dirty="0">
                <a:latin typeface="Times New Roman" panose="02020603050405020304" pitchFamily="18" charset="0"/>
              </a:rPr>
              <a:t>（1）对运放，若反馈增益线与开环增益幅频响应曲线的交点在斜率为-20dB/十倍频的下降段内，则电路稳定；</a:t>
            </a:r>
            <a:endParaRPr lang="zh-CN" altLang="zh-CN" sz="2400" dirty="0">
              <a:latin typeface="Times New Roman" panose="02020603050405020304" pitchFamily="18" charset="0"/>
            </a:endParaRPr>
          </a:p>
          <a:p>
            <a:pPr>
              <a:lnSpc>
                <a:spcPct val="120000"/>
              </a:lnSpc>
              <a:spcBef>
                <a:spcPct val="0"/>
              </a:spcBef>
              <a:buClrTx/>
              <a:buSzTx/>
              <a:buFont typeface="Arial" panose="020B0604020202020204" pitchFamily="34" charset="0"/>
              <a:buNone/>
            </a:pPr>
            <a:r>
              <a:rPr lang="zh-CN" altLang="zh-CN" sz="2400" dirty="0">
                <a:latin typeface="Times New Roman" panose="02020603050405020304" pitchFamily="18" charset="0"/>
              </a:rPr>
              <a:t>（2）对一般电路，若反馈增益线与开环增益幅频响应曲线的交点对应频率的相角绝对值小于135°，则电路稳定。</a:t>
            </a:r>
            <a:endParaRPr lang="zh-CN" altLang="zh-CN" sz="2400" dirty="0">
              <a:latin typeface="Times New Roman" panose="02020603050405020304" pitchFamily="18" charset="0"/>
            </a:endParaRPr>
          </a:p>
        </p:txBody>
      </p:sp>
      <p:graphicFrame>
        <p:nvGraphicFramePr>
          <p:cNvPr id="90116" name="Object 3"/>
          <p:cNvGraphicFramePr>
            <a:graphicFrameLocks noChangeAspect="1"/>
          </p:cNvGraphicFramePr>
          <p:nvPr/>
        </p:nvGraphicFramePr>
        <p:xfrm>
          <a:off x="1509101" y="3070222"/>
          <a:ext cx="349151" cy="410453"/>
        </p:xfrm>
        <a:graphic>
          <a:graphicData uri="http://schemas.openxmlformats.org/presentationml/2006/ole">
            <mc:AlternateContent xmlns:mc="http://schemas.openxmlformats.org/markup-compatibility/2006">
              <mc:Choice xmlns:v="urn:schemas-microsoft-com:vml" Requires="v">
                <p:oleObj spid="_x0000_s90333" name="" r:id="rId1" imgW="165735" imgH="191135" progId="Equation.3">
                  <p:embed/>
                </p:oleObj>
              </mc:Choice>
              <mc:Fallback>
                <p:oleObj name="" r:id="rId1" imgW="165735" imgH="19113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9101" y="3070222"/>
                        <a:ext cx="349151" cy="410453"/>
                      </a:xfrm>
                      <a:prstGeom prst="rect">
                        <a:avLst/>
                      </a:prstGeom>
                      <a:noFill/>
                      <a:ln>
                        <a:noFill/>
                      </a:ln>
                    </p:spPr>
                  </p:pic>
                </p:oleObj>
              </mc:Fallback>
            </mc:AlternateContent>
          </a:graphicData>
        </a:graphic>
      </p:graphicFrame>
      <p:graphicFrame>
        <p:nvGraphicFramePr>
          <p:cNvPr id="90117" name="Object 4"/>
          <p:cNvGraphicFramePr>
            <a:graphicFrameLocks noChangeAspect="1"/>
          </p:cNvGraphicFramePr>
          <p:nvPr/>
        </p:nvGraphicFramePr>
        <p:xfrm>
          <a:off x="3150068" y="3006224"/>
          <a:ext cx="444788" cy="511977"/>
        </p:xfrm>
        <a:graphic>
          <a:graphicData uri="http://schemas.openxmlformats.org/presentationml/2006/ole">
            <mc:AlternateContent xmlns:mc="http://schemas.openxmlformats.org/markup-compatibility/2006">
              <mc:Choice xmlns:v="urn:schemas-microsoft-com:vml" Requires="v">
                <p:oleObj spid="_x0000_s90334" name="" r:id="rId3" imgW="191135" imgH="216535" progId="Equation.3">
                  <p:embed/>
                </p:oleObj>
              </mc:Choice>
              <mc:Fallback>
                <p:oleObj name="" r:id="rId3" imgW="191135" imgH="21653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0068" y="3006224"/>
                        <a:ext cx="444788" cy="511977"/>
                      </a:xfrm>
                      <a:prstGeom prst="rect">
                        <a:avLst/>
                      </a:prstGeom>
                      <a:noFill/>
                      <a:ln>
                        <a:noFill/>
                      </a:ln>
                    </p:spPr>
                  </p:pic>
                </p:oleObj>
              </mc:Fallback>
            </mc:AlternateContent>
          </a:graphicData>
        </a:graphic>
      </p:graphicFrame>
      <p:grpSp>
        <p:nvGrpSpPr>
          <p:cNvPr id="90118" name="Group 5"/>
          <p:cNvGrpSpPr>
            <a:grpSpLocks noChangeAspect="1"/>
          </p:cNvGrpSpPr>
          <p:nvPr/>
        </p:nvGrpSpPr>
        <p:grpSpPr bwMode="auto">
          <a:xfrm>
            <a:off x="1009650" y="50800"/>
            <a:ext cx="6885064" cy="2995613"/>
            <a:chOff x="0" y="0"/>
            <a:chExt cx="6766" cy="3014"/>
          </a:xfrm>
        </p:grpSpPr>
        <p:sp>
          <p:nvSpPr>
            <p:cNvPr id="90128" name="AutoShape 6"/>
            <p:cNvSpPr>
              <a:spLocks noChangeAspect="1" noChangeArrowheads="1"/>
            </p:cNvSpPr>
            <p:nvPr/>
          </p:nvSpPr>
          <p:spPr bwMode="auto">
            <a:xfrm>
              <a:off x="0" y="0"/>
              <a:ext cx="6599" cy="3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
          <p:nvSpPr>
            <p:cNvPr id="90129" name="Rectangle 7"/>
            <p:cNvSpPr>
              <a:spLocks noChangeArrowheads="1"/>
            </p:cNvSpPr>
            <p:nvPr/>
          </p:nvSpPr>
          <p:spPr bwMode="auto">
            <a:xfrm>
              <a:off x="5434" y="2003"/>
              <a:ext cx="133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dirty="0">
                  <a:solidFill>
                    <a:srgbClr val="000000"/>
                  </a:solidFill>
                  <a:latin typeface="Times New Roman" panose="02020603050405020304" pitchFamily="18" charset="0"/>
                </a:rPr>
                <a:t>-60dB/10</a:t>
              </a:r>
              <a:r>
                <a:rPr lang="zh-CN" altLang="zh-CN" sz="1600" dirty="0">
                  <a:solidFill>
                    <a:srgbClr val="000000"/>
                  </a:solidFill>
                  <a:latin typeface="宋体" panose="02010600030101010101" pitchFamily="2" charset="-122"/>
                </a:rPr>
                <a:t>倍频</a:t>
              </a:r>
              <a:endParaRPr lang="zh-CN" altLang="zh-CN" sz="1600" dirty="0">
                <a:latin typeface="Times New Roman" panose="02020603050405020304" pitchFamily="18" charset="0"/>
              </a:endParaRPr>
            </a:p>
          </p:txBody>
        </p:sp>
        <p:sp>
          <p:nvSpPr>
            <p:cNvPr id="90130" name="Freeform 8"/>
            <p:cNvSpPr>
              <a:spLocks noEditPoints="1"/>
            </p:cNvSpPr>
            <p:nvPr/>
          </p:nvSpPr>
          <p:spPr bwMode="auto">
            <a:xfrm>
              <a:off x="277" y="138"/>
              <a:ext cx="87" cy="2553"/>
            </a:xfrm>
            <a:custGeom>
              <a:avLst/>
              <a:gdLst>
                <a:gd name="T0" fmla="*/ 0 w 400"/>
                <a:gd name="T1" fmla="*/ 0 h 11750"/>
                <a:gd name="T2" fmla="*/ 0 w 400"/>
                <a:gd name="T3" fmla="*/ 0 h 11750"/>
                <a:gd name="T4" fmla="*/ 0 w 400"/>
                <a:gd name="T5" fmla="*/ 0 h 11750"/>
                <a:gd name="T6" fmla="*/ 0 w 400"/>
                <a:gd name="T7" fmla="*/ 0 h 11750"/>
                <a:gd name="T8" fmla="*/ 0 w 400"/>
                <a:gd name="T9" fmla="*/ 0 h 11750"/>
                <a:gd name="T10" fmla="*/ 0 w 400"/>
                <a:gd name="T11" fmla="*/ 0 h 11750"/>
                <a:gd name="T12" fmla="*/ 0 w 400"/>
                <a:gd name="T13" fmla="*/ 0 h 11750"/>
                <a:gd name="T14" fmla="*/ 0 w 400"/>
                <a:gd name="T15" fmla="*/ 0 h 11750"/>
                <a:gd name="T16" fmla="*/ 0 w 400"/>
                <a:gd name="T17" fmla="*/ 0 h 11750"/>
                <a:gd name="T18" fmla="*/ 0 w 400"/>
                <a:gd name="T19" fmla="*/ 0 h 11750"/>
                <a:gd name="T20" fmla="*/ 0 w 400"/>
                <a:gd name="T21" fmla="*/ 0 h 11750"/>
                <a:gd name="T22" fmla="*/ 0 w 400"/>
                <a:gd name="T23" fmla="*/ 0 h 117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0"/>
                <a:gd name="T37" fmla="*/ 0 h 11750"/>
                <a:gd name="T38" fmla="*/ 400 w 400"/>
                <a:gd name="T39" fmla="*/ 11750 h 117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0" h="11750">
                  <a:moveTo>
                    <a:pt x="167" y="11717"/>
                  </a:moveTo>
                  <a:lnTo>
                    <a:pt x="167" y="400"/>
                  </a:lnTo>
                  <a:cubicBezTo>
                    <a:pt x="167" y="382"/>
                    <a:pt x="182" y="367"/>
                    <a:pt x="200" y="367"/>
                  </a:cubicBezTo>
                  <a:cubicBezTo>
                    <a:pt x="219" y="367"/>
                    <a:pt x="233" y="382"/>
                    <a:pt x="233" y="400"/>
                  </a:cubicBezTo>
                  <a:lnTo>
                    <a:pt x="233" y="11717"/>
                  </a:lnTo>
                  <a:cubicBezTo>
                    <a:pt x="233" y="11735"/>
                    <a:pt x="219" y="11750"/>
                    <a:pt x="200" y="11750"/>
                  </a:cubicBezTo>
                  <a:cubicBezTo>
                    <a:pt x="182" y="11750"/>
                    <a:pt x="167" y="11735"/>
                    <a:pt x="167" y="11717"/>
                  </a:cubicBezTo>
                  <a:close/>
                  <a:moveTo>
                    <a:pt x="200" y="400"/>
                  </a:moveTo>
                  <a:lnTo>
                    <a:pt x="0" y="667"/>
                  </a:lnTo>
                  <a:lnTo>
                    <a:pt x="200" y="0"/>
                  </a:lnTo>
                  <a:lnTo>
                    <a:pt x="400" y="667"/>
                  </a:lnTo>
                  <a:lnTo>
                    <a:pt x="200" y="400"/>
                  </a:lnTo>
                  <a:close/>
                </a:path>
              </a:pathLst>
            </a:custGeom>
            <a:solidFill>
              <a:srgbClr val="000000"/>
            </a:solidFill>
            <a:ln w="1270">
              <a:solidFill>
                <a:srgbClr val="000000"/>
              </a:solidFill>
              <a:round/>
            </a:ln>
          </p:spPr>
          <p:txBody>
            <a:bodyPr/>
            <a:lstStyle/>
            <a:p>
              <a:endParaRPr lang="zh-CN" altLang="en-US"/>
            </a:p>
          </p:txBody>
        </p:sp>
        <p:sp>
          <p:nvSpPr>
            <p:cNvPr id="90131" name="Freeform 9"/>
            <p:cNvSpPr>
              <a:spLocks noEditPoints="1"/>
            </p:cNvSpPr>
            <p:nvPr/>
          </p:nvSpPr>
          <p:spPr bwMode="auto">
            <a:xfrm>
              <a:off x="309" y="2539"/>
              <a:ext cx="6236" cy="87"/>
            </a:xfrm>
            <a:custGeom>
              <a:avLst/>
              <a:gdLst>
                <a:gd name="T0" fmla="*/ 0 w 23475"/>
                <a:gd name="T1" fmla="*/ 0 h 400"/>
                <a:gd name="T2" fmla="*/ 2 w 23475"/>
                <a:gd name="T3" fmla="*/ 0 h 400"/>
                <a:gd name="T4" fmla="*/ 2 w 23475"/>
                <a:gd name="T5" fmla="*/ 0 h 400"/>
                <a:gd name="T6" fmla="*/ 2 w 23475"/>
                <a:gd name="T7" fmla="*/ 0 h 400"/>
                <a:gd name="T8" fmla="*/ 0 w 23475"/>
                <a:gd name="T9" fmla="*/ 0 h 400"/>
                <a:gd name="T10" fmla="*/ 0 w 23475"/>
                <a:gd name="T11" fmla="*/ 0 h 400"/>
                <a:gd name="T12" fmla="*/ 0 w 23475"/>
                <a:gd name="T13" fmla="*/ 0 h 400"/>
                <a:gd name="T14" fmla="*/ 2 w 23475"/>
                <a:gd name="T15" fmla="*/ 0 h 400"/>
                <a:gd name="T16" fmla="*/ 2 w 23475"/>
                <a:gd name="T17" fmla="*/ 0 h 400"/>
                <a:gd name="T18" fmla="*/ 2 w 23475"/>
                <a:gd name="T19" fmla="*/ 0 h 400"/>
                <a:gd name="T20" fmla="*/ 2 w 23475"/>
                <a:gd name="T21" fmla="*/ 0 h 400"/>
                <a:gd name="T22" fmla="*/ 2 w 23475"/>
                <a:gd name="T23" fmla="*/ 0 h 4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475"/>
                <a:gd name="T37" fmla="*/ 0 h 400"/>
                <a:gd name="T38" fmla="*/ 23475 w 23475"/>
                <a:gd name="T39" fmla="*/ 400 h 4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475" h="400">
                  <a:moveTo>
                    <a:pt x="33" y="167"/>
                  </a:moveTo>
                  <a:lnTo>
                    <a:pt x="23075" y="167"/>
                  </a:lnTo>
                  <a:cubicBezTo>
                    <a:pt x="23094" y="167"/>
                    <a:pt x="23109" y="182"/>
                    <a:pt x="23109" y="200"/>
                  </a:cubicBezTo>
                  <a:cubicBezTo>
                    <a:pt x="23109" y="219"/>
                    <a:pt x="23094" y="233"/>
                    <a:pt x="23075" y="233"/>
                  </a:cubicBezTo>
                  <a:lnTo>
                    <a:pt x="33" y="233"/>
                  </a:lnTo>
                  <a:cubicBezTo>
                    <a:pt x="15" y="233"/>
                    <a:pt x="0" y="219"/>
                    <a:pt x="0" y="200"/>
                  </a:cubicBezTo>
                  <a:cubicBezTo>
                    <a:pt x="0" y="182"/>
                    <a:pt x="15" y="167"/>
                    <a:pt x="33" y="167"/>
                  </a:cubicBezTo>
                  <a:close/>
                  <a:moveTo>
                    <a:pt x="23075" y="200"/>
                  </a:moveTo>
                  <a:lnTo>
                    <a:pt x="22808" y="0"/>
                  </a:lnTo>
                  <a:lnTo>
                    <a:pt x="23475" y="200"/>
                  </a:lnTo>
                  <a:lnTo>
                    <a:pt x="22808" y="400"/>
                  </a:lnTo>
                  <a:lnTo>
                    <a:pt x="23075" y="200"/>
                  </a:lnTo>
                  <a:close/>
                </a:path>
              </a:pathLst>
            </a:custGeom>
            <a:solidFill>
              <a:srgbClr val="000000"/>
            </a:solidFill>
            <a:ln w="1270">
              <a:solidFill>
                <a:srgbClr val="000000"/>
              </a:solidFill>
              <a:round/>
            </a:ln>
          </p:spPr>
          <p:txBody>
            <a:bodyPr/>
            <a:lstStyle/>
            <a:p>
              <a:endParaRPr lang="zh-CN" altLang="en-US"/>
            </a:p>
          </p:txBody>
        </p:sp>
        <p:sp>
          <p:nvSpPr>
            <p:cNvPr id="90132" name="Line 10"/>
            <p:cNvSpPr>
              <a:spLocks noChangeShapeType="1"/>
            </p:cNvSpPr>
            <p:nvPr/>
          </p:nvSpPr>
          <p:spPr bwMode="auto">
            <a:xfrm>
              <a:off x="1394"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3" name="Line 11"/>
            <p:cNvSpPr>
              <a:spLocks noChangeShapeType="1"/>
            </p:cNvSpPr>
            <p:nvPr/>
          </p:nvSpPr>
          <p:spPr bwMode="auto">
            <a:xfrm>
              <a:off x="2549"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4" name="Line 12"/>
            <p:cNvSpPr>
              <a:spLocks noChangeShapeType="1"/>
            </p:cNvSpPr>
            <p:nvPr/>
          </p:nvSpPr>
          <p:spPr bwMode="auto">
            <a:xfrm>
              <a:off x="3700"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5" name="Line 13"/>
            <p:cNvSpPr>
              <a:spLocks noChangeShapeType="1"/>
            </p:cNvSpPr>
            <p:nvPr/>
          </p:nvSpPr>
          <p:spPr bwMode="auto">
            <a:xfrm>
              <a:off x="4859" y="2499"/>
              <a:ext cx="1" cy="84"/>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6" name="Line 14"/>
            <p:cNvSpPr>
              <a:spLocks noChangeShapeType="1"/>
            </p:cNvSpPr>
            <p:nvPr/>
          </p:nvSpPr>
          <p:spPr bwMode="auto">
            <a:xfrm>
              <a:off x="320" y="2192"/>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7" name="Line 15"/>
            <p:cNvSpPr>
              <a:spLocks noChangeShapeType="1"/>
            </p:cNvSpPr>
            <p:nvPr/>
          </p:nvSpPr>
          <p:spPr bwMode="auto">
            <a:xfrm>
              <a:off x="320" y="1780"/>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8" name="Line 16"/>
            <p:cNvSpPr>
              <a:spLocks noChangeShapeType="1"/>
            </p:cNvSpPr>
            <p:nvPr/>
          </p:nvSpPr>
          <p:spPr bwMode="auto">
            <a:xfrm>
              <a:off x="320" y="1370"/>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39" name="Line 17"/>
            <p:cNvSpPr>
              <a:spLocks noChangeShapeType="1"/>
            </p:cNvSpPr>
            <p:nvPr/>
          </p:nvSpPr>
          <p:spPr bwMode="auto">
            <a:xfrm>
              <a:off x="320" y="958"/>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40" name="Line 18"/>
            <p:cNvSpPr>
              <a:spLocks noChangeShapeType="1"/>
            </p:cNvSpPr>
            <p:nvPr/>
          </p:nvSpPr>
          <p:spPr bwMode="auto">
            <a:xfrm>
              <a:off x="320" y="547"/>
              <a:ext cx="82" cy="1"/>
            </a:xfrm>
            <a:prstGeom prst="line">
              <a:avLst/>
            </a:prstGeom>
            <a:noFill/>
            <a:ln w="698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41" name="Rectangle 19"/>
            <p:cNvSpPr>
              <a:spLocks noChangeArrowheads="1"/>
            </p:cNvSpPr>
            <p:nvPr/>
          </p:nvSpPr>
          <p:spPr bwMode="auto">
            <a:xfrm>
              <a:off x="434" y="123"/>
              <a:ext cx="575"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20lg|</a:t>
              </a:r>
              <a:r>
                <a:rPr lang="zh-CN" altLang="zh-CN" sz="1600" i="1">
                  <a:solidFill>
                    <a:srgbClr val="000000"/>
                  </a:solidFill>
                  <a:latin typeface="Times New Roman" panose="02020603050405020304" pitchFamily="18" charset="0"/>
                </a:rPr>
                <a:t>A</a:t>
              </a: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90142" name="Rectangle 20"/>
            <p:cNvSpPr>
              <a:spLocks noChangeArrowheads="1"/>
            </p:cNvSpPr>
            <p:nvPr/>
          </p:nvSpPr>
          <p:spPr bwMode="auto">
            <a:xfrm>
              <a:off x="796" y="0"/>
              <a:ext cx="5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a:t>
              </a:r>
              <a:endParaRPr lang="zh-CN" altLang="zh-CN" sz="1600">
                <a:latin typeface="Times New Roman" panose="02020603050405020304" pitchFamily="18" charset="0"/>
              </a:endParaRPr>
            </a:p>
          </p:txBody>
        </p:sp>
        <p:sp>
          <p:nvSpPr>
            <p:cNvPr id="90143" name="Rectangle 21"/>
            <p:cNvSpPr>
              <a:spLocks noChangeArrowheads="1"/>
            </p:cNvSpPr>
            <p:nvPr/>
          </p:nvSpPr>
          <p:spPr bwMode="auto">
            <a:xfrm>
              <a:off x="86" y="2092"/>
              <a:ext cx="19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20</a:t>
              </a:r>
              <a:endParaRPr lang="zh-CN" altLang="zh-CN" sz="1600">
                <a:latin typeface="Times New Roman" panose="02020603050405020304" pitchFamily="18" charset="0"/>
              </a:endParaRPr>
            </a:p>
          </p:txBody>
        </p:sp>
        <p:sp>
          <p:nvSpPr>
            <p:cNvPr id="90144" name="Rectangle 22"/>
            <p:cNvSpPr>
              <a:spLocks noChangeArrowheads="1"/>
            </p:cNvSpPr>
            <p:nvPr/>
          </p:nvSpPr>
          <p:spPr bwMode="auto">
            <a:xfrm>
              <a:off x="86" y="1679"/>
              <a:ext cx="19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40</a:t>
              </a:r>
              <a:endParaRPr lang="zh-CN" altLang="zh-CN" sz="1600">
                <a:latin typeface="Times New Roman" panose="02020603050405020304" pitchFamily="18" charset="0"/>
              </a:endParaRPr>
            </a:p>
          </p:txBody>
        </p:sp>
        <p:sp>
          <p:nvSpPr>
            <p:cNvPr id="90145" name="Rectangle 23"/>
            <p:cNvSpPr>
              <a:spLocks noChangeArrowheads="1"/>
            </p:cNvSpPr>
            <p:nvPr/>
          </p:nvSpPr>
          <p:spPr bwMode="auto">
            <a:xfrm>
              <a:off x="86" y="1268"/>
              <a:ext cx="199"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60</a:t>
              </a:r>
              <a:endParaRPr lang="zh-CN" altLang="zh-CN" sz="1600">
                <a:latin typeface="Times New Roman" panose="02020603050405020304" pitchFamily="18" charset="0"/>
              </a:endParaRPr>
            </a:p>
          </p:txBody>
        </p:sp>
        <p:sp>
          <p:nvSpPr>
            <p:cNvPr id="90146" name="Rectangle 24"/>
            <p:cNvSpPr>
              <a:spLocks noChangeArrowheads="1"/>
            </p:cNvSpPr>
            <p:nvPr/>
          </p:nvSpPr>
          <p:spPr bwMode="auto">
            <a:xfrm>
              <a:off x="86" y="858"/>
              <a:ext cx="19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80</a:t>
              </a:r>
              <a:endParaRPr lang="zh-CN" altLang="zh-CN" sz="1600">
                <a:latin typeface="Times New Roman" panose="02020603050405020304" pitchFamily="18" charset="0"/>
              </a:endParaRPr>
            </a:p>
          </p:txBody>
        </p:sp>
        <p:sp>
          <p:nvSpPr>
            <p:cNvPr id="90147" name="Rectangle 25"/>
            <p:cNvSpPr>
              <a:spLocks noChangeArrowheads="1"/>
            </p:cNvSpPr>
            <p:nvPr/>
          </p:nvSpPr>
          <p:spPr bwMode="auto">
            <a:xfrm>
              <a:off x="0" y="447"/>
              <a:ext cx="3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100</a:t>
              </a:r>
              <a:endParaRPr lang="zh-CN" altLang="zh-CN" sz="1600">
                <a:latin typeface="Times New Roman" panose="02020603050405020304" pitchFamily="18" charset="0"/>
              </a:endParaRPr>
            </a:p>
          </p:txBody>
        </p:sp>
        <p:sp>
          <p:nvSpPr>
            <p:cNvPr id="90148" name="Rectangle 26"/>
            <p:cNvSpPr>
              <a:spLocks noChangeArrowheads="1"/>
            </p:cNvSpPr>
            <p:nvPr/>
          </p:nvSpPr>
          <p:spPr bwMode="auto">
            <a:xfrm>
              <a:off x="176" y="2417"/>
              <a:ext cx="10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0</a:t>
              </a:r>
              <a:endParaRPr lang="zh-CN" altLang="zh-CN" sz="1600">
                <a:latin typeface="Times New Roman" panose="02020603050405020304" pitchFamily="18" charset="0"/>
              </a:endParaRPr>
            </a:p>
          </p:txBody>
        </p:sp>
        <p:sp>
          <p:nvSpPr>
            <p:cNvPr id="90149" name="Rectangle 27"/>
            <p:cNvSpPr>
              <a:spLocks noChangeArrowheads="1"/>
            </p:cNvSpPr>
            <p:nvPr/>
          </p:nvSpPr>
          <p:spPr bwMode="auto">
            <a:xfrm>
              <a:off x="1303" y="2695"/>
              <a:ext cx="19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10</a:t>
              </a:r>
              <a:endParaRPr lang="zh-CN" altLang="zh-CN" sz="1600">
                <a:latin typeface="Times New Roman" panose="02020603050405020304" pitchFamily="18" charset="0"/>
              </a:endParaRPr>
            </a:p>
          </p:txBody>
        </p:sp>
        <p:sp>
          <p:nvSpPr>
            <p:cNvPr id="90150" name="Rectangle 28"/>
            <p:cNvSpPr>
              <a:spLocks noChangeArrowheads="1"/>
            </p:cNvSpPr>
            <p:nvPr/>
          </p:nvSpPr>
          <p:spPr bwMode="auto">
            <a:xfrm>
              <a:off x="1510" y="2594"/>
              <a:ext cx="10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0</a:t>
              </a:r>
              <a:endParaRPr lang="zh-CN" altLang="zh-CN" sz="1600">
                <a:latin typeface="Times New Roman" panose="02020603050405020304" pitchFamily="18" charset="0"/>
              </a:endParaRPr>
            </a:p>
          </p:txBody>
        </p:sp>
        <p:sp>
          <p:nvSpPr>
            <p:cNvPr id="90151" name="Rectangle 29"/>
            <p:cNvSpPr>
              <a:spLocks noChangeArrowheads="1"/>
            </p:cNvSpPr>
            <p:nvPr/>
          </p:nvSpPr>
          <p:spPr bwMode="auto">
            <a:xfrm>
              <a:off x="2454" y="2693"/>
              <a:ext cx="20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10</a:t>
              </a:r>
              <a:endParaRPr lang="zh-CN" altLang="zh-CN" sz="1600">
                <a:latin typeface="Times New Roman" panose="02020603050405020304" pitchFamily="18" charset="0"/>
              </a:endParaRPr>
            </a:p>
          </p:txBody>
        </p:sp>
        <p:sp>
          <p:nvSpPr>
            <p:cNvPr id="90152" name="Rectangle 30"/>
            <p:cNvSpPr>
              <a:spLocks noChangeArrowheads="1"/>
            </p:cNvSpPr>
            <p:nvPr/>
          </p:nvSpPr>
          <p:spPr bwMode="auto">
            <a:xfrm>
              <a:off x="2633" y="2587"/>
              <a:ext cx="1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a:t>
              </a:r>
              <a:endParaRPr lang="zh-CN" altLang="zh-CN" sz="1600">
                <a:latin typeface="Times New Roman" panose="02020603050405020304" pitchFamily="18" charset="0"/>
              </a:endParaRPr>
            </a:p>
          </p:txBody>
        </p:sp>
        <p:sp>
          <p:nvSpPr>
            <p:cNvPr id="90153" name="Rectangle 31"/>
            <p:cNvSpPr>
              <a:spLocks noChangeArrowheads="1"/>
            </p:cNvSpPr>
            <p:nvPr/>
          </p:nvSpPr>
          <p:spPr bwMode="auto">
            <a:xfrm>
              <a:off x="3579" y="2693"/>
              <a:ext cx="234"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10</a:t>
              </a:r>
              <a:endParaRPr lang="zh-CN" altLang="zh-CN" sz="1600">
                <a:latin typeface="Times New Roman" panose="02020603050405020304" pitchFamily="18" charset="0"/>
              </a:endParaRPr>
            </a:p>
          </p:txBody>
        </p:sp>
        <p:sp>
          <p:nvSpPr>
            <p:cNvPr id="90154" name="Rectangle 32"/>
            <p:cNvSpPr>
              <a:spLocks noChangeArrowheads="1"/>
            </p:cNvSpPr>
            <p:nvPr/>
          </p:nvSpPr>
          <p:spPr bwMode="auto">
            <a:xfrm>
              <a:off x="3800" y="2598"/>
              <a:ext cx="1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2</a:t>
              </a:r>
              <a:endParaRPr lang="zh-CN" altLang="zh-CN" sz="1600">
                <a:latin typeface="Times New Roman" panose="02020603050405020304" pitchFamily="18" charset="0"/>
              </a:endParaRPr>
            </a:p>
          </p:txBody>
        </p:sp>
        <p:sp>
          <p:nvSpPr>
            <p:cNvPr id="90155" name="Rectangle 33"/>
            <p:cNvSpPr>
              <a:spLocks noChangeArrowheads="1"/>
            </p:cNvSpPr>
            <p:nvPr/>
          </p:nvSpPr>
          <p:spPr bwMode="auto">
            <a:xfrm>
              <a:off x="4766" y="2691"/>
              <a:ext cx="20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10</a:t>
              </a:r>
              <a:endParaRPr lang="zh-CN" altLang="zh-CN" sz="1600">
                <a:latin typeface="Times New Roman" panose="02020603050405020304" pitchFamily="18" charset="0"/>
              </a:endParaRPr>
            </a:p>
          </p:txBody>
        </p:sp>
        <p:sp>
          <p:nvSpPr>
            <p:cNvPr id="90156" name="Rectangle 34"/>
            <p:cNvSpPr>
              <a:spLocks noChangeArrowheads="1"/>
            </p:cNvSpPr>
            <p:nvPr/>
          </p:nvSpPr>
          <p:spPr bwMode="auto">
            <a:xfrm>
              <a:off x="4973" y="2600"/>
              <a:ext cx="1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3</a:t>
              </a:r>
              <a:endParaRPr lang="zh-CN" altLang="zh-CN" sz="1600">
                <a:latin typeface="Times New Roman" panose="02020603050405020304" pitchFamily="18" charset="0"/>
              </a:endParaRPr>
            </a:p>
          </p:txBody>
        </p:sp>
        <p:sp>
          <p:nvSpPr>
            <p:cNvPr id="90157" name="Rectangle 35"/>
            <p:cNvSpPr>
              <a:spLocks noChangeArrowheads="1"/>
            </p:cNvSpPr>
            <p:nvPr/>
          </p:nvSpPr>
          <p:spPr bwMode="auto">
            <a:xfrm>
              <a:off x="6281" y="2640"/>
              <a:ext cx="236"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i="1">
                  <a:solidFill>
                    <a:srgbClr val="000000"/>
                  </a:solidFill>
                  <a:latin typeface="Times New Roman" panose="02020603050405020304" pitchFamily="18" charset="0"/>
                </a:rPr>
                <a:t>f</a:t>
              </a:r>
              <a:endParaRPr lang="zh-CN" altLang="zh-CN" sz="1600">
                <a:latin typeface="Times New Roman" panose="02020603050405020304" pitchFamily="18" charset="0"/>
              </a:endParaRPr>
            </a:p>
          </p:txBody>
        </p:sp>
        <p:sp>
          <p:nvSpPr>
            <p:cNvPr id="90158" name="Line 36"/>
            <p:cNvSpPr>
              <a:spLocks noChangeShapeType="1"/>
            </p:cNvSpPr>
            <p:nvPr/>
          </p:nvSpPr>
          <p:spPr bwMode="auto">
            <a:xfrm>
              <a:off x="329" y="547"/>
              <a:ext cx="2197" cy="1"/>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59" name="Rectangle 37"/>
            <p:cNvSpPr>
              <a:spLocks noChangeArrowheads="1"/>
            </p:cNvSpPr>
            <p:nvPr/>
          </p:nvSpPr>
          <p:spPr bwMode="auto">
            <a:xfrm>
              <a:off x="3172" y="478"/>
              <a:ext cx="1255"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-20dB/10</a:t>
              </a:r>
              <a:r>
                <a:rPr lang="zh-CN" altLang="zh-CN" sz="1600">
                  <a:solidFill>
                    <a:srgbClr val="000000"/>
                  </a:solidFill>
                  <a:latin typeface="宋体" panose="02010600030101010101" pitchFamily="2" charset="-122"/>
                </a:rPr>
                <a:t>倍频</a:t>
              </a:r>
              <a:endParaRPr lang="zh-CN" altLang="zh-CN" sz="1600">
                <a:latin typeface="Times New Roman" panose="02020603050405020304" pitchFamily="18" charset="0"/>
              </a:endParaRPr>
            </a:p>
          </p:txBody>
        </p:sp>
        <p:sp>
          <p:nvSpPr>
            <p:cNvPr id="90160" name="Rectangle 38"/>
            <p:cNvSpPr>
              <a:spLocks noChangeArrowheads="1"/>
            </p:cNvSpPr>
            <p:nvPr/>
          </p:nvSpPr>
          <p:spPr bwMode="auto">
            <a:xfrm>
              <a:off x="4374" y="1124"/>
              <a:ext cx="118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-40dB/10</a:t>
              </a:r>
              <a:r>
                <a:rPr lang="zh-CN" altLang="zh-CN" sz="1600">
                  <a:solidFill>
                    <a:srgbClr val="000000"/>
                  </a:solidFill>
                  <a:latin typeface="宋体" panose="02010600030101010101" pitchFamily="2" charset="-122"/>
                </a:rPr>
                <a:t>倍频</a:t>
              </a:r>
              <a:endParaRPr lang="zh-CN" altLang="zh-CN" sz="1600">
                <a:latin typeface="Times New Roman" panose="02020603050405020304" pitchFamily="18" charset="0"/>
              </a:endParaRPr>
            </a:p>
          </p:txBody>
        </p:sp>
        <p:sp>
          <p:nvSpPr>
            <p:cNvPr id="90161" name="Line 39"/>
            <p:cNvSpPr>
              <a:spLocks noChangeShapeType="1"/>
            </p:cNvSpPr>
            <p:nvPr/>
          </p:nvSpPr>
          <p:spPr bwMode="auto">
            <a:xfrm>
              <a:off x="3705" y="960"/>
              <a:ext cx="1156" cy="834"/>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62" name="Line 40"/>
            <p:cNvSpPr>
              <a:spLocks noChangeShapeType="1"/>
            </p:cNvSpPr>
            <p:nvPr/>
          </p:nvSpPr>
          <p:spPr bwMode="auto">
            <a:xfrm>
              <a:off x="2547" y="549"/>
              <a:ext cx="1152" cy="411"/>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63" name="Line 41"/>
            <p:cNvSpPr>
              <a:spLocks noChangeShapeType="1"/>
            </p:cNvSpPr>
            <p:nvPr/>
          </p:nvSpPr>
          <p:spPr bwMode="auto">
            <a:xfrm>
              <a:off x="4857" y="1790"/>
              <a:ext cx="908" cy="865"/>
            </a:xfrm>
            <a:prstGeom prst="line">
              <a:avLst/>
            </a:prstGeom>
            <a:noFill/>
            <a:ln w="1651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164" name="Rectangle 42"/>
            <p:cNvSpPr>
              <a:spLocks noChangeArrowheads="1"/>
            </p:cNvSpPr>
            <p:nvPr/>
          </p:nvSpPr>
          <p:spPr bwMode="auto">
            <a:xfrm>
              <a:off x="2713" y="347"/>
              <a:ext cx="27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-45</a:t>
              </a:r>
              <a:endParaRPr lang="zh-CN" altLang="zh-CN" sz="1600">
                <a:latin typeface="Times New Roman" panose="02020603050405020304" pitchFamily="18" charset="0"/>
              </a:endParaRPr>
            </a:p>
          </p:txBody>
        </p:sp>
        <p:sp>
          <p:nvSpPr>
            <p:cNvPr id="90165" name="Rectangle 43"/>
            <p:cNvSpPr>
              <a:spLocks noChangeArrowheads="1"/>
            </p:cNvSpPr>
            <p:nvPr/>
          </p:nvSpPr>
          <p:spPr bwMode="auto">
            <a:xfrm>
              <a:off x="2950" y="295"/>
              <a:ext cx="2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宋体" panose="02010600030101010101" pitchFamily="2" charset="-122"/>
                </a:rPr>
                <a:t>°</a:t>
              </a:r>
              <a:endParaRPr lang="zh-CN" altLang="zh-CN" sz="1600">
                <a:latin typeface="Times New Roman" panose="02020603050405020304" pitchFamily="18" charset="0"/>
              </a:endParaRPr>
            </a:p>
          </p:txBody>
        </p:sp>
        <p:sp>
          <p:nvSpPr>
            <p:cNvPr id="90166" name="Rectangle 44"/>
            <p:cNvSpPr>
              <a:spLocks noChangeArrowheads="1"/>
            </p:cNvSpPr>
            <p:nvPr/>
          </p:nvSpPr>
          <p:spPr bwMode="auto">
            <a:xfrm>
              <a:off x="3886" y="815"/>
              <a:ext cx="409"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-135</a:t>
              </a:r>
              <a:endParaRPr lang="zh-CN" altLang="zh-CN" sz="1600">
                <a:latin typeface="Times New Roman" panose="02020603050405020304" pitchFamily="18" charset="0"/>
              </a:endParaRPr>
            </a:p>
          </p:txBody>
        </p:sp>
        <p:sp>
          <p:nvSpPr>
            <p:cNvPr id="90167" name="Rectangle 45"/>
            <p:cNvSpPr>
              <a:spLocks noChangeArrowheads="1"/>
            </p:cNvSpPr>
            <p:nvPr/>
          </p:nvSpPr>
          <p:spPr bwMode="auto">
            <a:xfrm>
              <a:off x="4215" y="807"/>
              <a:ext cx="20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宋体" panose="02010600030101010101" pitchFamily="2" charset="-122"/>
                </a:rPr>
                <a:t>°</a:t>
              </a:r>
              <a:endParaRPr lang="zh-CN" altLang="zh-CN" sz="1600">
                <a:latin typeface="Times New Roman" panose="02020603050405020304" pitchFamily="18" charset="0"/>
              </a:endParaRPr>
            </a:p>
          </p:txBody>
        </p:sp>
        <p:sp>
          <p:nvSpPr>
            <p:cNvPr id="90168" name="Rectangle 46"/>
            <p:cNvSpPr>
              <a:spLocks noChangeArrowheads="1"/>
            </p:cNvSpPr>
            <p:nvPr/>
          </p:nvSpPr>
          <p:spPr bwMode="auto">
            <a:xfrm>
              <a:off x="4956" y="1594"/>
              <a:ext cx="428"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Times New Roman" panose="02020603050405020304" pitchFamily="18" charset="0"/>
                </a:rPr>
                <a:t>-225</a:t>
              </a:r>
              <a:endParaRPr lang="zh-CN" altLang="zh-CN" sz="1600">
                <a:latin typeface="Times New Roman" panose="02020603050405020304" pitchFamily="18" charset="0"/>
              </a:endParaRPr>
            </a:p>
          </p:txBody>
        </p:sp>
        <p:sp>
          <p:nvSpPr>
            <p:cNvPr id="90169" name="Rectangle 47"/>
            <p:cNvSpPr>
              <a:spLocks noChangeArrowheads="1"/>
            </p:cNvSpPr>
            <p:nvPr/>
          </p:nvSpPr>
          <p:spPr bwMode="auto">
            <a:xfrm>
              <a:off x="5296" y="1553"/>
              <a:ext cx="202"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
                </a:spcBef>
                <a:buClrTx/>
                <a:buSzTx/>
                <a:buFont typeface="Arial" panose="020B0604020202020204" pitchFamily="34" charset="0"/>
                <a:buNone/>
              </a:pPr>
              <a:r>
                <a:rPr lang="zh-CN" altLang="zh-CN" sz="1600">
                  <a:solidFill>
                    <a:srgbClr val="000000"/>
                  </a:solidFill>
                  <a:latin typeface="宋体" panose="02010600030101010101" pitchFamily="2" charset="-122"/>
                </a:rPr>
                <a:t>°</a:t>
              </a:r>
              <a:endParaRPr lang="zh-CN" altLang="zh-CN" sz="1600">
                <a:latin typeface="Times New Roman" panose="02020603050405020304" pitchFamily="18" charset="0"/>
              </a:endParaRPr>
            </a:p>
          </p:txBody>
        </p:sp>
        <p:sp>
          <p:nvSpPr>
            <p:cNvPr id="90170" name="Freeform 48"/>
            <p:cNvSpPr>
              <a:spLocks noEditPoints="1"/>
            </p:cNvSpPr>
            <p:nvPr/>
          </p:nvSpPr>
          <p:spPr bwMode="auto">
            <a:xfrm>
              <a:off x="2548" y="543"/>
              <a:ext cx="1" cy="2002"/>
            </a:xfrm>
            <a:custGeom>
              <a:avLst/>
              <a:gdLst>
                <a:gd name="T0" fmla="*/ 0 w 50"/>
                <a:gd name="T1" fmla="*/ 0 h 9300"/>
                <a:gd name="T2" fmla="*/ 0 w 50"/>
                <a:gd name="T3" fmla="*/ 0 h 9300"/>
                <a:gd name="T4" fmla="*/ 0 w 50"/>
                <a:gd name="T5" fmla="*/ 0 h 9300"/>
                <a:gd name="T6" fmla="*/ 0 w 50"/>
                <a:gd name="T7" fmla="*/ 0 h 9300"/>
                <a:gd name="T8" fmla="*/ 0 w 50"/>
                <a:gd name="T9" fmla="*/ 0 h 9300"/>
                <a:gd name="T10" fmla="*/ 0 w 50"/>
                <a:gd name="T11" fmla="*/ 0 h 9300"/>
                <a:gd name="T12" fmla="*/ 0 w 50"/>
                <a:gd name="T13" fmla="*/ 0 h 9300"/>
                <a:gd name="T14" fmla="*/ 0 w 50"/>
                <a:gd name="T15" fmla="*/ 0 h 9300"/>
                <a:gd name="T16" fmla="*/ 0 w 50"/>
                <a:gd name="T17" fmla="*/ 0 h 9300"/>
                <a:gd name="T18" fmla="*/ 0 w 50"/>
                <a:gd name="T19" fmla="*/ 0 h 9300"/>
                <a:gd name="T20" fmla="*/ 0 w 50"/>
                <a:gd name="T21" fmla="*/ 0 h 9300"/>
                <a:gd name="T22" fmla="*/ 0 w 50"/>
                <a:gd name="T23" fmla="*/ 0 h 9300"/>
                <a:gd name="T24" fmla="*/ 0 w 50"/>
                <a:gd name="T25" fmla="*/ 0 h 9300"/>
                <a:gd name="T26" fmla="*/ 0 w 50"/>
                <a:gd name="T27" fmla="*/ 0 h 9300"/>
                <a:gd name="T28" fmla="*/ 0 w 50"/>
                <a:gd name="T29" fmla="*/ 0 h 9300"/>
                <a:gd name="T30" fmla="*/ 0 w 50"/>
                <a:gd name="T31" fmla="*/ 0 h 9300"/>
                <a:gd name="T32" fmla="*/ 0 w 50"/>
                <a:gd name="T33" fmla="*/ 0 h 9300"/>
                <a:gd name="T34" fmla="*/ 0 w 50"/>
                <a:gd name="T35" fmla="*/ 0 h 9300"/>
                <a:gd name="T36" fmla="*/ 0 w 50"/>
                <a:gd name="T37" fmla="*/ 0 h 9300"/>
                <a:gd name="T38" fmla="*/ 0 w 50"/>
                <a:gd name="T39" fmla="*/ 0 h 9300"/>
                <a:gd name="T40" fmla="*/ 0 w 50"/>
                <a:gd name="T41" fmla="*/ 0 h 9300"/>
                <a:gd name="T42" fmla="*/ 0 w 50"/>
                <a:gd name="T43" fmla="*/ 0 h 9300"/>
                <a:gd name="T44" fmla="*/ 0 w 50"/>
                <a:gd name="T45" fmla="*/ 0 h 9300"/>
                <a:gd name="T46" fmla="*/ 0 w 50"/>
                <a:gd name="T47" fmla="*/ 0 h 9300"/>
                <a:gd name="T48" fmla="*/ 0 w 50"/>
                <a:gd name="T49" fmla="*/ 0 h 9300"/>
                <a:gd name="T50" fmla="*/ 0 w 50"/>
                <a:gd name="T51" fmla="*/ 0 h 9300"/>
                <a:gd name="T52" fmla="*/ 0 w 50"/>
                <a:gd name="T53" fmla="*/ 0 h 9300"/>
                <a:gd name="T54" fmla="*/ 0 w 50"/>
                <a:gd name="T55" fmla="*/ 0 h 9300"/>
                <a:gd name="T56" fmla="*/ 0 w 50"/>
                <a:gd name="T57" fmla="*/ 0 h 9300"/>
                <a:gd name="T58" fmla="*/ 0 w 50"/>
                <a:gd name="T59" fmla="*/ 0 h 9300"/>
                <a:gd name="T60" fmla="*/ 0 w 50"/>
                <a:gd name="T61" fmla="*/ 0 h 9300"/>
                <a:gd name="T62" fmla="*/ 0 w 50"/>
                <a:gd name="T63" fmla="*/ 0 h 9300"/>
                <a:gd name="T64" fmla="*/ 0 w 50"/>
                <a:gd name="T65" fmla="*/ 0 h 9300"/>
                <a:gd name="T66" fmla="*/ 0 w 50"/>
                <a:gd name="T67" fmla="*/ 0 h 9300"/>
                <a:gd name="T68" fmla="*/ 0 w 50"/>
                <a:gd name="T69" fmla="*/ 0 h 9300"/>
                <a:gd name="T70" fmla="*/ 0 w 50"/>
                <a:gd name="T71" fmla="*/ 0 h 9300"/>
                <a:gd name="T72" fmla="*/ 0 w 50"/>
                <a:gd name="T73" fmla="*/ 0 h 9300"/>
                <a:gd name="T74" fmla="*/ 0 w 50"/>
                <a:gd name="T75" fmla="*/ 0 h 9300"/>
                <a:gd name="T76" fmla="*/ 0 w 50"/>
                <a:gd name="T77" fmla="*/ 0 h 9300"/>
                <a:gd name="T78" fmla="*/ 0 w 50"/>
                <a:gd name="T79" fmla="*/ 0 h 9300"/>
                <a:gd name="T80" fmla="*/ 0 w 50"/>
                <a:gd name="T81" fmla="*/ 0 h 9300"/>
                <a:gd name="T82" fmla="*/ 0 w 50"/>
                <a:gd name="T83" fmla="*/ 0 h 9300"/>
                <a:gd name="T84" fmla="*/ 0 w 50"/>
                <a:gd name="T85" fmla="*/ 0 h 9300"/>
                <a:gd name="T86" fmla="*/ 0 w 50"/>
                <a:gd name="T87" fmla="*/ 0 h 9300"/>
                <a:gd name="T88" fmla="*/ 0 w 50"/>
                <a:gd name="T89" fmla="*/ 0 h 9300"/>
                <a:gd name="T90" fmla="*/ 0 w 50"/>
                <a:gd name="T91" fmla="*/ 0 h 9300"/>
                <a:gd name="T92" fmla="*/ 0 w 50"/>
                <a:gd name="T93" fmla="*/ 0 h 9300"/>
                <a:gd name="T94" fmla="*/ 0 w 50"/>
                <a:gd name="T95" fmla="*/ 0 h 9300"/>
                <a:gd name="T96" fmla="*/ 0 w 50"/>
                <a:gd name="T97" fmla="*/ 0 h 9300"/>
                <a:gd name="T98" fmla="*/ 0 w 50"/>
                <a:gd name="T99" fmla="*/ 0 h 9300"/>
                <a:gd name="T100" fmla="*/ 0 w 50"/>
                <a:gd name="T101" fmla="*/ 0 h 9300"/>
                <a:gd name="T102" fmla="*/ 0 w 50"/>
                <a:gd name="T103" fmla="*/ 0 h 9300"/>
                <a:gd name="T104" fmla="*/ 0 w 50"/>
                <a:gd name="T105" fmla="*/ 0 h 9300"/>
                <a:gd name="T106" fmla="*/ 0 w 50"/>
                <a:gd name="T107" fmla="*/ 0 h 9300"/>
                <a:gd name="T108" fmla="*/ 0 w 50"/>
                <a:gd name="T109" fmla="*/ 0 h 9300"/>
                <a:gd name="T110" fmla="*/ 0 w 50"/>
                <a:gd name="T111" fmla="*/ 0 h 9300"/>
                <a:gd name="T112" fmla="*/ 0 w 50"/>
                <a:gd name="T113" fmla="*/ 0 h 9300"/>
                <a:gd name="T114" fmla="*/ 0 w 50"/>
                <a:gd name="T115" fmla="*/ 0 h 9300"/>
                <a:gd name="T116" fmla="*/ 0 w 50"/>
                <a:gd name="T117" fmla="*/ 0 h 9300"/>
                <a:gd name="T118" fmla="*/ 0 w 50"/>
                <a:gd name="T119" fmla="*/ 0 h 9300"/>
                <a:gd name="T120" fmla="*/ 0 w 50"/>
                <a:gd name="T121" fmla="*/ 0 h 9300"/>
                <a:gd name="T122" fmla="*/ 0 w 50"/>
                <a:gd name="T123" fmla="*/ 0 h 9300"/>
                <a:gd name="T124" fmla="*/ 0 w 50"/>
                <a:gd name="T125" fmla="*/ 0 h 9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0"/>
                <a:gd name="T190" fmla="*/ 0 h 9300"/>
                <a:gd name="T191" fmla="*/ 50 w 50"/>
                <a:gd name="T192" fmla="*/ 9300 h 930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0" h="9300">
                  <a:moveTo>
                    <a:pt x="50" y="25"/>
                  </a:moveTo>
                  <a:lnTo>
                    <a:pt x="50" y="175"/>
                  </a:lnTo>
                  <a:cubicBezTo>
                    <a:pt x="50" y="189"/>
                    <a:pt x="39" y="200"/>
                    <a:pt x="25" y="200"/>
                  </a:cubicBezTo>
                  <a:cubicBezTo>
                    <a:pt x="11" y="200"/>
                    <a:pt x="0" y="189"/>
                    <a:pt x="0" y="175"/>
                  </a:cubicBezTo>
                  <a:lnTo>
                    <a:pt x="0" y="25"/>
                  </a:lnTo>
                  <a:cubicBezTo>
                    <a:pt x="0" y="11"/>
                    <a:pt x="11" y="0"/>
                    <a:pt x="25" y="0"/>
                  </a:cubicBezTo>
                  <a:cubicBezTo>
                    <a:pt x="39" y="0"/>
                    <a:pt x="50" y="11"/>
                    <a:pt x="50" y="25"/>
                  </a:cubicBezTo>
                  <a:close/>
                  <a:moveTo>
                    <a:pt x="50" y="375"/>
                  </a:moveTo>
                  <a:lnTo>
                    <a:pt x="50" y="525"/>
                  </a:lnTo>
                  <a:cubicBezTo>
                    <a:pt x="50" y="539"/>
                    <a:pt x="39" y="550"/>
                    <a:pt x="25" y="550"/>
                  </a:cubicBezTo>
                  <a:cubicBezTo>
                    <a:pt x="11" y="550"/>
                    <a:pt x="0" y="539"/>
                    <a:pt x="0" y="525"/>
                  </a:cubicBezTo>
                  <a:lnTo>
                    <a:pt x="0" y="375"/>
                  </a:lnTo>
                  <a:cubicBezTo>
                    <a:pt x="0" y="361"/>
                    <a:pt x="11" y="350"/>
                    <a:pt x="25" y="350"/>
                  </a:cubicBezTo>
                  <a:cubicBezTo>
                    <a:pt x="39" y="350"/>
                    <a:pt x="50" y="361"/>
                    <a:pt x="50" y="375"/>
                  </a:cubicBezTo>
                  <a:close/>
                  <a:moveTo>
                    <a:pt x="50" y="725"/>
                  </a:moveTo>
                  <a:lnTo>
                    <a:pt x="50" y="875"/>
                  </a:lnTo>
                  <a:cubicBezTo>
                    <a:pt x="50" y="889"/>
                    <a:pt x="39" y="900"/>
                    <a:pt x="25" y="900"/>
                  </a:cubicBezTo>
                  <a:cubicBezTo>
                    <a:pt x="11" y="900"/>
                    <a:pt x="0" y="889"/>
                    <a:pt x="0" y="875"/>
                  </a:cubicBezTo>
                  <a:lnTo>
                    <a:pt x="0" y="725"/>
                  </a:lnTo>
                  <a:cubicBezTo>
                    <a:pt x="0" y="711"/>
                    <a:pt x="11" y="700"/>
                    <a:pt x="25" y="700"/>
                  </a:cubicBezTo>
                  <a:cubicBezTo>
                    <a:pt x="39" y="700"/>
                    <a:pt x="50" y="711"/>
                    <a:pt x="50" y="725"/>
                  </a:cubicBezTo>
                  <a:close/>
                  <a:moveTo>
                    <a:pt x="50" y="1075"/>
                  </a:moveTo>
                  <a:lnTo>
                    <a:pt x="50" y="1225"/>
                  </a:lnTo>
                  <a:cubicBezTo>
                    <a:pt x="50" y="1239"/>
                    <a:pt x="39" y="1250"/>
                    <a:pt x="25" y="1250"/>
                  </a:cubicBezTo>
                  <a:cubicBezTo>
                    <a:pt x="11" y="1250"/>
                    <a:pt x="0" y="1239"/>
                    <a:pt x="0" y="1225"/>
                  </a:cubicBezTo>
                  <a:lnTo>
                    <a:pt x="0" y="1075"/>
                  </a:lnTo>
                  <a:cubicBezTo>
                    <a:pt x="0" y="1061"/>
                    <a:pt x="11" y="1050"/>
                    <a:pt x="25" y="1050"/>
                  </a:cubicBezTo>
                  <a:cubicBezTo>
                    <a:pt x="39" y="1050"/>
                    <a:pt x="50" y="1061"/>
                    <a:pt x="50" y="1075"/>
                  </a:cubicBezTo>
                  <a:close/>
                  <a:moveTo>
                    <a:pt x="50" y="1425"/>
                  </a:moveTo>
                  <a:lnTo>
                    <a:pt x="50" y="1575"/>
                  </a:lnTo>
                  <a:cubicBezTo>
                    <a:pt x="50" y="1589"/>
                    <a:pt x="39" y="1600"/>
                    <a:pt x="25" y="1600"/>
                  </a:cubicBezTo>
                  <a:cubicBezTo>
                    <a:pt x="11" y="1600"/>
                    <a:pt x="0" y="1589"/>
                    <a:pt x="0" y="1575"/>
                  </a:cubicBezTo>
                  <a:lnTo>
                    <a:pt x="0" y="1425"/>
                  </a:lnTo>
                  <a:cubicBezTo>
                    <a:pt x="0" y="1411"/>
                    <a:pt x="11" y="1400"/>
                    <a:pt x="25" y="1400"/>
                  </a:cubicBezTo>
                  <a:cubicBezTo>
                    <a:pt x="39" y="1400"/>
                    <a:pt x="50" y="1411"/>
                    <a:pt x="50" y="1425"/>
                  </a:cubicBezTo>
                  <a:close/>
                  <a:moveTo>
                    <a:pt x="50" y="1775"/>
                  </a:moveTo>
                  <a:lnTo>
                    <a:pt x="50" y="1925"/>
                  </a:lnTo>
                  <a:cubicBezTo>
                    <a:pt x="50" y="1939"/>
                    <a:pt x="39" y="1950"/>
                    <a:pt x="25" y="1950"/>
                  </a:cubicBezTo>
                  <a:cubicBezTo>
                    <a:pt x="11" y="1950"/>
                    <a:pt x="0" y="1939"/>
                    <a:pt x="0" y="1925"/>
                  </a:cubicBezTo>
                  <a:lnTo>
                    <a:pt x="0" y="1775"/>
                  </a:lnTo>
                  <a:cubicBezTo>
                    <a:pt x="0" y="1761"/>
                    <a:pt x="11" y="1750"/>
                    <a:pt x="25" y="1750"/>
                  </a:cubicBezTo>
                  <a:cubicBezTo>
                    <a:pt x="39" y="1750"/>
                    <a:pt x="50" y="1761"/>
                    <a:pt x="50" y="1775"/>
                  </a:cubicBezTo>
                  <a:close/>
                  <a:moveTo>
                    <a:pt x="50" y="2125"/>
                  </a:moveTo>
                  <a:lnTo>
                    <a:pt x="50" y="2275"/>
                  </a:lnTo>
                  <a:cubicBezTo>
                    <a:pt x="50" y="2289"/>
                    <a:pt x="39" y="2300"/>
                    <a:pt x="25" y="2300"/>
                  </a:cubicBezTo>
                  <a:cubicBezTo>
                    <a:pt x="11" y="2300"/>
                    <a:pt x="0" y="2289"/>
                    <a:pt x="0" y="2275"/>
                  </a:cubicBezTo>
                  <a:lnTo>
                    <a:pt x="0" y="2125"/>
                  </a:lnTo>
                  <a:cubicBezTo>
                    <a:pt x="0" y="2111"/>
                    <a:pt x="11" y="2100"/>
                    <a:pt x="25" y="2100"/>
                  </a:cubicBezTo>
                  <a:cubicBezTo>
                    <a:pt x="39" y="2100"/>
                    <a:pt x="50" y="2111"/>
                    <a:pt x="50" y="2125"/>
                  </a:cubicBezTo>
                  <a:close/>
                  <a:moveTo>
                    <a:pt x="50" y="2475"/>
                  </a:moveTo>
                  <a:lnTo>
                    <a:pt x="50" y="2625"/>
                  </a:lnTo>
                  <a:cubicBezTo>
                    <a:pt x="50" y="2639"/>
                    <a:pt x="39" y="2650"/>
                    <a:pt x="25" y="2650"/>
                  </a:cubicBezTo>
                  <a:cubicBezTo>
                    <a:pt x="11" y="2650"/>
                    <a:pt x="0" y="2639"/>
                    <a:pt x="0" y="2625"/>
                  </a:cubicBezTo>
                  <a:lnTo>
                    <a:pt x="0" y="2475"/>
                  </a:lnTo>
                  <a:cubicBezTo>
                    <a:pt x="0" y="2461"/>
                    <a:pt x="11" y="2450"/>
                    <a:pt x="25" y="2450"/>
                  </a:cubicBezTo>
                  <a:cubicBezTo>
                    <a:pt x="39" y="2450"/>
                    <a:pt x="50" y="2461"/>
                    <a:pt x="50" y="2475"/>
                  </a:cubicBezTo>
                  <a:close/>
                  <a:moveTo>
                    <a:pt x="50" y="2825"/>
                  </a:moveTo>
                  <a:lnTo>
                    <a:pt x="50" y="2975"/>
                  </a:lnTo>
                  <a:cubicBezTo>
                    <a:pt x="50" y="2989"/>
                    <a:pt x="39" y="3000"/>
                    <a:pt x="25" y="3000"/>
                  </a:cubicBezTo>
                  <a:cubicBezTo>
                    <a:pt x="11" y="3000"/>
                    <a:pt x="0" y="2989"/>
                    <a:pt x="0" y="2975"/>
                  </a:cubicBezTo>
                  <a:lnTo>
                    <a:pt x="0" y="2825"/>
                  </a:lnTo>
                  <a:cubicBezTo>
                    <a:pt x="0" y="2811"/>
                    <a:pt x="11" y="2800"/>
                    <a:pt x="25" y="2800"/>
                  </a:cubicBezTo>
                  <a:cubicBezTo>
                    <a:pt x="39" y="2800"/>
                    <a:pt x="50" y="2811"/>
                    <a:pt x="50" y="2825"/>
                  </a:cubicBezTo>
                  <a:close/>
                  <a:moveTo>
                    <a:pt x="50" y="3175"/>
                  </a:moveTo>
                  <a:lnTo>
                    <a:pt x="50" y="3325"/>
                  </a:lnTo>
                  <a:cubicBezTo>
                    <a:pt x="50" y="3339"/>
                    <a:pt x="39" y="3350"/>
                    <a:pt x="25" y="3350"/>
                  </a:cubicBezTo>
                  <a:cubicBezTo>
                    <a:pt x="11" y="3350"/>
                    <a:pt x="0" y="3339"/>
                    <a:pt x="0" y="3325"/>
                  </a:cubicBezTo>
                  <a:lnTo>
                    <a:pt x="0" y="3175"/>
                  </a:lnTo>
                  <a:cubicBezTo>
                    <a:pt x="0" y="3161"/>
                    <a:pt x="11" y="3150"/>
                    <a:pt x="25" y="3150"/>
                  </a:cubicBezTo>
                  <a:cubicBezTo>
                    <a:pt x="39" y="3150"/>
                    <a:pt x="50" y="3161"/>
                    <a:pt x="50" y="3175"/>
                  </a:cubicBezTo>
                  <a:close/>
                  <a:moveTo>
                    <a:pt x="50" y="3525"/>
                  </a:moveTo>
                  <a:lnTo>
                    <a:pt x="50" y="3675"/>
                  </a:lnTo>
                  <a:cubicBezTo>
                    <a:pt x="50" y="3689"/>
                    <a:pt x="39" y="3700"/>
                    <a:pt x="25" y="3700"/>
                  </a:cubicBezTo>
                  <a:cubicBezTo>
                    <a:pt x="11" y="3700"/>
                    <a:pt x="0" y="3689"/>
                    <a:pt x="0" y="3675"/>
                  </a:cubicBezTo>
                  <a:lnTo>
                    <a:pt x="0" y="3525"/>
                  </a:lnTo>
                  <a:cubicBezTo>
                    <a:pt x="0" y="3511"/>
                    <a:pt x="11" y="3500"/>
                    <a:pt x="25" y="3500"/>
                  </a:cubicBezTo>
                  <a:cubicBezTo>
                    <a:pt x="39" y="3500"/>
                    <a:pt x="50" y="3511"/>
                    <a:pt x="50" y="3525"/>
                  </a:cubicBezTo>
                  <a:close/>
                  <a:moveTo>
                    <a:pt x="50" y="3875"/>
                  </a:moveTo>
                  <a:lnTo>
                    <a:pt x="50" y="4025"/>
                  </a:lnTo>
                  <a:cubicBezTo>
                    <a:pt x="50" y="4039"/>
                    <a:pt x="39" y="4050"/>
                    <a:pt x="25" y="4050"/>
                  </a:cubicBezTo>
                  <a:cubicBezTo>
                    <a:pt x="11" y="4050"/>
                    <a:pt x="0" y="4039"/>
                    <a:pt x="0" y="4025"/>
                  </a:cubicBezTo>
                  <a:lnTo>
                    <a:pt x="0" y="3875"/>
                  </a:lnTo>
                  <a:cubicBezTo>
                    <a:pt x="0" y="3861"/>
                    <a:pt x="11" y="3850"/>
                    <a:pt x="25" y="3850"/>
                  </a:cubicBezTo>
                  <a:cubicBezTo>
                    <a:pt x="39" y="3850"/>
                    <a:pt x="50" y="3861"/>
                    <a:pt x="50" y="3875"/>
                  </a:cubicBezTo>
                  <a:close/>
                  <a:moveTo>
                    <a:pt x="50" y="4225"/>
                  </a:moveTo>
                  <a:lnTo>
                    <a:pt x="50" y="4375"/>
                  </a:lnTo>
                  <a:cubicBezTo>
                    <a:pt x="50" y="4389"/>
                    <a:pt x="39" y="4400"/>
                    <a:pt x="25" y="4400"/>
                  </a:cubicBezTo>
                  <a:cubicBezTo>
                    <a:pt x="11" y="4400"/>
                    <a:pt x="0" y="4389"/>
                    <a:pt x="0" y="4375"/>
                  </a:cubicBezTo>
                  <a:lnTo>
                    <a:pt x="0" y="4225"/>
                  </a:lnTo>
                  <a:cubicBezTo>
                    <a:pt x="0" y="4211"/>
                    <a:pt x="11" y="4200"/>
                    <a:pt x="25" y="4200"/>
                  </a:cubicBezTo>
                  <a:cubicBezTo>
                    <a:pt x="39" y="4200"/>
                    <a:pt x="50" y="4211"/>
                    <a:pt x="50" y="4225"/>
                  </a:cubicBezTo>
                  <a:close/>
                  <a:moveTo>
                    <a:pt x="50" y="4575"/>
                  </a:moveTo>
                  <a:lnTo>
                    <a:pt x="50" y="4725"/>
                  </a:lnTo>
                  <a:cubicBezTo>
                    <a:pt x="50" y="4739"/>
                    <a:pt x="39" y="4750"/>
                    <a:pt x="25" y="4750"/>
                  </a:cubicBezTo>
                  <a:cubicBezTo>
                    <a:pt x="11" y="4750"/>
                    <a:pt x="0" y="4739"/>
                    <a:pt x="0" y="4725"/>
                  </a:cubicBezTo>
                  <a:lnTo>
                    <a:pt x="0" y="4575"/>
                  </a:lnTo>
                  <a:cubicBezTo>
                    <a:pt x="0" y="4561"/>
                    <a:pt x="11" y="4550"/>
                    <a:pt x="25" y="4550"/>
                  </a:cubicBezTo>
                  <a:cubicBezTo>
                    <a:pt x="39" y="4550"/>
                    <a:pt x="50" y="4561"/>
                    <a:pt x="50" y="4575"/>
                  </a:cubicBezTo>
                  <a:close/>
                  <a:moveTo>
                    <a:pt x="50" y="4925"/>
                  </a:moveTo>
                  <a:lnTo>
                    <a:pt x="50" y="5075"/>
                  </a:lnTo>
                  <a:cubicBezTo>
                    <a:pt x="50" y="5089"/>
                    <a:pt x="39" y="5100"/>
                    <a:pt x="25" y="5100"/>
                  </a:cubicBezTo>
                  <a:cubicBezTo>
                    <a:pt x="11" y="5100"/>
                    <a:pt x="0" y="5089"/>
                    <a:pt x="0" y="5075"/>
                  </a:cubicBezTo>
                  <a:lnTo>
                    <a:pt x="0" y="4925"/>
                  </a:lnTo>
                  <a:cubicBezTo>
                    <a:pt x="0" y="4911"/>
                    <a:pt x="11" y="4900"/>
                    <a:pt x="25" y="4900"/>
                  </a:cubicBezTo>
                  <a:cubicBezTo>
                    <a:pt x="39" y="4900"/>
                    <a:pt x="50" y="4911"/>
                    <a:pt x="50" y="4925"/>
                  </a:cubicBezTo>
                  <a:close/>
                  <a:moveTo>
                    <a:pt x="50" y="5275"/>
                  </a:moveTo>
                  <a:lnTo>
                    <a:pt x="50" y="5425"/>
                  </a:lnTo>
                  <a:cubicBezTo>
                    <a:pt x="50" y="5439"/>
                    <a:pt x="39" y="5450"/>
                    <a:pt x="25" y="5450"/>
                  </a:cubicBezTo>
                  <a:cubicBezTo>
                    <a:pt x="11" y="5450"/>
                    <a:pt x="0" y="5439"/>
                    <a:pt x="0" y="5425"/>
                  </a:cubicBezTo>
                  <a:lnTo>
                    <a:pt x="0" y="5275"/>
                  </a:lnTo>
                  <a:cubicBezTo>
                    <a:pt x="0" y="5261"/>
                    <a:pt x="11" y="5250"/>
                    <a:pt x="25" y="5250"/>
                  </a:cubicBezTo>
                  <a:cubicBezTo>
                    <a:pt x="39" y="5250"/>
                    <a:pt x="50" y="5261"/>
                    <a:pt x="50" y="5275"/>
                  </a:cubicBezTo>
                  <a:close/>
                  <a:moveTo>
                    <a:pt x="50" y="5625"/>
                  </a:moveTo>
                  <a:lnTo>
                    <a:pt x="50" y="5775"/>
                  </a:lnTo>
                  <a:cubicBezTo>
                    <a:pt x="50" y="5789"/>
                    <a:pt x="39" y="5800"/>
                    <a:pt x="25" y="5800"/>
                  </a:cubicBezTo>
                  <a:cubicBezTo>
                    <a:pt x="11" y="5800"/>
                    <a:pt x="0" y="5789"/>
                    <a:pt x="0" y="5775"/>
                  </a:cubicBezTo>
                  <a:lnTo>
                    <a:pt x="0" y="5625"/>
                  </a:lnTo>
                  <a:cubicBezTo>
                    <a:pt x="0" y="5611"/>
                    <a:pt x="11" y="5600"/>
                    <a:pt x="25" y="5600"/>
                  </a:cubicBezTo>
                  <a:cubicBezTo>
                    <a:pt x="39" y="5600"/>
                    <a:pt x="50" y="5611"/>
                    <a:pt x="50" y="5625"/>
                  </a:cubicBezTo>
                  <a:close/>
                  <a:moveTo>
                    <a:pt x="50" y="5975"/>
                  </a:moveTo>
                  <a:lnTo>
                    <a:pt x="50" y="6125"/>
                  </a:lnTo>
                  <a:cubicBezTo>
                    <a:pt x="50" y="6139"/>
                    <a:pt x="39" y="6150"/>
                    <a:pt x="25" y="6150"/>
                  </a:cubicBezTo>
                  <a:cubicBezTo>
                    <a:pt x="11" y="6150"/>
                    <a:pt x="0" y="6139"/>
                    <a:pt x="0" y="6125"/>
                  </a:cubicBezTo>
                  <a:lnTo>
                    <a:pt x="0" y="5975"/>
                  </a:lnTo>
                  <a:cubicBezTo>
                    <a:pt x="0" y="5961"/>
                    <a:pt x="11" y="5950"/>
                    <a:pt x="25" y="5950"/>
                  </a:cubicBezTo>
                  <a:cubicBezTo>
                    <a:pt x="39" y="5950"/>
                    <a:pt x="50" y="5961"/>
                    <a:pt x="50" y="5975"/>
                  </a:cubicBezTo>
                  <a:close/>
                  <a:moveTo>
                    <a:pt x="50" y="6325"/>
                  </a:moveTo>
                  <a:lnTo>
                    <a:pt x="50" y="6475"/>
                  </a:lnTo>
                  <a:cubicBezTo>
                    <a:pt x="50" y="6489"/>
                    <a:pt x="39" y="6500"/>
                    <a:pt x="25" y="6500"/>
                  </a:cubicBezTo>
                  <a:cubicBezTo>
                    <a:pt x="11" y="6500"/>
                    <a:pt x="0" y="6489"/>
                    <a:pt x="0" y="6475"/>
                  </a:cubicBezTo>
                  <a:lnTo>
                    <a:pt x="0" y="6325"/>
                  </a:lnTo>
                  <a:cubicBezTo>
                    <a:pt x="0" y="6311"/>
                    <a:pt x="11" y="6300"/>
                    <a:pt x="25" y="6300"/>
                  </a:cubicBezTo>
                  <a:cubicBezTo>
                    <a:pt x="39" y="6300"/>
                    <a:pt x="50" y="6311"/>
                    <a:pt x="50" y="6325"/>
                  </a:cubicBezTo>
                  <a:close/>
                  <a:moveTo>
                    <a:pt x="50" y="6675"/>
                  </a:moveTo>
                  <a:lnTo>
                    <a:pt x="50" y="6825"/>
                  </a:lnTo>
                  <a:cubicBezTo>
                    <a:pt x="50" y="6839"/>
                    <a:pt x="39" y="6850"/>
                    <a:pt x="25" y="6850"/>
                  </a:cubicBezTo>
                  <a:cubicBezTo>
                    <a:pt x="11" y="6850"/>
                    <a:pt x="0" y="6839"/>
                    <a:pt x="0" y="6825"/>
                  </a:cubicBezTo>
                  <a:lnTo>
                    <a:pt x="0" y="6675"/>
                  </a:lnTo>
                  <a:cubicBezTo>
                    <a:pt x="0" y="6661"/>
                    <a:pt x="11" y="6650"/>
                    <a:pt x="25" y="6650"/>
                  </a:cubicBezTo>
                  <a:cubicBezTo>
                    <a:pt x="39" y="6650"/>
                    <a:pt x="50" y="6661"/>
                    <a:pt x="50" y="6675"/>
                  </a:cubicBezTo>
                  <a:close/>
                  <a:moveTo>
                    <a:pt x="50" y="7025"/>
                  </a:moveTo>
                  <a:lnTo>
                    <a:pt x="50" y="7175"/>
                  </a:lnTo>
                  <a:cubicBezTo>
                    <a:pt x="50" y="7189"/>
                    <a:pt x="39" y="7200"/>
                    <a:pt x="25" y="7200"/>
                  </a:cubicBezTo>
                  <a:cubicBezTo>
                    <a:pt x="11" y="7200"/>
                    <a:pt x="0" y="7189"/>
                    <a:pt x="0" y="7175"/>
                  </a:cubicBezTo>
                  <a:lnTo>
                    <a:pt x="0" y="7025"/>
                  </a:lnTo>
                  <a:cubicBezTo>
                    <a:pt x="0" y="7011"/>
                    <a:pt x="11" y="7000"/>
                    <a:pt x="25" y="7000"/>
                  </a:cubicBezTo>
                  <a:cubicBezTo>
                    <a:pt x="39" y="7000"/>
                    <a:pt x="50" y="7011"/>
                    <a:pt x="50" y="7025"/>
                  </a:cubicBezTo>
                  <a:close/>
                  <a:moveTo>
                    <a:pt x="50" y="7375"/>
                  </a:moveTo>
                  <a:lnTo>
                    <a:pt x="50" y="7525"/>
                  </a:lnTo>
                  <a:cubicBezTo>
                    <a:pt x="50" y="7539"/>
                    <a:pt x="39" y="7550"/>
                    <a:pt x="25" y="7550"/>
                  </a:cubicBezTo>
                  <a:cubicBezTo>
                    <a:pt x="11" y="7550"/>
                    <a:pt x="0" y="7539"/>
                    <a:pt x="0" y="7525"/>
                  </a:cubicBezTo>
                  <a:lnTo>
                    <a:pt x="0" y="7375"/>
                  </a:lnTo>
                  <a:cubicBezTo>
                    <a:pt x="0" y="7361"/>
                    <a:pt x="11" y="7350"/>
                    <a:pt x="25" y="7350"/>
                  </a:cubicBezTo>
                  <a:cubicBezTo>
                    <a:pt x="39" y="7350"/>
                    <a:pt x="50" y="7361"/>
                    <a:pt x="50" y="7375"/>
                  </a:cubicBezTo>
                  <a:close/>
                  <a:moveTo>
                    <a:pt x="50" y="7725"/>
                  </a:moveTo>
                  <a:lnTo>
                    <a:pt x="50" y="7875"/>
                  </a:lnTo>
                  <a:cubicBezTo>
                    <a:pt x="50" y="7889"/>
                    <a:pt x="39" y="7900"/>
                    <a:pt x="25" y="7900"/>
                  </a:cubicBezTo>
                  <a:cubicBezTo>
                    <a:pt x="11" y="7900"/>
                    <a:pt x="0" y="7889"/>
                    <a:pt x="0" y="7875"/>
                  </a:cubicBezTo>
                  <a:lnTo>
                    <a:pt x="0" y="7725"/>
                  </a:lnTo>
                  <a:cubicBezTo>
                    <a:pt x="0" y="7711"/>
                    <a:pt x="11" y="7700"/>
                    <a:pt x="25" y="7700"/>
                  </a:cubicBezTo>
                  <a:cubicBezTo>
                    <a:pt x="39" y="7700"/>
                    <a:pt x="50" y="7711"/>
                    <a:pt x="50" y="7725"/>
                  </a:cubicBezTo>
                  <a:close/>
                  <a:moveTo>
                    <a:pt x="50" y="8075"/>
                  </a:moveTo>
                  <a:lnTo>
                    <a:pt x="50" y="8225"/>
                  </a:lnTo>
                  <a:cubicBezTo>
                    <a:pt x="50" y="8239"/>
                    <a:pt x="39" y="8250"/>
                    <a:pt x="25" y="8250"/>
                  </a:cubicBezTo>
                  <a:cubicBezTo>
                    <a:pt x="11" y="8250"/>
                    <a:pt x="0" y="8239"/>
                    <a:pt x="0" y="8225"/>
                  </a:cubicBezTo>
                  <a:lnTo>
                    <a:pt x="0" y="8075"/>
                  </a:lnTo>
                  <a:cubicBezTo>
                    <a:pt x="0" y="8061"/>
                    <a:pt x="11" y="8050"/>
                    <a:pt x="25" y="8050"/>
                  </a:cubicBezTo>
                  <a:cubicBezTo>
                    <a:pt x="39" y="8050"/>
                    <a:pt x="50" y="8061"/>
                    <a:pt x="50" y="8075"/>
                  </a:cubicBezTo>
                  <a:close/>
                  <a:moveTo>
                    <a:pt x="50" y="8425"/>
                  </a:moveTo>
                  <a:lnTo>
                    <a:pt x="50" y="8575"/>
                  </a:lnTo>
                  <a:cubicBezTo>
                    <a:pt x="50" y="8589"/>
                    <a:pt x="39" y="8600"/>
                    <a:pt x="25" y="8600"/>
                  </a:cubicBezTo>
                  <a:cubicBezTo>
                    <a:pt x="11" y="8600"/>
                    <a:pt x="0" y="8589"/>
                    <a:pt x="0" y="8575"/>
                  </a:cubicBezTo>
                  <a:lnTo>
                    <a:pt x="0" y="8425"/>
                  </a:lnTo>
                  <a:cubicBezTo>
                    <a:pt x="0" y="8411"/>
                    <a:pt x="11" y="8400"/>
                    <a:pt x="25" y="8400"/>
                  </a:cubicBezTo>
                  <a:cubicBezTo>
                    <a:pt x="39" y="8400"/>
                    <a:pt x="50" y="8411"/>
                    <a:pt x="50" y="8425"/>
                  </a:cubicBezTo>
                  <a:close/>
                  <a:moveTo>
                    <a:pt x="50" y="8775"/>
                  </a:moveTo>
                  <a:lnTo>
                    <a:pt x="50" y="8925"/>
                  </a:lnTo>
                  <a:cubicBezTo>
                    <a:pt x="50" y="8939"/>
                    <a:pt x="39" y="8950"/>
                    <a:pt x="25" y="8950"/>
                  </a:cubicBezTo>
                  <a:cubicBezTo>
                    <a:pt x="11" y="8950"/>
                    <a:pt x="0" y="8939"/>
                    <a:pt x="0" y="8925"/>
                  </a:cubicBezTo>
                  <a:lnTo>
                    <a:pt x="0" y="8775"/>
                  </a:lnTo>
                  <a:cubicBezTo>
                    <a:pt x="0" y="8761"/>
                    <a:pt x="11" y="8750"/>
                    <a:pt x="25" y="8750"/>
                  </a:cubicBezTo>
                  <a:cubicBezTo>
                    <a:pt x="39" y="8750"/>
                    <a:pt x="50" y="8761"/>
                    <a:pt x="50" y="8775"/>
                  </a:cubicBezTo>
                  <a:close/>
                  <a:moveTo>
                    <a:pt x="50" y="9125"/>
                  </a:moveTo>
                  <a:lnTo>
                    <a:pt x="50" y="9275"/>
                  </a:lnTo>
                  <a:cubicBezTo>
                    <a:pt x="50" y="9289"/>
                    <a:pt x="39" y="9300"/>
                    <a:pt x="25" y="9300"/>
                  </a:cubicBezTo>
                  <a:cubicBezTo>
                    <a:pt x="11" y="9300"/>
                    <a:pt x="0" y="9289"/>
                    <a:pt x="0" y="9275"/>
                  </a:cubicBezTo>
                  <a:lnTo>
                    <a:pt x="0" y="9125"/>
                  </a:lnTo>
                  <a:cubicBezTo>
                    <a:pt x="0" y="9111"/>
                    <a:pt x="11" y="9100"/>
                    <a:pt x="25" y="9100"/>
                  </a:cubicBezTo>
                  <a:cubicBezTo>
                    <a:pt x="39" y="9100"/>
                    <a:pt x="50" y="9111"/>
                    <a:pt x="50" y="9125"/>
                  </a:cubicBezTo>
                  <a:close/>
                </a:path>
              </a:pathLst>
            </a:custGeom>
            <a:solidFill>
              <a:srgbClr val="000000"/>
            </a:solidFill>
            <a:ln w="1270">
              <a:solidFill>
                <a:srgbClr val="000000"/>
              </a:solidFill>
              <a:round/>
            </a:ln>
          </p:spPr>
          <p:txBody>
            <a:bodyPr/>
            <a:lstStyle/>
            <a:p>
              <a:endParaRPr lang="zh-CN" altLang="en-US"/>
            </a:p>
          </p:txBody>
        </p:sp>
        <p:sp>
          <p:nvSpPr>
            <p:cNvPr id="90171" name="Freeform 49"/>
            <p:cNvSpPr>
              <a:spLocks noEditPoints="1"/>
            </p:cNvSpPr>
            <p:nvPr/>
          </p:nvSpPr>
          <p:spPr bwMode="auto">
            <a:xfrm>
              <a:off x="3701" y="948"/>
              <a:ext cx="1" cy="1640"/>
            </a:xfrm>
            <a:custGeom>
              <a:avLst/>
              <a:gdLst>
                <a:gd name="T0" fmla="*/ 0 w 50"/>
                <a:gd name="T1" fmla="*/ 0 h 6475"/>
                <a:gd name="T2" fmla="*/ 0 w 50"/>
                <a:gd name="T3" fmla="*/ 0 h 6475"/>
                <a:gd name="T4" fmla="*/ 0 w 50"/>
                <a:gd name="T5" fmla="*/ 0 h 6475"/>
                <a:gd name="T6" fmla="*/ 0 w 50"/>
                <a:gd name="T7" fmla="*/ 0 h 6475"/>
                <a:gd name="T8" fmla="*/ 0 w 50"/>
                <a:gd name="T9" fmla="*/ 0 h 6475"/>
                <a:gd name="T10" fmla="*/ 0 w 50"/>
                <a:gd name="T11" fmla="*/ 0 h 6475"/>
                <a:gd name="T12" fmla="*/ 0 w 50"/>
                <a:gd name="T13" fmla="*/ 0 h 6475"/>
                <a:gd name="T14" fmla="*/ 0 w 50"/>
                <a:gd name="T15" fmla="*/ 0 h 6475"/>
                <a:gd name="T16" fmla="*/ 0 w 50"/>
                <a:gd name="T17" fmla="*/ 0 h 6475"/>
                <a:gd name="T18" fmla="*/ 0 w 50"/>
                <a:gd name="T19" fmla="*/ 0 h 6475"/>
                <a:gd name="T20" fmla="*/ 0 w 50"/>
                <a:gd name="T21" fmla="*/ 0 h 6475"/>
                <a:gd name="T22" fmla="*/ 0 w 50"/>
                <a:gd name="T23" fmla="*/ 0 h 6475"/>
                <a:gd name="T24" fmla="*/ 0 w 50"/>
                <a:gd name="T25" fmla="*/ 0 h 6475"/>
                <a:gd name="T26" fmla="*/ 0 w 50"/>
                <a:gd name="T27" fmla="*/ 0 h 6475"/>
                <a:gd name="T28" fmla="*/ 0 w 50"/>
                <a:gd name="T29" fmla="*/ 0 h 6475"/>
                <a:gd name="T30" fmla="*/ 0 w 50"/>
                <a:gd name="T31" fmla="*/ 0 h 6475"/>
                <a:gd name="T32" fmla="*/ 0 w 50"/>
                <a:gd name="T33" fmla="*/ 0 h 6475"/>
                <a:gd name="T34" fmla="*/ 0 w 50"/>
                <a:gd name="T35" fmla="*/ 0 h 6475"/>
                <a:gd name="T36" fmla="*/ 0 w 50"/>
                <a:gd name="T37" fmla="*/ 0 h 6475"/>
                <a:gd name="T38" fmla="*/ 0 w 50"/>
                <a:gd name="T39" fmla="*/ 0 h 6475"/>
                <a:gd name="T40" fmla="*/ 0 w 50"/>
                <a:gd name="T41" fmla="*/ 0 h 6475"/>
                <a:gd name="T42" fmla="*/ 0 w 50"/>
                <a:gd name="T43" fmla="*/ 0 h 6475"/>
                <a:gd name="T44" fmla="*/ 0 w 50"/>
                <a:gd name="T45" fmla="*/ 0 h 6475"/>
                <a:gd name="T46" fmla="*/ 0 w 50"/>
                <a:gd name="T47" fmla="*/ 0 h 6475"/>
                <a:gd name="T48" fmla="*/ 0 w 50"/>
                <a:gd name="T49" fmla="*/ 0 h 6475"/>
                <a:gd name="T50" fmla="*/ 0 w 50"/>
                <a:gd name="T51" fmla="*/ 0 h 6475"/>
                <a:gd name="T52" fmla="*/ 0 w 50"/>
                <a:gd name="T53" fmla="*/ 0 h 6475"/>
                <a:gd name="T54" fmla="*/ 0 w 50"/>
                <a:gd name="T55" fmla="*/ 0 h 6475"/>
                <a:gd name="T56" fmla="*/ 0 w 50"/>
                <a:gd name="T57" fmla="*/ 0 h 6475"/>
                <a:gd name="T58" fmla="*/ 0 w 50"/>
                <a:gd name="T59" fmla="*/ 0 h 6475"/>
                <a:gd name="T60" fmla="*/ 0 w 50"/>
                <a:gd name="T61" fmla="*/ 0 h 6475"/>
                <a:gd name="T62" fmla="*/ 0 w 50"/>
                <a:gd name="T63" fmla="*/ 0 h 6475"/>
                <a:gd name="T64" fmla="*/ 0 w 50"/>
                <a:gd name="T65" fmla="*/ 0 h 6475"/>
                <a:gd name="T66" fmla="*/ 0 w 50"/>
                <a:gd name="T67" fmla="*/ 0 h 6475"/>
                <a:gd name="T68" fmla="*/ 0 w 50"/>
                <a:gd name="T69" fmla="*/ 0 h 6475"/>
                <a:gd name="T70" fmla="*/ 0 w 50"/>
                <a:gd name="T71" fmla="*/ 1 h 6475"/>
                <a:gd name="T72" fmla="*/ 0 w 50"/>
                <a:gd name="T73" fmla="*/ 1 h 6475"/>
                <a:gd name="T74" fmla="*/ 0 w 50"/>
                <a:gd name="T75" fmla="*/ 1 h 6475"/>
                <a:gd name="T76" fmla="*/ 0 w 50"/>
                <a:gd name="T77" fmla="*/ 1 h 6475"/>
                <a:gd name="T78" fmla="*/ 0 w 50"/>
                <a:gd name="T79" fmla="*/ 1 h 6475"/>
                <a:gd name="T80" fmla="*/ 0 w 50"/>
                <a:gd name="T81" fmla="*/ 1 h 6475"/>
                <a:gd name="T82" fmla="*/ 0 w 50"/>
                <a:gd name="T83" fmla="*/ 1 h 6475"/>
                <a:gd name="T84" fmla="*/ 0 w 50"/>
                <a:gd name="T85" fmla="*/ 1 h 6475"/>
                <a:gd name="T86" fmla="*/ 0 w 50"/>
                <a:gd name="T87" fmla="*/ 1 h 647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0"/>
                <a:gd name="T133" fmla="*/ 0 h 6475"/>
                <a:gd name="T134" fmla="*/ 50 w 50"/>
                <a:gd name="T135" fmla="*/ 6475 h 647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0" h="6475">
                  <a:moveTo>
                    <a:pt x="50" y="25"/>
                  </a:moveTo>
                  <a:lnTo>
                    <a:pt x="50" y="175"/>
                  </a:lnTo>
                  <a:cubicBezTo>
                    <a:pt x="50" y="189"/>
                    <a:pt x="39" y="200"/>
                    <a:pt x="25" y="200"/>
                  </a:cubicBezTo>
                  <a:cubicBezTo>
                    <a:pt x="12" y="200"/>
                    <a:pt x="0" y="189"/>
                    <a:pt x="0" y="175"/>
                  </a:cubicBezTo>
                  <a:lnTo>
                    <a:pt x="0" y="25"/>
                  </a:lnTo>
                  <a:cubicBezTo>
                    <a:pt x="0" y="11"/>
                    <a:pt x="12" y="0"/>
                    <a:pt x="25" y="0"/>
                  </a:cubicBezTo>
                  <a:cubicBezTo>
                    <a:pt x="39" y="0"/>
                    <a:pt x="50" y="11"/>
                    <a:pt x="50" y="25"/>
                  </a:cubicBezTo>
                  <a:close/>
                  <a:moveTo>
                    <a:pt x="50" y="375"/>
                  </a:moveTo>
                  <a:lnTo>
                    <a:pt x="50" y="525"/>
                  </a:lnTo>
                  <a:cubicBezTo>
                    <a:pt x="50" y="539"/>
                    <a:pt x="39" y="550"/>
                    <a:pt x="25" y="550"/>
                  </a:cubicBezTo>
                  <a:cubicBezTo>
                    <a:pt x="12" y="550"/>
                    <a:pt x="0" y="539"/>
                    <a:pt x="0" y="525"/>
                  </a:cubicBezTo>
                  <a:lnTo>
                    <a:pt x="0" y="375"/>
                  </a:lnTo>
                  <a:cubicBezTo>
                    <a:pt x="0" y="361"/>
                    <a:pt x="12" y="350"/>
                    <a:pt x="25" y="350"/>
                  </a:cubicBezTo>
                  <a:cubicBezTo>
                    <a:pt x="39" y="350"/>
                    <a:pt x="50" y="361"/>
                    <a:pt x="50" y="375"/>
                  </a:cubicBezTo>
                  <a:close/>
                  <a:moveTo>
                    <a:pt x="50" y="725"/>
                  </a:moveTo>
                  <a:lnTo>
                    <a:pt x="50" y="875"/>
                  </a:lnTo>
                  <a:cubicBezTo>
                    <a:pt x="50" y="889"/>
                    <a:pt x="39" y="900"/>
                    <a:pt x="25" y="900"/>
                  </a:cubicBezTo>
                  <a:cubicBezTo>
                    <a:pt x="12" y="900"/>
                    <a:pt x="0" y="889"/>
                    <a:pt x="0" y="875"/>
                  </a:cubicBezTo>
                  <a:lnTo>
                    <a:pt x="0" y="725"/>
                  </a:lnTo>
                  <a:cubicBezTo>
                    <a:pt x="0" y="711"/>
                    <a:pt x="12" y="700"/>
                    <a:pt x="25" y="700"/>
                  </a:cubicBezTo>
                  <a:cubicBezTo>
                    <a:pt x="39" y="700"/>
                    <a:pt x="50" y="711"/>
                    <a:pt x="50" y="725"/>
                  </a:cubicBezTo>
                  <a:close/>
                  <a:moveTo>
                    <a:pt x="50" y="1075"/>
                  </a:moveTo>
                  <a:lnTo>
                    <a:pt x="50" y="1225"/>
                  </a:lnTo>
                  <a:cubicBezTo>
                    <a:pt x="50" y="1239"/>
                    <a:pt x="39" y="1250"/>
                    <a:pt x="25" y="1250"/>
                  </a:cubicBezTo>
                  <a:cubicBezTo>
                    <a:pt x="12" y="1250"/>
                    <a:pt x="0" y="1239"/>
                    <a:pt x="0" y="1225"/>
                  </a:cubicBezTo>
                  <a:lnTo>
                    <a:pt x="0" y="1075"/>
                  </a:lnTo>
                  <a:cubicBezTo>
                    <a:pt x="0" y="1061"/>
                    <a:pt x="12" y="1050"/>
                    <a:pt x="25" y="1050"/>
                  </a:cubicBezTo>
                  <a:cubicBezTo>
                    <a:pt x="39" y="1050"/>
                    <a:pt x="50" y="1061"/>
                    <a:pt x="50" y="1075"/>
                  </a:cubicBezTo>
                  <a:close/>
                  <a:moveTo>
                    <a:pt x="50" y="1425"/>
                  </a:moveTo>
                  <a:lnTo>
                    <a:pt x="50" y="1575"/>
                  </a:lnTo>
                  <a:cubicBezTo>
                    <a:pt x="50" y="1589"/>
                    <a:pt x="39" y="1600"/>
                    <a:pt x="25" y="1600"/>
                  </a:cubicBezTo>
                  <a:cubicBezTo>
                    <a:pt x="12" y="1600"/>
                    <a:pt x="0" y="1589"/>
                    <a:pt x="0" y="1575"/>
                  </a:cubicBezTo>
                  <a:lnTo>
                    <a:pt x="0" y="1425"/>
                  </a:lnTo>
                  <a:cubicBezTo>
                    <a:pt x="0" y="1411"/>
                    <a:pt x="12" y="1400"/>
                    <a:pt x="25" y="1400"/>
                  </a:cubicBezTo>
                  <a:cubicBezTo>
                    <a:pt x="39" y="1400"/>
                    <a:pt x="50" y="1411"/>
                    <a:pt x="50" y="1425"/>
                  </a:cubicBezTo>
                  <a:close/>
                  <a:moveTo>
                    <a:pt x="50" y="1775"/>
                  </a:moveTo>
                  <a:lnTo>
                    <a:pt x="50" y="1925"/>
                  </a:lnTo>
                  <a:cubicBezTo>
                    <a:pt x="50" y="1939"/>
                    <a:pt x="39" y="1950"/>
                    <a:pt x="25" y="1950"/>
                  </a:cubicBezTo>
                  <a:cubicBezTo>
                    <a:pt x="12" y="1950"/>
                    <a:pt x="0" y="1939"/>
                    <a:pt x="0" y="1925"/>
                  </a:cubicBezTo>
                  <a:lnTo>
                    <a:pt x="0" y="1775"/>
                  </a:lnTo>
                  <a:cubicBezTo>
                    <a:pt x="0" y="1761"/>
                    <a:pt x="12" y="1750"/>
                    <a:pt x="25" y="1750"/>
                  </a:cubicBezTo>
                  <a:cubicBezTo>
                    <a:pt x="39" y="1750"/>
                    <a:pt x="50" y="1761"/>
                    <a:pt x="50" y="1775"/>
                  </a:cubicBezTo>
                  <a:close/>
                  <a:moveTo>
                    <a:pt x="50" y="2125"/>
                  </a:moveTo>
                  <a:lnTo>
                    <a:pt x="50" y="2275"/>
                  </a:lnTo>
                  <a:cubicBezTo>
                    <a:pt x="50" y="2289"/>
                    <a:pt x="39" y="2300"/>
                    <a:pt x="25" y="2300"/>
                  </a:cubicBezTo>
                  <a:cubicBezTo>
                    <a:pt x="12" y="2300"/>
                    <a:pt x="0" y="2289"/>
                    <a:pt x="0" y="2275"/>
                  </a:cubicBezTo>
                  <a:lnTo>
                    <a:pt x="0" y="2125"/>
                  </a:lnTo>
                  <a:cubicBezTo>
                    <a:pt x="0" y="2111"/>
                    <a:pt x="12" y="2100"/>
                    <a:pt x="25" y="2100"/>
                  </a:cubicBezTo>
                  <a:cubicBezTo>
                    <a:pt x="39" y="2100"/>
                    <a:pt x="50" y="2111"/>
                    <a:pt x="50" y="2125"/>
                  </a:cubicBezTo>
                  <a:close/>
                  <a:moveTo>
                    <a:pt x="50" y="2475"/>
                  </a:moveTo>
                  <a:lnTo>
                    <a:pt x="50" y="2625"/>
                  </a:lnTo>
                  <a:cubicBezTo>
                    <a:pt x="50" y="2639"/>
                    <a:pt x="39" y="2650"/>
                    <a:pt x="25" y="2650"/>
                  </a:cubicBezTo>
                  <a:cubicBezTo>
                    <a:pt x="12" y="2650"/>
                    <a:pt x="0" y="2639"/>
                    <a:pt x="0" y="2625"/>
                  </a:cubicBezTo>
                  <a:lnTo>
                    <a:pt x="0" y="2475"/>
                  </a:lnTo>
                  <a:cubicBezTo>
                    <a:pt x="0" y="2461"/>
                    <a:pt x="12" y="2450"/>
                    <a:pt x="25" y="2450"/>
                  </a:cubicBezTo>
                  <a:cubicBezTo>
                    <a:pt x="39" y="2450"/>
                    <a:pt x="50" y="2461"/>
                    <a:pt x="50" y="2475"/>
                  </a:cubicBezTo>
                  <a:close/>
                  <a:moveTo>
                    <a:pt x="50" y="2825"/>
                  </a:moveTo>
                  <a:lnTo>
                    <a:pt x="50" y="2975"/>
                  </a:lnTo>
                  <a:cubicBezTo>
                    <a:pt x="50" y="2989"/>
                    <a:pt x="39" y="3000"/>
                    <a:pt x="25" y="3000"/>
                  </a:cubicBezTo>
                  <a:cubicBezTo>
                    <a:pt x="12" y="3000"/>
                    <a:pt x="0" y="2989"/>
                    <a:pt x="0" y="2975"/>
                  </a:cubicBezTo>
                  <a:lnTo>
                    <a:pt x="0" y="2825"/>
                  </a:lnTo>
                  <a:cubicBezTo>
                    <a:pt x="0" y="2811"/>
                    <a:pt x="12" y="2800"/>
                    <a:pt x="25" y="2800"/>
                  </a:cubicBezTo>
                  <a:cubicBezTo>
                    <a:pt x="39" y="2800"/>
                    <a:pt x="50" y="2811"/>
                    <a:pt x="50" y="2825"/>
                  </a:cubicBezTo>
                  <a:close/>
                  <a:moveTo>
                    <a:pt x="50" y="3175"/>
                  </a:moveTo>
                  <a:lnTo>
                    <a:pt x="50" y="3325"/>
                  </a:lnTo>
                  <a:cubicBezTo>
                    <a:pt x="50" y="3339"/>
                    <a:pt x="39" y="3350"/>
                    <a:pt x="25" y="3350"/>
                  </a:cubicBezTo>
                  <a:cubicBezTo>
                    <a:pt x="12" y="3350"/>
                    <a:pt x="0" y="3339"/>
                    <a:pt x="0" y="3325"/>
                  </a:cubicBezTo>
                  <a:lnTo>
                    <a:pt x="0" y="3175"/>
                  </a:lnTo>
                  <a:cubicBezTo>
                    <a:pt x="0" y="3161"/>
                    <a:pt x="12" y="3150"/>
                    <a:pt x="25" y="3150"/>
                  </a:cubicBezTo>
                  <a:cubicBezTo>
                    <a:pt x="39" y="3150"/>
                    <a:pt x="50" y="3161"/>
                    <a:pt x="50" y="3175"/>
                  </a:cubicBezTo>
                  <a:close/>
                  <a:moveTo>
                    <a:pt x="50" y="3525"/>
                  </a:moveTo>
                  <a:lnTo>
                    <a:pt x="50" y="3675"/>
                  </a:lnTo>
                  <a:cubicBezTo>
                    <a:pt x="50" y="3689"/>
                    <a:pt x="39" y="3700"/>
                    <a:pt x="25" y="3700"/>
                  </a:cubicBezTo>
                  <a:cubicBezTo>
                    <a:pt x="12" y="3700"/>
                    <a:pt x="0" y="3689"/>
                    <a:pt x="0" y="3675"/>
                  </a:cubicBezTo>
                  <a:lnTo>
                    <a:pt x="0" y="3525"/>
                  </a:lnTo>
                  <a:cubicBezTo>
                    <a:pt x="0" y="3511"/>
                    <a:pt x="12" y="3500"/>
                    <a:pt x="25" y="3500"/>
                  </a:cubicBezTo>
                  <a:cubicBezTo>
                    <a:pt x="39" y="3500"/>
                    <a:pt x="50" y="3511"/>
                    <a:pt x="50" y="3525"/>
                  </a:cubicBezTo>
                  <a:close/>
                  <a:moveTo>
                    <a:pt x="50" y="3875"/>
                  </a:moveTo>
                  <a:lnTo>
                    <a:pt x="50" y="4025"/>
                  </a:lnTo>
                  <a:cubicBezTo>
                    <a:pt x="50" y="4039"/>
                    <a:pt x="39" y="4050"/>
                    <a:pt x="25" y="4050"/>
                  </a:cubicBezTo>
                  <a:cubicBezTo>
                    <a:pt x="12" y="4050"/>
                    <a:pt x="0" y="4039"/>
                    <a:pt x="0" y="4025"/>
                  </a:cubicBezTo>
                  <a:lnTo>
                    <a:pt x="0" y="3875"/>
                  </a:lnTo>
                  <a:cubicBezTo>
                    <a:pt x="0" y="3861"/>
                    <a:pt x="12" y="3850"/>
                    <a:pt x="25" y="3850"/>
                  </a:cubicBezTo>
                  <a:cubicBezTo>
                    <a:pt x="39" y="3850"/>
                    <a:pt x="50" y="3861"/>
                    <a:pt x="50" y="3875"/>
                  </a:cubicBezTo>
                  <a:close/>
                  <a:moveTo>
                    <a:pt x="50" y="4225"/>
                  </a:moveTo>
                  <a:lnTo>
                    <a:pt x="50" y="4375"/>
                  </a:lnTo>
                  <a:cubicBezTo>
                    <a:pt x="50" y="4389"/>
                    <a:pt x="39" y="4400"/>
                    <a:pt x="25" y="4400"/>
                  </a:cubicBezTo>
                  <a:cubicBezTo>
                    <a:pt x="12" y="4400"/>
                    <a:pt x="0" y="4389"/>
                    <a:pt x="0" y="4375"/>
                  </a:cubicBezTo>
                  <a:lnTo>
                    <a:pt x="0" y="4225"/>
                  </a:lnTo>
                  <a:cubicBezTo>
                    <a:pt x="0" y="4211"/>
                    <a:pt x="12" y="4200"/>
                    <a:pt x="25" y="4200"/>
                  </a:cubicBezTo>
                  <a:cubicBezTo>
                    <a:pt x="39" y="4200"/>
                    <a:pt x="50" y="4211"/>
                    <a:pt x="50" y="4225"/>
                  </a:cubicBezTo>
                  <a:close/>
                  <a:moveTo>
                    <a:pt x="50" y="4575"/>
                  </a:moveTo>
                  <a:lnTo>
                    <a:pt x="50" y="4725"/>
                  </a:lnTo>
                  <a:cubicBezTo>
                    <a:pt x="50" y="4739"/>
                    <a:pt x="39" y="4750"/>
                    <a:pt x="25" y="4750"/>
                  </a:cubicBezTo>
                  <a:cubicBezTo>
                    <a:pt x="12" y="4750"/>
                    <a:pt x="0" y="4739"/>
                    <a:pt x="0" y="4725"/>
                  </a:cubicBezTo>
                  <a:lnTo>
                    <a:pt x="0" y="4575"/>
                  </a:lnTo>
                  <a:cubicBezTo>
                    <a:pt x="0" y="4561"/>
                    <a:pt x="12" y="4550"/>
                    <a:pt x="25" y="4550"/>
                  </a:cubicBezTo>
                  <a:cubicBezTo>
                    <a:pt x="39" y="4550"/>
                    <a:pt x="50" y="4561"/>
                    <a:pt x="50" y="4575"/>
                  </a:cubicBezTo>
                  <a:close/>
                  <a:moveTo>
                    <a:pt x="50" y="4925"/>
                  </a:moveTo>
                  <a:lnTo>
                    <a:pt x="50" y="5075"/>
                  </a:lnTo>
                  <a:cubicBezTo>
                    <a:pt x="50" y="5089"/>
                    <a:pt x="39" y="5100"/>
                    <a:pt x="25" y="5100"/>
                  </a:cubicBezTo>
                  <a:cubicBezTo>
                    <a:pt x="12" y="5100"/>
                    <a:pt x="0" y="5089"/>
                    <a:pt x="0" y="5075"/>
                  </a:cubicBezTo>
                  <a:lnTo>
                    <a:pt x="0" y="4925"/>
                  </a:lnTo>
                  <a:cubicBezTo>
                    <a:pt x="0" y="4911"/>
                    <a:pt x="12" y="4900"/>
                    <a:pt x="25" y="4900"/>
                  </a:cubicBezTo>
                  <a:cubicBezTo>
                    <a:pt x="39" y="4900"/>
                    <a:pt x="50" y="4911"/>
                    <a:pt x="50" y="4925"/>
                  </a:cubicBezTo>
                  <a:close/>
                  <a:moveTo>
                    <a:pt x="50" y="5275"/>
                  </a:moveTo>
                  <a:lnTo>
                    <a:pt x="50" y="5425"/>
                  </a:lnTo>
                  <a:cubicBezTo>
                    <a:pt x="50" y="5439"/>
                    <a:pt x="39" y="5450"/>
                    <a:pt x="25" y="5450"/>
                  </a:cubicBezTo>
                  <a:cubicBezTo>
                    <a:pt x="12" y="5450"/>
                    <a:pt x="0" y="5439"/>
                    <a:pt x="0" y="5425"/>
                  </a:cubicBezTo>
                  <a:lnTo>
                    <a:pt x="0" y="5275"/>
                  </a:lnTo>
                  <a:cubicBezTo>
                    <a:pt x="0" y="5261"/>
                    <a:pt x="12" y="5250"/>
                    <a:pt x="25" y="5250"/>
                  </a:cubicBezTo>
                  <a:cubicBezTo>
                    <a:pt x="39" y="5250"/>
                    <a:pt x="50" y="5261"/>
                    <a:pt x="50" y="5275"/>
                  </a:cubicBezTo>
                  <a:close/>
                  <a:moveTo>
                    <a:pt x="50" y="5625"/>
                  </a:moveTo>
                  <a:lnTo>
                    <a:pt x="50" y="5775"/>
                  </a:lnTo>
                  <a:cubicBezTo>
                    <a:pt x="50" y="5789"/>
                    <a:pt x="39" y="5800"/>
                    <a:pt x="25" y="5800"/>
                  </a:cubicBezTo>
                  <a:cubicBezTo>
                    <a:pt x="12" y="5800"/>
                    <a:pt x="0" y="5789"/>
                    <a:pt x="0" y="5775"/>
                  </a:cubicBezTo>
                  <a:lnTo>
                    <a:pt x="0" y="5625"/>
                  </a:lnTo>
                  <a:cubicBezTo>
                    <a:pt x="0" y="5611"/>
                    <a:pt x="12" y="5600"/>
                    <a:pt x="25" y="5600"/>
                  </a:cubicBezTo>
                  <a:cubicBezTo>
                    <a:pt x="39" y="5600"/>
                    <a:pt x="50" y="5611"/>
                    <a:pt x="50" y="5625"/>
                  </a:cubicBezTo>
                  <a:close/>
                  <a:moveTo>
                    <a:pt x="50" y="5975"/>
                  </a:moveTo>
                  <a:lnTo>
                    <a:pt x="50" y="6125"/>
                  </a:lnTo>
                  <a:cubicBezTo>
                    <a:pt x="50" y="6139"/>
                    <a:pt x="39" y="6150"/>
                    <a:pt x="25" y="6150"/>
                  </a:cubicBezTo>
                  <a:cubicBezTo>
                    <a:pt x="12" y="6150"/>
                    <a:pt x="0" y="6139"/>
                    <a:pt x="0" y="6125"/>
                  </a:cubicBezTo>
                  <a:lnTo>
                    <a:pt x="0" y="5975"/>
                  </a:lnTo>
                  <a:cubicBezTo>
                    <a:pt x="0" y="5961"/>
                    <a:pt x="12" y="5950"/>
                    <a:pt x="25" y="5950"/>
                  </a:cubicBezTo>
                  <a:cubicBezTo>
                    <a:pt x="39" y="5950"/>
                    <a:pt x="50" y="5961"/>
                    <a:pt x="50" y="5975"/>
                  </a:cubicBezTo>
                  <a:close/>
                  <a:moveTo>
                    <a:pt x="50" y="6325"/>
                  </a:moveTo>
                  <a:lnTo>
                    <a:pt x="50" y="6450"/>
                  </a:lnTo>
                  <a:cubicBezTo>
                    <a:pt x="50" y="6464"/>
                    <a:pt x="39" y="6475"/>
                    <a:pt x="25" y="6475"/>
                  </a:cubicBezTo>
                  <a:cubicBezTo>
                    <a:pt x="12" y="6475"/>
                    <a:pt x="0" y="6464"/>
                    <a:pt x="0" y="6450"/>
                  </a:cubicBezTo>
                  <a:lnTo>
                    <a:pt x="0" y="6325"/>
                  </a:lnTo>
                  <a:cubicBezTo>
                    <a:pt x="0" y="6311"/>
                    <a:pt x="12" y="6300"/>
                    <a:pt x="25" y="6300"/>
                  </a:cubicBezTo>
                  <a:cubicBezTo>
                    <a:pt x="39" y="6300"/>
                    <a:pt x="50" y="6311"/>
                    <a:pt x="50" y="6325"/>
                  </a:cubicBezTo>
                  <a:close/>
                </a:path>
              </a:pathLst>
            </a:custGeom>
            <a:solidFill>
              <a:srgbClr val="000000"/>
            </a:solidFill>
            <a:ln w="1270">
              <a:solidFill>
                <a:srgbClr val="000000"/>
              </a:solidFill>
              <a:round/>
            </a:ln>
          </p:spPr>
          <p:txBody>
            <a:bodyPr/>
            <a:lstStyle/>
            <a:p>
              <a:endParaRPr lang="zh-CN" altLang="en-US"/>
            </a:p>
          </p:txBody>
        </p:sp>
        <p:sp>
          <p:nvSpPr>
            <p:cNvPr id="90172" name="Freeform 50"/>
            <p:cNvSpPr>
              <a:spLocks noEditPoints="1"/>
            </p:cNvSpPr>
            <p:nvPr/>
          </p:nvSpPr>
          <p:spPr bwMode="auto">
            <a:xfrm flipH="1">
              <a:off x="4858" y="1783"/>
              <a:ext cx="1" cy="794"/>
            </a:xfrm>
            <a:custGeom>
              <a:avLst/>
              <a:gdLst>
                <a:gd name="T0" fmla="*/ 0 w 50"/>
                <a:gd name="T1" fmla="*/ 0 h 3350"/>
                <a:gd name="T2" fmla="*/ 0 w 50"/>
                <a:gd name="T3" fmla="*/ 0 h 3350"/>
                <a:gd name="T4" fmla="*/ 0 w 50"/>
                <a:gd name="T5" fmla="*/ 0 h 3350"/>
                <a:gd name="T6" fmla="*/ 0 w 50"/>
                <a:gd name="T7" fmla="*/ 0 h 3350"/>
                <a:gd name="T8" fmla="*/ 0 w 50"/>
                <a:gd name="T9" fmla="*/ 0 h 3350"/>
                <a:gd name="T10" fmla="*/ 0 w 50"/>
                <a:gd name="T11" fmla="*/ 0 h 3350"/>
                <a:gd name="T12" fmla="*/ 0 w 50"/>
                <a:gd name="T13" fmla="*/ 0 h 3350"/>
                <a:gd name="T14" fmla="*/ 0 w 50"/>
                <a:gd name="T15" fmla="*/ 0 h 3350"/>
                <a:gd name="T16" fmla="*/ 0 w 50"/>
                <a:gd name="T17" fmla="*/ 0 h 3350"/>
                <a:gd name="T18" fmla="*/ 0 w 50"/>
                <a:gd name="T19" fmla="*/ 0 h 3350"/>
                <a:gd name="T20" fmla="*/ 0 w 50"/>
                <a:gd name="T21" fmla="*/ 0 h 3350"/>
                <a:gd name="T22" fmla="*/ 0 w 50"/>
                <a:gd name="T23" fmla="*/ 0 h 3350"/>
                <a:gd name="T24" fmla="*/ 0 w 50"/>
                <a:gd name="T25" fmla="*/ 0 h 3350"/>
                <a:gd name="T26" fmla="*/ 0 w 50"/>
                <a:gd name="T27" fmla="*/ 0 h 3350"/>
                <a:gd name="T28" fmla="*/ 0 w 50"/>
                <a:gd name="T29" fmla="*/ 0 h 3350"/>
                <a:gd name="T30" fmla="*/ 0 w 50"/>
                <a:gd name="T31" fmla="*/ 0 h 3350"/>
                <a:gd name="T32" fmla="*/ 0 w 50"/>
                <a:gd name="T33" fmla="*/ 0 h 3350"/>
                <a:gd name="T34" fmla="*/ 0 w 50"/>
                <a:gd name="T35" fmla="*/ 0 h 3350"/>
                <a:gd name="T36" fmla="*/ 0 w 50"/>
                <a:gd name="T37" fmla="*/ 0 h 3350"/>
                <a:gd name="T38" fmla="*/ 0 w 50"/>
                <a:gd name="T39" fmla="*/ 0 h 3350"/>
                <a:gd name="T40" fmla="*/ 0 w 50"/>
                <a:gd name="T41" fmla="*/ 0 h 3350"/>
                <a:gd name="T42" fmla="*/ 0 w 50"/>
                <a:gd name="T43" fmla="*/ 0 h 3350"/>
                <a:gd name="T44" fmla="*/ 0 w 50"/>
                <a:gd name="T45" fmla="*/ 0 h 3350"/>
                <a:gd name="T46" fmla="*/ 0 w 50"/>
                <a:gd name="T47" fmla="*/ 0 h 3350"/>
                <a:gd name="T48" fmla="*/ 0 w 50"/>
                <a:gd name="T49" fmla="*/ 0 h 3350"/>
                <a:gd name="T50" fmla="*/ 0 w 50"/>
                <a:gd name="T51" fmla="*/ 0 h 3350"/>
                <a:gd name="T52" fmla="*/ 0 w 50"/>
                <a:gd name="T53" fmla="*/ 0 h 3350"/>
                <a:gd name="T54" fmla="*/ 0 w 50"/>
                <a:gd name="T55" fmla="*/ 0 h 3350"/>
                <a:gd name="T56" fmla="*/ 0 w 50"/>
                <a:gd name="T57" fmla="*/ 0 h 3350"/>
                <a:gd name="T58" fmla="*/ 0 w 50"/>
                <a:gd name="T59" fmla="*/ 0 h 3350"/>
                <a:gd name="T60" fmla="*/ 0 w 50"/>
                <a:gd name="T61" fmla="*/ 0 h 3350"/>
                <a:gd name="T62" fmla="*/ 0 w 50"/>
                <a:gd name="T63" fmla="*/ 0 h 3350"/>
                <a:gd name="T64" fmla="*/ 0 w 50"/>
                <a:gd name="T65" fmla="*/ 0 h 3350"/>
                <a:gd name="T66" fmla="*/ 0 w 50"/>
                <a:gd name="T67" fmla="*/ 0 h 3350"/>
                <a:gd name="T68" fmla="*/ 0 w 50"/>
                <a:gd name="T69" fmla="*/ 0 h 33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0"/>
                <a:gd name="T106" fmla="*/ 0 h 3350"/>
                <a:gd name="T107" fmla="*/ 50 w 50"/>
                <a:gd name="T108" fmla="*/ 3350 h 33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0" h="3350">
                  <a:moveTo>
                    <a:pt x="50" y="25"/>
                  </a:moveTo>
                  <a:lnTo>
                    <a:pt x="50" y="175"/>
                  </a:lnTo>
                  <a:cubicBezTo>
                    <a:pt x="50" y="189"/>
                    <a:pt x="39" y="200"/>
                    <a:pt x="25" y="200"/>
                  </a:cubicBezTo>
                  <a:cubicBezTo>
                    <a:pt x="12" y="200"/>
                    <a:pt x="0" y="189"/>
                    <a:pt x="0" y="175"/>
                  </a:cubicBezTo>
                  <a:lnTo>
                    <a:pt x="0" y="25"/>
                  </a:lnTo>
                  <a:cubicBezTo>
                    <a:pt x="0" y="11"/>
                    <a:pt x="12" y="0"/>
                    <a:pt x="25" y="0"/>
                  </a:cubicBezTo>
                  <a:cubicBezTo>
                    <a:pt x="39" y="0"/>
                    <a:pt x="50" y="11"/>
                    <a:pt x="50" y="25"/>
                  </a:cubicBezTo>
                  <a:close/>
                  <a:moveTo>
                    <a:pt x="50" y="375"/>
                  </a:moveTo>
                  <a:lnTo>
                    <a:pt x="50" y="525"/>
                  </a:lnTo>
                  <a:cubicBezTo>
                    <a:pt x="50" y="539"/>
                    <a:pt x="39" y="550"/>
                    <a:pt x="25" y="550"/>
                  </a:cubicBezTo>
                  <a:cubicBezTo>
                    <a:pt x="12" y="550"/>
                    <a:pt x="0" y="539"/>
                    <a:pt x="0" y="525"/>
                  </a:cubicBezTo>
                  <a:lnTo>
                    <a:pt x="0" y="375"/>
                  </a:lnTo>
                  <a:cubicBezTo>
                    <a:pt x="0" y="361"/>
                    <a:pt x="12" y="350"/>
                    <a:pt x="25" y="350"/>
                  </a:cubicBezTo>
                  <a:cubicBezTo>
                    <a:pt x="39" y="350"/>
                    <a:pt x="50" y="361"/>
                    <a:pt x="50" y="375"/>
                  </a:cubicBezTo>
                  <a:close/>
                  <a:moveTo>
                    <a:pt x="50" y="725"/>
                  </a:moveTo>
                  <a:lnTo>
                    <a:pt x="50" y="875"/>
                  </a:lnTo>
                  <a:cubicBezTo>
                    <a:pt x="50" y="889"/>
                    <a:pt x="39" y="900"/>
                    <a:pt x="25" y="900"/>
                  </a:cubicBezTo>
                  <a:cubicBezTo>
                    <a:pt x="12" y="900"/>
                    <a:pt x="0" y="889"/>
                    <a:pt x="0" y="875"/>
                  </a:cubicBezTo>
                  <a:lnTo>
                    <a:pt x="0" y="725"/>
                  </a:lnTo>
                  <a:cubicBezTo>
                    <a:pt x="0" y="711"/>
                    <a:pt x="12" y="700"/>
                    <a:pt x="25" y="700"/>
                  </a:cubicBezTo>
                  <a:cubicBezTo>
                    <a:pt x="39" y="700"/>
                    <a:pt x="50" y="711"/>
                    <a:pt x="50" y="725"/>
                  </a:cubicBezTo>
                  <a:close/>
                  <a:moveTo>
                    <a:pt x="50" y="1075"/>
                  </a:moveTo>
                  <a:lnTo>
                    <a:pt x="50" y="1225"/>
                  </a:lnTo>
                  <a:cubicBezTo>
                    <a:pt x="50" y="1239"/>
                    <a:pt x="39" y="1250"/>
                    <a:pt x="25" y="1250"/>
                  </a:cubicBezTo>
                  <a:cubicBezTo>
                    <a:pt x="12" y="1250"/>
                    <a:pt x="0" y="1239"/>
                    <a:pt x="0" y="1225"/>
                  </a:cubicBezTo>
                  <a:lnTo>
                    <a:pt x="0" y="1075"/>
                  </a:lnTo>
                  <a:cubicBezTo>
                    <a:pt x="0" y="1061"/>
                    <a:pt x="12" y="1050"/>
                    <a:pt x="25" y="1050"/>
                  </a:cubicBezTo>
                  <a:cubicBezTo>
                    <a:pt x="39" y="1050"/>
                    <a:pt x="50" y="1061"/>
                    <a:pt x="50" y="1075"/>
                  </a:cubicBezTo>
                  <a:close/>
                  <a:moveTo>
                    <a:pt x="50" y="1425"/>
                  </a:moveTo>
                  <a:lnTo>
                    <a:pt x="50" y="1575"/>
                  </a:lnTo>
                  <a:cubicBezTo>
                    <a:pt x="50" y="1589"/>
                    <a:pt x="39" y="1600"/>
                    <a:pt x="25" y="1600"/>
                  </a:cubicBezTo>
                  <a:cubicBezTo>
                    <a:pt x="12" y="1600"/>
                    <a:pt x="0" y="1589"/>
                    <a:pt x="0" y="1575"/>
                  </a:cubicBezTo>
                  <a:lnTo>
                    <a:pt x="0" y="1425"/>
                  </a:lnTo>
                  <a:cubicBezTo>
                    <a:pt x="0" y="1411"/>
                    <a:pt x="12" y="1400"/>
                    <a:pt x="25" y="1400"/>
                  </a:cubicBezTo>
                  <a:cubicBezTo>
                    <a:pt x="39" y="1400"/>
                    <a:pt x="50" y="1411"/>
                    <a:pt x="50" y="1425"/>
                  </a:cubicBezTo>
                  <a:close/>
                  <a:moveTo>
                    <a:pt x="50" y="1775"/>
                  </a:moveTo>
                  <a:lnTo>
                    <a:pt x="50" y="1925"/>
                  </a:lnTo>
                  <a:cubicBezTo>
                    <a:pt x="50" y="1939"/>
                    <a:pt x="39" y="1950"/>
                    <a:pt x="25" y="1950"/>
                  </a:cubicBezTo>
                  <a:cubicBezTo>
                    <a:pt x="12" y="1950"/>
                    <a:pt x="0" y="1939"/>
                    <a:pt x="0" y="1925"/>
                  </a:cubicBezTo>
                  <a:lnTo>
                    <a:pt x="0" y="1775"/>
                  </a:lnTo>
                  <a:cubicBezTo>
                    <a:pt x="0" y="1761"/>
                    <a:pt x="12" y="1750"/>
                    <a:pt x="25" y="1750"/>
                  </a:cubicBezTo>
                  <a:cubicBezTo>
                    <a:pt x="39" y="1750"/>
                    <a:pt x="50" y="1761"/>
                    <a:pt x="50" y="1775"/>
                  </a:cubicBezTo>
                  <a:close/>
                  <a:moveTo>
                    <a:pt x="50" y="2125"/>
                  </a:moveTo>
                  <a:lnTo>
                    <a:pt x="50" y="2275"/>
                  </a:lnTo>
                  <a:cubicBezTo>
                    <a:pt x="50" y="2289"/>
                    <a:pt x="39" y="2300"/>
                    <a:pt x="25" y="2300"/>
                  </a:cubicBezTo>
                  <a:cubicBezTo>
                    <a:pt x="12" y="2300"/>
                    <a:pt x="0" y="2289"/>
                    <a:pt x="0" y="2275"/>
                  </a:cubicBezTo>
                  <a:lnTo>
                    <a:pt x="0" y="2125"/>
                  </a:lnTo>
                  <a:cubicBezTo>
                    <a:pt x="0" y="2111"/>
                    <a:pt x="12" y="2100"/>
                    <a:pt x="25" y="2100"/>
                  </a:cubicBezTo>
                  <a:cubicBezTo>
                    <a:pt x="39" y="2100"/>
                    <a:pt x="50" y="2111"/>
                    <a:pt x="50" y="2125"/>
                  </a:cubicBezTo>
                  <a:close/>
                  <a:moveTo>
                    <a:pt x="50" y="2475"/>
                  </a:moveTo>
                  <a:lnTo>
                    <a:pt x="50" y="2625"/>
                  </a:lnTo>
                  <a:cubicBezTo>
                    <a:pt x="50" y="2639"/>
                    <a:pt x="39" y="2650"/>
                    <a:pt x="25" y="2650"/>
                  </a:cubicBezTo>
                  <a:cubicBezTo>
                    <a:pt x="12" y="2650"/>
                    <a:pt x="0" y="2639"/>
                    <a:pt x="0" y="2625"/>
                  </a:cubicBezTo>
                  <a:lnTo>
                    <a:pt x="0" y="2475"/>
                  </a:lnTo>
                  <a:cubicBezTo>
                    <a:pt x="0" y="2461"/>
                    <a:pt x="12" y="2450"/>
                    <a:pt x="25" y="2450"/>
                  </a:cubicBezTo>
                  <a:cubicBezTo>
                    <a:pt x="39" y="2450"/>
                    <a:pt x="50" y="2461"/>
                    <a:pt x="50" y="2475"/>
                  </a:cubicBezTo>
                  <a:close/>
                  <a:moveTo>
                    <a:pt x="50" y="2825"/>
                  </a:moveTo>
                  <a:lnTo>
                    <a:pt x="50" y="2975"/>
                  </a:lnTo>
                  <a:cubicBezTo>
                    <a:pt x="50" y="2989"/>
                    <a:pt x="39" y="3000"/>
                    <a:pt x="25" y="3000"/>
                  </a:cubicBezTo>
                  <a:cubicBezTo>
                    <a:pt x="12" y="3000"/>
                    <a:pt x="0" y="2989"/>
                    <a:pt x="0" y="2975"/>
                  </a:cubicBezTo>
                  <a:lnTo>
                    <a:pt x="0" y="2825"/>
                  </a:lnTo>
                  <a:cubicBezTo>
                    <a:pt x="0" y="2811"/>
                    <a:pt x="12" y="2800"/>
                    <a:pt x="25" y="2800"/>
                  </a:cubicBezTo>
                  <a:cubicBezTo>
                    <a:pt x="39" y="2800"/>
                    <a:pt x="50" y="2811"/>
                    <a:pt x="50" y="2825"/>
                  </a:cubicBezTo>
                  <a:close/>
                  <a:moveTo>
                    <a:pt x="50" y="3175"/>
                  </a:moveTo>
                  <a:lnTo>
                    <a:pt x="50" y="3325"/>
                  </a:lnTo>
                  <a:cubicBezTo>
                    <a:pt x="50" y="3339"/>
                    <a:pt x="39" y="3350"/>
                    <a:pt x="25" y="3350"/>
                  </a:cubicBezTo>
                  <a:cubicBezTo>
                    <a:pt x="12" y="3350"/>
                    <a:pt x="0" y="3339"/>
                    <a:pt x="0" y="3325"/>
                  </a:cubicBezTo>
                  <a:lnTo>
                    <a:pt x="0" y="3175"/>
                  </a:lnTo>
                  <a:cubicBezTo>
                    <a:pt x="0" y="3161"/>
                    <a:pt x="12" y="3150"/>
                    <a:pt x="25" y="3150"/>
                  </a:cubicBezTo>
                  <a:cubicBezTo>
                    <a:pt x="39" y="3150"/>
                    <a:pt x="50" y="3161"/>
                    <a:pt x="50" y="3175"/>
                  </a:cubicBezTo>
                  <a:close/>
                </a:path>
              </a:pathLst>
            </a:custGeom>
            <a:solidFill>
              <a:srgbClr val="000000"/>
            </a:solidFill>
            <a:ln w="1270">
              <a:solidFill>
                <a:srgbClr val="000000"/>
              </a:solidFill>
              <a:round/>
            </a:ln>
          </p:spPr>
          <p:txBody>
            <a:bodyPr/>
            <a:lstStyle/>
            <a:p>
              <a:endParaRPr lang="zh-CN" altLang="en-US"/>
            </a:p>
          </p:txBody>
        </p:sp>
      </p:grpSp>
      <p:sp>
        <p:nvSpPr>
          <p:cNvPr id="90119" name="Line 51"/>
          <p:cNvSpPr>
            <a:spLocks noChangeShapeType="1"/>
          </p:cNvSpPr>
          <p:nvPr/>
        </p:nvSpPr>
        <p:spPr bwMode="auto">
          <a:xfrm>
            <a:off x="1339850" y="979488"/>
            <a:ext cx="3425825" cy="25400"/>
          </a:xfrm>
          <a:prstGeom prst="line">
            <a:avLst/>
          </a:prstGeom>
          <a:noFill/>
          <a:ln w="28575">
            <a:solidFill>
              <a:srgbClr val="0000CC"/>
            </a:solidFill>
            <a:prstDash val="dash"/>
            <a:roun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0" name="Rectangle 52"/>
          <p:cNvSpPr>
            <a:spLocks noChangeArrowheads="1"/>
          </p:cNvSpPr>
          <p:nvPr/>
        </p:nvSpPr>
        <p:spPr bwMode="auto">
          <a:xfrm>
            <a:off x="2257425" y="496888"/>
            <a:ext cx="10287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5000"/>
              </a:spcBef>
              <a:buClrTx/>
              <a:buSzTx/>
              <a:buFont typeface="Arial" panose="020B0604020202020204" pitchFamily="34" charset="0"/>
              <a:buNone/>
            </a:pPr>
            <a:r>
              <a:rPr lang="zh-CN" altLang="zh-CN" sz="2000">
                <a:latin typeface="Times New Roman" panose="02020603050405020304" pitchFamily="18" charset="0"/>
              </a:rPr>
              <a:t>稳定区</a:t>
            </a:r>
            <a:endParaRPr lang="zh-CN" altLang="zh-CN" sz="2000">
              <a:latin typeface="Times New Roman" panose="02020603050405020304" pitchFamily="18" charset="0"/>
            </a:endParaRPr>
          </a:p>
        </p:txBody>
      </p:sp>
      <p:sp>
        <p:nvSpPr>
          <p:cNvPr id="90121" name="Rectangle 5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graphicFrame>
        <p:nvGraphicFramePr>
          <p:cNvPr id="90122" name="Object 54"/>
          <p:cNvGraphicFramePr>
            <a:graphicFrameLocks noChangeAspect="1"/>
          </p:cNvGraphicFramePr>
          <p:nvPr/>
        </p:nvGraphicFramePr>
        <p:xfrm>
          <a:off x="1711325" y="992188"/>
          <a:ext cx="868363" cy="684212"/>
        </p:xfrm>
        <a:graphic>
          <a:graphicData uri="http://schemas.openxmlformats.org/presentationml/2006/ole">
            <mc:AlternateContent xmlns:mc="http://schemas.openxmlformats.org/markup-compatibility/2006">
              <mc:Choice xmlns:v="urn:schemas-microsoft-com:vml" Requires="v">
                <p:oleObj spid="_x0000_s90335" name="" r:id="rId5" imgW="495935" imgH="394335" progId="Equation.3">
                  <p:embed/>
                </p:oleObj>
              </mc:Choice>
              <mc:Fallback>
                <p:oleObj name="" r:id="rId5" imgW="495935" imgH="394335" progId="Equation.3">
                  <p:embed/>
                  <p:pic>
                    <p:nvPicPr>
                      <p:cNvPr id="0" name="Object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1325" y="992188"/>
                        <a:ext cx="86836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3" name="Rectangle 55"/>
          <p:cNvSpPr>
            <a:spLocks noChangeArrowheads="1"/>
          </p:cNvSpPr>
          <p:nvPr/>
        </p:nvSpPr>
        <p:spPr bwMode="auto">
          <a:xfrm>
            <a:off x="2557463" y="1158875"/>
            <a:ext cx="1525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zh-CN" sz="2000">
                <a:solidFill>
                  <a:schemeClr val="tx2"/>
                </a:solidFill>
                <a:latin typeface="Times New Roman" panose="02020603050405020304" pitchFamily="18" charset="0"/>
              </a:rPr>
              <a:t>反馈增益线 </a:t>
            </a:r>
            <a:endParaRPr lang="zh-CN" altLang="zh-CN" sz="2000">
              <a:solidFill>
                <a:schemeClr val="tx2"/>
              </a:solidFill>
              <a:latin typeface="Times New Roman" panose="02020603050405020304" pitchFamily="18" charset="0"/>
            </a:endParaRPr>
          </a:p>
        </p:txBody>
      </p:sp>
      <p:sp>
        <p:nvSpPr>
          <p:cNvPr id="90124" name="Line 56"/>
          <p:cNvSpPr>
            <a:spLocks noChangeShapeType="1"/>
          </p:cNvSpPr>
          <p:nvPr/>
        </p:nvSpPr>
        <p:spPr bwMode="auto">
          <a:xfrm>
            <a:off x="1336675" y="833438"/>
            <a:ext cx="3000375" cy="38100"/>
          </a:xfrm>
          <a:prstGeom prst="line">
            <a:avLst/>
          </a:prstGeom>
          <a:noFill/>
          <a:ln w="28575">
            <a:solidFill>
              <a:srgbClr val="CC0000"/>
            </a:solidFill>
            <a:prstDash val="dash"/>
            <a:roun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90125" name="Object 57"/>
          <p:cNvGraphicFramePr>
            <a:graphicFrameLocks noChangeAspect="1"/>
          </p:cNvGraphicFramePr>
          <p:nvPr/>
        </p:nvGraphicFramePr>
        <p:xfrm>
          <a:off x="7175500" y="274638"/>
          <a:ext cx="1703388" cy="571500"/>
        </p:xfrm>
        <a:graphic>
          <a:graphicData uri="http://schemas.openxmlformats.org/presentationml/2006/ole">
            <mc:AlternateContent xmlns:mc="http://schemas.openxmlformats.org/markup-compatibility/2006">
              <mc:Choice xmlns:v="urn:schemas-microsoft-com:vml" Requires="v">
                <p:oleObj spid="_x0000_s90336" name="" r:id="rId7" imgW="826770" imgH="280035" progId="Equation.3">
                  <p:embed/>
                </p:oleObj>
              </mc:Choice>
              <mc:Fallback>
                <p:oleObj name="" r:id="rId7" imgW="826770" imgH="280035" progId="Equation.3">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75500" y="274638"/>
                        <a:ext cx="17033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6" name="Object 58"/>
          <p:cNvGraphicFramePr>
            <a:graphicFrameLocks noChangeAspect="1"/>
          </p:cNvGraphicFramePr>
          <p:nvPr/>
        </p:nvGraphicFramePr>
        <p:xfrm>
          <a:off x="6991350" y="1127125"/>
          <a:ext cx="2152650" cy="771525"/>
        </p:xfrm>
        <a:graphic>
          <a:graphicData uri="http://schemas.openxmlformats.org/presentationml/2006/ole">
            <mc:AlternateContent xmlns:mc="http://schemas.openxmlformats.org/markup-compatibility/2006">
              <mc:Choice xmlns:v="urn:schemas-microsoft-com:vml" Requires="v">
                <p:oleObj spid="_x0000_s90337" name="" r:id="rId9" imgW="1092835" imgH="394335" progId="Equation.3">
                  <p:embed/>
                </p:oleObj>
              </mc:Choice>
              <mc:Fallback>
                <p:oleObj name="" r:id="rId9" imgW="1092835" imgH="394335" progId="Equation.3">
                  <p:embed/>
                  <p:pic>
                    <p:nvPicPr>
                      <p:cNvPr id="0" name="Object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91350" y="1127125"/>
                        <a:ext cx="21526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7" name="AutoShape 59"/>
          <p:cNvSpPr>
            <a:spLocks noChangeArrowheads="1"/>
          </p:cNvSpPr>
          <p:nvPr/>
        </p:nvSpPr>
        <p:spPr bwMode="auto">
          <a:xfrm>
            <a:off x="7959725" y="849313"/>
            <a:ext cx="204788" cy="477837"/>
          </a:xfrm>
          <a:prstGeom prst="downArrow">
            <a:avLst>
              <a:gd name="adj1" fmla="val 50000"/>
              <a:gd name="adj2" fmla="val 58333"/>
            </a:avLst>
          </a:prstGeom>
          <a:noFill/>
          <a:ln w="38100">
            <a:solidFill>
              <a:schemeClr val="accent2"/>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en-US"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矩形 2"/>
          <p:cNvSpPr/>
          <p:nvPr/>
        </p:nvSpPr>
        <p:spPr>
          <a:xfrm>
            <a:off x="300445" y="191330"/>
            <a:ext cx="7815944" cy="732508"/>
          </a:xfrm>
          <a:prstGeom prst="rect">
            <a:avLst/>
          </a:prstGeom>
        </p:spPr>
        <p:txBody>
          <a:bodyPr wrap="square">
            <a:spAutoFit/>
          </a:bodyPr>
          <a:lstStyle/>
          <a:p>
            <a:pPr>
              <a:lnSpc>
                <a:spcPct val="130000"/>
              </a:lnSpc>
              <a:spcBef>
                <a:spcPct val="5000"/>
              </a:spcBef>
            </a:pPr>
            <a:r>
              <a:rPr lang="en-US" altLang="zh-CN" sz="3200" dirty="0"/>
              <a:t>6.4.3 </a:t>
            </a:r>
            <a:r>
              <a:rPr lang="zh-CN" altLang="en-US" sz="3200" dirty="0"/>
              <a:t>负反馈放大电路自激振荡的消除方法</a:t>
            </a:r>
            <a:endParaRPr lang="zh-CN" altLang="en-US" sz="3200" dirty="0"/>
          </a:p>
        </p:txBody>
      </p:sp>
      <p:sp>
        <p:nvSpPr>
          <p:cNvPr id="4" name="矩形 3"/>
          <p:cNvSpPr/>
          <p:nvPr/>
        </p:nvSpPr>
        <p:spPr>
          <a:xfrm>
            <a:off x="300445" y="1106716"/>
            <a:ext cx="8286205" cy="2677656"/>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dirty="0">
                <a:solidFill>
                  <a:srgbClr val="000000"/>
                </a:solidFill>
                <a:latin typeface="宋体" panose="02010600030101010101" pitchFamily="2" charset="-122"/>
                <a:ea typeface="宋体" panose="02010600030101010101" pitchFamily="2" charset="-122"/>
              </a:rPr>
              <a:t>通过对负反馈放大电路稳定性的分析可知</a:t>
            </a:r>
            <a:r>
              <a:rPr lang="zh-CN" altLang="en-US" dirty="0" smtClean="0">
                <a:solidFill>
                  <a:srgbClr val="000000"/>
                </a:solidFill>
                <a:latin typeface="宋体" panose="02010600030101010101" pitchFamily="2" charset="-122"/>
                <a:ea typeface="宋体" panose="02010600030101010101" pitchFamily="2" charset="-122"/>
              </a:rPr>
              <a:t>，</a:t>
            </a:r>
            <a:r>
              <a:rPr lang="en-US" altLang="zh-CN" dirty="0" smtClean="0">
                <a:solidFill>
                  <a:srgbClr val="000000"/>
                </a:solidFill>
                <a:latin typeface="宋体" panose="02010600030101010101" pitchFamily="2" charset="-122"/>
                <a:ea typeface="宋体" panose="02010600030101010101" pitchFamily="2" charset="-122"/>
              </a:rPr>
              <a:t>|AF|</a:t>
            </a:r>
            <a:r>
              <a:rPr lang="zh-CN" altLang="en-US" dirty="0" smtClean="0">
                <a:solidFill>
                  <a:srgbClr val="000000"/>
                </a:solidFill>
                <a:latin typeface="宋体" panose="02010600030101010101" pitchFamily="2" charset="-122"/>
                <a:ea typeface="宋体" panose="02010600030101010101" pitchFamily="2" charset="-122"/>
              </a:rPr>
              <a:t>越</a:t>
            </a:r>
            <a:r>
              <a:rPr lang="zh-CN" altLang="en-US" dirty="0">
                <a:solidFill>
                  <a:srgbClr val="000000"/>
                </a:solidFill>
                <a:latin typeface="宋体" panose="02010600030101010101" pitchFamily="2" charset="-122"/>
                <a:ea typeface="宋体" panose="02010600030101010101" pitchFamily="2" charset="-122"/>
              </a:rPr>
              <a:t>大，即负反馈越深，电路越容易</a:t>
            </a:r>
            <a:r>
              <a:rPr lang="zh-CN" altLang="en-US" dirty="0" smtClean="0">
                <a:solidFill>
                  <a:srgbClr val="000000"/>
                </a:solidFill>
                <a:latin typeface="宋体" panose="02010600030101010101" pitchFamily="2" charset="-122"/>
                <a:ea typeface="宋体" panose="02010600030101010101" pitchFamily="2" charset="-122"/>
              </a:rPr>
              <a:t>产生</a:t>
            </a:r>
            <a:r>
              <a:rPr lang="zh-CN" altLang="en-US" dirty="0">
                <a:solidFill>
                  <a:srgbClr val="000000"/>
                </a:solidFill>
                <a:latin typeface="宋体" panose="02010600030101010101" pitchFamily="2" charset="-122"/>
                <a:ea typeface="宋体" panose="02010600030101010101" pitchFamily="2" charset="-122"/>
              </a:rPr>
              <a:t>自激振荡。为提高放大器在深度负反馈条件下的工作稳定性，必须采取措施破坏电路的</a:t>
            </a:r>
            <a:r>
              <a:rPr lang="zh-CN" altLang="en-US" dirty="0" smtClean="0">
                <a:solidFill>
                  <a:srgbClr val="000000"/>
                </a:solidFill>
                <a:latin typeface="宋体" panose="02010600030101010101" pitchFamily="2" charset="-122"/>
                <a:ea typeface="宋体" panose="02010600030101010101" pitchFamily="2" charset="-122"/>
              </a:rPr>
              <a:t>自激振荡</a:t>
            </a:r>
            <a:r>
              <a:rPr lang="zh-CN" altLang="en-US" dirty="0">
                <a:solidFill>
                  <a:srgbClr val="000000"/>
                </a:solidFill>
                <a:latin typeface="宋体" panose="02010600030101010101" pitchFamily="2" charset="-122"/>
                <a:ea typeface="宋体" panose="02010600030101010101" pitchFamily="2" charset="-122"/>
              </a:rPr>
              <a:t>条件。</a:t>
            </a:r>
            <a:endParaRPr lang="zh-CN" altLang="en-US" dirty="0"/>
          </a:p>
        </p:txBody>
      </p:sp>
      <p:sp>
        <p:nvSpPr>
          <p:cNvPr id="5" name="矩形 4"/>
          <p:cNvSpPr/>
          <p:nvPr/>
        </p:nvSpPr>
        <p:spPr>
          <a:xfrm>
            <a:off x="300445" y="4226600"/>
            <a:ext cx="8277498" cy="2031325"/>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dirty="0">
                <a:solidFill>
                  <a:srgbClr val="000000"/>
                </a:solidFill>
                <a:latin typeface="宋体" panose="02010600030101010101" pitchFamily="2" charset="-122"/>
                <a:ea typeface="宋体" panose="02010600030101010101" pitchFamily="2" charset="-122"/>
              </a:rPr>
              <a:t>一般采用的方法是相位补偿法，即在放大电路中接入电容元件或电阻、电容元件，以改变基本放大电路的开环频率特性或反馈网络的频率特性。</a:t>
            </a:r>
            <a:r>
              <a:rPr lang="zh-CN" altLang="en-US" dirty="0">
                <a:solidFill>
                  <a:srgbClr val="000000"/>
                </a:solidFill>
                <a:latin typeface="TimesNewRomanPSMT"/>
              </a:rPr>
              <a:t> </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矩形 2"/>
          <p:cNvSpPr/>
          <p:nvPr/>
        </p:nvSpPr>
        <p:spPr>
          <a:xfrm>
            <a:off x="265795" y="70675"/>
            <a:ext cx="8446135" cy="2228302"/>
          </a:xfrm>
          <a:prstGeom prst="rect">
            <a:avLst/>
          </a:prstGeom>
        </p:spPr>
        <p:txBody>
          <a:bodyPr wrap="square">
            <a:spAutoFit/>
          </a:bodyPr>
          <a:lstStyle/>
          <a:p>
            <a:pPr>
              <a:spcAft>
                <a:spcPts val="1200"/>
              </a:spcAft>
            </a:pPr>
            <a:r>
              <a:rPr lang="zh-CN" altLang="en-US" b="0" dirty="0" smtClean="0">
                <a:solidFill>
                  <a:srgbClr val="000000"/>
                </a:solidFill>
                <a:latin typeface="黑体" panose="02010609060101010101" pitchFamily="49" charset="-122"/>
                <a:ea typeface="黑体" panose="02010609060101010101" pitchFamily="49" charset="-122"/>
              </a:rPr>
              <a:t>一、</a:t>
            </a:r>
            <a:r>
              <a:rPr lang="zh-CN" altLang="en-US" b="0" dirty="0" smtClean="0">
                <a:solidFill>
                  <a:srgbClr val="000000"/>
                </a:solidFill>
                <a:latin typeface="黑体" panose="02010609060101010101" pitchFamily="49" charset="-122"/>
                <a:ea typeface="黑体" panose="02010609060101010101" pitchFamily="49" charset="-122"/>
              </a:rPr>
              <a:t>滞后补偿</a:t>
            </a:r>
            <a:endParaRPr lang="en-US" altLang="zh-CN" b="0" dirty="0" smtClean="0">
              <a:solidFill>
                <a:srgbClr val="000000"/>
              </a:solidFill>
              <a:latin typeface="宋体" panose="02010600030101010101" pitchFamily="2" charset="-122"/>
              <a:ea typeface="宋体" panose="02010600030101010101" pitchFamily="2" charset="-122"/>
            </a:endParaRPr>
          </a:p>
          <a:p>
            <a:pPr>
              <a:lnSpc>
                <a:spcPct val="120000"/>
              </a:lnSpc>
            </a:pPr>
            <a:r>
              <a:rPr lang="en-US" altLang="zh-CN" b="0" dirty="0">
                <a:solidFill>
                  <a:srgbClr val="000000"/>
                </a:solidFill>
                <a:latin typeface="宋体" panose="02010600030101010101" pitchFamily="2" charset="-122"/>
                <a:ea typeface="宋体" panose="02010600030101010101" pitchFamily="2" charset="-122"/>
              </a:rPr>
              <a:t> </a:t>
            </a:r>
            <a:r>
              <a:rPr lang="en-US" altLang="zh-CN" b="0" dirty="0" smtClean="0">
                <a:solidFill>
                  <a:srgbClr val="000000"/>
                </a:solidFill>
                <a:latin typeface="宋体" panose="02010600030101010101" pitchFamily="2" charset="-122"/>
                <a:ea typeface="宋体" panose="02010600030101010101" pitchFamily="2" charset="-122"/>
              </a:rPr>
              <a:t> </a:t>
            </a:r>
            <a:r>
              <a:rPr lang="zh-CN" altLang="en-US" b="0" dirty="0" smtClean="0">
                <a:solidFill>
                  <a:srgbClr val="000000"/>
                </a:solidFill>
                <a:latin typeface="宋体" panose="02010600030101010101" pitchFamily="2" charset="-122"/>
                <a:ea typeface="宋体" panose="02010600030101010101" pitchFamily="2" charset="-122"/>
              </a:rPr>
              <a:t>由于</a:t>
            </a:r>
            <a:r>
              <a:rPr lang="zh-CN" altLang="en-US" b="0" dirty="0">
                <a:solidFill>
                  <a:srgbClr val="000000"/>
                </a:solidFill>
                <a:latin typeface="宋体" panose="02010600030101010101" pitchFamily="2" charset="-122"/>
                <a:ea typeface="宋体" panose="02010600030101010101" pitchFamily="2" charset="-122"/>
              </a:rPr>
              <a:t>这种补偿使放大电路的相位滞后，故称为滞后补偿</a:t>
            </a:r>
            <a:r>
              <a:rPr lang="zh-CN" altLang="en-US" b="0" dirty="0" smtClean="0">
                <a:solidFill>
                  <a:srgbClr val="000000"/>
                </a:solidFill>
                <a:latin typeface="宋体" panose="02010600030101010101" pitchFamily="2" charset="-122"/>
                <a:ea typeface="宋体" panose="02010600030101010101" pitchFamily="2" charset="-122"/>
              </a:rPr>
              <a:t>。主要有</a:t>
            </a:r>
            <a:r>
              <a:rPr lang="zh-CN" altLang="en-US" b="0" dirty="0" smtClean="0"/>
              <a:t>电容</a:t>
            </a:r>
            <a:r>
              <a:rPr lang="zh-CN" altLang="en-US" b="0" dirty="0"/>
              <a:t>补偿、零极点相消</a:t>
            </a:r>
            <a:r>
              <a:rPr lang="en-US" altLang="zh-CN" b="0" dirty="0"/>
              <a:t>—RC </a:t>
            </a:r>
            <a:r>
              <a:rPr lang="zh-CN" altLang="en-US" b="0" dirty="0"/>
              <a:t>滞后补偿和密勒效应补偿三种</a:t>
            </a:r>
            <a:endParaRPr lang="zh-CN" altLang="en-US" dirty="0"/>
          </a:p>
        </p:txBody>
      </p:sp>
      <p:sp>
        <p:nvSpPr>
          <p:cNvPr id="4" name="Rectangle 6"/>
          <p:cNvSpPr>
            <a:spLocks noChangeArrowheads="1"/>
          </p:cNvSpPr>
          <p:nvPr/>
        </p:nvSpPr>
        <p:spPr bwMode="auto">
          <a:xfrm>
            <a:off x="396239" y="2300954"/>
            <a:ext cx="2167879"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en-US" altLang="zh-CN" dirty="0" smtClean="0">
                <a:latin typeface="+mn-ea"/>
                <a:ea typeface="+mn-ea"/>
              </a:rPr>
              <a:t>1.</a:t>
            </a:r>
            <a:r>
              <a:rPr lang="zh-CN" altLang="en-US" dirty="0" smtClean="0">
                <a:latin typeface="+mn-ea"/>
                <a:ea typeface="+mn-ea"/>
              </a:rPr>
              <a:t>电容</a:t>
            </a:r>
            <a:r>
              <a:rPr lang="zh-CN" altLang="en-US" dirty="0">
                <a:latin typeface="+mn-ea"/>
                <a:ea typeface="+mn-ea"/>
              </a:rPr>
              <a:t>补偿 </a:t>
            </a:r>
            <a:endParaRPr lang="zh-CN" altLang="en-US" dirty="0">
              <a:latin typeface="+mn-ea"/>
              <a:ea typeface="+mn-ea"/>
            </a:endParaRPr>
          </a:p>
        </p:txBody>
      </p:sp>
      <p:sp>
        <p:nvSpPr>
          <p:cNvPr id="5" name="Rectangle 34"/>
          <p:cNvSpPr>
            <a:spLocks noChangeArrowheads="1"/>
          </p:cNvSpPr>
          <p:nvPr/>
        </p:nvSpPr>
        <p:spPr bwMode="auto">
          <a:xfrm>
            <a:off x="1646909" y="5954176"/>
            <a:ext cx="5752193"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eaLnBrk="1" hangingPunct="1"/>
            <a:r>
              <a:rPr kumimoji="1" lang="zh-CN" altLang="en-US" sz="2000" dirty="0">
                <a:solidFill>
                  <a:srgbClr val="000000"/>
                </a:solidFill>
                <a:latin typeface="+mn-ea"/>
                <a:ea typeface="+mn-ea"/>
              </a:rPr>
              <a:t>图 </a:t>
            </a:r>
            <a:r>
              <a:rPr kumimoji="1" lang="en-US" altLang="zh-CN" sz="2000" dirty="0">
                <a:solidFill>
                  <a:srgbClr val="000000"/>
                </a:solidFill>
                <a:latin typeface="+mn-ea"/>
                <a:ea typeface="+mn-ea"/>
              </a:rPr>
              <a:t>6.4.5   </a:t>
            </a:r>
            <a:r>
              <a:rPr kumimoji="1" lang="zh-CN" altLang="en-US" sz="2000" dirty="0">
                <a:solidFill>
                  <a:srgbClr val="000000"/>
                </a:solidFill>
                <a:latin typeface="+mn-ea"/>
                <a:ea typeface="+mn-ea"/>
              </a:rPr>
              <a:t>电容滞后补偿的开环增益的渐近波特图 </a:t>
            </a:r>
            <a:endParaRPr kumimoji="1" lang="zh-CN" altLang="en-US" sz="2000" dirty="0">
              <a:solidFill>
                <a:srgbClr val="000000"/>
              </a:solidFill>
              <a:latin typeface="+mn-ea"/>
              <a:ea typeface="+mn-ea"/>
            </a:endParaRPr>
          </a:p>
        </p:txBody>
      </p:sp>
      <p:grpSp>
        <p:nvGrpSpPr>
          <p:cNvPr id="6" name="Group 39"/>
          <p:cNvGrpSpPr/>
          <p:nvPr/>
        </p:nvGrpSpPr>
        <p:grpSpPr bwMode="auto">
          <a:xfrm>
            <a:off x="1404350" y="2767597"/>
            <a:ext cx="7018289" cy="2908300"/>
            <a:chOff x="696" y="1406"/>
            <a:chExt cx="4181" cy="1832"/>
          </a:xfrm>
        </p:grpSpPr>
        <p:sp>
          <p:nvSpPr>
            <p:cNvPr id="7" name="Rectangle 9"/>
            <p:cNvSpPr>
              <a:spLocks noChangeArrowheads="1"/>
            </p:cNvSpPr>
            <p:nvPr/>
          </p:nvSpPr>
          <p:spPr bwMode="auto">
            <a:xfrm>
              <a:off x="904" y="1506"/>
              <a:ext cx="458"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b="1">
                  <a:solidFill>
                    <a:srgbClr val="000000"/>
                  </a:solidFill>
                  <a:latin typeface="Times New Roman" panose="02020603050405020304" pitchFamily="18" charset="0"/>
                  <a:ea typeface="宋体" panose="02010600030101010101" pitchFamily="2" charset="-122"/>
                </a:rPr>
                <a:t>20lg|</a:t>
              </a:r>
              <a:r>
                <a:rPr kumimoji="1" lang="en-US" altLang="zh-CN" b="1" i="1">
                  <a:solidFill>
                    <a:srgbClr val="000000"/>
                  </a:solidFill>
                  <a:latin typeface="Times New Roman" panose="02020603050405020304" pitchFamily="18" charset="0"/>
                  <a:ea typeface="宋体" panose="02010600030101010101" pitchFamily="2" charset="-122"/>
                </a:rPr>
                <a:t>A</a:t>
              </a:r>
              <a:r>
                <a:rPr kumimoji="1" lang="en-US" altLang="zh-CN" b="1">
                  <a:solidFill>
                    <a:srgbClr val="000000"/>
                  </a:solidFill>
                  <a:latin typeface="Times New Roman" panose="02020603050405020304" pitchFamily="18" charset="0"/>
                  <a:ea typeface="宋体" panose="02010600030101010101" pitchFamily="2" charset="-122"/>
                </a:rPr>
                <a:t>|</a:t>
              </a:r>
              <a:endParaRPr kumimoji="1" lang="en-US" altLang="zh-CN" b="1">
                <a:solidFill>
                  <a:srgbClr val="000000"/>
                </a:solidFill>
                <a:latin typeface="Times New Roman" panose="02020603050405020304" pitchFamily="18" charset="0"/>
                <a:ea typeface="宋体" panose="02010600030101010101" pitchFamily="2" charset="-122"/>
              </a:endParaRPr>
            </a:p>
          </p:txBody>
        </p:sp>
        <p:sp>
          <p:nvSpPr>
            <p:cNvPr id="8" name="Rectangle 10"/>
            <p:cNvSpPr>
              <a:spLocks noChangeArrowheads="1"/>
            </p:cNvSpPr>
            <p:nvPr/>
          </p:nvSpPr>
          <p:spPr bwMode="auto">
            <a:xfrm>
              <a:off x="1233" y="1406"/>
              <a:ext cx="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1" hangingPunct="1">
                <a:spcBef>
                  <a:spcPct val="50000"/>
                </a:spcBef>
              </a:pPr>
              <a:r>
                <a:rPr kumimoji="1" lang="en-US" altLang="zh-CN" b="1">
                  <a:solidFill>
                    <a:srgbClr val="000000"/>
                  </a:solidFill>
                  <a:latin typeface="Times New Roman" panose="02020603050405020304" pitchFamily="18" charset="0"/>
                  <a:ea typeface="宋体" panose="02010600030101010101" pitchFamily="2" charset="-122"/>
                </a:rPr>
                <a:t>·</a:t>
              </a:r>
              <a:endParaRPr kumimoji="1" lang="en-US" altLang="zh-CN" b="1">
                <a:solidFill>
                  <a:srgbClr val="000000"/>
                </a:solidFill>
                <a:latin typeface="Times New Roman" panose="02020603050405020304" pitchFamily="18" charset="0"/>
                <a:ea typeface="宋体" panose="02010600030101010101" pitchFamily="2" charset="-122"/>
              </a:endParaRPr>
            </a:p>
          </p:txBody>
        </p:sp>
        <p:sp>
          <p:nvSpPr>
            <p:cNvPr id="9" name="Rectangle 11"/>
            <p:cNvSpPr>
              <a:spLocks noChangeArrowheads="1"/>
            </p:cNvSpPr>
            <p:nvPr/>
          </p:nvSpPr>
          <p:spPr bwMode="auto">
            <a:xfrm>
              <a:off x="4396" y="3057"/>
              <a:ext cx="1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b="1" i="1">
                  <a:solidFill>
                    <a:srgbClr val="000000"/>
                  </a:solidFill>
                  <a:latin typeface="Times New Roman" panose="02020603050405020304" pitchFamily="18" charset="0"/>
                  <a:ea typeface="宋体" panose="02010600030101010101" pitchFamily="2" charset="-122"/>
                </a:rPr>
                <a:t>f</a:t>
              </a:r>
              <a:endParaRPr kumimoji="1" lang="en-US" altLang="zh-CN" b="1">
                <a:solidFill>
                  <a:srgbClr val="000000"/>
                </a:solidFill>
                <a:latin typeface="Times New Roman" panose="02020603050405020304" pitchFamily="18" charset="0"/>
                <a:ea typeface="宋体" panose="02010600030101010101" pitchFamily="2" charset="-122"/>
              </a:endParaRPr>
            </a:p>
          </p:txBody>
        </p:sp>
        <p:sp>
          <p:nvSpPr>
            <p:cNvPr id="10" name="Rectangle 12"/>
            <p:cNvSpPr>
              <a:spLocks noChangeArrowheads="1"/>
            </p:cNvSpPr>
            <p:nvPr/>
          </p:nvSpPr>
          <p:spPr bwMode="auto">
            <a:xfrm>
              <a:off x="3036" y="1668"/>
              <a:ext cx="9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b="1" dirty="0">
                  <a:solidFill>
                    <a:srgbClr val="000000"/>
                  </a:solidFill>
                  <a:latin typeface="Times New Roman" panose="02020603050405020304" pitchFamily="18" charset="0"/>
                  <a:ea typeface="宋体" panose="02010600030101010101" pitchFamily="2" charset="-122"/>
                </a:rPr>
                <a:t>-20dB/10</a:t>
              </a:r>
              <a:r>
                <a:rPr kumimoji="1" lang="zh-CN" altLang="en-US" dirty="0">
                  <a:solidFill>
                    <a:srgbClr val="000000"/>
                  </a:solidFill>
                  <a:latin typeface="+mn-ea"/>
                  <a:ea typeface="+mn-ea"/>
                </a:rPr>
                <a:t>倍频</a:t>
              </a:r>
              <a:endParaRPr kumimoji="1" lang="zh-CN" altLang="en-US" dirty="0">
                <a:solidFill>
                  <a:srgbClr val="000000"/>
                </a:solidFill>
                <a:latin typeface="+mn-ea"/>
                <a:ea typeface="+mn-ea"/>
              </a:endParaRPr>
            </a:p>
          </p:txBody>
        </p:sp>
        <p:sp>
          <p:nvSpPr>
            <p:cNvPr id="11" name="Rectangle 13"/>
            <p:cNvSpPr>
              <a:spLocks noChangeArrowheads="1"/>
            </p:cNvSpPr>
            <p:nvPr/>
          </p:nvSpPr>
          <p:spPr bwMode="auto">
            <a:xfrm>
              <a:off x="2675" y="3032"/>
              <a:ext cx="32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b="1" i="1">
                  <a:solidFill>
                    <a:srgbClr val="000000"/>
                  </a:solidFill>
                  <a:latin typeface="Times New Roman" panose="02020603050405020304" pitchFamily="18" charset="0"/>
                  <a:ea typeface="宋体" panose="02010600030101010101" pitchFamily="2" charset="-122"/>
                </a:rPr>
                <a:t>f</a:t>
              </a:r>
              <a:r>
                <a:rPr kumimoji="1" lang="en-US" altLang="zh-CN" b="1" baseline="-25000">
                  <a:solidFill>
                    <a:srgbClr val="000000"/>
                  </a:solidFill>
                  <a:latin typeface="Times New Roman" panose="02020603050405020304" pitchFamily="18" charset="0"/>
                  <a:ea typeface="宋体" panose="02010600030101010101" pitchFamily="2" charset="-122"/>
                </a:rPr>
                <a:t>H1</a:t>
              </a:r>
              <a:endParaRPr kumimoji="1" lang="en-US" altLang="zh-CN" b="1">
                <a:solidFill>
                  <a:srgbClr val="000000"/>
                </a:solidFill>
                <a:latin typeface="Times New Roman" panose="02020603050405020304" pitchFamily="18" charset="0"/>
                <a:ea typeface="宋体" panose="02010600030101010101" pitchFamily="2" charset="-122"/>
              </a:endParaRPr>
            </a:p>
          </p:txBody>
        </p:sp>
        <p:sp>
          <p:nvSpPr>
            <p:cNvPr id="12" name="Freeform 14"/>
            <p:cNvSpPr>
              <a:spLocks noEditPoints="1"/>
            </p:cNvSpPr>
            <p:nvPr/>
          </p:nvSpPr>
          <p:spPr bwMode="auto">
            <a:xfrm>
              <a:off x="815" y="1545"/>
              <a:ext cx="51" cy="1636"/>
            </a:xfrm>
            <a:custGeom>
              <a:avLst/>
              <a:gdLst>
                <a:gd name="T0" fmla="*/ 32 w 85"/>
                <a:gd name="T1" fmla="*/ 2494 h 2494"/>
                <a:gd name="T2" fmla="*/ 32 w 85"/>
                <a:gd name="T3" fmla="*/ 85 h 2494"/>
                <a:gd name="T4" fmla="*/ 53 w 85"/>
                <a:gd name="T5" fmla="*/ 85 h 2494"/>
                <a:gd name="T6" fmla="*/ 53 w 85"/>
                <a:gd name="T7" fmla="*/ 2494 h 2494"/>
                <a:gd name="T8" fmla="*/ 32 w 85"/>
                <a:gd name="T9" fmla="*/ 2494 h 2494"/>
                <a:gd name="T10" fmla="*/ 42 w 85"/>
                <a:gd name="T11" fmla="*/ 85 h 2494"/>
                <a:gd name="T12" fmla="*/ 0 w 85"/>
                <a:gd name="T13" fmla="*/ 142 h 2494"/>
                <a:gd name="T14" fmla="*/ 42 w 85"/>
                <a:gd name="T15" fmla="*/ 0 h 2494"/>
                <a:gd name="T16" fmla="*/ 85 w 85"/>
                <a:gd name="T17" fmla="*/ 142 h 2494"/>
                <a:gd name="T18" fmla="*/ 42 w 85"/>
                <a:gd name="T19" fmla="*/ 85 h 2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2494">
                  <a:moveTo>
                    <a:pt x="32" y="2494"/>
                  </a:moveTo>
                  <a:lnTo>
                    <a:pt x="32" y="85"/>
                  </a:lnTo>
                  <a:lnTo>
                    <a:pt x="53" y="85"/>
                  </a:lnTo>
                  <a:lnTo>
                    <a:pt x="53" y="2494"/>
                  </a:lnTo>
                  <a:lnTo>
                    <a:pt x="32" y="2494"/>
                  </a:lnTo>
                  <a:close/>
                  <a:moveTo>
                    <a:pt x="42" y="85"/>
                  </a:moveTo>
                  <a:lnTo>
                    <a:pt x="0" y="142"/>
                  </a:lnTo>
                  <a:lnTo>
                    <a:pt x="42" y="0"/>
                  </a:lnTo>
                  <a:lnTo>
                    <a:pt x="85" y="142"/>
                  </a:lnTo>
                  <a:lnTo>
                    <a:pt x="42" y="85"/>
                  </a:lnTo>
                  <a:close/>
                </a:path>
              </a:pathLst>
            </a:custGeom>
            <a:solidFill>
              <a:srgbClr val="000000"/>
            </a:solidFill>
            <a:ln w="1270" cap="flat">
              <a:solidFill>
                <a:srgbClr val="000000"/>
              </a:solidFill>
              <a:prstDash val="solid"/>
              <a:bevel/>
            </a:ln>
          </p:spPr>
          <p:txBody>
            <a:bodyPr/>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13" name="Freeform 15"/>
            <p:cNvSpPr>
              <a:spLocks noEditPoints="1"/>
            </p:cNvSpPr>
            <p:nvPr/>
          </p:nvSpPr>
          <p:spPr bwMode="auto">
            <a:xfrm>
              <a:off x="696" y="2971"/>
              <a:ext cx="3886" cy="52"/>
            </a:xfrm>
            <a:custGeom>
              <a:avLst/>
              <a:gdLst>
                <a:gd name="T0" fmla="*/ 0 w 6695"/>
                <a:gd name="T1" fmla="*/ 32 h 85"/>
                <a:gd name="T2" fmla="*/ 6609 w 6695"/>
                <a:gd name="T3" fmla="*/ 32 h 85"/>
                <a:gd name="T4" fmla="*/ 6609 w 6695"/>
                <a:gd name="T5" fmla="*/ 53 h 85"/>
                <a:gd name="T6" fmla="*/ 0 w 6695"/>
                <a:gd name="T7" fmla="*/ 53 h 85"/>
                <a:gd name="T8" fmla="*/ 0 w 6695"/>
                <a:gd name="T9" fmla="*/ 32 h 85"/>
                <a:gd name="T10" fmla="*/ 6609 w 6695"/>
                <a:gd name="T11" fmla="*/ 42 h 85"/>
                <a:gd name="T12" fmla="*/ 6552 w 6695"/>
                <a:gd name="T13" fmla="*/ 0 h 85"/>
                <a:gd name="T14" fmla="*/ 6695 w 6695"/>
                <a:gd name="T15" fmla="*/ 42 h 85"/>
                <a:gd name="T16" fmla="*/ 6552 w 6695"/>
                <a:gd name="T17" fmla="*/ 85 h 85"/>
                <a:gd name="T18" fmla="*/ 6609 w 6695"/>
                <a:gd name="T19"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95" h="85">
                  <a:moveTo>
                    <a:pt x="0" y="32"/>
                  </a:moveTo>
                  <a:lnTo>
                    <a:pt x="6609" y="32"/>
                  </a:lnTo>
                  <a:lnTo>
                    <a:pt x="6609" y="53"/>
                  </a:lnTo>
                  <a:lnTo>
                    <a:pt x="0" y="53"/>
                  </a:lnTo>
                  <a:lnTo>
                    <a:pt x="0" y="32"/>
                  </a:lnTo>
                  <a:close/>
                  <a:moveTo>
                    <a:pt x="6609" y="42"/>
                  </a:moveTo>
                  <a:lnTo>
                    <a:pt x="6552" y="0"/>
                  </a:lnTo>
                  <a:lnTo>
                    <a:pt x="6695" y="42"/>
                  </a:lnTo>
                  <a:lnTo>
                    <a:pt x="6552" y="85"/>
                  </a:lnTo>
                  <a:lnTo>
                    <a:pt x="6609" y="42"/>
                  </a:lnTo>
                  <a:close/>
                </a:path>
              </a:pathLst>
            </a:custGeom>
            <a:solidFill>
              <a:srgbClr val="000000"/>
            </a:solidFill>
            <a:ln w="1270" cap="flat">
              <a:solidFill>
                <a:srgbClr val="000000"/>
              </a:solidFill>
              <a:prstDash val="solid"/>
              <a:bevel/>
            </a:ln>
          </p:spPr>
          <p:txBody>
            <a:bodyPr/>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14" name="Rectangle 16"/>
            <p:cNvSpPr>
              <a:spLocks noChangeArrowheads="1"/>
            </p:cNvSpPr>
            <p:nvPr/>
          </p:nvSpPr>
          <p:spPr bwMode="auto">
            <a:xfrm>
              <a:off x="3138" y="3032"/>
              <a:ext cx="33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b="1" i="1" dirty="0">
                  <a:solidFill>
                    <a:srgbClr val="000000"/>
                  </a:solidFill>
                  <a:latin typeface="Times New Roman" panose="02020603050405020304" pitchFamily="18" charset="0"/>
                  <a:ea typeface="宋体" panose="02010600030101010101" pitchFamily="2" charset="-122"/>
                </a:rPr>
                <a:t>f</a:t>
              </a:r>
              <a:r>
                <a:rPr kumimoji="1" lang="en-US" altLang="zh-CN" b="1" baseline="-25000" dirty="0">
                  <a:solidFill>
                    <a:srgbClr val="000000"/>
                  </a:solidFill>
                  <a:latin typeface="Times New Roman" panose="02020603050405020304" pitchFamily="18" charset="0"/>
                  <a:ea typeface="宋体" panose="02010600030101010101" pitchFamily="2" charset="-122"/>
                </a:rPr>
                <a:t>H2</a:t>
              </a:r>
              <a:endParaRPr kumimoji="1" lang="en-US" altLang="zh-CN" b="1" dirty="0">
                <a:solidFill>
                  <a:srgbClr val="000000"/>
                </a:solidFill>
                <a:latin typeface="Times New Roman" panose="02020603050405020304" pitchFamily="18" charset="0"/>
                <a:ea typeface="宋体" panose="02010600030101010101" pitchFamily="2" charset="-122"/>
              </a:endParaRPr>
            </a:p>
          </p:txBody>
        </p:sp>
        <p:sp>
          <p:nvSpPr>
            <p:cNvPr id="15" name="Rectangle 17"/>
            <p:cNvSpPr>
              <a:spLocks noChangeArrowheads="1"/>
            </p:cNvSpPr>
            <p:nvPr/>
          </p:nvSpPr>
          <p:spPr bwMode="auto">
            <a:xfrm>
              <a:off x="3681" y="3032"/>
              <a:ext cx="300"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b="1" i="1" dirty="0">
                  <a:solidFill>
                    <a:srgbClr val="000000"/>
                  </a:solidFill>
                  <a:latin typeface="Times New Roman" panose="02020603050405020304" pitchFamily="18" charset="0"/>
                  <a:ea typeface="宋体" panose="02010600030101010101" pitchFamily="2" charset="-122"/>
                </a:rPr>
                <a:t>f</a:t>
              </a:r>
              <a:r>
                <a:rPr kumimoji="1" lang="en-US" altLang="zh-CN" b="1" baseline="-25000" dirty="0">
                  <a:solidFill>
                    <a:srgbClr val="000000"/>
                  </a:solidFill>
                  <a:latin typeface="Times New Roman" panose="02020603050405020304" pitchFamily="18" charset="0"/>
                  <a:ea typeface="宋体" panose="02010600030101010101" pitchFamily="2" charset="-122"/>
                </a:rPr>
                <a:t>H3</a:t>
              </a:r>
              <a:endParaRPr kumimoji="1" lang="en-US" altLang="zh-CN" b="1" dirty="0">
                <a:solidFill>
                  <a:srgbClr val="000000"/>
                </a:solidFill>
                <a:latin typeface="Times New Roman" panose="02020603050405020304" pitchFamily="18" charset="0"/>
                <a:ea typeface="宋体" panose="02010600030101010101" pitchFamily="2" charset="-122"/>
              </a:endParaRPr>
            </a:p>
          </p:txBody>
        </p:sp>
        <p:sp>
          <p:nvSpPr>
            <p:cNvPr id="16" name="Line 20"/>
            <p:cNvSpPr>
              <a:spLocks noChangeShapeType="1"/>
            </p:cNvSpPr>
            <p:nvPr/>
          </p:nvSpPr>
          <p:spPr bwMode="auto">
            <a:xfrm>
              <a:off x="2780" y="1722"/>
              <a:ext cx="1" cy="1268"/>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17" name="Line 21"/>
            <p:cNvSpPr>
              <a:spLocks noChangeShapeType="1"/>
            </p:cNvSpPr>
            <p:nvPr/>
          </p:nvSpPr>
          <p:spPr bwMode="auto">
            <a:xfrm>
              <a:off x="3298" y="2039"/>
              <a:ext cx="0" cy="963"/>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18" name="Line 22"/>
            <p:cNvSpPr>
              <a:spLocks noChangeShapeType="1"/>
            </p:cNvSpPr>
            <p:nvPr/>
          </p:nvSpPr>
          <p:spPr bwMode="auto">
            <a:xfrm>
              <a:off x="3818" y="2677"/>
              <a:ext cx="1" cy="311"/>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19" name="Line 25"/>
            <p:cNvSpPr>
              <a:spLocks noChangeShapeType="1"/>
            </p:cNvSpPr>
            <p:nvPr/>
          </p:nvSpPr>
          <p:spPr bwMode="auto">
            <a:xfrm>
              <a:off x="842" y="1725"/>
              <a:ext cx="1930" cy="1"/>
            </a:xfrm>
            <a:prstGeom prst="line">
              <a:avLst/>
            </a:prstGeom>
            <a:noFill/>
            <a:ln w="25400">
              <a:solidFill>
                <a:srgbClr val="6600CC"/>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20" name="Line 26"/>
            <p:cNvSpPr>
              <a:spLocks noChangeShapeType="1"/>
            </p:cNvSpPr>
            <p:nvPr/>
          </p:nvSpPr>
          <p:spPr bwMode="auto">
            <a:xfrm>
              <a:off x="2778" y="1731"/>
              <a:ext cx="517" cy="317"/>
            </a:xfrm>
            <a:prstGeom prst="line">
              <a:avLst/>
            </a:prstGeom>
            <a:noFill/>
            <a:ln w="25400">
              <a:solidFill>
                <a:srgbClr val="6600CC"/>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21" name="Line 27"/>
            <p:cNvSpPr>
              <a:spLocks noChangeShapeType="1"/>
            </p:cNvSpPr>
            <p:nvPr/>
          </p:nvSpPr>
          <p:spPr bwMode="auto">
            <a:xfrm>
              <a:off x="3307" y="2057"/>
              <a:ext cx="511" cy="620"/>
            </a:xfrm>
            <a:prstGeom prst="line">
              <a:avLst/>
            </a:prstGeom>
            <a:noFill/>
            <a:ln w="25400">
              <a:solidFill>
                <a:srgbClr val="6600CC"/>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22" name="Line 28"/>
            <p:cNvSpPr>
              <a:spLocks noChangeShapeType="1"/>
            </p:cNvSpPr>
            <p:nvPr/>
          </p:nvSpPr>
          <p:spPr bwMode="auto">
            <a:xfrm>
              <a:off x="3830" y="2692"/>
              <a:ext cx="151" cy="301"/>
            </a:xfrm>
            <a:prstGeom prst="line">
              <a:avLst/>
            </a:prstGeom>
            <a:noFill/>
            <a:ln w="25400">
              <a:solidFill>
                <a:srgbClr val="6600CC"/>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
          <p:nvSpPr>
            <p:cNvPr id="23" name="Rectangle 30"/>
            <p:cNvSpPr>
              <a:spLocks noChangeArrowheads="1"/>
            </p:cNvSpPr>
            <p:nvPr/>
          </p:nvSpPr>
          <p:spPr bwMode="auto">
            <a:xfrm>
              <a:off x="3558" y="2160"/>
              <a:ext cx="8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b="1" dirty="0">
                  <a:solidFill>
                    <a:srgbClr val="000000"/>
                  </a:solidFill>
                  <a:latin typeface="Times New Roman" panose="02020603050405020304" pitchFamily="18" charset="0"/>
                  <a:ea typeface="宋体" panose="02010600030101010101" pitchFamily="2" charset="-122"/>
                </a:rPr>
                <a:t>-40dB/10</a:t>
              </a:r>
              <a:r>
                <a:rPr kumimoji="1" lang="zh-CN" altLang="en-US" dirty="0">
                  <a:solidFill>
                    <a:srgbClr val="000000"/>
                  </a:solidFill>
                  <a:latin typeface="+mn-ea"/>
                  <a:ea typeface="+mn-ea"/>
                </a:rPr>
                <a:t>倍频</a:t>
              </a:r>
              <a:endParaRPr kumimoji="1" lang="zh-CN" altLang="en-US" dirty="0">
                <a:solidFill>
                  <a:srgbClr val="000000"/>
                </a:solidFill>
                <a:latin typeface="+mn-ea"/>
                <a:ea typeface="+mn-ea"/>
              </a:endParaRPr>
            </a:p>
          </p:txBody>
        </p:sp>
        <p:sp>
          <p:nvSpPr>
            <p:cNvPr id="24" name="Rectangle 31"/>
            <p:cNvSpPr>
              <a:spLocks noChangeArrowheads="1"/>
            </p:cNvSpPr>
            <p:nvPr/>
          </p:nvSpPr>
          <p:spPr bwMode="auto">
            <a:xfrm>
              <a:off x="3955" y="2684"/>
              <a:ext cx="92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b="1" dirty="0">
                  <a:solidFill>
                    <a:srgbClr val="000000"/>
                  </a:solidFill>
                  <a:latin typeface="Times New Roman" panose="02020603050405020304" pitchFamily="18" charset="0"/>
                  <a:ea typeface="宋体" panose="02010600030101010101" pitchFamily="2" charset="-122"/>
                </a:rPr>
                <a:t>-60dB/10</a:t>
              </a:r>
              <a:r>
                <a:rPr kumimoji="1" lang="zh-CN" altLang="en-US" dirty="0">
                  <a:solidFill>
                    <a:srgbClr val="000000"/>
                  </a:solidFill>
                  <a:latin typeface="+mn-ea"/>
                  <a:ea typeface="+mn-ea"/>
                </a:rPr>
                <a:t>倍频</a:t>
              </a:r>
              <a:endParaRPr kumimoji="1" lang="zh-CN" altLang="en-US" dirty="0">
                <a:solidFill>
                  <a:srgbClr val="000000"/>
                </a:solidFill>
                <a:latin typeface="+mn-ea"/>
                <a:ea typeface="+mn-ea"/>
              </a:endParaRPr>
            </a:p>
          </p:txBody>
        </p:sp>
        <p:sp>
          <p:nvSpPr>
            <p:cNvPr id="25" name="Rectangle 32"/>
            <p:cNvSpPr>
              <a:spLocks noChangeArrowheads="1"/>
            </p:cNvSpPr>
            <p:nvPr/>
          </p:nvSpPr>
          <p:spPr bwMode="auto">
            <a:xfrm>
              <a:off x="728" y="2993"/>
              <a:ext cx="13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b="1">
                  <a:solidFill>
                    <a:srgbClr val="000000"/>
                  </a:solidFill>
                  <a:latin typeface="Times New Roman" panose="02020603050405020304" pitchFamily="18" charset="0"/>
                  <a:ea typeface="宋体" panose="02010600030101010101" pitchFamily="2" charset="-122"/>
                </a:rPr>
                <a:t>0</a:t>
              </a:r>
              <a:endParaRPr kumimoji="1" lang="en-US" altLang="zh-CN" b="1">
                <a:solidFill>
                  <a:srgbClr val="000000"/>
                </a:solidFill>
                <a:latin typeface="Times New Roman" panose="02020603050405020304" pitchFamily="18" charset="0"/>
                <a:ea typeface="宋体" panose="02010600030101010101" pitchFamily="2" charset="-122"/>
              </a:endParaRPr>
            </a:p>
          </p:txBody>
        </p:sp>
      </p:grpSp>
      <p:sp>
        <p:nvSpPr>
          <p:cNvPr id="26" name="Line 76"/>
          <p:cNvSpPr>
            <a:spLocks noChangeShapeType="1"/>
          </p:cNvSpPr>
          <p:nvPr/>
        </p:nvSpPr>
        <p:spPr bwMode="auto">
          <a:xfrm>
            <a:off x="2212512" y="3273154"/>
            <a:ext cx="3593976" cy="2054089"/>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7" name="Line 81"/>
          <p:cNvSpPr>
            <a:spLocks noChangeShapeType="1"/>
          </p:cNvSpPr>
          <p:nvPr/>
        </p:nvSpPr>
        <p:spPr bwMode="auto">
          <a:xfrm>
            <a:off x="5759098" y="5291147"/>
            <a:ext cx="279785" cy="375942"/>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8" name="Line 75"/>
          <p:cNvSpPr>
            <a:spLocks noChangeShapeType="1"/>
          </p:cNvSpPr>
          <p:nvPr/>
        </p:nvSpPr>
        <p:spPr bwMode="auto">
          <a:xfrm>
            <a:off x="1620375" y="3273155"/>
            <a:ext cx="586988" cy="2443"/>
          </a:xfrm>
          <a:prstGeom prst="line">
            <a:avLst/>
          </a:prstGeom>
          <a:noFill/>
          <a:ln w="25400">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graphicFrame>
        <p:nvGraphicFramePr>
          <p:cNvPr id="29" name="Object 85"/>
          <p:cNvGraphicFramePr>
            <a:graphicFrameLocks noChangeAspect="1"/>
          </p:cNvGraphicFramePr>
          <p:nvPr/>
        </p:nvGraphicFramePr>
        <p:xfrm>
          <a:off x="2053341" y="5327243"/>
          <a:ext cx="377825" cy="358775"/>
        </p:xfrm>
        <a:graphic>
          <a:graphicData uri="http://schemas.openxmlformats.org/presentationml/2006/ole">
            <mc:AlternateContent xmlns:mc="http://schemas.openxmlformats.org/markup-compatibility/2006">
              <mc:Choice xmlns:v="urn:schemas-microsoft-com:vml" Requires="v">
                <p:oleObj spid="_x0000_s107533" name="Equation" r:id="rId1" imgW="6096000" imgH="5486400" progId="Equation.DSMT4">
                  <p:embed/>
                </p:oleObj>
              </mc:Choice>
              <mc:Fallback>
                <p:oleObj name="Equation" r:id="rId1" imgW="6096000" imgH="5486400" progId="Equation.DSMT4">
                  <p:embed/>
                  <p:pic>
                    <p:nvPicPr>
                      <p:cNvPr id="0" name="Object 85"/>
                      <p:cNvPicPr>
                        <a:picLocks noChangeAspect="1" noChangeArrowheads="1"/>
                      </p:cNvPicPr>
                      <p:nvPr/>
                    </p:nvPicPr>
                    <p:blipFill>
                      <a:blip r:embed="rId2"/>
                      <a:srcRect/>
                      <a:stretch>
                        <a:fillRect/>
                      </a:stretch>
                    </p:blipFill>
                    <p:spPr bwMode="auto">
                      <a:xfrm>
                        <a:off x="2053341" y="5327243"/>
                        <a:ext cx="377825" cy="358775"/>
                      </a:xfrm>
                      <a:prstGeom prst="rect">
                        <a:avLst/>
                      </a:prstGeom>
                      <a:noFill/>
                    </p:spPr>
                  </p:pic>
                </p:oleObj>
              </mc:Fallback>
            </mc:AlternateContent>
          </a:graphicData>
        </a:graphic>
      </p:graphicFrame>
      <p:sp>
        <p:nvSpPr>
          <p:cNvPr id="30" name="Line 20"/>
          <p:cNvSpPr>
            <a:spLocks noChangeShapeType="1"/>
          </p:cNvSpPr>
          <p:nvPr/>
        </p:nvSpPr>
        <p:spPr bwMode="auto">
          <a:xfrm>
            <a:off x="2207503" y="3283955"/>
            <a:ext cx="1588" cy="2012950"/>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00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left)">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up)">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wipe(up)">
                                      <p:cBhvr>
                                        <p:cTn id="4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6" grpId="0" animBg="1"/>
      <p:bldP spid="27" grpId="0" animBg="1"/>
      <p:bldP spid="28" grpId="0" animBg="1"/>
      <p:bldP spid="3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Rectangle 55"/>
          <p:cNvSpPr>
            <a:spLocks noChangeArrowheads="1"/>
          </p:cNvSpPr>
          <p:nvPr/>
        </p:nvSpPr>
        <p:spPr bwMode="auto">
          <a:xfrm>
            <a:off x="2600260" y="3099742"/>
            <a:ext cx="293090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eaLnBrk="1" hangingPunct="1"/>
            <a:r>
              <a:rPr kumimoji="1" lang="zh-CN" altLang="en-US" sz="2000" dirty="0">
                <a:solidFill>
                  <a:srgbClr val="000000"/>
                </a:solidFill>
                <a:latin typeface="+mn-ea"/>
                <a:ea typeface="+mn-ea"/>
              </a:rPr>
              <a:t>图 </a:t>
            </a:r>
            <a:r>
              <a:rPr kumimoji="1" lang="en-US" altLang="zh-CN" sz="2000" dirty="0">
                <a:solidFill>
                  <a:srgbClr val="000000"/>
                </a:solidFill>
                <a:latin typeface="+mn-ea"/>
                <a:ea typeface="+mn-ea"/>
              </a:rPr>
              <a:t>6.4.6   </a:t>
            </a:r>
            <a:r>
              <a:rPr kumimoji="1" lang="zh-CN" altLang="en-US" sz="2000" dirty="0">
                <a:solidFill>
                  <a:srgbClr val="000000"/>
                </a:solidFill>
                <a:latin typeface="+mn-ea"/>
                <a:ea typeface="+mn-ea"/>
              </a:rPr>
              <a:t>电容补偿电路 </a:t>
            </a:r>
            <a:endParaRPr kumimoji="1" lang="zh-CN" altLang="en-US" sz="2000" dirty="0">
              <a:solidFill>
                <a:srgbClr val="000000"/>
              </a:solidFill>
              <a:latin typeface="+mn-ea"/>
              <a:ea typeface="+mn-ea"/>
            </a:endParaRPr>
          </a:p>
        </p:txBody>
      </p:sp>
      <p:graphicFrame>
        <p:nvGraphicFramePr>
          <p:cNvPr id="4" name="Object 56"/>
          <p:cNvGraphicFramePr>
            <a:graphicFrameLocks noChangeAspect="1"/>
          </p:cNvGraphicFramePr>
          <p:nvPr/>
        </p:nvGraphicFramePr>
        <p:xfrm>
          <a:off x="858838" y="4003380"/>
          <a:ext cx="2840037" cy="863600"/>
        </p:xfrm>
        <a:graphic>
          <a:graphicData uri="http://schemas.openxmlformats.org/presentationml/2006/ole">
            <mc:AlternateContent xmlns:mc="http://schemas.openxmlformats.org/markup-compatibility/2006">
              <mc:Choice xmlns:v="urn:schemas-microsoft-com:vml" Requires="v">
                <p:oleObj spid="_x0000_s108568" name="Equation" r:id="rId1" imgW="1409065" imgH="431800" progId="Equation.DSMT4">
                  <p:embed/>
                </p:oleObj>
              </mc:Choice>
              <mc:Fallback>
                <p:oleObj name="Equation" r:id="rId1" imgW="1409065" imgH="431800" progId="Equation.DSMT4">
                  <p:embed/>
                  <p:pic>
                    <p:nvPicPr>
                      <p:cNvPr id="0" name="Object 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838" y="4003380"/>
                        <a:ext cx="284003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58"/>
          <p:cNvGraphicFramePr>
            <a:graphicFrameLocks noChangeAspect="1"/>
          </p:cNvGraphicFramePr>
          <p:nvPr/>
        </p:nvGraphicFramePr>
        <p:xfrm>
          <a:off x="4511675" y="4034155"/>
          <a:ext cx="3552825" cy="863600"/>
        </p:xfrm>
        <a:graphic>
          <a:graphicData uri="http://schemas.openxmlformats.org/presentationml/2006/ole">
            <mc:AlternateContent xmlns:mc="http://schemas.openxmlformats.org/markup-compatibility/2006">
              <mc:Choice xmlns:v="urn:schemas-microsoft-com:vml" Requires="v">
                <p:oleObj spid="_x0000_s108569" name="Equation" r:id="rId3" imgW="1765300" imgH="431800" progId="Equation.DSMT4">
                  <p:embed/>
                </p:oleObj>
              </mc:Choice>
              <mc:Fallback>
                <p:oleObj name="Equation" r:id="rId3" imgW="1765300" imgH="431800" progId="Equation.DSMT4">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675" y="4034155"/>
                        <a:ext cx="355282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54"/>
          <p:cNvGrpSpPr/>
          <p:nvPr/>
        </p:nvGrpSpPr>
        <p:grpSpPr bwMode="auto">
          <a:xfrm>
            <a:off x="1824355" y="1200626"/>
            <a:ext cx="4900613" cy="1781175"/>
            <a:chOff x="1194" y="172"/>
            <a:chExt cx="3087" cy="1122"/>
          </a:xfrm>
        </p:grpSpPr>
        <p:sp>
          <p:nvSpPr>
            <p:cNvPr id="7" name="Rectangle 6"/>
            <p:cNvSpPr>
              <a:spLocks noChangeArrowheads="1"/>
            </p:cNvSpPr>
            <p:nvPr/>
          </p:nvSpPr>
          <p:spPr bwMode="auto">
            <a:xfrm>
              <a:off x="1434" y="411"/>
              <a:ext cx="800" cy="803"/>
            </a:xfrm>
            <a:prstGeom prst="rect">
              <a:avLst/>
            </a:prstGeom>
            <a:noFill/>
            <a:ln w="19050" cap="rnd">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 name="Rectangle 7"/>
            <p:cNvSpPr>
              <a:spLocks noChangeArrowheads="1"/>
            </p:cNvSpPr>
            <p:nvPr/>
          </p:nvSpPr>
          <p:spPr bwMode="auto">
            <a:xfrm>
              <a:off x="3075" y="411"/>
              <a:ext cx="968" cy="804"/>
            </a:xfrm>
            <a:prstGeom prst="rect">
              <a:avLst/>
            </a:prstGeom>
            <a:noFill/>
            <a:ln w="19050" cap="rnd">
              <a:solidFill>
                <a:srgbClr val="00FF00"/>
              </a:solidFill>
              <a:miter lim="800000"/>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 name="Oval 8"/>
            <p:cNvSpPr>
              <a:spLocks noChangeArrowheads="1"/>
            </p:cNvSpPr>
            <p:nvPr/>
          </p:nvSpPr>
          <p:spPr bwMode="auto">
            <a:xfrm>
              <a:off x="1993" y="893"/>
              <a:ext cx="161" cy="160"/>
            </a:xfrm>
            <a:prstGeom prst="ellipse">
              <a:avLst/>
            </a:prstGeom>
            <a:noFill/>
            <a:ln w="1905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 name="Line 9"/>
            <p:cNvSpPr>
              <a:spLocks noChangeShapeType="1"/>
            </p:cNvSpPr>
            <p:nvPr/>
          </p:nvSpPr>
          <p:spPr bwMode="auto">
            <a:xfrm flipV="1">
              <a:off x="2073" y="773"/>
              <a:ext cx="1" cy="36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 name="Rectangle 10"/>
            <p:cNvSpPr>
              <a:spLocks noChangeArrowheads="1"/>
            </p:cNvSpPr>
            <p:nvPr/>
          </p:nvSpPr>
          <p:spPr bwMode="auto">
            <a:xfrm>
              <a:off x="2034" y="573"/>
              <a:ext cx="79" cy="200"/>
            </a:xfrm>
            <a:prstGeom prst="rect">
              <a:avLst/>
            </a:prstGeom>
            <a:noFill/>
            <a:ln w="19050" cap="rnd">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1"/>
            <p:cNvSpPr>
              <a:spLocks noChangeShapeType="1"/>
            </p:cNvSpPr>
            <p:nvPr/>
          </p:nvSpPr>
          <p:spPr bwMode="auto">
            <a:xfrm flipV="1">
              <a:off x="2073" y="492"/>
              <a:ext cx="1" cy="8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Rectangle 12"/>
            <p:cNvSpPr>
              <a:spLocks noChangeArrowheads="1"/>
            </p:cNvSpPr>
            <p:nvPr/>
          </p:nvSpPr>
          <p:spPr bwMode="auto">
            <a:xfrm>
              <a:off x="3195" y="733"/>
              <a:ext cx="80" cy="200"/>
            </a:xfrm>
            <a:prstGeom prst="rect">
              <a:avLst/>
            </a:prstGeom>
            <a:noFill/>
            <a:ln w="19050" cap="rnd">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13"/>
            <p:cNvSpPr>
              <a:spLocks noChangeShapeType="1"/>
            </p:cNvSpPr>
            <p:nvPr/>
          </p:nvSpPr>
          <p:spPr bwMode="auto">
            <a:xfrm>
              <a:off x="2555" y="773"/>
              <a:ext cx="159"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Line 14"/>
            <p:cNvSpPr>
              <a:spLocks noChangeShapeType="1"/>
            </p:cNvSpPr>
            <p:nvPr/>
          </p:nvSpPr>
          <p:spPr bwMode="auto">
            <a:xfrm>
              <a:off x="2555" y="853"/>
              <a:ext cx="159"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Line 18"/>
            <p:cNvSpPr>
              <a:spLocks noChangeShapeType="1"/>
            </p:cNvSpPr>
            <p:nvPr/>
          </p:nvSpPr>
          <p:spPr bwMode="auto">
            <a:xfrm>
              <a:off x="2074" y="492"/>
              <a:ext cx="1571"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Line 19"/>
            <p:cNvSpPr>
              <a:spLocks noChangeShapeType="1"/>
            </p:cNvSpPr>
            <p:nvPr/>
          </p:nvSpPr>
          <p:spPr bwMode="auto">
            <a:xfrm>
              <a:off x="2074" y="1134"/>
              <a:ext cx="1572"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Line 20"/>
            <p:cNvSpPr>
              <a:spLocks noChangeShapeType="1"/>
            </p:cNvSpPr>
            <p:nvPr/>
          </p:nvSpPr>
          <p:spPr bwMode="auto">
            <a:xfrm>
              <a:off x="3569" y="773"/>
              <a:ext cx="16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Line 21"/>
            <p:cNvSpPr>
              <a:spLocks noChangeShapeType="1"/>
            </p:cNvSpPr>
            <p:nvPr/>
          </p:nvSpPr>
          <p:spPr bwMode="auto">
            <a:xfrm>
              <a:off x="3569" y="853"/>
              <a:ext cx="16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Line 22"/>
            <p:cNvSpPr>
              <a:spLocks noChangeShapeType="1"/>
            </p:cNvSpPr>
            <p:nvPr/>
          </p:nvSpPr>
          <p:spPr bwMode="auto">
            <a:xfrm flipV="1">
              <a:off x="3649" y="853"/>
              <a:ext cx="1" cy="28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23"/>
            <p:cNvSpPr>
              <a:spLocks noChangeShapeType="1"/>
            </p:cNvSpPr>
            <p:nvPr/>
          </p:nvSpPr>
          <p:spPr bwMode="auto">
            <a:xfrm flipV="1">
              <a:off x="3649" y="492"/>
              <a:ext cx="1" cy="28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 name="Line 24"/>
            <p:cNvSpPr>
              <a:spLocks noChangeShapeType="1"/>
            </p:cNvSpPr>
            <p:nvPr/>
          </p:nvSpPr>
          <p:spPr bwMode="auto">
            <a:xfrm>
              <a:off x="2634" y="1134"/>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Line 25"/>
            <p:cNvSpPr>
              <a:spLocks noChangeShapeType="1"/>
            </p:cNvSpPr>
            <p:nvPr/>
          </p:nvSpPr>
          <p:spPr bwMode="auto">
            <a:xfrm>
              <a:off x="2555" y="1294"/>
              <a:ext cx="159"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Line 26"/>
            <p:cNvSpPr>
              <a:spLocks noChangeShapeType="1"/>
            </p:cNvSpPr>
            <p:nvPr/>
          </p:nvSpPr>
          <p:spPr bwMode="auto">
            <a:xfrm flipH="1">
              <a:off x="1233" y="492"/>
              <a:ext cx="201"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Line 27"/>
            <p:cNvSpPr>
              <a:spLocks noChangeShapeType="1"/>
            </p:cNvSpPr>
            <p:nvPr/>
          </p:nvSpPr>
          <p:spPr bwMode="auto">
            <a:xfrm flipH="1">
              <a:off x="1233" y="1134"/>
              <a:ext cx="201"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6" name="Oval 28"/>
            <p:cNvSpPr>
              <a:spLocks noChangeArrowheads="1"/>
            </p:cNvSpPr>
            <p:nvPr/>
          </p:nvSpPr>
          <p:spPr bwMode="auto">
            <a:xfrm>
              <a:off x="1194" y="472"/>
              <a:ext cx="39" cy="39"/>
            </a:xfrm>
            <a:prstGeom prst="ellipse">
              <a:avLst/>
            </a:prstGeom>
            <a:noFill/>
            <a:ln w="1016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 name="Oval 29"/>
            <p:cNvSpPr>
              <a:spLocks noChangeArrowheads="1"/>
            </p:cNvSpPr>
            <p:nvPr/>
          </p:nvSpPr>
          <p:spPr bwMode="auto">
            <a:xfrm>
              <a:off x="1194" y="1114"/>
              <a:ext cx="39" cy="39"/>
            </a:xfrm>
            <a:prstGeom prst="ellipse">
              <a:avLst/>
            </a:prstGeom>
            <a:noFill/>
            <a:ln w="1016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 name="Line 30"/>
            <p:cNvSpPr>
              <a:spLocks noChangeShapeType="1"/>
            </p:cNvSpPr>
            <p:nvPr/>
          </p:nvSpPr>
          <p:spPr bwMode="auto">
            <a:xfrm flipH="1">
              <a:off x="4042" y="493"/>
              <a:ext cx="2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Line 31"/>
            <p:cNvSpPr>
              <a:spLocks noChangeShapeType="1"/>
            </p:cNvSpPr>
            <p:nvPr/>
          </p:nvSpPr>
          <p:spPr bwMode="auto">
            <a:xfrm flipH="1">
              <a:off x="4042" y="1134"/>
              <a:ext cx="200"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0" name="Oval 32"/>
            <p:cNvSpPr>
              <a:spLocks noChangeArrowheads="1"/>
            </p:cNvSpPr>
            <p:nvPr/>
          </p:nvSpPr>
          <p:spPr bwMode="auto">
            <a:xfrm>
              <a:off x="4242" y="473"/>
              <a:ext cx="39" cy="39"/>
            </a:xfrm>
            <a:prstGeom prst="ellipse">
              <a:avLst/>
            </a:prstGeom>
            <a:noFill/>
            <a:ln w="1016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1" name="Oval 33"/>
            <p:cNvSpPr>
              <a:spLocks noChangeArrowheads="1"/>
            </p:cNvSpPr>
            <p:nvPr/>
          </p:nvSpPr>
          <p:spPr bwMode="auto">
            <a:xfrm>
              <a:off x="4242" y="1115"/>
              <a:ext cx="39" cy="39"/>
            </a:xfrm>
            <a:prstGeom prst="ellipse">
              <a:avLst/>
            </a:prstGeom>
            <a:noFill/>
            <a:ln w="1016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2" name="Rectangle 34"/>
            <p:cNvSpPr>
              <a:spLocks noChangeArrowheads="1"/>
            </p:cNvSpPr>
            <p:nvPr/>
          </p:nvSpPr>
          <p:spPr bwMode="auto">
            <a:xfrm>
              <a:off x="1785" y="534"/>
              <a:ext cx="2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1800" b="1" i="0" u="none" strike="noStrike" kern="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rPr>
                <a:t>o1</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 name="Rectangle 36"/>
            <p:cNvSpPr>
              <a:spLocks noChangeArrowheads="1"/>
            </p:cNvSpPr>
            <p:nvPr/>
          </p:nvSpPr>
          <p:spPr bwMode="auto">
            <a:xfrm>
              <a:off x="1701" y="861"/>
              <a:ext cx="25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Uꞌ</a:t>
              </a:r>
              <a:r>
                <a:rPr kumimoji="1" lang="en-US" altLang="zh-CN" sz="1800" b="1" i="0" u="none" strike="noStrike" kern="0" cap="none" spc="0" normalizeH="0" baseline="-25000" noProof="0" dirty="0" smtClean="0">
                  <a:ln>
                    <a:noFill/>
                  </a:ln>
                  <a:solidFill>
                    <a:srgbClr val="000000"/>
                  </a:solidFill>
                  <a:effectLst/>
                  <a:uLnTx/>
                  <a:uFillTx/>
                  <a:latin typeface="Times New Roman" panose="02020603050405020304" pitchFamily="18" charset="0"/>
                  <a:ea typeface="宋体" panose="02010600030101010101" pitchFamily="2" charset="-122"/>
                </a:rPr>
                <a:t>o1</a:t>
              </a:r>
              <a:endParaRPr kumimoji="1" lang="en-US" altLang="zh-CN" sz="18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 name="Rectangle 37"/>
            <p:cNvSpPr>
              <a:spLocks noChangeArrowheads="1"/>
            </p:cNvSpPr>
            <p:nvPr/>
          </p:nvSpPr>
          <p:spPr bwMode="auto">
            <a:xfrm>
              <a:off x="1746" y="746"/>
              <a:ext cx="13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18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5" name="Rectangle 38"/>
            <p:cNvSpPr>
              <a:spLocks noChangeArrowheads="1"/>
            </p:cNvSpPr>
            <p:nvPr/>
          </p:nvSpPr>
          <p:spPr bwMode="auto">
            <a:xfrm>
              <a:off x="1920" y="748"/>
              <a:ext cx="8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6" name="Rectangle 39"/>
            <p:cNvSpPr>
              <a:spLocks noChangeArrowheads="1"/>
            </p:cNvSpPr>
            <p:nvPr/>
          </p:nvSpPr>
          <p:spPr bwMode="auto">
            <a:xfrm>
              <a:off x="1936" y="986"/>
              <a:ext cx="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7" name="Rectangle 40"/>
            <p:cNvSpPr>
              <a:spLocks noChangeArrowheads="1"/>
            </p:cNvSpPr>
            <p:nvPr/>
          </p:nvSpPr>
          <p:spPr bwMode="auto">
            <a:xfrm>
              <a:off x="2800" y="702"/>
              <a:ext cx="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8" name="Rectangle 41"/>
            <p:cNvSpPr>
              <a:spLocks noChangeArrowheads="1"/>
            </p:cNvSpPr>
            <p:nvPr/>
          </p:nvSpPr>
          <p:spPr bwMode="auto">
            <a:xfrm>
              <a:off x="3332" y="717"/>
              <a:ext cx="2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1800" b="1" i="0" u="none" strike="noStrike" kern="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rPr>
                <a:t>i2</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9" name="Rectangle 42"/>
            <p:cNvSpPr>
              <a:spLocks noChangeArrowheads="1"/>
            </p:cNvSpPr>
            <p:nvPr/>
          </p:nvSpPr>
          <p:spPr bwMode="auto">
            <a:xfrm>
              <a:off x="3790" y="727"/>
              <a:ext cx="1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1"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1800" b="1" i="0" u="none" strike="noStrike" kern="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rPr>
                <a:t>i2</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0" name="Rectangle 43"/>
            <p:cNvSpPr>
              <a:spLocks noChangeArrowheads="1"/>
            </p:cNvSpPr>
            <p:nvPr/>
          </p:nvSpPr>
          <p:spPr bwMode="auto">
            <a:xfrm>
              <a:off x="1737" y="180"/>
              <a:ext cx="26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1800" b="1" i="0" u="none" strike="noStrike" kern="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rPr>
                <a:t>1</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 name="Rectangle 44"/>
            <p:cNvSpPr>
              <a:spLocks noChangeArrowheads="1"/>
            </p:cNvSpPr>
            <p:nvPr/>
          </p:nvSpPr>
          <p:spPr bwMode="auto">
            <a:xfrm>
              <a:off x="3399" y="172"/>
              <a:ext cx="2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just" defTabSz="914400" eaLnBrk="1" fontAlgn="auto" latinLnBrk="0" hangingPunct="1">
                <a:lnSpc>
                  <a:spcPct val="100000"/>
                </a:lnSpc>
                <a:spcBef>
                  <a:spcPct val="50000"/>
                </a:spcBef>
                <a:spcAft>
                  <a:spcPts val="0"/>
                </a:spcAft>
                <a:buClrTx/>
                <a:buSzTx/>
                <a:buFontTx/>
                <a:buNone/>
                <a:defRPr/>
              </a:pPr>
              <a:r>
                <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1800" b="1" i="0" u="none" strike="noStrike" kern="0" cap="none" spc="0" normalizeH="0" baseline="-25000" noProof="0" smtClean="0">
                  <a:ln>
                    <a:noFill/>
                  </a:ln>
                  <a:solidFill>
                    <a:srgbClr val="000000"/>
                  </a:solidFill>
                  <a:effectLst/>
                  <a:uLnTx/>
                  <a:uFillTx/>
                  <a:latin typeface="Times New Roman" panose="02020603050405020304" pitchFamily="18" charset="0"/>
                  <a:ea typeface="宋体" panose="02010600030101010101" pitchFamily="2" charset="-122"/>
                </a:rPr>
                <a:t>2</a:t>
              </a:r>
              <a:endParaRPr kumimoji="1" lang="en-US" altLang="zh-CN" sz="1800" b="1"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Line 46"/>
            <p:cNvSpPr>
              <a:spLocks noChangeShapeType="1"/>
            </p:cNvSpPr>
            <p:nvPr/>
          </p:nvSpPr>
          <p:spPr bwMode="auto">
            <a:xfrm flipV="1">
              <a:off x="2634" y="860"/>
              <a:ext cx="1" cy="25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 name="Line 47"/>
            <p:cNvSpPr>
              <a:spLocks noChangeShapeType="1"/>
            </p:cNvSpPr>
            <p:nvPr/>
          </p:nvSpPr>
          <p:spPr bwMode="auto">
            <a:xfrm flipV="1">
              <a:off x="2626" y="503"/>
              <a:ext cx="1" cy="26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4" name="Line 48"/>
            <p:cNvSpPr>
              <a:spLocks noChangeShapeType="1"/>
            </p:cNvSpPr>
            <p:nvPr/>
          </p:nvSpPr>
          <p:spPr bwMode="auto">
            <a:xfrm flipV="1">
              <a:off x="3238" y="488"/>
              <a:ext cx="1" cy="2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49"/>
            <p:cNvSpPr>
              <a:spLocks noChangeShapeType="1"/>
            </p:cNvSpPr>
            <p:nvPr/>
          </p:nvSpPr>
          <p:spPr bwMode="auto">
            <a:xfrm flipV="1">
              <a:off x="3238" y="930"/>
              <a:ext cx="0" cy="19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Oval 50"/>
            <p:cNvSpPr>
              <a:spLocks noChangeArrowheads="1"/>
            </p:cNvSpPr>
            <p:nvPr/>
          </p:nvSpPr>
          <p:spPr bwMode="auto">
            <a:xfrm>
              <a:off x="3221" y="474"/>
              <a:ext cx="39" cy="39"/>
            </a:xfrm>
            <a:prstGeom prst="ellipse">
              <a:avLst/>
            </a:prstGeom>
            <a:solidFill>
              <a:srgbClr val="000000"/>
            </a:solidFill>
            <a:ln w="10160" cap="rnd">
              <a:solidFill>
                <a:srgbClr val="000000"/>
              </a:solidFill>
              <a:round/>
            </a:ln>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Oval 51"/>
            <p:cNvSpPr>
              <a:spLocks noChangeArrowheads="1"/>
            </p:cNvSpPr>
            <p:nvPr/>
          </p:nvSpPr>
          <p:spPr bwMode="auto">
            <a:xfrm>
              <a:off x="2616" y="1114"/>
              <a:ext cx="39" cy="39"/>
            </a:xfrm>
            <a:prstGeom prst="ellipse">
              <a:avLst/>
            </a:prstGeom>
            <a:solidFill>
              <a:srgbClr val="FF0000"/>
            </a:solidFill>
            <a:ln w="10160" cap="rnd">
              <a:solidFill>
                <a:srgbClr val="FF0000"/>
              </a:solidFill>
              <a:round/>
            </a:ln>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Oval 52"/>
            <p:cNvSpPr>
              <a:spLocks noChangeArrowheads="1"/>
            </p:cNvSpPr>
            <p:nvPr/>
          </p:nvSpPr>
          <p:spPr bwMode="auto">
            <a:xfrm>
              <a:off x="2608" y="473"/>
              <a:ext cx="39" cy="39"/>
            </a:xfrm>
            <a:prstGeom prst="ellipse">
              <a:avLst/>
            </a:prstGeom>
            <a:solidFill>
              <a:srgbClr val="FF0000"/>
            </a:solidFill>
            <a:ln w="10160" cap="rnd">
              <a:solidFill>
                <a:srgbClr val="FF0000"/>
              </a:solidFill>
              <a:round/>
            </a:ln>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Oval 53"/>
            <p:cNvSpPr>
              <a:spLocks noChangeArrowheads="1"/>
            </p:cNvSpPr>
            <p:nvPr/>
          </p:nvSpPr>
          <p:spPr bwMode="auto">
            <a:xfrm>
              <a:off x="3213" y="1114"/>
              <a:ext cx="39" cy="39"/>
            </a:xfrm>
            <a:prstGeom prst="ellipse">
              <a:avLst/>
            </a:prstGeom>
            <a:solidFill>
              <a:srgbClr val="000000"/>
            </a:solidFill>
            <a:ln w="10160" cap="rnd">
              <a:solidFill>
                <a:srgbClr val="000000"/>
              </a:solidFill>
              <a:round/>
            </a:ln>
          </p:spPr>
          <p:txBody>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0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Rectangle 2"/>
          <p:cNvSpPr>
            <a:spLocks noChangeArrowheads="1"/>
          </p:cNvSpPr>
          <p:nvPr/>
        </p:nvSpPr>
        <p:spPr bwMode="auto">
          <a:xfrm>
            <a:off x="466725" y="380733"/>
            <a:ext cx="4694212"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en-US" altLang="zh-CN" dirty="0" smtClean="0">
                <a:latin typeface="+mn-ea"/>
                <a:ea typeface="+mn-ea"/>
              </a:rPr>
              <a:t>2.</a:t>
            </a:r>
            <a:r>
              <a:rPr lang="zh-CN" altLang="en-US" dirty="0" smtClean="0">
                <a:latin typeface="+mn-ea"/>
                <a:ea typeface="+mn-ea"/>
              </a:rPr>
              <a:t>零极点相消</a:t>
            </a:r>
            <a:r>
              <a:rPr lang="en-US" altLang="zh-CN" dirty="0">
                <a:latin typeface="+mn-ea"/>
                <a:ea typeface="+mn-ea"/>
              </a:rPr>
              <a:t>—RC</a:t>
            </a:r>
            <a:r>
              <a:rPr lang="zh-CN" altLang="en-US" dirty="0">
                <a:latin typeface="+mn-ea"/>
                <a:ea typeface="+mn-ea"/>
              </a:rPr>
              <a:t>滞后补偿 </a:t>
            </a:r>
            <a:endParaRPr lang="zh-CN" altLang="en-US" dirty="0">
              <a:latin typeface="+mn-ea"/>
              <a:ea typeface="+mn-ea"/>
            </a:endParaRPr>
          </a:p>
        </p:txBody>
      </p:sp>
      <p:grpSp>
        <p:nvGrpSpPr>
          <p:cNvPr id="4" name="组合 3"/>
          <p:cNvGrpSpPr/>
          <p:nvPr/>
        </p:nvGrpSpPr>
        <p:grpSpPr>
          <a:xfrm>
            <a:off x="1477995" y="3045474"/>
            <a:ext cx="6623051" cy="3041651"/>
            <a:chOff x="1547664" y="1103462"/>
            <a:chExt cx="6623051" cy="3041651"/>
          </a:xfrm>
        </p:grpSpPr>
        <p:sp>
          <p:nvSpPr>
            <p:cNvPr id="5" name="Line 16"/>
            <p:cNvSpPr>
              <a:spLocks noChangeShapeType="1"/>
            </p:cNvSpPr>
            <p:nvPr/>
          </p:nvSpPr>
          <p:spPr bwMode="auto">
            <a:xfrm>
              <a:off x="1781027" y="1587650"/>
              <a:ext cx="3084513" cy="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6" name="Rectangle 4"/>
            <p:cNvSpPr>
              <a:spLocks noChangeArrowheads="1"/>
            </p:cNvSpPr>
            <p:nvPr/>
          </p:nvSpPr>
          <p:spPr bwMode="auto">
            <a:xfrm>
              <a:off x="1879452" y="1236812"/>
              <a:ext cx="733425"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a:solidFill>
                    <a:srgbClr val="000000"/>
                  </a:solidFill>
                </a:rPr>
                <a:t>20lg|</a:t>
              </a:r>
              <a:r>
                <a:rPr lang="en-US" altLang="zh-CN" sz="1600" b="1" i="1">
                  <a:solidFill>
                    <a:srgbClr val="000000"/>
                  </a:solidFill>
                </a:rPr>
                <a:t>A</a:t>
              </a:r>
              <a:r>
                <a:rPr lang="en-US" altLang="zh-CN" sz="1600" b="1">
                  <a:solidFill>
                    <a:srgbClr val="000000"/>
                  </a:solidFill>
                </a:rPr>
                <a:t>|</a:t>
              </a:r>
              <a:endParaRPr lang="en-US" altLang="zh-CN" sz="1600" b="1"/>
            </a:p>
          </p:txBody>
        </p:sp>
        <p:sp>
          <p:nvSpPr>
            <p:cNvPr id="7" name="Rectangle 5"/>
            <p:cNvSpPr>
              <a:spLocks noChangeArrowheads="1"/>
            </p:cNvSpPr>
            <p:nvPr/>
          </p:nvSpPr>
          <p:spPr bwMode="auto">
            <a:xfrm>
              <a:off x="2411264" y="1103462"/>
              <a:ext cx="5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600" b="1" dirty="0">
                  <a:solidFill>
                    <a:srgbClr val="000000"/>
                  </a:solidFill>
                </a:rPr>
                <a:t>·</a:t>
              </a:r>
              <a:endParaRPr lang="en-US" altLang="zh-CN" sz="1600" b="1" dirty="0"/>
            </a:p>
          </p:txBody>
        </p:sp>
        <p:sp>
          <p:nvSpPr>
            <p:cNvPr id="8" name="Rectangle 6"/>
            <p:cNvSpPr>
              <a:spLocks noChangeArrowheads="1"/>
            </p:cNvSpPr>
            <p:nvPr/>
          </p:nvSpPr>
          <p:spPr bwMode="auto">
            <a:xfrm>
              <a:off x="7461102" y="3716487"/>
              <a:ext cx="2381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i="1">
                  <a:solidFill>
                    <a:srgbClr val="000000"/>
                  </a:solidFill>
                </a:rPr>
                <a:t>f</a:t>
              </a:r>
              <a:endParaRPr lang="en-US" altLang="zh-CN" sz="1600" b="1"/>
            </a:p>
          </p:txBody>
        </p:sp>
        <p:sp>
          <p:nvSpPr>
            <p:cNvPr id="9" name="Rectangle 7"/>
            <p:cNvSpPr>
              <a:spLocks noChangeArrowheads="1"/>
            </p:cNvSpPr>
            <p:nvPr/>
          </p:nvSpPr>
          <p:spPr bwMode="auto">
            <a:xfrm>
              <a:off x="5286227" y="1495575"/>
              <a:ext cx="15287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a:solidFill>
                    <a:srgbClr val="000000"/>
                  </a:solidFill>
                </a:rPr>
                <a:t>-20dB/10</a:t>
              </a:r>
              <a:r>
                <a:rPr lang="zh-CN" altLang="en-US" sz="1600" b="1">
                  <a:solidFill>
                    <a:srgbClr val="000000"/>
                  </a:solidFill>
                  <a:latin typeface="宋体" panose="02010600030101010101" pitchFamily="2" charset="-122"/>
                </a:rPr>
                <a:t>倍频</a:t>
              </a:r>
              <a:endParaRPr lang="zh-CN" altLang="en-US" sz="1600" b="1"/>
            </a:p>
          </p:txBody>
        </p:sp>
        <p:sp>
          <p:nvSpPr>
            <p:cNvPr id="10" name="Freeform 8"/>
            <p:cNvSpPr>
              <a:spLocks noEditPoints="1"/>
            </p:cNvSpPr>
            <p:nvPr/>
          </p:nvSpPr>
          <p:spPr bwMode="auto">
            <a:xfrm>
              <a:off x="1738164" y="1300312"/>
              <a:ext cx="82550" cy="2614613"/>
            </a:xfrm>
            <a:custGeom>
              <a:avLst/>
              <a:gdLst>
                <a:gd name="T0" fmla="*/ 32 w 85"/>
                <a:gd name="T1" fmla="*/ 2494 h 2494"/>
                <a:gd name="T2" fmla="*/ 32 w 85"/>
                <a:gd name="T3" fmla="*/ 85 h 2494"/>
                <a:gd name="T4" fmla="*/ 53 w 85"/>
                <a:gd name="T5" fmla="*/ 85 h 2494"/>
                <a:gd name="T6" fmla="*/ 53 w 85"/>
                <a:gd name="T7" fmla="*/ 2494 h 2494"/>
                <a:gd name="T8" fmla="*/ 32 w 85"/>
                <a:gd name="T9" fmla="*/ 2494 h 2494"/>
                <a:gd name="T10" fmla="*/ 42 w 85"/>
                <a:gd name="T11" fmla="*/ 85 h 2494"/>
                <a:gd name="T12" fmla="*/ 0 w 85"/>
                <a:gd name="T13" fmla="*/ 142 h 2494"/>
                <a:gd name="T14" fmla="*/ 42 w 85"/>
                <a:gd name="T15" fmla="*/ 0 h 2494"/>
                <a:gd name="T16" fmla="*/ 85 w 85"/>
                <a:gd name="T17" fmla="*/ 142 h 2494"/>
                <a:gd name="T18" fmla="*/ 42 w 85"/>
                <a:gd name="T19" fmla="*/ 85 h 2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2494">
                  <a:moveTo>
                    <a:pt x="32" y="2494"/>
                  </a:moveTo>
                  <a:lnTo>
                    <a:pt x="32" y="85"/>
                  </a:lnTo>
                  <a:lnTo>
                    <a:pt x="53" y="85"/>
                  </a:lnTo>
                  <a:lnTo>
                    <a:pt x="53" y="2494"/>
                  </a:lnTo>
                  <a:lnTo>
                    <a:pt x="32" y="2494"/>
                  </a:lnTo>
                  <a:close/>
                  <a:moveTo>
                    <a:pt x="42" y="85"/>
                  </a:moveTo>
                  <a:lnTo>
                    <a:pt x="0" y="142"/>
                  </a:lnTo>
                  <a:lnTo>
                    <a:pt x="42" y="0"/>
                  </a:lnTo>
                  <a:lnTo>
                    <a:pt x="85" y="142"/>
                  </a:lnTo>
                  <a:lnTo>
                    <a:pt x="42" y="85"/>
                  </a:lnTo>
                  <a:close/>
                </a:path>
              </a:pathLst>
            </a:custGeom>
            <a:solidFill>
              <a:srgbClr val="000000"/>
            </a:solidFill>
            <a:ln w="1270" cap="flat">
              <a:solidFill>
                <a:srgbClr val="000000"/>
              </a:solidFill>
              <a:prstDash val="solid"/>
              <a:bevel/>
            </a:ln>
          </p:spPr>
          <p:txBody>
            <a:bodyPr/>
            <a:lstStyle/>
            <a:p>
              <a:endParaRPr lang="zh-CN" altLang="en-US"/>
            </a:p>
          </p:txBody>
        </p:sp>
        <p:sp>
          <p:nvSpPr>
            <p:cNvPr id="11" name="Freeform 9"/>
            <p:cNvSpPr>
              <a:spLocks noEditPoints="1"/>
            </p:cNvSpPr>
            <p:nvPr/>
          </p:nvSpPr>
          <p:spPr bwMode="auto">
            <a:xfrm>
              <a:off x="1547664" y="3579962"/>
              <a:ext cx="6210300" cy="80963"/>
            </a:xfrm>
            <a:custGeom>
              <a:avLst/>
              <a:gdLst>
                <a:gd name="T0" fmla="*/ 0 w 6695"/>
                <a:gd name="T1" fmla="*/ 32 h 85"/>
                <a:gd name="T2" fmla="*/ 6609 w 6695"/>
                <a:gd name="T3" fmla="*/ 32 h 85"/>
                <a:gd name="T4" fmla="*/ 6609 w 6695"/>
                <a:gd name="T5" fmla="*/ 53 h 85"/>
                <a:gd name="T6" fmla="*/ 0 w 6695"/>
                <a:gd name="T7" fmla="*/ 53 h 85"/>
                <a:gd name="T8" fmla="*/ 0 w 6695"/>
                <a:gd name="T9" fmla="*/ 32 h 85"/>
                <a:gd name="T10" fmla="*/ 6609 w 6695"/>
                <a:gd name="T11" fmla="*/ 42 h 85"/>
                <a:gd name="T12" fmla="*/ 6552 w 6695"/>
                <a:gd name="T13" fmla="*/ 0 h 85"/>
                <a:gd name="T14" fmla="*/ 6695 w 6695"/>
                <a:gd name="T15" fmla="*/ 42 h 85"/>
                <a:gd name="T16" fmla="*/ 6552 w 6695"/>
                <a:gd name="T17" fmla="*/ 85 h 85"/>
                <a:gd name="T18" fmla="*/ 6609 w 6695"/>
                <a:gd name="T19"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95" h="85">
                  <a:moveTo>
                    <a:pt x="0" y="32"/>
                  </a:moveTo>
                  <a:lnTo>
                    <a:pt x="6609" y="32"/>
                  </a:lnTo>
                  <a:lnTo>
                    <a:pt x="6609" y="53"/>
                  </a:lnTo>
                  <a:lnTo>
                    <a:pt x="0" y="53"/>
                  </a:lnTo>
                  <a:lnTo>
                    <a:pt x="0" y="32"/>
                  </a:lnTo>
                  <a:close/>
                  <a:moveTo>
                    <a:pt x="6609" y="42"/>
                  </a:moveTo>
                  <a:lnTo>
                    <a:pt x="6552" y="0"/>
                  </a:lnTo>
                  <a:lnTo>
                    <a:pt x="6695" y="42"/>
                  </a:lnTo>
                  <a:lnTo>
                    <a:pt x="6552" y="85"/>
                  </a:lnTo>
                  <a:lnTo>
                    <a:pt x="6609" y="42"/>
                  </a:lnTo>
                  <a:close/>
                </a:path>
              </a:pathLst>
            </a:custGeom>
            <a:solidFill>
              <a:srgbClr val="000000"/>
            </a:solidFill>
            <a:ln w="1270" cap="flat">
              <a:solidFill>
                <a:srgbClr val="000000"/>
              </a:solidFill>
              <a:prstDash val="solid"/>
              <a:bevel/>
            </a:ln>
          </p:spPr>
          <p:txBody>
            <a:bodyPr/>
            <a:lstStyle/>
            <a:p>
              <a:endParaRPr lang="zh-CN" altLang="en-US"/>
            </a:p>
          </p:txBody>
        </p:sp>
        <p:sp>
          <p:nvSpPr>
            <p:cNvPr id="12" name="Line 10"/>
            <p:cNvSpPr>
              <a:spLocks noChangeShapeType="1"/>
            </p:cNvSpPr>
            <p:nvPr/>
          </p:nvSpPr>
          <p:spPr bwMode="auto">
            <a:xfrm>
              <a:off x="3222477" y="1613050"/>
              <a:ext cx="0" cy="2027238"/>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3" name="Line 11"/>
            <p:cNvSpPr>
              <a:spLocks noChangeShapeType="1"/>
            </p:cNvSpPr>
            <p:nvPr/>
          </p:nvSpPr>
          <p:spPr bwMode="auto">
            <a:xfrm>
              <a:off x="4878239" y="1581300"/>
              <a:ext cx="1588" cy="2027238"/>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4" name="Line 12"/>
            <p:cNvSpPr>
              <a:spLocks noChangeShapeType="1"/>
            </p:cNvSpPr>
            <p:nvPr/>
          </p:nvSpPr>
          <p:spPr bwMode="auto">
            <a:xfrm>
              <a:off x="5705327" y="2089300"/>
              <a:ext cx="1588" cy="1539875"/>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5" name="Line 13"/>
            <p:cNvSpPr>
              <a:spLocks noChangeShapeType="1"/>
            </p:cNvSpPr>
            <p:nvPr/>
          </p:nvSpPr>
          <p:spPr bwMode="auto">
            <a:xfrm>
              <a:off x="6537177" y="3110062"/>
              <a:ext cx="1588" cy="495300"/>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6" name="Line 15"/>
            <p:cNvSpPr>
              <a:spLocks noChangeShapeType="1"/>
            </p:cNvSpPr>
            <p:nvPr/>
          </p:nvSpPr>
          <p:spPr bwMode="auto">
            <a:xfrm>
              <a:off x="2395389" y="1587650"/>
              <a:ext cx="3319463" cy="2032000"/>
            </a:xfrm>
            <a:prstGeom prst="line">
              <a:avLst/>
            </a:prstGeom>
            <a:noFill/>
            <a:ln w="19050">
              <a:solidFill>
                <a:srgbClr val="000000"/>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7" name="Line 17"/>
            <p:cNvSpPr>
              <a:spLocks noChangeShapeType="1"/>
            </p:cNvSpPr>
            <p:nvPr/>
          </p:nvSpPr>
          <p:spPr bwMode="auto">
            <a:xfrm>
              <a:off x="4875064" y="1595587"/>
              <a:ext cx="827088" cy="50800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8" name="Line 18"/>
            <p:cNvSpPr>
              <a:spLocks noChangeShapeType="1"/>
            </p:cNvSpPr>
            <p:nvPr/>
          </p:nvSpPr>
          <p:spPr bwMode="auto">
            <a:xfrm>
              <a:off x="5721202" y="2117875"/>
              <a:ext cx="815975" cy="992188"/>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9" name="Line 19"/>
            <p:cNvSpPr>
              <a:spLocks noChangeShapeType="1"/>
            </p:cNvSpPr>
            <p:nvPr/>
          </p:nvSpPr>
          <p:spPr bwMode="auto">
            <a:xfrm>
              <a:off x="6556227" y="3132287"/>
              <a:ext cx="241300" cy="48260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0" name="Line 20"/>
            <p:cNvSpPr>
              <a:spLocks noChangeShapeType="1"/>
            </p:cNvSpPr>
            <p:nvPr/>
          </p:nvSpPr>
          <p:spPr bwMode="auto">
            <a:xfrm>
              <a:off x="5702152" y="3629175"/>
              <a:ext cx="422275" cy="515938"/>
            </a:xfrm>
            <a:prstGeom prst="line">
              <a:avLst/>
            </a:prstGeom>
            <a:noFill/>
            <a:ln w="19050">
              <a:solidFill>
                <a:srgbClr val="000000"/>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1" name="Rectangle 21"/>
            <p:cNvSpPr>
              <a:spLocks noChangeArrowheads="1"/>
            </p:cNvSpPr>
            <p:nvPr/>
          </p:nvSpPr>
          <p:spPr bwMode="auto">
            <a:xfrm>
              <a:off x="6121252" y="2282975"/>
              <a:ext cx="14128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a:solidFill>
                    <a:srgbClr val="000000"/>
                  </a:solidFill>
                </a:rPr>
                <a:t>-40dB/10</a:t>
              </a:r>
              <a:r>
                <a:rPr lang="zh-CN" altLang="en-US" sz="1600" b="1">
                  <a:solidFill>
                    <a:srgbClr val="000000"/>
                  </a:solidFill>
                  <a:latin typeface="宋体" panose="02010600030101010101" pitchFamily="2" charset="-122"/>
                </a:rPr>
                <a:t>倍频</a:t>
              </a:r>
              <a:endParaRPr lang="zh-CN" altLang="en-US" sz="1600" b="1"/>
            </a:p>
          </p:txBody>
        </p:sp>
        <p:sp>
          <p:nvSpPr>
            <p:cNvPr id="22" name="Rectangle 22"/>
            <p:cNvSpPr>
              <a:spLocks noChangeArrowheads="1"/>
            </p:cNvSpPr>
            <p:nvPr/>
          </p:nvSpPr>
          <p:spPr bwMode="auto">
            <a:xfrm>
              <a:off x="6756252" y="3119587"/>
              <a:ext cx="14144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dirty="0">
                  <a:solidFill>
                    <a:srgbClr val="000000"/>
                  </a:solidFill>
                </a:rPr>
                <a:t>-60dB/10</a:t>
              </a:r>
              <a:r>
                <a:rPr lang="zh-CN" altLang="en-US" sz="1600" b="1" dirty="0">
                  <a:solidFill>
                    <a:srgbClr val="000000"/>
                  </a:solidFill>
                  <a:latin typeface="宋体" panose="02010600030101010101" pitchFamily="2" charset="-122"/>
                </a:rPr>
                <a:t>倍频</a:t>
              </a:r>
              <a:endParaRPr lang="zh-CN" altLang="en-US" sz="1600" b="1" dirty="0"/>
            </a:p>
          </p:txBody>
        </p:sp>
        <p:sp>
          <p:nvSpPr>
            <p:cNvPr id="23" name="Rectangle 23"/>
            <p:cNvSpPr>
              <a:spLocks noChangeArrowheads="1"/>
            </p:cNvSpPr>
            <p:nvPr/>
          </p:nvSpPr>
          <p:spPr bwMode="auto">
            <a:xfrm>
              <a:off x="1598464" y="3614887"/>
              <a:ext cx="222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a:solidFill>
                    <a:srgbClr val="000000"/>
                  </a:solidFill>
                </a:rPr>
                <a:t>0</a:t>
              </a:r>
              <a:endParaRPr lang="en-US" altLang="zh-CN" sz="1600" b="1"/>
            </a:p>
          </p:txBody>
        </p:sp>
        <p:sp>
          <p:nvSpPr>
            <p:cNvPr id="24" name="Rectangle 26"/>
            <p:cNvSpPr>
              <a:spLocks noChangeArrowheads="1"/>
            </p:cNvSpPr>
            <p:nvPr/>
          </p:nvSpPr>
          <p:spPr bwMode="auto">
            <a:xfrm>
              <a:off x="3279627" y="2810025"/>
              <a:ext cx="10175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600" b="1"/>
                <a:t>电容补偿</a:t>
              </a:r>
              <a:endParaRPr lang="zh-CN" altLang="en-US" sz="1600" b="1"/>
            </a:p>
          </p:txBody>
        </p:sp>
        <p:sp>
          <p:nvSpPr>
            <p:cNvPr id="25" name="Rectangle 28"/>
            <p:cNvSpPr>
              <a:spLocks noChangeArrowheads="1"/>
            </p:cNvSpPr>
            <p:nvPr/>
          </p:nvSpPr>
          <p:spPr bwMode="auto">
            <a:xfrm>
              <a:off x="4316264" y="1178075"/>
              <a:ext cx="7969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600" b="1" dirty="0"/>
                <a:t>补偿前</a:t>
              </a:r>
              <a:endParaRPr lang="zh-CN" altLang="en-US" sz="1600" b="1" dirty="0"/>
            </a:p>
          </p:txBody>
        </p:sp>
        <p:sp>
          <p:nvSpPr>
            <p:cNvPr id="26" name="Line 29"/>
            <p:cNvSpPr>
              <a:spLocks noChangeShapeType="1"/>
            </p:cNvSpPr>
            <p:nvPr/>
          </p:nvSpPr>
          <p:spPr bwMode="auto">
            <a:xfrm flipV="1">
              <a:off x="3482827" y="2311550"/>
              <a:ext cx="0" cy="477838"/>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7" name="Line 31"/>
            <p:cNvSpPr>
              <a:spLocks noChangeShapeType="1"/>
            </p:cNvSpPr>
            <p:nvPr/>
          </p:nvSpPr>
          <p:spPr bwMode="auto">
            <a:xfrm flipH="1">
              <a:off x="3908277" y="1309837"/>
              <a:ext cx="352425" cy="217488"/>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8" name="Rectangle 32"/>
            <p:cNvSpPr>
              <a:spLocks noChangeArrowheads="1"/>
            </p:cNvSpPr>
            <p:nvPr/>
          </p:nvSpPr>
          <p:spPr bwMode="auto">
            <a:xfrm>
              <a:off x="2889102" y="3743475"/>
              <a:ext cx="5381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sz="1600" b="1"/>
            </a:p>
          </p:txBody>
        </p:sp>
        <p:sp>
          <p:nvSpPr>
            <p:cNvPr id="29" name="Rectangle 33"/>
            <p:cNvSpPr>
              <a:spLocks noChangeArrowheads="1"/>
            </p:cNvSpPr>
            <p:nvPr/>
          </p:nvSpPr>
          <p:spPr bwMode="auto">
            <a:xfrm>
              <a:off x="4636939" y="3679975"/>
              <a:ext cx="5143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a:solidFill>
                    <a:srgbClr val="000000"/>
                  </a:solidFill>
                </a:rPr>
                <a:t>f</a:t>
              </a:r>
              <a:r>
                <a:rPr lang="en-US" altLang="zh-CN" sz="1600" b="1" baseline="-25000">
                  <a:solidFill>
                    <a:srgbClr val="000000"/>
                  </a:solidFill>
                </a:rPr>
                <a:t>H1</a:t>
              </a:r>
              <a:endParaRPr lang="en-US" altLang="zh-CN" sz="1600" b="1"/>
            </a:p>
          </p:txBody>
        </p:sp>
        <p:sp>
          <p:nvSpPr>
            <p:cNvPr id="30" name="Rectangle 34"/>
            <p:cNvSpPr>
              <a:spLocks noChangeArrowheads="1"/>
            </p:cNvSpPr>
            <p:nvPr/>
          </p:nvSpPr>
          <p:spPr bwMode="auto">
            <a:xfrm>
              <a:off x="5370364" y="3668862"/>
              <a:ext cx="5159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a:solidFill>
                    <a:srgbClr val="000000"/>
                  </a:solidFill>
                </a:rPr>
                <a:t>f</a:t>
              </a:r>
              <a:r>
                <a:rPr lang="en-US" altLang="zh-CN" sz="1600" b="1" baseline="-25000">
                  <a:solidFill>
                    <a:srgbClr val="000000"/>
                  </a:solidFill>
                </a:rPr>
                <a:t>H2</a:t>
              </a:r>
              <a:endParaRPr lang="en-US" altLang="zh-CN" sz="1600" b="1"/>
            </a:p>
          </p:txBody>
        </p:sp>
        <p:sp>
          <p:nvSpPr>
            <p:cNvPr id="31" name="Rectangle 35"/>
            <p:cNvSpPr>
              <a:spLocks noChangeArrowheads="1"/>
            </p:cNvSpPr>
            <p:nvPr/>
          </p:nvSpPr>
          <p:spPr bwMode="auto">
            <a:xfrm>
              <a:off x="6164114" y="3646637"/>
              <a:ext cx="5159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a:solidFill>
                    <a:srgbClr val="000000"/>
                  </a:solidFill>
                </a:rPr>
                <a:t>f</a:t>
              </a:r>
              <a:r>
                <a:rPr lang="en-US" altLang="zh-CN" sz="1600" b="1" baseline="-25000">
                  <a:solidFill>
                    <a:srgbClr val="000000"/>
                  </a:solidFill>
                </a:rPr>
                <a:t>H3</a:t>
              </a:r>
              <a:endParaRPr lang="en-US" altLang="zh-CN" sz="1600" b="1"/>
            </a:p>
          </p:txBody>
        </p:sp>
        <p:graphicFrame>
          <p:nvGraphicFramePr>
            <p:cNvPr id="32" name="Object 37"/>
            <p:cNvGraphicFramePr>
              <a:graphicFrameLocks noChangeAspect="1"/>
            </p:cNvGraphicFramePr>
            <p:nvPr/>
          </p:nvGraphicFramePr>
          <p:xfrm>
            <a:off x="3049439" y="3675212"/>
            <a:ext cx="425450" cy="425450"/>
          </p:xfrm>
          <a:graphic>
            <a:graphicData uri="http://schemas.openxmlformats.org/presentationml/2006/ole">
              <mc:AlternateContent xmlns:mc="http://schemas.openxmlformats.org/markup-compatibility/2006">
                <mc:Choice xmlns:v="urn:schemas-microsoft-com:vml" Requires="v">
                  <p:oleObj spid="_x0000_s109581" name="Equation" r:id="rId1" imgW="228600" imgH="215900" progId="Equation.DSMT4">
                    <p:embed/>
                  </p:oleObj>
                </mc:Choice>
                <mc:Fallback>
                  <p:oleObj name="Equation" r:id="rId1" imgW="228600" imgH="215900" progId="Equation.DSMT4">
                    <p:embed/>
                    <p:pic>
                      <p:nvPicPr>
                        <p:cNvPr id="0" name="Object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9439" y="3675212"/>
                          <a:ext cx="425450"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3" name="Rectangle 46"/>
          <p:cNvSpPr>
            <a:spLocks noChangeArrowheads="1"/>
          </p:cNvSpPr>
          <p:nvPr/>
        </p:nvSpPr>
        <p:spPr bwMode="auto">
          <a:xfrm>
            <a:off x="1584167" y="6169946"/>
            <a:ext cx="608651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zh-CN" altLang="en-US" sz="2000" dirty="0">
                <a:latin typeface="+mn-ea"/>
                <a:ea typeface="+mn-ea"/>
              </a:rPr>
              <a:t>图 </a:t>
            </a:r>
            <a:r>
              <a:rPr lang="en-US" altLang="zh-CN" sz="2000" dirty="0">
                <a:latin typeface="+mn-ea"/>
                <a:ea typeface="+mn-ea"/>
              </a:rPr>
              <a:t>6.4.8   </a:t>
            </a:r>
            <a:r>
              <a:rPr lang="zh-CN" altLang="en-US" sz="2000" dirty="0">
                <a:latin typeface="+mn-ea"/>
                <a:ea typeface="+mn-ea"/>
              </a:rPr>
              <a:t>电容补偿和</a:t>
            </a:r>
            <a:r>
              <a:rPr lang="en-US" altLang="zh-CN" sz="2000" dirty="0">
                <a:latin typeface="+mn-ea"/>
                <a:ea typeface="+mn-ea"/>
              </a:rPr>
              <a:t>RC</a:t>
            </a:r>
            <a:r>
              <a:rPr lang="zh-CN" altLang="en-US" sz="2000" dirty="0">
                <a:latin typeface="+mn-ea"/>
                <a:ea typeface="+mn-ea"/>
              </a:rPr>
              <a:t>滞后补偿的渐近波特图比较 </a:t>
            </a:r>
            <a:endParaRPr lang="zh-CN" altLang="en-US" sz="2000" dirty="0">
              <a:latin typeface="+mn-ea"/>
              <a:ea typeface="+mn-ea"/>
            </a:endParaRPr>
          </a:p>
        </p:txBody>
      </p:sp>
      <p:sp>
        <p:nvSpPr>
          <p:cNvPr id="34" name="Line 14"/>
          <p:cNvSpPr>
            <a:spLocks noChangeShapeType="1"/>
          </p:cNvSpPr>
          <p:nvPr/>
        </p:nvSpPr>
        <p:spPr bwMode="auto">
          <a:xfrm>
            <a:off x="1730408" y="3526487"/>
            <a:ext cx="1417638" cy="1588"/>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5" name="Line 24"/>
          <p:cNvSpPr>
            <a:spLocks noChangeShapeType="1"/>
          </p:cNvSpPr>
          <p:nvPr/>
        </p:nvSpPr>
        <p:spPr bwMode="auto">
          <a:xfrm>
            <a:off x="3136933" y="3518549"/>
            <a:ext cx="3319463" cy="2032000"/>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6" name="Line 25"/>
          <p:cNvSpPr>
            <a:spLocks noChangeShapeType="1"/>
          </p:cNvSpPr>
          <p:nvPr/>
        </p:nvSpPr>
        <p:spPr bwMode="auto">
          <a:xfrm>
            <a:off x="6472270" y="5571187"/>
            <a:ext cx="422275" cy="515938"/>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7" name="Rectangle 27"/>
          <p:cNvSpPr>
            <a:spLocks noChangeArrowheads="1"/>
          </p:cNvSpPr>
          <p:nvPr/>
        </p:nvSpPr>
        <p:spPr bwMode="auto">
          <a:xfrm>
            <a:off x="3660808" y="3615387"/>
            <a:ext cx="11826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dirty="0">
                <a:solidFill>
                  <a:srgbClr val="FF0000"/>
                </a:solidFill>
              </a:rPr>
              <a:t>RC</a:t>
            </a:r>
            <a:r>
              <a:rPr lang="zh-CN" altLang="en-US" sz="1600" b="1" dirty="0">
                <a:solidFill>
                  <a:srgbClr val="FF0000"/>
                </a:solidFill>
              </a:rPr>
              <a:t>滞后补偿</a:t>
            </a:r>
            <a:endParaRPr lang="zh-CN" altLang="en-US" sz="1600" b="1" dirty="0">
              <a:solidFill>
                <a:srgbClr val="FF0000"/>
              </a:solidFill>
            </a:endParaRPr>
          </a:p>
        </p:txBody>
      </p:sp>
      <p:sp>
        <p:nvSpPr>
          <p:cNvPr id="38" name="Line 30"/>
          <p:cNvSpPr>
            <a:spLocks noChangeShapeType="1"/>
          </p:cNvSpPr>
          <p:nvPr/>
        </p:nvSpPr>
        <p:spPr bwMode="auto">
          <a:xfrm flipH="1">
            <a:off x="4356133" y="3869387"/>
            <a:ext cx="0" cy="366713"/>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9" name="矩形 38"/>
          <p:cNvSpPr/>
          <p:nvPr/>
        </p:nvSpPr>
        <p:spPr>
          <a:xfrm>
            <a:off x="300070" y="972889"/>
            <a:ext cx="8643633" cy="1938992"/>
          </a:xfrm>
          <a:prstGeom prst="rect">
            <a:avLst/>
          </a:prstGeom>
        </p:spPr>
        <p:txBody>
          <a:bodyPr wrap="square">
            <a:spAutoFit/>
          </a:bodyPr>
          <a:lstStyle/>
          <a:p>
            <a:pPr>
              <a:lnSpc>
                <a:spcPct val="120000"/>
              </a:lnSpc>
            </a:pPr>
            <a:r>
              <a:rPr lang="zh-CN" altLang="en-US" sz="2400" b="0" dirty="0" smtClean="0">
                <a:solidFill>
                  <a:srgbClr val="000000"/>
                </a:solidFill>
                <a:latin typeface="宋体" panose="02010600030101010101" pitchFamily="2" charset="-122"/>
                <a:ea typeface="宋体" panose="02010600030101010101" pitchFamily="2" charset="-122"/>
              </a:rPr>
              <a:t>   电容</a:t>
            </a:r>
            <a:r>
              <a:rPr lang="zh-CN" altLang="en-US" sz="2400" b="0" dirty="0">
                <a:solidFill>
                  <a:srgbClr val="000000"/>
                </a:solidFill>
                <a:latin typeface="宋体" panose="02010600030101010101" pitchFamily="2" charset="-122"/>
                <a:ea typeface="宋体" panose="02010600030101010101" pitchFamily="2" charset="-122"/>
              </a:rPr>
              <a:t>补偿的方法虽然可以消除自激振荡，但是需要以频带变窄为代价。而 </a:t>
            </a:r>
            <a:r>
              <a:rPr lang="en-US" altLang="zh-CN" sz="2400" b="0" dirty="0">
                <a:solidFill>
                  <a:srgbClr val="000000"/>
                </a:solidFill>
                <a:latin typeface="TimesNewRomanPSMT"/>
              </a:rPr>
              <a:t>RC </a:t>
            </a:r>
            <a:r>
              <a:rPr lang="zh-CN" altLang="en-US" sz="2400" b="0" dirty="0">
                <a:solidFill>
                  <a:srgbClr val="000000"/>
                </a:solidFill>
                <a:latin typeface="宋体" panose="02010600030101010101" pitchFamily="2" charset="-122"/>
                <a:ea typeface="宋体" panose="02010600030101010101" pitchFamily="2" charset="-122"/>
              </a:rPr>
              <a:t>滞后补偿则不一样，它可以在开环放大倍数 </a:t>
            </a:r>
            <a:r>
              <a:rPr lang="en-US" altLang="zh-CN" b="0" i="1" dirty="0" smtClean="0">
                <a:solidFill>
                  <a:srgbClr val="000000"/>
                </a:solidFill>
                <a:latin typeface="TimesNewRomanPS-ItalicMT"/>
              </a:rPr>
              <a:t>A</a:t>
            </a:r>
            <a:r>
              <a:rPr lang="zh-CN" altLang="en-US" sz="2400" b="0" dirty="0" smtClean="0">
                <a:solidFill>
                  <a:srgbClr val="000000"/>
                </a:solidFill>
                <a:latin typeface="宋体" panose="02010600030101010101" pitchFamily="2" charset="-122"/>
                <a:ea typeface="宋体" panose="02010600030101010101" pitchFamily="2" charset="-122"/>
              </a:rPr>
              <a:t>的</a:t>
            </a:r>
            <a:r>
              <a:rPr lang="zh-CN" altLang="en-US" sz="2400" b="0" dirty="0">
                <a:solidFill>
                  <a:srgbClr val="000000"/>
                </a:solidFill>
                <a:latin typeface="宋体" panose="02010600030101010101" pitchFamily="2" charset="-122"/>
                <a:ea typeface="宋体" panose="02010600030101010101" pitchFamily="2" charset="-122"/>
              </a:rPr>
              <a:t>表达式的分子中引入一个零点，该零点与分母中</a:t>
            </a:r>
            <a:r>
              <a:rPr lang="zh-CN" altLang="en-US" sz="2400" b="0" dirty="0" smtClean="0">
                <a:solidFill>
                  <a:srgbClr val="000000"/>
                </a:solidFill>
                <a:latin typeface="宋体" panose="02010600030101010101" pitchFamily="2" charset="-122"/>
                <a:ea typeface="宋体" panose="02010600030101010101" pitchFamily="2" charset="-122"/>
              </a:rPr>
              <a:t>的一</a:t>
            </a:r>
            <a:r>
              <a:rPr lang="zh-CN" altLang="en-US" sz="2400" b="0" dirty="0">
                <a:solidFill>
                  <a:srgbClr val="000000"/>
                </a:solidFill>
                <a:latin typeface="宋体" panose="02010600030101010101" pitchFamily="2" charset="-122"/>
                <a:ea typeface="宋体" panose="02010600030101010101" pitchFamily="2" charset="-122"/>
              </a:rPr>
              <a:t>个极点相抵消，从而使补偿后的放大器的频带损失减小。</a:t>
            </a:r>
            <a:r>
              <a:rPr lang="zh-CN" altLang="en-US" sz="2400" dirty="0"/>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righ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righ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down)">
                                      <p:cBhvr>
                                        <p:cTn id="22" dur="500"/>
                                        <p:tgtEl>
                                          <p:spTgt spid="3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down)">
                                      <p:cBhvr>
                                        <p:cTn id="25" dur="500"/>
                                        <p:tgtEl>
                                          <p:spTgt spid="3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left)">
                                      <p:cBhvr>
                                        <p:cTn id="2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animBg="1"/>
      <p:bldP spid="36" grpId="0" animBg="1"/>
      <p:bldP spid="37" grpId="0"/>
      <p:bldP spid="3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Rectangle 77"/>
          <p:cNvSpPr>
            <a:spLocks noChangeArrowheads="1"/>
          </p:cNvSpPr>
          <p:nvPr/>
        </p:nvSpPr>
        <p:spPr bwMode="auto">
          <a:xfrm>
            <a:off x="1841183" y="2968466"/>
            <a:ext cx="393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dirty="0">
                <a:solidFill>
                  <a:srgbClr val="000000"/>
                </a:solidFill>
              </a:rPr>
              <a:t>(a)</a:t>
            </a:r>
            <a:endParaRPr lang="en-US" altLang="zh-CN" sz="1800" b="1" dirty="0"/>
          </a:p>
        </p:txBody>
      </p:sp>
      <p:sp>
        <p:nvSpPr>
          <p:cNvPr id="4" name="Rectangle 96"/>
          <p:cNvSpPr>
            <a:spLocks noChangeArrowheads="1"/>
          </p:cNvSpPr>
          <p:nvPr/>
        </p:nvSpPr>
        <p:spPr bwMode="auto">
          <a:xfrm>
            <a:off x="2693969" y="5470283"/>
            <a:ext cx="2676928"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spcBef>
                <a:spcPct val="0"/>
              </a:spcBef>
            </a:pPr>
            <a:r>
              <a:rPr lang="zh-CN" altLang="en-US" sz="2000" dirty="0">
                <a:latin typeface="+mn-ea"/>
                <a:ea typeface="+mn-ea"/>
              </a:rPr>
              <a:t>图 </a:t>
            </a:r>
            <a:r>
              <a:rPr lang="en-US" altLang="zh-CN" sz="2000" dirty="0">
                <a:latin typeface="+mn-ea"/>
                <a:ea typeface="+mn-ea"/>
              </a:rPr>
              <a:t>6.4.7   RC</a:t>
            </a:r>
            <a:r>
              <a:rPr lang="zh-CN" altLang="en-US" sz="2000" dirty="0">
                <a:latin typeface="+mn-ea"/>
                <a:ea typeface="+mn-ea"/>
              </a:rPr>
              <a:t>滞后补偿</a:t>
            </a:r>
            <a:endParaRPr lang="zh-CN" altLang="en-US" sz="2000" dirty="0">
              <a:latin typeface="+mn-ea"/>
              <a:ea typeface="+mn-ea"/>
            </a:endParaRPr>
          </a:p>
        </p:txBody>
      </p:sp>
      <p:sp>
        <p:nvSpPr>
          <p:cNvPr id="5" name="Rectangle 98"/>
          <p:cNvSpPr>
            <a:spLocks noChangeArrowheads="1"/>
          </p:cNvSpPr>
          <p:nvPr/>
        </p:nvSpPr>
        <p:spPr bwMode="auto">
          <a:xfrm>
            <a:off x="4843912" y="3264208"/>
            <a:ext cx="353524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zh-CN" altLang="en-US" sz="2000" dirty="0" smtClean="0">
                <a:solidFill>
                  <a:srgbClr val="FF0000"/>
                </a:solidFill>
                <a:latin typeface="+mn-ea"/>
                <a:ea typeface="+mn-ea"/>
              </a:rPr>
              <a:t>假设 </a:t>
            </a:r>
            <a:r>
              <a:rPr lang="en-US" altLang="zh-CN" sz="2000" b="1" i="1" dirty="0" smtClean="0">
                <a:solidFill>
                  <a:srgbClr val="FF0000"/>
                </a:solidFill>
                <a:latin typeface="+mn-lt"/>
                <a:ea typeface="+mn-ea"/>
              </a:rPr>
              <a:t>R </a:t>
            </a:r>
            <a:r>
              <a:rPr lang="en-US" altLang="zh-CN" sz="2000" b="1" dirty="0">
                <a:solidFill>
                  <a:srgbClr val="FF0000"/>
                </a:solidFill>
                <a:latin typeface="+mn-lt"/>
                <a:ea typeface="+mn-ea"/>
              </a:rPr>
              <a:t>&lt;&lt; (</a:t>
            </a:r>
            <a:r>
              <a:rPr lang="en-US" altLang="zh-CN" sz="2000" b="1" i="1" dirty="0">
                <a:solidFill>
                  <a:srgbClr val="FF0000"/>
                </a:solidFill>
                <a:latin typeface="+mn-lt"/>
                <a:ea typeface="+mn-ea"/>
              </a:rPr>
              <a:t>R</a:t>
            </a:r>
            <a:r>
              <a:rPr lang="en-US" altLang="zh-CN" sz="2000" b="1" baseline="-30000" dirty="0">
                <a:solidFill>
                  <a:srgbClr val="FF0000"/>
                </a:solidFill>
                <a:latin typeface="+mn-lt"/>
                <a:ea typeface="+mn-ea"/>
              </a:rPr>
              <a:t>o1</a:t>
            </a:r>
            <a:r>
              <a:rPr lang="en-US" altLang="zh-CN" sz="2000" b="1" dirty="0">
                <a:solidFill>
                  <a:srgbClr val="FF0000"/>
                </a:solidFill>
                <a:latin typeface="+mn-lt"/>
                <a:ea typeface="+mn-ea"/>
              </a:rPr>
              <a:t>//</a:t>
            </a:r>
            <a:r>
              <a:rPr lang="en-US" altLang="zh-CN" sz="2000" b="1" i="1" dirty="0">
                <a:solidFill>
                  <a:srgbClr val="FF0000"/>
                </a:solidFill>
                <a:latin typeface="+mn-lt"/>
                <a:ea typeface="+mn-ea"/>
              </a:rPr>
              <a:t>R</a:t>
            </a:r>
            <a:r>
              <a:rPr lang="en-US" altLang="zh-CN" sz="2000" b="1" baseline="-30000" dirty="0">
                <a:solidFill>
                  <a:srgbClr val="FF0000"/>
                </a:solidFill>
                <a:latin typeface="+mn-lt"/>
                <a:ea typeface="+mn-ea"/>
              </a:rPr>
              <a:t>i2</a:t>
            </a:r>
            <a:r>
              <a:rPr lang="en-US" altLang="zh-CN" sz="2000" b="1" dirty="0">
                <a:solidFill>
                  <a:srgbClr val="FF0000"/>
                </a:solidFill>
                <a:latin typeface="+mn-lt"/>
                <a:ea typeface="+mn-ea"/>
              </a:rPr>
              <a:t>)</a:t>
            </a:r>
            <a:r>
              <a:rPr lang="zh-CN" altLang="en-US" sz="2000" b="1" dirty="0">
                <a:solidFill>
                  <a:srgbClr val="FF0000"/>
                </a:solidFill>
                <a:latin typeface="+mn-lt"/>
                <a:ea typeface="+mn-ea"/>
                <a:cs typeface="Times New Roman" panose="02020603050405020304" pitchFamily="18" charset="0"/>
              </a:rPr>
              <a:t>，</a:t>
            </a:r>
            <a:r>
              <a:rPr lang="en-US" altLang="zh-CN" sz="2000" b="1" i="1" dirty="0">
                <a:solidFill>
                  <a:srgbClr val="FF0000"/>
                </a:solidFill>
                <a:latin typeface="+mn-lt"/>
                <a:ea typeface="+mn-ea"/>
              </a:rPr>
              <a:t>C </a:t>
            </a:r>
            <a:r>
              <a:rPr lang="en-US" altLang="zh-CN" sz="2000" b="1" dirty="0">
                <a:solidFill>
                  <a:srgbClr val="FF0000"/>
                </a:solidFill>
                <a:latin typeface="+mn-lt"/>
                <a:ea typeface="+mn-ea"/>
              </a:rPr>
              <a:t>&gt;&gt; </a:t>
            </a:r>
            <a:r>
              <a:rPr lang="en-US" altLang="zh-CN" sz="2000" b="1" i="1" dirty="0">
                <a:solidFill>
                  <a:srgbClr val="FF0000"/>
                </a:solidFill>
                <a:latin typeface="+mn-lt"/>
                <a:ea typeface="+mn-ea"/>
              </a:rPr>
              <a:t>C</a:t>
            </a:r>
            <a:r>
              <a:rPr lang="en-US" altLang="zh-CN" sz="2000" b="1" baseline="-30000" dirty="0">
                <a:solidFill>
                  <a:srgbClr val="FF0000"/>
                </a:solidFill>
                <a:latin typeface="+mn-lt"/>
                <a:ea typeface="+mn-ea"/>
              </a:rPr>
              <a:t>i2</a:t>
            </a:r>
            <a:r>
              <a:rPr lang="en-US" altLang="zh-CN" sz="2000" b="1" dirty="0">
                <a:solidFill>
                  <a:srgbClr val="FF0000"/>
                </a:solidFill>
                <a:latin typeface="+mn-lt"/>
                <a:ea typeface="+mn-ea"/>
              </a:rPr>
              <a:t> </a:t>
            </a:r>
            <a:endParaRPr lang="en-US" altLang="zh-CN" sz="2000" b="1" dirty="0">
              <a:solidFill>
                <a:srgbClr val="FF0000"/>
              </a:solidFill>
              <a:latin typeface="+mn-lt"/>
              <a:ea typeface="+mn-ea"/>
            </a:endParaRPr>
          </a:p>
        </p:txBody>
      </p:sp>
      <p:sp>
        <p:nvSpPr>
          <p:cNvPr id="6" name="Rectangle 78"/>
          <p:cNvSpPr>
            <a:spLocks noChangeArrowheads="1"/>
          </p:cNvSpPr>
          <p:nvPr/>
        </p:nvSpPr>
        <p:spPr bwMode="auto">
          <a:xfrm>
            <a:off x="6059004" y="2920108"/>
            <a:ext cx="393628"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dirty="0">
                <a:solidFill>
                  <a:srgbClr val="000000"/>
                </a:solidFill>
              </a:rPr>
              <a:t>(b)</a:t>
            </a:r>
            <a:endParaRPr lang="en-US" altLang="zh-CN" sz="1800" b="1" dirty="0"/>
          </a:p>
        </p:txBody>
      </p:sp>
      <p:grpSp>
        <p:nvGrpSpPr>
          <p:cNvPr id="7" name="组合 6"/>
          <p:cNvGrpSpPr/>
          <p:nvPr/>
        </p:nvGrpSpPr>
        <p:grpSpPr>
          <a:xfrm>
            <a:off x="5231227" y="1385360"/>
            <a:ext cx="530627" cy="1224000"/>
            <a:chOff x="5312507" y="460800"/>
            <a:chExt cx="530627" cy="1224000"/>
          </a:xfrm>
        </p:grpSpPr>
        <p:sp>
          <p:nvSpPr>
            <p:cNvPr id="8" name="Line 5"/>
            <p:cNvSpPr>
              <a:spLocks noChangeShapeType="1"/>
            </p:cNvSpPr>
            <p:nvPr/>
          </p:nvSpPr>
          <p:spPr bwMode="auto">
            <a:xfrm>
              <a:off x="5567208" y="1283175"/>
              <a:ext cx="275926" cy="0"/>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6"/>
            <p:cNvSpPr>
              <a:spLocks noChangeShapeType="1"/>
            </p:cNvSpPr>
            <p:nvPr/>
          </p:nvSpPr>
          <p:spPr bwMode="auto">
            <a:xfrm>
              <a:off x="5567208" y="1424851"/>
              <a:ext cx="275926" cy="0"/>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11"/>
            <p:cNvSpPr>
              <a:spLocks noChangeShapeType="1"/>
            </p:cNvSpPr>
            <p:nvPr/>
          </p:nvSpPr>
          <p:spPr bwMode="auto">
            <a:xfrm>
              <a:off x="5702400" y="1409931"/>
              <a:ext cx="0" cy="274328"/>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Rectangle 13"/>
            <p:cNvSpPr>
              <a:spLocks noChangeArrowheads="1"/>
            </p:cNvSpPr>
            <p:nvPr/>
          </p:nvSpPr>
          <p:spPr bwMode="auto">
            <a:xfrm>
              <a:off x="5320225" y="1169434"/>
              <a:ext cx="152434"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C</a:t>
              </a:r>
              <a:endParaRPr lang="en-US" altLang="zh-CN" sz="1800" b="1"/>
            </a:p>
          </p:txBody>
        </p:sp>
        <p:sp>
          <p:nvSpPr>
            <p:cNvPr id="12" name="Rectangle 21"/>
            <p:cNvSpPr>
              <a:spLocks noChangeArrowheads="1"/>
            </p:cNvSpPr>
            <p:nvPr/>
          </p:nvSpPr>
          <p:spPr bwMode="auto">
            <a:xfrm>
              <a:off x="5312507" y="684542"/>
              <a:ext cx="152434"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R</a:t>
              </a:r>
              <a:endParaRPr lang="en-US" altLang="zh-CN" sz="1800" b="1"/>
            </a:p>
          </p:txBody>
        </p:sp>
        <p:sp>
          <p:nvSpPr>
            <p:cNvPr id="13" name="椭圆 12"/>
            <p:cNvSpPr/>
            <p:nvPr/>
          </p:nvSpPr>
          <p:spPr>
            <a:xfrm>
              <a:off x="5670000" y="46080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670000" y="161280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Line 11"/>
            <p:cNvSpPr>
              <a:spLocks noChangeShapeType="1"/>
            </p:cNvSpPr>
            <p:nvPr/>
          </p:nvSpPr>
          <p:spPr bwMode="auto">
            <a:xfrm>
              <a:off x="5702400" y="520169"/>
              <a:ext cx="0" cy="763006"/>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Rectangle 14"/>
            <p:cNvSpPr>
              <a:spLocks noChangeArrowheads="1"/>
            </p:cNvSpPr>
            <p:nvPr/>
          </p:nvSpPr>
          <p:spPr bwMode="auto">
            <a:xfrm>
              <a:off x="5636671" y="706492"/>
              <a:ext cx="136998" cy="361175"/>
            </a:xfrm>
            <a:prstGeom prst="rect">
              <a:avLst/>
            </a:prstGeom>
            <a:solidFill>
              <a:schemeClr val="bg1"/>
            </a:solidFill>
            <a:ln w="19050" cap="rnd">
              <a:solidFill>
                <a:schemeClr val="accent1">
                  <a:lumMod val="75000"/>
                </a:schemeClr>
              </a:solidFill>
              <a:miter lim="800000"/>
            </a:ln>
          </p:spPr>
          <p:txBody>
            <a:bodyPr/>
            <a:lstStyle/>
            <a:p>
              <a:endParaRPr lang="zh-CN" altLang="en-US"/>
            </a:p>
          </p:txBody>
        </p:sp>
      </p:grpSp>
      <p:grpSp>
        <p:nvGrpSpPr>
          <p:cNvPr id="17" name="组合 16"/>
          <p:cNvGrpSpPr/>
          <p:nvPr/>
        </p:nvGrpSpPr>
        <p:grpSpPr>
          <a:xfrm>
            <a:off x="4125595" y="1192054"/>
            <a:ext cx="4092575" cy="1582181"/>
            <a:chOff x="4206875" y="267494"/>
            <a:chExt cx="4092575" cy="1582181"/>
          </a:xfrm>
        </p:grpSpPr>
        <p:sp>
          <p:nvSpPr>
            <p:cNvPr id="18" name="Line 9"/>
            <p:cNvSpPr>
              <a:spLocks noChangeShapeType="1"/>
            </p:cNvSpPr>
            <p:nvPr/>
          </p:nvSpPr>
          <p:spPr bwMode="auto">
            <a:xfrm>
              <a:off x="4446000" y="492979"/>
              <a:ext cx="33480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0"/>
            <p:cNvSpPr>
              <a:spLocks noChangeShapeType="1"/>
            </p:cNvSpPr>
            <p:nvPr/>
          </p:nvSpPr>
          <p:spPr bwMode="auto">
            <a:xfrm>
              <a:off x="4455787" y="1642354"/>
              <a:ext cx="3330403" cy="199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12"/>
            <p:cNvSpPr>
              <a:spLocks noChangeShapeType="1"/>
            </p:cNvSpPr>
            <p:nvPr/>
          </p:nvSpPr>
          <p:spPr bwMode="auto">
            <a:xfrm>
              <a:off x="6264000" y="1849675"/>
              <a:ext cx="27592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Rectangle 16"/>
            <p:cNvSpPr>
              <a:spLocks noChangeArrowheads="1"/>
            </p:cNvSpPr>
            <p:nvPr/>
          </p:nvSpPr>
          <p:spPr bwMode="auto">
            <a:xfrm>
              <a:off x="4872570" y="419148"/>
              <a:ext cx="347319" cy="143672"/>
            </a:xfrm>
            <a:prstGeom prst="rect">
              <a:avLst/>
            </a:prstGeom>
            <a:solidFill>
              <a:schemeClr val="bg1"/>
            </a:solidFill>
            <a:ln w="19050" cap="rnd">
              <a:solidFill>
                <a:srgbClr val="000000"/>
              </a:solidFill>
              <a:miter lim="800000"/>
            </a:ln>
          </p:spPr>
          <p:txBody>
            <a:bodyPr/>
            <a:lstStyle/>
            <a:p>
              <a:endParaRPr lang="zh-CN" altLang="en-US"/>
            </a:p>
          </p:txBody>
        </p:sp>
        <p:sp>
          <p:nvSpPr>
            <p:cNvPr id="22" name="Oval 18"/>
            <p:cNvSpPr>
              <a:spLocks noChangeArrowheads="1"/>
            </p:cNvSpPr>
            <p:nvPr/>
          </p:nvSpPr>
          <p:spPr bwMode="auto">
            <a:xfrm>
              <a:off x="4388253" y="455066"/>
              <a:ext cx="67534" cy="69841"/>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 name="Oval 19"/>
            <p:cNvSpPr>
              <a:spLocks noChangeArrowheads="1"/>
            </p:cNvSpPr>
            <p:nvPr/>
          </p:nvSpPr>
          <p:spPr bwMode="auto">
            <a:xfrm>
              <a:off x="4388253" y="1604441"/>
              <a:ext cx="67534" cy="69841"/>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 name="Rectangle 20"/>
            <p:cNvSpPr>
              <a:spLocks noChangeArrowheads="1"/>
            </p:cNvSpPr>
            <p:nvPr/>
          </p:nvSpPr>
          <p:spPr bwMode="auto">
            <a:xfrm>
              <a:off x="4830120" y="614701"/>
              <a:ext cx="453444"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R</a:t>
              </a:r>
              <a:r>
                <a:rPr lang="en-US" altLang="zh-CN" sz="1800" b="1" baseline="-25000">
                  <a:solidFill>
                    <a:srgbClr val="000000"/>
                  </a:solidFill>
                </a:rPr>
                <a:t>o1</a:t>
              </a:r>
              <a:endParaRPr lang="en-US" altLang="zh-CN" sz="1800" b="1"/>
            </a:p>
          </p:txBody>
        </p:sp>
        <p:sp>
          <p:nvSpPr>
            <p:cNvPr id="25" name="Oval 22"/>
            <p:cNvSpPr>
              <a:spLocks noChangeArrowheads="1"/>
            </p:cNvSpPr>
            <p:nvPr/>
          </p:nvSpPr>
          <p:spPr bwMode="auto">
            <a:xfrm>
              <a:off x="7786190" y="455066"/>
              <a:ext cx="67534" cy="69841"/>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Oval 23"/>
            <p:cNvSpPr>
              <a:spLocks noChangeArrowheads="1"/>
            </p:cNvSpPr>
            <p:nvPr/>
          </p:nvSpPr>
          <p:spPr bwMode="auto">
            <a:xfrm>
              <a:off x="7786190" y="1604441"/>
              <a:ext cx="67534" cy="69841"/>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Line 45"/>
            <p:cNvSpPr>
              <a:spLocks noChangeShapeType="1"/>
            </p:cNvSpPr>
            <p:nvPr/>
          </p:nvSpPr>
          <p:spPr bwMode="auto">
            <a:xfrm>
              <a:off x="6912000" y="995831"/>
              <a:ext cx="27785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46"/>
            <p:cNvSpPr>
              <a:spLocks noChangeShapeType="1"/>
            </p:cNvSpPr>
            <p:nvPr/>
          </p:nvSpPr>
          <p:spPr bwMode="auto">
            <a:xfrm>
              <a:off x="6912000" y="1139503"/>
              <a:ext cx="27785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Rectangle 51"/>
            <p:cNvSpPr>
              <a:spLocks noChangeArrowheads="1"/>
            </p:cNvSpPr>
            <p:nvPr/>
          </p:nvSpPr>
          <p:spPr bwMode="auto">
            <a:xfrm>
              <a:off x="4222311" y="291439"/>
              <a:ext cx="131209"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30" name="Rectangle 52"/>
            <p:cNvSpPr>
              <a:spLocks noChangeArrowheads="1"/>
            </p:cNvSpPr>
            <p:nvPr/>
          </p:nvSpPr>
          <p:spPr bwMode="auto">
            <a:xfrm>
              <a:off x="4251255" y="1410883"/>
              <a:ext cx="77182" cy="27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31" name="Rectangle 53"/>
            <p:cNvSpPr>
              <a:spLocks noChangeArrowheads="1"/>
            </p:cNvSpPr>
            <p:nvPr/>
          </p:nvSpPr>
          <p:spPr bwMode="auto">
            <a:xfrm>
              <a:off x="7946342" y="267494"/>
              <a:ext cx="131209"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32" name="Rectangle 54"/>
            <p:cNvSpPr>
              <a:spLocks noChangeArrowheads="1"/>
            </p:cNvSpPr>
            <p:nvPr/>
          </p:nvSpPr>
          <p:spPr bwMode="auto">
            <a:xfrm>
              <a:off x="7948272" y="1440815"/>
              <a:ext cx="77182"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33" name="Rectangle 81"/>
            <p:cNvSpPr>
              <a:spLocks noChangeArrowheads="1"/>
            </p:cNvSpPr>
            <p:nvPr/>
          </p:nvSpPr>
          <p:spPr bwMode="auto">
            <a:xfrm>
              <a:off x="4299493" y="682546"/>
              <a:ext cx="55957"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a:solidFill>
                    <a:srgbClr val="000000"/>
                  </a:solidFill>
                </a:rPr>
                <a:t>·</a:t>
              </a:r>
              <a:endParaRPr lang="en-US" altLang="zh-CN" sz="1800" b="1"/>
            </a:p>
          </p:txBody>
        </p:sp>
        <p:sp>
          <p:nvSpPr>
            <p:cNvPr id="34" name="Rectangle 82"/>
            <p:cNvSpPr>
              <a:spLocks noChangeArrowheads="1"/>
            </p:cNvSpPr>
            <p:nvPr/>
          </p:nvSpPr>
          <p:spPr bwMode="auto">
            <a:xfrm>
              <a:off x="4206875" y="866127"/>
              <a:ext cx="4630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dirty="0" smtClean="0">
                  <a:solidFill>
                    <a:srgbClr val="000000"/>
                  </a:solidFill>
                </a:rPr>
                <a:t>Uꞌ</a:t>
              </a:r>
              <a:r>
                <a:rPr lang="en-US" altLang="zh-CN" sz="1800" b="1" baseline="-25000" dirty="0" smtClean="0">
                  <a:solidFill>
                    <a:srgbClr val="000000"/>
                  </a:solidFill>
                </a:rPr>
                <a:t>o1</a:t>
              </a:r>
              <a:endParaRPr lang="en-US" altLang="zh-CN" sz="1800" b="1" dirty="0"/>
            </a:p>
          </p:txBody>
        </p:sp>
        <p:sp>
          <p:nvSpPr>
            <p:cNvPr id="35" name="Rectangle 83"/>
            <p:cNvSpPr>
              <a:spLocks noChangeArrowheads="1"/>
            </p:cNvSpPr>
            <p:nvPr/>
          </p:nvSpPr>
          <p:spPr bwMode="auto">
            <a:xfrm>
              <a:off x="7944413" y="674564"/>
              <a:ext cx="55957" cy="27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a:solidFill>
                    <a:srgbClr val="000000"/>
                  </a:solidFill>
                </a:rPr>
                <a:t>·</a:t>
              </a:r>
              <a:endParaRPr lang="en-US" altLang="zh-CN" sz="1800" b="1"/>
            </a:p>
          </p:txBody>
        </p:sp>
        <p:sp>
          <p:nvSpPr>
            <p:cNvPr id="36" name="Rectangle 84"/>
            <p:cNvSpPr>
              <a:spLocks noChangeArrowheads="1"/>
            </p:cNvSpPr>
            <p:nvPr/>
          </p:nvSpPr>
          <p:spPr bwMode="auto">
            <a:xfrm>
              <a:off x="7840217" y="858145"/>
              <a:ext cx="459233" cy="27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U</a:t>
              </a:r>
              <a:r>
                <a:rPr lang="en-US" altLang="zh-CN" sz="1800" b="1" baseline="-25000">
                  <a:solidFill>
                    <a:srgbClr val="000000"/>
                  </a:solidFill>
                </a:rPr>
                <a:t>2</a:t>
              </a:r>
              <a:endParaRPr lang="en-US" altLang="zh-CN" sz="1800" b="1"/>
            </a:p>
          </p:txBody>
        </p:sp>
        <p:sp>
          <p:nvSpPr>
            <p:cNvPr id="37" name="Rectangle 85"/>
            <p:cNvSpPr>
              <a:spLocks noChangeArrowheads="1"/>
            </p:cNvSpPr>
            <p:nvPr/>
          </p:nvSpPr>
          <p:spPr bwMode="auto">
            <a:xfrm>
              <a:off x="6489532" y="890072"/>
              <a:ext cx="380121" cy="27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R</a:t>
              </a:r>
              <a:r>
                <a:rPr lang="en-US" altLang="zh-CN" sz="1800" b="1" baseline="-25000">
                  <a:solidFill>
                    <a:srgbClr val="000000"/>
                  </a:solidFill>
                </a:rPr>
                <a:t>i2</a:t>
              </a:r>
              <a:endParaRPr lang="en-US" altLang="zh-CN" sz="1800" b="1"/>
            </a:p>
          </p:txBody>
        </p:sp>
        <p:sp>
          <p:nvSpPr>
            <p:cNvPr id="38" name="Rectangle 86"/>
            <p:cNvSpPr>
              <a:spLocks noChangeArrowheads="1"/>
            </p:cNvSpPr>
            <p:nvPr/>
          </p:nvSpPr>
          <p:spPr bwMode="auto">
            <a:xfrm>
              <a:off x="7265211" y="866127"/>
              <a:ext cx="395558" cy="27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C</a:t>
              </a:r>
              <a:r>
                <a:rPr lang="en-US" altLang="zh-CN" sz="1800" b="1" baseline="-25000">
                  <a:solidFill>
                    <a:srgbClr val="000000"/>
                  </a:solidFill>
                </a:rPr>
                <a:t>i2</a:t>
              </a:r>
              <a:endParaRPr lang="en-US" altLang="zh-CN" sz="1800" b="1"/>
            </a:p>
          </p:txBody>
        </p:sp>
        <p:sp>
          <p:nvSpPr>
            <p:cNvPr id="39" name="Line 11"/>
            <p:cNvSpPr>
              <a:spLocks noChangeShapeType="1"/>
            </p:cNvSpPr>
            <p:nvPr/>
          </p:nvSpPr>
          <p:spPr bwMode="auto">
            <a:xfrm>
              <a:off x="6398843" y="483517"/>
              <a:ext cx="0" cy="136615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Rectangle 42"/>
            <p:cNvSpPr>
              <a:spLocks noChangeArrowheads="1"/>
            </p:cNvSpPr>
            <p:nvPr/>
          </p:nvSpPr>
          <p:spPr bwMode="auto">
            <a:xfrm>
              <a:off x="6331309" y="923995"/>
              <a:ext cx="135068" cy="359180"/>
            </a:xfrm>
            <a:prstGeom prst="rect">
              <a:avLst/>
            </a:prstGeom>
            <a:solidFill>
              <a:schemeClr val="bg1"/>
            </a:solidFill>
            <a:ln w="19050" cap="rnd">
              <a:solidFill>
                <a:srgbClr val="000000"/>
              </a:solidFill>
              <a:miter lim="800000"/>
            </a:ln>
          </p:spPr>
          <p:txBody>
            <a:bodyPr/>
            <a:lstStyle/>
            <a:p>
              <a:endParaRPr lang="zh-CN" altLang="en-US"/>
            </a:p>
          </p:txBody>
        </p:sp>
        <p:sp>
          <p:nvSpPr>
            <p:cNvPr id="41" name="椭圆 40"/>
            <p:cNvSpPr/>
            <p:nvPr/>
          </p:nvSpPr>
          <p:spPr>
            <a:xfrm>
              <a:off x="6372208" y="46080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6372208" y="161280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7020280" y="454297"/>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7020280" y="1606297"/>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Line 11"/>
            <p:cNvSpPr>
              <a:spLocks noChangeShapeType="1"/>
            </p:cNvSpPr>
            <p:nvPr/>
          </p:nvSpPr>
          <p:spPr bwMode="auto">
            <a:xfrm>
              <a:off x="7051923" y="485514"/>
              <a:ext cx="0" cy="5090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11"/>
            <p:cNvSpPr>
              <a:spLocks noChangeShapeType="1"/>
            </p:cNvSpPr>
            <p:nvPr/>
          </p:nvSpPr>
          <p:spPr bwMode="auto">
            <a:xfrm>
              <a:off x="7051923" y="1131590"/>
              <a:ext cx="0" cy="5090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7" name="组合 46"/>
          <p:cNvGrpSpPr/>
          <p:nvPr/>
        </p:nvGrpSpPr>
        <p:grpSpPr>
          <a:xfrm>
            <a:off x="1710213" y="1857926"/>
            <a:ext cx="476251" cy="943853"/>
            <a:chOff x="1712913" y="933366"/>
            <a:chExt cx="476251" cy="943853"/>
          </a:xfrm>
        </p:grpSpPr>
        <p:sp>
          <p:nvSpPr>
            <p:cNvPr id="48" name="Line 31"/>
            <p:cNvSpPr>
              <a:spLocks noChangeShapeType="1"/>
            </p:cNvSpPr>
            <p:nvPr/>
          </p:nvSpPr>
          <p:spPr bwMode="auto">
            <a:xfrm>
              <a:off x="1962151" y="1589881"/>
              <a:ext cx="227013" cy="0"/>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Line 32"/>
            <p:cNvSpPr>
              <a:spLocks noChangeShapeType="1"/>
            </p:cNvSpPr>
            <p:nvPr/>
          </p:nvSpPr>
          <p:spPr bwMode="auto">
            <a:xfrm>
              <a:off x="1962151" y="1704181"/>
              <a:ext cx="227013" cy="0"/>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Line 33"/>
            <p:cNvSpPr>
              <a:spLocks noChangeShapeType="1"/>
            </p:cNvSpPr>
            <p:nvPr/>
          </p:nvSpPr>
          <p:spPr bwMode="auto">
            <a:xfrm flipV="1">
              <a:off x="2076451" y="1704181"/>
              <a:ext cx="0" cy="173038"/>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 name="Line 35"/>
            <p:cNvSpPr>
              <a:spLocks noChangeShapeType="1"/>
            </p:cNvSpPr>
            <p:nvPr/>
          </p:nvSpPr>
          <p:spPr bwMode="auto">
            <a:xfrm>
              <a:off x="1962151" y="1877219"/>
              <a:ext cx="227013" cy="0"/>
            </a:xfrm>
            <a:prstGeom prst="line">
              <a:avLst/>
            </a:prstGeom>
            <a:noFill/>
            <a:ln w="2540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 name="Rectangle 36"/>
            <p:cNvSpPr>
              <a:spLocks noChangeArrowheads="1"/>
            </p:cNvSpPr>
            <p:nvPr/>
          </p:nvSpPr>
          <p:spPr bwMode="auto">
            <a:xfrm>
              <a:off x="1712913" y="1483519"/>
              <a:ext cx="1285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Lst>
          </p:spPr>
          <p:txBody>
            <a:bodyPr lIns="0" tIns="0" rIns="0" bIns="0">
              <a:spAutoFit/>
            </a:bodyPr>
            <a:lstStyle/>
            <a:p>
              <a:pPr algn="just"/>
              <a:r>
                <a:rPr lang="en-US" altLang="zh-CN" sz="1800" b="1" i="1">
                  <a:solidFill>
                    <a:srgbClr val="000000"/>
                  </a:solidFill>
                </a:rPr>
                <a:t>C</a:t>
              </a:r>
              <a:endParaRPr lang="en-US" altLang="zh-CN" sz="1800" b="1"/>
            </a:p>
          </p:txBody>
        </p:sp>
        <p:sp>
          <p:nvSpPr>
            <p:cNvPr id="53" name="Line 38"/>
            <p:cNvSpPr>
              <a:spLocks noChangeShapeType="1"/>
            </p:cNvSpPr>
            <p:nvPr/>
          </p:nvSpPr>
          <p:spPr bwMode="auto">
            <a:xfrm flipV="1">
              <a:off x="2076451" y="951638"/>
              <a:ext cx="0" cy="626400"/>
            </a:xfrm>
            <a:prstGeom prst="line">
              <a:avLst/>
            </a:prstGeom>
            <a:noFill/>
            <a:ln w="19050">
              <a:solidFill>
                <a:schemeClr va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 name="Rectangle 39"/>
            <p:cNvSpPr>
              <a:spLocks noChangeArrowheads="1"/>
            </p:cNvSpPr>
            <p:nvPr/>
          </p:nvSpPr>
          <p:spPr bwMode="auto">
            <a:xfrm>
              <a:off x="1757363" y="1096169"/>
              <a:ext cx="1381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Lst>
          </p:spPr>
          <p:txBody>
            <a:bodyPr lIns="0" tIns="0" rIns="0" bIns="0">
              <a:spAutoFit/>
            </a:bodyPr>
            <a:lstStyle/>
            <a:p>
              <a:pPr algn="just"/>
              <a:r>
                <a:rPr lang="en-US" altLang="zh-CN" sz="1800" b="1" i="1">
                  <a:solidFill>
                    <a:srgbClr val="000000"/>
                  </a:solidFill>
                </a:rPr>
                <a:t>R</a:t>
              </a:r>
              <a:endParaRPr lang="en-US" altLang="zh-CN" sz="1800" b="1"/>
            </a:p>
          </p:txBody>
        </p:sp>
        <p:sp>
          <p:nvSpPr>
            <p:cNvPr id="55" name="Rectangle 37"/>
            <p:cNvSpPr>
              <a:spLocks noChangeArrowheads="1"/>
            </p:cNvSpPr>
            <p:nvPr/>
          </p:nvSpPr>
          <p:spPr bwMode="auto">
            <a:xfrm>
              <a:off x="2019301" y="1132681"/>
              <a:ext cx="112713" cy="287338"/>
            </a:xfrm>
            <a:prstGeom prst="rect">
              <a:avLst/>
            </a:prstGeom>
            <a:solidFill>
              <a:schemeClr val="bg1"/>
            </a:solidFill>
            <a:ln w="19050" cap="rnd">
              <a:solidFill>
                <a:schemeClr val="hlink"/>
              </a:solidFill>
              <a:miter lim="800000"/>
            </a:ln>
          </p:spPr>
          <p:txBody>
            <a:bodyPr/>
            <a:lstStyle/>
            <a:p>
              <a:endParaRPr lang="zh-CN" altLang="en-US"/>
            </a:p>
          </p:txBody>
        </p:sp>
        <p:sp>
          <p:nvSpPr>
            <p:cNvPr id="56" name="椭圆 55"/>
            <p:cNvSpPr/>
            <p:nvPr/>
          </p:nvSpPr>
          <p:spPr>
            <a:xfrm>
              <a:off x="2046798" y="933366"/>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4981083" y="3690779"/>
            <a:ext cx="2894013" cy="2098675"/>
            <a:chOff x="4140200" y="2766219"/>
            <a:chExt cx="2894013" cy="2098675"/>
          </a:xfrm>
        </p:grpSpPr>
        <p:sp>
          <p:nvSpPr>
            <p:cNvPr id="58" name="Rectangle 50"/>
            <p:cNvSpPr>
              <a:spLocks noChangeArrowheads="1"/>
            </p:cNvSpPr>
            <p:nvPr/>
          </p:nvSpPr>
          <p:spPr bwMode="auto">
            <a:xfrm>
              <a:off x="4349703" y="3318391"/>
              <a:ext cx="222297" cy="27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800" b="1" dirty="0">
                  <a:solidFill>
                    <a:srgbClr val="000000"/>
                  </a:solidFill>
                </a:rPr>
                <a:t>′</a:t>
              </a:r>
              <a:endParaRPr lang="en-US" altLang="zh-CN" sz="1800" b="1" dirty="0"/>
            </a:p>
          </p:txBody>
        </p:sp>
        <p:sp>
          <p:nvSpPr>
            <p:cNvPr id="59" name="Line 55"/>
            <p:cNvSpPr>
              <a:spLocks noChangeShapeType="1"/>
            </p:cNvSpPr>
            <p:nvPr/>
          </p:nvSpPr>
          <p:spPr bwMode="auto">
            <a:xfrm>
              <a:off x="5685890" y="3834597"/>
              <a:ext cx="299166" cy="2116"/>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56"/>
            <p:cNvSpPr>
              <a:spLocks noChangeShapeType="1"/>
            </p:cNvSpPr>
            <p:nvPr/>
          </p:nvSpPr>
          <p:spPr bwMode="auto">
            <a:xfrm>
              <a:off x="5685890" y="3986920"/>
              <a:ext cx="299166" cy="0"/>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59"/>
            <p:cNvSpPr>
              <a:spLocks noChangeShapeType="1"/>
            </p:cNvSpPr>
            <p:nvPr/>
          </p:nvSpPr>
          <p:spPr bwMode="auto">
            <a:xfrm>
              <a:off x="5314010" y="2994704"/>
              <a:ext cx="134416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60"/>
            <p:cNvSpPr>
              <a:spLocks noChangeShapeType="1"/>
            </p:cNvSpPr>
            <p:nvPr/>
          </p:nvSpPr>
          <p:spPr bwMode="auto">
            <a:xfrm>
              <a:off x="4491304" y="4217520"/>
              <a:ext cx="216687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62"/>
            <p:cNvSpPr>
              <a:spLocks noChangeShapeType="1"/>
            </p:cNvSpPr>
            <p:nvPr/>
          </p:nvSpPr>
          <p:spPr bwMode="auto">
            <a:xfrm>
              <a:off x="5685890" y="4428000"/>
              <a:ext cx="29916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Rectangle 63"/>
            <p:cNvSpPr>
              <a:spLocks noChangeArrowheads="1"/>
            </p:cNvSpPr>
            <p:nvPr/>
          </p:nvSpPr>
          <p:spPr bwMode="auto">
            <a:xfrm>
              <a:off x="5438662" y="3692852"/>
              <a:ext cx="151660"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C</a:t>
              </a:r>
              <a:endParaRPr lang="en-US" altLang="zh-CN" sz="1800" b="1"/>
            </a:p>
          </p:txBody>
        </p:sp>
        <p:sp>
          <p:nvSpPr>
            <p:cNvPr id="65" name="Rectangle 64"/>
            <p:cNvSpPr>
              <a:spLocks noChangeArrowheads="1"/>
            </p:cNvSpPr>
            <p:nvPr/>
          </p:nvSpPr>
          <p:spPr bwMode="auto">
            <a:xfrm>
              <a:off x="5760681" y="3225304"/>
              <a:ext cx="147505" cy="380808"/>
            </a:xfrm>
            <a:prstGeom prst="rect">
              <a:avLst/>
            </a:prstGeom>
            <a:noFill/>
            <a:ln w="19050" cap="rnd">
              <a:solidFill>
                <a:schemeClr val="accent1">
                  <a:lumMod val="75000"/>
                </a:schemeClr>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Line 65"/>
            <p:cNvSpPr>
              <a:spLocks noChangeShapeType="1"/>
            </p:cNvSpPr>
            <p:nvPr/>
          </p:nvSpPr>
          <p:spPr bwMode="auto">
            <a:xfrm flipV="1">
              <a:off x="5834433" y="3606112"/>
              <a:ext cx="0" cy="230600"/>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Rectangle 66"/>
            <p:cNvSpPr>
              <a:spLocks noChangeArrowheads="1"/>
            </p:cNvSpPr>
            <p:nvPr/>
          </p:nvSpPr>
          <p:spPr bwMode="auto">
            <a:xfrm>
              <a:off x="4937975" y="2918542"/>
              <a:ext cx="376035" cy="152323"/>
            </a:xfrm>
            <a:prstGeom prst="rect">
              <a:avLst/>
            </a:prstGeom>
            <a:noFill/>
            <a:ln w="19050" cap="rnd">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 name="Line 67"/>
            <p:cNvSpPr>
              <a:spLocks noChangeShapeType="1"/>
            </p:cNvSpPr>
            <p:nvPr/>
          </p:nvSpPr>
          <p:spPr bwMode="auto">
            <a:xfrm>
              <a:off x="4491304" y="2990473"/>
              <a:ext cx="446671"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Oval 68"/>
            <p:cNvSpPr>
              <a:spLocks noChangeArrowheads="1"/>
            </p:cNvSpPr>
            <p:nvPr/>
          </p:nvSpPr>
          <p:spPr bwMode="auto">
            <a:xfrm>
              <a:off x="4418590" y="2956623"/>
              <a:ext cx="72714" cy="74046"/>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 name="Oval 69"/>
            <p:cNvSpPr>
              <a:spLocks noChangeArrowheads="1"/>
            </p:cNvSpPr>
            <p:nvPr/>
          </p:nvSpPr>
          <p:spPr bwMode="auto">
            <a:xfrm>
              <a:off x="4418590" y="4175208"/>
              <a:ext cx="72714" cy="74046"/>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 name="Rectangle 70"/>
            <p:cNvSpPr>
              <a:spLocks noChangeArrowheads="1"/>
            </p:cNvSpPr>
            <p:nvPr/>
          </p:nvSpPr>
          <p:spPr bwMode="auto">
            <a:xfrm>
              <a:off x="5434507" y="3170299"/>
              <a:ext cx="151660"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R</a:t>
              </a:r>
              <a:endParaRPr lang="en-US" altLang="zh-CN" sz="1800" b="1"/>
            </a:p>
          </p:txBody>
        </p:sp>
        <p:sp>
          <p:nvSpPr>
            <p:cNvPr id="72" name="Oval 71"/>
            <p:cNvSpPr>
              <a:spLocks noChangeArrowheads="1"/>
            </p:cNvSpPr>
            <p:nvPr/>
          </p:nvSpPr>
          <p:spPr bwMode="auto">
            <a:xfrm>
              <a:off x="6662333" y="2956623"/>
              <a:ext cx="72714" cy="74046"/>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Oval 72"/>
            <p:cNvSpPr>
              <a:spLocks noChangeArrowheads="1"/>
            </p:cNvSpPr>
            <p:nvPr/>
          </p:nvSpPr>
          <p:spPr bwMode="auto">
            <a:xfrm>
              <a:off x="6662333" y="4175208"/>
              <a:ext cx="72714" cy="74046"/>
            </a:xfrm>
            <a:prstGeom prst="ellipse">
              <a:avLst/>
            </a:prstGeom>
            <a:noFill/>
            <a:ln w="5080"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 name="Rectangle 73"/>
            <p:cNvSpPr>
              <a:spLocks noChangeArrowheads="1"/>
            </p:cNvSpPr>
            <p:nvPr/>
          </p:nvSpPr>
          <p:spPr bwMode="auto">
            <a:xfrm>
              <a:off x="4187983" y="2766219"/>
              <a:ext cx="130885"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75" name="Rectangle 74"/>
            <p:cNvSpPr>
              <a:spLocks noChangeArrowheads="1"/>
            </p:cNvSpPr>
            <p:nvPr/>
          </p:nvSpPr>
          <p:spPr bwMode="auto">
            <a:xfrm>
              <a:off x="4217069" y="3993267"/>
              <a:ext cx="74791"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76" name="Rectangle 75"/>
            <p:cNvSpPr>
              <a:spLocks noChangeArrowheads="1"/>
            </p:cNvSpPr>
            <p:nvPr/>
          </p:nvSpPr>
          <p:spPr bwMode="auto">
            <a:xfrm>
              <a:off x="6820226" y="2768335"/>
              <a:ext cx="130885"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77" name="Rectangle 76"/>
            <p:cNvSpPr>
              <a:spLocks noChangeArrowheads="1"/>
            </p:cNvSpPr>
            <p:nvPr/>
          </p:nvSpPr>
          <p:spPr bwMode="auto">
            <a:xfrm>
              <a:off x="6843079" y="3972111"/>
              <a:ext cx="76869"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i="1">
                  <a:solidFill>
                    <a:srgbClr val="000000"/>
                  </a:solidFill>
                </a:rPr>
                <a:t>-</a:t>
              </a:r>
              <a:endParaRPr lang="en-US" altLang="zh-CN" sz="1800" b="1"/>
            </a:p>
          </p:txBody>
        </p:sp>
        <p:sp>
          <p:nvSpPr>
            <p:cNvPr id="78" name="Rectangle 79"/>
            <p:cNvSpPr>
              <a:spLocks noChangeArrowheads="1"/>
            </p:cNvSpPr>
            <p:nvPr/>
          </p:nvSpPr>
          <p:spPr bwMode="auto">
            <a:xfrm>
              <a:off x="5679657" y="4589866"/>
              <a:ext cx="448749"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a:solidFill>
                    <a:srgbClr val="000000"/>
                  </a:solidFill>
                </a:rPr>
                <a:t>(c)</a:t>
              </a:r>
              <a:endParaRPr lang="en-US" altLang="zh-CN" sz="1800" b="1"/>
            </a:p>
          </p:txBody>
        </p:sp>
        <p:sp>
          <p:nvSpPr>
            <p:cNvPr id="79" name="Rectangle 87"/>
            <p:cNvSpPr>
              <a:spLocks noChangeArrowheads="1"/>
            </p:cNvSpPr>
            <p:nvPr/>
          </p:nvSpPr>
          <p:spPr bwMode="auto">
            <a:xfrm>
              <a:off x="4211960" y="3195686"/>
              <a:ext cx="58171"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dirty="0">
                  <a:solidFill>
                    <a:srgbClr val="000000"/>
                  </a:solidFill>
                </a:rPr>
                <a:t>·</a:t>
              </a:r>
              <a:endParaRPr lang="en-US" altLang="zh-CN" sz="1800" b="1" dirty="0"/>
            </a:p>
          </p:txBody>
        </p:sp>
        <p:sp>
          <p:nvSpPr>
            <p:cNvPr id="80" name="Rectangle 88"/>
            <p:cNvSpPr>
              <a:spLocks noChangeArrowheads="1"/>
            </p:cNvSpPr>
            <p:nvPr/>
          </p:nvSpPr>
          <p:spPr bwMode="auto">
            <a:xfrm>
              <a:off x="4140200" y="3379743"/>
              <a:ext cx="525618" cy="27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U</a:t>
              </a:r>
              <a:r>
                <a:rPr lang="en-US" altLang="zh-CN" sz="1800" b="1" baseline="-25000">
                  <a:solidFill>
                    <a:srgbClr val="000000"/>
                  </a:solidFill>
                </a:rPr>
                <a:t>o1</a:t>
              </a:r>
              <a:endParaRPr lang="en-US" altLang="zh-CN" sz="1800" b="1"/>
            </a:p>
          </p:txBody>
        </p:sp>
        <p:sp>
          <p:nvSpPr>
            <p:cNvPr id="81" name="Rectangle 89"/>
            <p:cNvSpPr>
              <a:spLocks noChangeArrowheads="1"/>
            </p:cNvSpPr>
            <p:nvPr/>
          </p:nvSpPr>
          <p:spPr bwMode="auto">
            <a:xfrm>
              <a:off x="6799451" y="3271847"/>
              <a:ext cx="56094"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a:solidFill>
                    <a:srgbClr val="000000"/>
                  </a:solidFill>
                </a:rPr>
                <a:t>·</a:t>
              </a:r>
              <a:endParaRPr lang="en-US" altLang="zh-CN" sz="1800" b="1"/>
            </a:p>
          </p:txBody>
        </p:sp>
        <p:sp>
          <p:nvSpPr>
            <p:cNvPr id="82" name="Rectangle 90"/>
            <p:cNvSpPr>
              <a:spLocks noChangeArrowheads="1"/>
            </p:cNvSpPr>
            <p:nvPr/>
          </p:nvSpPr>
          <p:spPr bwMode="auto">
            <a:xfrm>
              <a:off x="6716349" y="3451673"/>
              <a:ext cx="317864"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U</a:t>
              </a:r>
              <a:r>
                <a:rPr lang="en-US" altLang="zh-CN" sz="1800" b="1" baseline="-25000">
                  <a:solidFill>
                    <a:srgbClr val="000000"/>
                  </a:solidFill>
                </a:rPr>
                <a:t>2</a:t>
              </a:r>
              <a:endParaRPr lang="en-US" altLang="zh-CN" sz="1800" b="1"/>
            </a:p>
          </p:txBody>
        </p:sp>
        <p:sp>
          <p:nvSpPr>
            <p:cNvPr id="83" name="Rectangle 91"/>
            <p:cNvSpPr>
              <a:spLocks noChangeArrowheads="1"/>
            </p:cNvSpPr>
            <p:nvPr/>
          </p:nvSpPr>
          <p:spPr bwMode="auto">
            <a:xfrm>
              <a:off x="4740609" y="3160818"/>
              <a:ext cx="440438" cy="27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dirty="0">
                  <a:solidFill>
                    <a:srgbClr val="000000"/>
                  </a:solidFill>
                </a:rPr>
                <a:t>R</a:t>
              </a:r>
              <a:r>
                <a:rPr lang="en-US" altLang="zh-CN" sz="1800" b="1" baseline="-25000" dirty="0">
                  <a:solidFill>
                    <a:srgbClr val="000000"/>
                  </a:solidFill>
                </a:rPr>
                <a:t>o1</a:t>
              </a:r>
              <a:endParaRPr lang="en-US" altLang="zh-CN" sz="1800" b="1" dirty="0"/>
            </a:p>
          </p:txBody>
        </p:sp>
        <p:sp>
          <p:nvSpPr>
            <p:cNvPr id="84" name="Rectangle 92"/>
            <p:cNvSpPr>
              <a:spLocks noChangeArrowheads="1"/>
            </p:cNvSpPr>
            <p:nvPr/>
          </p:nvSpPr>
          <p:spPr bwMode="auto">
            <a:xfrm>
              <a:off x="4932040" y="3156587"/>
              <a:ext cx="222297" cy="279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800" b="1" dirty="0">
                  <a:solidFill>
                    <a:srgbClr val="000000"/>
                  </a:solidFill>
                </a:rPr>
                <a:t>′</a:t>
              </a:r>
              <a:endParaRPr lang="en-US" altLang="zh-CN" sz="1800" b="1" dirty="0"/>
            </a:p>
          </p:txBody>
        </p:sp>
        <p:sp>
          <p:nvSpPr>
            <p:cNvPr id="85" name="Line 65"/>
            <p:cNvSpPr>
              <a:spLocks noChangeShapeType="1"/>
            </p:cNvSpPr>
            <p:nvPr/>
          </p:nvSpPr>
          <p:spPr bwMode="auto">
            <a:xfrm flipV="1">
              <a:off x="5834433" y="3003798"/>
              <a:ext cx="0" cy="230600"/>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Line 65"/>
            <p:cNvSpPr>
              <a:spLocks noChangeShapeType="1"/>
            </p:cNvSpPr>
            <p:nvPr/>
          </p:nvSpPr>
          <p:spPr bwMode="auto">
            <a:xfrm flipV="1">
              <a:off x="5834433" y="3994325"/>
              <a:ext cx="0" cy="217675"/>
            </a:xfrm>
            <a:prstGeom prst="line">
              <a:avLst/>
            </a:prstGeom>
            <a:noFill/>
            <a:ln w="19050">
              <a:solidFill>
                <a:schemeClr val="accent1">
                  <a:lumMod val="75000"/>
                </a:schemeClr>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椭圆 86"/>
            <p:cNvSpPr/>
            <p:nvPr/>
          </p:nvSpPr>
          <p:spPr>
            <a:xfrm>
              <a:off x="5796000" y="2960805"/>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5796000" y="4176000"/>
              <a:ext cx="72000" cy="72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Line 65"/>
            <p:cNvSpPr>
              <a:spLocks noChangeShapeType="1"/>
            </p:cNvSpPr>
            <p:nvPr/>
          </p:nvSpPr>
          <p:spPr bwMode="auto">
            <a:xfrm flipV="1">
              <a:off x="5834433" y="4247139"/>
              <a:ext cx="0" cy="18000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90" name="Object 2"/>
          <p:cNvGraphicFramePr>
            <a:graphicFrameLocks noChangeAspect="1"/>
          </p:cNvGraphicFramePr>
          <p:nvPr/>
        </p:nvGraphicFramePr>
        <p:xfrm>
          <a:off x="241658" y="3496310"/>
          <a:ext cx="4549140" cy="1508760"/>
        </p:xfrm>
        <a:graphic>
          <a:graphicData uri="http://schemas.openxmlformats.org/presentationml/2006/ole">
            <mc:AlternateContent xmlns:mc="http://schemas.openxmlformats.org/markup-compatibility/2006">
              <mc:Choice xmlns:v="urn:schemas-microsoft-com:vml" Requires="v">
                <p:oleObj spid="_x0000_s110627" name="Equation" r:id="rId1" imgW="2527300" imgH="838200" progId="Equation.DSMT4">
                  <p:embed/>
                </p:oleObj>
              </mc:Choice>
              <mc:Fallback>
                <p:oleObj name="Equation" r:id="rId1" imgW="2527300" imgH="838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58" y="3496310"/>
                        <a:ext cx="4549140" cy="1508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 name="Object 7"/>
          <p:cNvGraphicFramePr>
            <a:graphicFrameLocks noChangeAspect="1"/>
          </p:cNvGraphicFramePr>
          <p:nvPr/>
        </p:nvGraphicFramePr>
        <p:xfrm>
          <a:off x="2762528" y="2992254"/>
          <a:ext cx="1348155" cy="708352"/>
        </p:xfrm>
        <a:graphic>
          <a:graphicData uri="http://schemas.openxmlformats.org/presentationml/2006/ole">
            <mc:AlternateContent xmlns:mc="http://schemas.openxmlformats.org/markup-compatibility/2006">
              <mc:Choice xmlns:v="urn:schemas-microsoft-com:vml" Requires="v">
                <p:oleObj spid="_x0000_s110628" name="Equation" r:id="rId3" imgW="1003300" imgH="520700" progId="Equation.DSMT4">
                  <p:embed/>
                </p:oleObj>
              </mc:Choice>
              <mc:Fallback>
                <p:oleObj name="Equation" r:id="rId3" imgW="1003300" imgH="5207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528" y="2992254"/>
                        <a:ext cx="1348155" cy="708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 name="Object 5"/>
          <p:cNvGraphicFramePr>
            <a:graphicFrameLocks noChangeAspect="1"/>
          </p:cNvGraphicFramePr>
          <p:nvPr/>
        </p:nvGraphicFramePr>
        <p:xfrm>
          <a:off x="2610480" y="4648438"/>
          <a:ext cx="2240280" cy="777240"/>
        </p:xfrm>
        <a:graphic>
          <a:graphicData uri="http://schemas.openxmlformats.org/presentationml/2006/ole">
            <mc:AlternateContent xmlns:mc="http://schemas.openxmlformats.org/markup-compatibility/2006">
              <mc:Choice xmlns:v="urn:schemas-microsoft-com:vml" Requires="v">
                <p:oleObj spid="_x0000_s110629" name="Equation" r:id="rId5" imgW="1663700" imgH="571500" progId="Equation.DSMT4">
                  <p:embed/>
                </p:oleObj>
              </mc:Choice>
              <mc:Fallback>
                <p:oleObj name="Equation" r:id="rId5" imgW="1663700" imgH="5715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0480" y="4648438"/>
                        <a:ext cx="2240280" cy="777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3" name="组合 92"/>
          <p:cNvGrpSpPr/>
          <p:nvPr/>
        </p:nvGrpSpPr>
        <p:grpSpPr>
          <a:xfrm>
            <a:off x="594183" y="1326991"/>
            <a:ext cx="2692100" cy="1076325"/>
            <a:chOff x="675463" y="402431"/>
            <a:chExt cx="2692100" cy="1076325"/>
          </a:xfrm>
        </p:grpSpPr>
        <p:sp>
          <p:nvSpPr>
            <p:cNvPr id="94" name="Line 26"/>
            <p:cNvSpPr>
              <a:spLocks noChangeShapeType="1"/>
            </p:cNvSpPr>
            <p:nvPr/>
          </p:nvSpPr>
          <p:spPr bwMode="auto">
            <a:xfrm>
              <a:off x="1782000" y="962819"/>
              <a:ext cx="6840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Line 27"/>
            <p:cNvSpPr>
              <a:spLocks noChangeShapeType="1"/>
            </p:cNvSpPr>
            <p:nvPr/>
          </p:nvSpPr>
          <p:spPr bwMode="auto">
            <a:xfrm>
              <a:off x="820738" y="992981"/>
              <a:ext cx="36000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Oval 28"/>
            <p:cNvSpPr>
              <a:spLocks noChangeArrowheads="1"/>
            </p:cNvSpPr>
            <p:nvPr/>
          </p:nvSpPr>
          <p:spPr bwMode="auto">
            <a:xfrm>
              <a:off x="765175" y="964406"/>
              <a:ext cx="55563" cy="55563"/>
            </a:xfrm>
            <a:prstGeom prst="ellipse">
              <a:avLst/>
            </a:prstGeom>
            <a:noFill/>
            <a:ln w="9525"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7" name="Line 29"/>
            <p:cNvSpPr>
              <a:spLocks noChangeShapeType="1"/>
            </p:cNvSpPr>
            <p:nvPr/>
          </p:nvSpPr>
          <p:spPr bwMode="auto">
            <a:xfrm>
              <a:off x="3060000" y="962819"/>
              <a:ext cx="256034"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98" name="Oval 30"/>
            <p:cNvSpPr>
              <a:spLocks noChangeArrowheads="1"/>
            </p:cNvSpPr>
            <p:nvPr/>
          </p:nvSpPr>
          <p:spPr bwMode="auto">
            <a:xfrm>
              <a:off x="3312000" y="932656"/>
              <a:ext cx="55563" cy="55563"/>
            </a:xfrm>
            <a:prstGeom prst="ellipse">
              <a:avLst/>
            </a:prstGeom>
            <a:noFill/>
            <a:ln w="9525"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Rectangle 40"/>
            <p:cNvSpPr>
              <a:spLocks noChangeArrowheads="1"/>
            </p:cNvSpPr>
            <p:nvPr/>
          </p:nvSpPr>
          <p:spPr bwMode="auto">
            <a:xfrm>
              <a:off x="1365672" y="829469"/>
              <a:ext cx="25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dirty="0">
                  <a:solidFill>
                    <a:srgbClr val="000000"/>
                  </a:solidFill>
                </a:rPr>
                <a:t>A</a:t>
              </a:r>
              <a:r>
                <a:rPr lang="en-US" altLang="zh-CN" sz="1800" b="1" baseline="-25000" dirty="0">
                  <a:solidFill>
                    <a:srgbClr val="000000"/>
                  </a:solidFill>
                </a:rPr>
                <a:t>1</a:t>
              </a:r>
              <a:endParaRPr lang="en-US" altLang="zh-CN" sz="1800" b="1" dirty="0"/>
            </a:p>
          </p:txBody>
        </p:sp>
        <p:sp>
          <p:nvSpPr>
            <p:cNvPr id="100" name="Rectangle 41"/>
            <p:cNvSpPr>
              <a:spLocks noChangeArrowheads="1"/>
            </p:cNvSpPr>
            <p:nvPr/>
          </p:nvSpPr>
          <p:spPr bwMode="auto">
            <a:xfrm>
              <a:off x="2627784" y="792956"/>
              <a:ext cx="293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800" b="1" dirty="0">
                  <a:solidFill>
                    <a:srgbClr val="000000"/>
                  </a:solidFill>
                </a:rPr>
                <a:t>A</a:t>
              </a:r>
              <a:r>
                <a:rPr lang="en-US" altLang="zh-CN" sz="1800" b="1" baseline="-25000" dirty="0">
                  <a:solidFill>
                    <a:srgbClr val="000000"/>
                  </a:solidFill>
                </a:rPr>
                <a:t>2</a:t>
              </a:r>
              <a:endParaRPr lang="en-US" altLang="zh-CN" sz="1800" b="1" dirty="0"/>
            </a:p>
          </p:txBody>
        </p:sp>
        <p:sp>
          <p:nvSpPr>
            <p:cNvPr id="101" name="Rectangle 49"/>
            <p:cNvSpPr>
              <a:spLocks noChangeArrowheads="1"/>
            </p:cNvSpPr>
            <p:nvPr/>
          </p:nvSpPr>
          <p:spPr bwMode="auto">
            <a:xfrm>
              <a:off x="755576" y="1043781"/>
              <a:ext cx="57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dirty="0">
                  <a:solidFill>
                    <a:srgbClr val="000000"/>
                  </a:solidFill>
                </a:rPr>
                <a:t>·</a:t>
              </a:r>
              <a:endParaRPr lang="en-US" altLang="zh-CN" sz="1800" b="1" dirty="0"/>
            </a:p>
          </p:txBody>
        </p:sp>
        <p:sp>
          <p:nvSpPr>
            <p:cNvPr id="102" name="Rectangle 80"/>
            <p:cNvSpPr>
              <a:spLocks noChangeArrowheads="1"/>
            </p:cNvSpPr>
            <p:nvPr/>
          </p:nvSpPr>
          <p:spPr bwMode="auto">
            <a:xfrm>
              <a:off x="675463" y="1204119"/>
              <a:ext cx="3087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800" b="1" i="1" dirty="0">
                  <a:solidFill>
                    <a:srgbClr val="000000"/>
                  </a:solidFill>
                </a:rPr>
                <a:t>U</a:t>
              </a:r>
              <a:r>
                <a:rPr lang="en-US" altLang="zh-CN" sz="1800" b="1" baseline="-25000" dirty="0">
                  <a:solidFill>
                    <a:srgbClr val="000000"/>
                  </a:solidFill>
                </a:rPr>
                <a:t>1</a:t>
              </a:r>
              <a:endParaRPr lang="en-US" altLang="zh-CN" sz="1800" b="1" dirty="0"/>
            </a:p>
          </p:txBody>
        </p:sp>
        <p:sp>
          <p:nvSpPr>
            <p:cNvPr id="103" name="Rectangle 93"/>
            <p:cNvSpPr>
              <a:spLocks noChangeArrowheads="1"/>
            </p:cNvSpPr>
            <p:nvPr/>
          </p:nvSpPr>
          <p:spPr bwMode="auto">
            <a:xfrm>
              <a:off x="1992313" y="402431"/>
              <a:ext cx="57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800" b="1">
                  <a:solidFill>
                    <a:srgbClr val="000000"/>
                  </a:solidFill>
                </a:rPr>
                <a:t>·</a:t>
              </a:r>
              <a:endParaRPr lang="en-US" altLang="zh-CN" sz="1800" b="1"/>
            </a:p>
          </p:txBody>
        </p:sp>
        <p:sp>
          <p:nvSpPr>
            <p:cNvPr id="104" name="Rectangle 94"/>
            <p:cNvSpPr>
              <a:spLocks noChangeArrowheads="1"/>
            </p:cNvSpPr>
            <p:nvPr/>
          </p:nvSpPr>
          <p:spPr bwMode="auto">
            <a:xfrm>
              <a:off x="1895475" y="561181"/>
              <a:ext cx="4238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800" b="1" i="1">
                  <a:solidFill>
                    <a:srgbClr val="000000"/>
                  </a:solidFill>
                </a:rPr>
                <a:t>U</a:t>
              </a:r>
              <a:r>
                <a:rPr lang="en-US" altLang="zh-CN" sz="1800" b="1" baseline="-25000">
                  <a:solidFill>
                    <a:srgbClr val="000000"/>
                  </a:solidFill>
                </a:rPr>
                <a:t>2</a:t>
              </a:r>
              <a:endParaRPr lang="en-US" altLang="zh-CN" sz="1800" b="1"/>
            </a:p>
          </p:txBody>
        </p:sp>
        <p:sp>
          <p:nvSpPr>
            <p:cNvPr id="105" name="矩形 104"/>
            <p:cNvSpPr/>
            <p:nvPr/>
          </p:nvSpPr>
          <p:spPr>
            <a:xfrm>
              <a:off x="1187624" y="567060"/>
              <a:ext cx="593725" cy="86405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2466107" y="555526"/>
              <a:ext cx="593725" cy="864055"/>
            </a:xfrm>
            <a:prstGeom prst="rect">
              <a:avLst/>
            </a:prstGeom>
            <a:noFill/>
            <a:ln w="19050">
              <a:solidFill>
                <a:srgbClr val="00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left)">
                                      <p:cBhvr>
                                        <p:cTn id="7" dur="500"/>
                                        <p:tgtEl>
                                          <p:spTgt spid="9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ipe(up)">
                                      <p:cBhvr>
                                        <p:cTn id="25" dur="500"/>
                                        <p:tgtEl>
                                          <p:spTgt spid="47"/>
                                        </p:tgtEl>
                                      </p:cBhvr>
                                    </p:animEffect>
                                  </p:childTnLst>
                                </p:cTn>
                              </p:par>
                              <p:par>
                                <p:cTn id="26" presetID="22" presetClass="entr" presetSubtype="1"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wipe(up)">
                                      <p:cBhvr>
                                        <p:cTn id="38" dur="500"/>
                                        <p:tgtEl>
                                          <p:spTgt spid="5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90"/>
                                        </p:tgtEl>
                                        <p:attrNameLst>
                                          <p:attrName>style.visibility</p:attrName>
                                        </p:attrNameLst>
                                      </p:cBhvr>
                                      <p:to>
                                        <p:strVal val="visible"/>
                                      </p:to>
                                    </p:set>
                                    <p:animEffect transition="in" filter="wipe(left)">
                                      <p:cBhvr>
                                        <p:cTn id="43" dur="500"/>
                                        <p:tgtEl>
                                          <p:spTgt spid="9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91"/>
                                        </p:tgtEl>
                                        <p:attrNameLst>
                                          <p:attrName>style.visibility</p:attrName>
                                        </p:attrNameLst>
                                      </p:cBhvr>
                                      <p:to>
                                        <p:strVal val="visible"/>
                                      </p:to>
                                    </p:set>
                                    <p:animEffect transition="in" filter="wipe(left)">
                                      <p:cBhvr>
                                        <p:cTn id="48" dur="500"/>
                                        <p:tgtEl>
                                          <p:spTgt spid="9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92"/>
                                        </p:tgtEl>
                                        <p:attrNameLst>
                                          <p:attrName>style.visibility</p:attrName>
                                        </p:attrNameLst>
                                      </p:cBhvr>
                                      <p:to>
                                        <p:strVal val="visible"/>
                                      </p:to>
                                    </p:set>
                                    <p:animEffect transition="in" filter="wipe(left)">
                                      <p:cBhvr>
                                        <p:cTn id="53"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graphicFrame>
        <p:nvGraphicFramePr>
          <p:cNvPr id="3" name="Object 2"/>
          <p:cNvGraphicFramePr>
            <a:graphicFrameLocks noChangeAspect="1"/>
          </p:cNvGraphicFramePr>
          <p:nvPr/>
        </p:nvGraphicFramePr>
        <p:xfrm>
          <a:off x="85314" y="1489358"/>
          <a:ext cx="1898650" cy="1508125"/>
        </p:xfrm>
        <a:graphic>
          <a:graphicData uri="http://schemas.openxmlformats.org/presentationml/2006/ole">
            <mc:AlternateContent xmlns:mc="http://schemas.openxmlformats.org/markup-compatibility/2006">
              <mc:Choice xmlns:v="urn:schemas-microsoft-com:vml" Requires="v">
                <p:oleObj spid="_x0000_s111684" name="Equation" r:id="rId1" imgW="25298400" imgH="20116800" progId="Equation.DSMT4">
                  <p:embed/>
                </p:oleObj>
              </mc:Choice>
              <mc:Fallback>
                <p:oleObj name="Equation" r:id="rId1" imgW="25298400" imgH="20116800" progId="Equation.DSMT4">
                  <p:embed/>
                  <p:pic>
                    <p:nvPicPr>
                      <p:cNvPr id="0" name="Object 2"/>
                      <p:cNvPicPr>
                        <a:picLocks noChangeAspect="1" noChangeArrowheads="1"/>
                      </p:cNvPicPr>
                      <p:nvPr/>
                    </p:nvPicPr>
                    <p:blipFill>
                      <a:blip r:embed="rId2"/>
                      <a:srcRect/>
                      <a:stretch>
                        <a:fillRect/>
                      </a:stretch>
                    </p:blipFill>
                    <p:spPr bwMode="auto">
                      <a:xfrm>
                        <a:off x="85314" y="1489358"/>
                        <a:ext cx="1898650" cy="150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2"/>
          <p:cNvGraphicFramePr>
            <a:graphicFrameLocks noChangeAspect="1"/>
          </p:cNvGraphicFramePr>
          <p:nvPr/>
        </p:nvGraphicFramePr>
        <p:xfrm>
          <a:off x="2173546" y="2042601"/>
          <a:ext cx="1177925" cy="401638"/>
        </p:xfrm>
        <a:graphic>
          <a:graphicData uri="http://schemas.openxmlformats.org/presentationml/2006/ole">
            <mc:AlternateContent xmlns:mc="http://schemas.openxmlformats.org/markup-compatibility/2006">
              <mc:Choice xmlns:v="urn:schemas-microsoft-com:vml" Requires="v">
                <p:oleObj spid="_x0000_s111685" name="Equation" r:id="rId3" imgW="685800" imgH="228600" progId="Equation.DSMT4">
                  <p:embed/>
                </p:oleObj>
              </mc:Choice>
              <mc:Fallback>
                <p:oleObj name="Equation" r:id="rId3" imgW="685800" imgH="2286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546" y="2042601"/>
                        <a:ext cx="1177925"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4"/>
          <p:cNvGraphicFramePr>
            <a:graphicFrameLocks noChangeAspect="1"/>
          </p:cNvGraphicFramePr>
          <p:nvPr/>
        </p:nvGraphicFramePr>
        <p:xfrm>
          <a:off x="4110831" y="1489358"/>
          <a:ext cx="4024313" cy="1150938"/>
        </p:xfrm>
        <a:graphic>
          <a:graphicData uri="http://schemas.openxmlformats.org/presentationml/2006/ole">
            <mc:AlternateContent xmlns:mc="http://schemas.openxmlformats.org/markup-compatibility/2006">
              <mc:Choice xmlns:v="urn:schemas-microsoft-com:vml" Requires="v">
                <p:oleObj spid="_x0000_s111686" name="Equation" r:id="rId5" imgW="53035200" imgH="15240000" progId="Equation.DSMT4">
                  <p:embed/>
                </p:oleObj>
              </mc:Choice>
              <mc:Fallback>
                <p:oleObj name="Equation" r:id="rId5" imgW="53035200" imgH="15240000" progId="Equation.DSMT4">
                  <p:embed/>
                  <p:pic>
                    <p:nvPicPr>
                      <p:cNvPr id="0" name="Object 14"/>
                      <p:cNvPicPr>
                        <a:picLocks noChangeAspect="1" noChangeArrowheads="1"/>
                      </p:cNvPicPr>
                      <p:nvPr/>
                    </p:nvPicPr>
                    <p:blipFill>
                      <a:blip r:embed="rId6"/>
                      <a:srcRect/>
                      <a:stretch>
                        <a:fillRect/>
                      </a:stretch>
                    </p:blipFill>
                    <p:spPr bwMode="auto">
                      <a:xfrm>
                        <a:off x="4110831" y="1489358"/>
                        <a:ext cx="4024313"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16"/>
          <p:cNvSpPr>
            <a:spLocks noChangeArrowheads="1"/>
          </p:cNvSpPr>
          <p:nvPr/>
        </p:nvSpPr>
        <p:spPr bwMode="auto">
          <a:xfrm>
            <a:off x="3785430" y="1629034"/>
            <a:ext cx="489534"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zh-CN" altLang="en-US" sz="2400" dirty="0"/>
              <a:t>若</a:t>
            </a:r>
            <a:endParaRPr lang="zh-CN" altLang="en-US" sz="2400" dirty="0"/>
          </a:p>
        </p:txBody>
      </p:sp>
      <p:graphicFrame>
        <p:nvGraphicFramePr>
          <p:cNvPr id="7" name="Object 17"/>
          <p:cNvGraphicFramePr>
            <a:graphicFrameLocks noChangeAspect="1"/>
          </p:cNvGraphicFramePr>
          <p:nvPr/>
        </p:nvGraphicFramePr>
        <p:xfrm>
          <a:off x="559477" y="3522412"/>
          <a:ext cx="1219200" cy="479425"/>
        </p:xfrm>
        <a:graphic>
          <a:graphicData uri="http://schemas.openxmlformats.org/presentationml/2006/ole">
            <mc:AlternateContent xmlns:mc="http://schemas.openxmlformats.org/markup-compatibility/2006">
              <mc:Choice xmlns:v="urn:schemas-microsoft-com:vml" Requires="v">
                <p:oleObj spid="_x0000_s111687" name="Equation" r:id="rId7" imgW="14020800" imgH="5486400" progId="Equation.DSMT4">
                  <p:embed/>
                </p:oleObj>
              </mc:Choice>
              <mc:Fallback>
                <p:oleObj name="Equation" r:id="rId7" imgW="14020800" imgH="5486400" progId="Equation.DSMT4">
                  <p:embed/>
                  <p:pic>
                    <p:nvPicPr>
                      <p:cNvPr id="0" name="Object 17"/>
                      <p:cNvPicPr>
                        <a:picLocks noChangeAspect="1" noChangeArrowheads="1"/>
                      </p:cNvPicPr>
                      <p:nvPr/>
                    </p:nvPicPr>
                    <p:blipFill>
                      <a:blip r:embed="rId8"/>
                      <a:srcRect/>
                      <a:stretch>
                        <a:fillRect/>
                      </a:stretch>
                    </p:blipFill>
                    <p:spPr bwMode="auto">
                      <a:xfrm>
                        <a:off x="559477" y="3522412"/>
                        <a:ext cx="12192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19"/>
          <p:cNvSpPr>
            <a:spLocks noChangeArrowheads="1"/>
          </p:cNvSpPr>
          <p:nvPr/>
        </p:nvSpPr>
        <p:spPr bwMode="auto">
          <a:xfrm>
            <a:off x="0" y="3522072"/>
            <a:ext cx="489534"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zh-CN" altLang="en-US" sz="2400" dirty="0"/>
              <a:t>设</a:t>
            </a:r>
            <a:endParaRPr lang="zh-CN" altLang="en-US" sz="2400" dirty="0"/>
          </a:p>
        </p:txBody>
      </p:sp>
      <p:graphicFrame>
        <p:nvGraphicFramePr>
          <p:cNvPr id="9" name="Object 20"/>
          <p:cNvGraphicFramePr>
            <a:graphicFrameLocks noChangeAspect="1"/>
          </p:cNvGraphicFramePr>
          <p:nvPr/>
        </p:nvGraphicFramePr>
        <p:xfrm>
          <a:off x="418428" y="4129974"/>
          <a:ext cx="2955925" cy="1173162"/>
        </p:xfrm>
        <a:graphic>
          <a:graphicData uri="http://schemas.openxmlformats.org/presentationml/2006/ole">
            <mc:AlternateContent xmlns:mc="http://schemas.openxmlformats.org/markup-compatibility/2006">
              <mc:Choice xmlns:v="urn:schemas-microsoft-com:vml" Requires="v">
                <p:oleObj spid="_x0000_s111688" name="Equation" r:id="rId9" imgW="38100000" imgH="15240000" progId="Equation.DSMT4">
                  <p:embed/>
                </p:oleObj>
              </mc:Choice>
              <mc:Fallback>
                <p:oleObj name="Equation" r:id="rId9" imgW="38100000" imgH="15240000" progId="Equation.DSMT4">
                  <p:embed/>
                  <p:pic>
                    <p:nvPicPr>
                      <p:cNvPr id="0" name="Object 20"/>
                      <p:cNvPicPr>
                        <a:picLocks noChangeAspect="1" noChangeArrowheads="1"/>
                      </p:cNvPicPr>
                      <p:nvPr/>
                    </p:nvPicPr>
                    <p:blipFill>
                      <a:blip r:embed="rId10"/>
                      <a:srcRect/>
                      <a:stretch>
                        <a:fillRect/>
                      </a:stretch>
                    </p:blipFill>
                    <p:spPr bwMode="auto">
                      <a:xfrm>
                        <a:off x="418428" y="4129974"/>
                        <a:ext cx="2955925" cy="1173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22"/>
          <p:cNvSpPr>
            <a:spLocks noChangeArrowheads="1"/>
          </p:cNvSpPr>
          <p:nvPr/>
        </p:nvSpPr>
        <p:spPr bwMode="auto">
          <a:xfrm>
            <a:off x="8685" y="4280917"/>
            <a:ext cx="489534"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spcBef>
                <a:spcPct val="0"/>
              </a:spcBef>
            </a:pPr>
            <a:r>
              <a:rPr lang="zh-CN" altLang="en-US" sz="2400" dirty="0"/>
              <a:t>则</a:t>
            </a:r>
            <a:endParaRPr lang="zh-CN" altLang="en-US" sz="2400" dirty="0"/>
          </a:p>
        </p:txBody>
      </p:sp>
      <p:sp>
        <p:nvSpPr>
          <p:cNvPr id="11" name="Rectangle 115"/>
          <p:cNvSpPr>
            <a:spLocks noChangeArrowheads="1"/>
          </p:cNvSpPr>
          <p:nvPr/>
        </p:nvSpPr>
        <p:spPr bwMode="auto">
          <a:xfrm>
            <a:off x="4718894" y="1920158"/>
            <a:ext cx="936000" cy="756000"/>
          </a:xfrm>
          <a:prstGeom prst="rect">
            <a:avLst/>
          </a:prstGeom>
          <a:noFill/>
          <a:ln w="12700" algn="ctr">
            <a:solidFill>
              <a:srgbClr val="FF0000"/>
            </a:solidFill>
            <a:prstDash val="dash"/>
            <a:miter lim="800000"/>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12" name="Rectangle 115"/>
          <p:cNvSpPr>
            <a:spLocks noChangeArrowheads="1"/>
          </p:cNvSpPr>
          <p:nvPr/>
        </p:nvSpPr>
        <p:spPr bwMode="auto">
          <a:xfrm>
            <a:off x="961291" y="1489358"/>
            <a:ext cx="1074737" cy="1548000"/>
          </a:xfrm>
          <a:prstGeom prst="rect">
            <a:avLst/>
          </a:prstGeom>
          <a:noFill/>
          <a:ln w="12700" algn="ctr">
            <a:solidFill>
              <a:srgbClr val="FF0000"/>
            </a:solidFill>
            <a:prstDash val="dash"/>
            <a:miter lim="800000"/>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grpSp>
        <p:nvGrpSpPr>
          <p:cNvPr id="13" name="组合 12"/>
          <p:cNvGrpSpPr/>
          <p:nvPr/>
        </p:nvGrpSpPr>
        <p:grpSpPr>
          <a:xfrm>
            <a:off x="3626444" y="2857510"/>
            <a:ext cx="4883806" cy="2769368"/>
            <a:chOff x="3779912" y="1851670"/>
            <a:chExt cx="4883806" cy="2769368"/>
          </a:xfrm>
        </p:grpSpPr>
        <p:sp>
          <p:nvSpPr>
            <p:cNvPr id="14" name="Line 16"/>
            <p:cNvSpPr>
              <a:spLocks noChangeShapeType="1"/>
            </p:cNvSpPr>
            <p:nvPr/>
          </p:nvSpPr>
          <p:spPr bwMode="auto">
            <a:xfrm>
              <a:off x="3972384" y="2380860"/>
              <a:ext cx="2544031" cy="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5" name="Rectangle 4"/>
            <p:cNvSpPr>
              <a:spLocks noChangeArrowheads="1"/>
            </p:cNvSpPr>
            <p:nvPr/>
          </p:nvSpPr>
          <p:spPr bwMode="auto">
            <a:xfrm>
              <a:off x="4053563" y="2022098"/>
              <a:ext cx="964976" cy="333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dirty="0">
                  <a:solidFill>
                    <a:srgbClr val="000000"/>
                  </a:solidFill>
                </a:rPr>
                <a:t>20lg|</a:t>
              </a:r>
              <a:r>
                <a:rPr lang="en-US" altLang="zh-CN" sz="1600" b="1" i="1" dirty="0">
                  <a:solidFill>
                    <a:srgbClr val="000000"/>
                  </a:solidFill>
                </a:rPr>
                <a:t>A</a:t>
              </a:r>
              <a:r>
                <a:rPr lang="en-US" altLang="zh-CN" sz="1600" b="1" dirty="0">
                  <a:solidFill>
                    <a:srgbClr val="000000"/>
                  </a:solidFill>
                </a:rPr>
                <a:t>|</a:t>
              </a:r>
              <a:endParaRPr lang="en-US" altLang="zh-CN" sz="1600" b="1" dirty="0"/>
            </a:p>
          </p:txBody>
        </p:sp>
        <p:sp>
          <p:nvSpPr>
            <p:cNvPr id="16" name="Rectangle 5"/>
            <p:cNvSpPr>
              <a:spLocks noChangeArrowheads="1"/>
            </p:cNvSpPr>
            <p:nvPr/>
          </p:nvSpPr>
          <p:spPr bwMode="auto">
            <a:xfrm>
              <a:off x="4555188" y="1851670"/>
              <a:ext cx="41899" cy="21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a:r>
                <a:rPr lang="en-US" altLang="zh-CN" sz="1600" b="1" dirty="0">
                  <a:solidFill>
                    <a:srgbClr val="000000"/>
                  </a:solidFill>
                </a:rPr>
                <a:t>·</a:t>
              </a:r>
              <a:endParaRPr lang="en-US" altLang="zh-CN" sz="1600" b="1" dirty="0"/>
            </a:p>
          </p:txBody>
        </p:sp>
        <p:sp>
          <p:nvSpPr>
            <p:cNvPr id="17" name="Rectangle 6"/>
            <p:cNvSpPr>
              <a:spLocks noChangeArrowheads="1"/>
            </p:cNvSpPr>
            <p:nvPr/>
          </p:nvSpPr>
          <p:spPr bwMode="auto">
            <a:xfrm>
              <a:off x="8354714" y="4245588"/>
              <a:ext cx="2042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600" b="1" i="1" dirty="0">
                  <a:solidFill>
                    <a:srgbClr val="000000"/>
                  </a:solidFill>
                  <a:latin typeface="+mn-lt"/>
                </a:rPr>
                <a:t>f</a:t>
              </a:r>
              <a:endParaRPr lang="en-US" altLang="zh-CN" sz="1600" b="1" dirty="0">
                <a:latin typeface="+mn-lt"/>
              </a:endParaRPr>
            </a:p>
          </p:txBody>
        </p:sp>
        <p:sp>
          <p:nvSpPr>
            <p:cNvPr id="18" name="Freeform 8"/>
            <p:cNvSpPr>
              <a:spLocks noEditPoints="1"/>
            </p:cNvSpPr>
            <p:nvPr/>
          </p:nvSpPr>
          <p:spPr bwMode="auto">
            <a:xfrm>
              <a:off x="3937032" y="2129170"/>
              <a:ext cx="36000" cy="2290237"/>
            </a:xfrm>
            <a:custGeom>
              <a:avLst/>
              <a:gdLst>
                <a:gd name="T0" fmla="*/ 32 w 85"/>
                <a:gd name="T1" fmla="*/ 2494 h 2494"/>
                <a:gd name="T2" fmla="*/ 32 w 85"/>
                <a:gd name="T3" fmla="*/ 85 h 2494"/>
                <a:gd name="T4" fmla="*/ 53 w 85"/>
                <a:gd name="T5" fmla="*/ 85 h 2494"/>
                <a:gd name="T6" fmla="*/ 53 w 85"/>
                <a:gd name="T7" fmla="*/ 2494 h 2494"/>
                <a:gd name="T8" fmla="*/ 32 w 85"/>
                <a:gd name="T9" fmla="*/ 2494 h 2494"/>
                <a:gd name="T10" fmla="*/ 42 w 85"/>
                <a:gd name="T11" fmla="*/ 85 h 2494"/>
                <a:gd name="T12" fmla="*/ 0 w 85"/>
                <a:gd name="T13" fmla="*/ 142 h 2494"/>
                <a:gd name="T14" fmla="*/ 42 w 85"/>
                <a:gd name="T15" fmla="*/ 0 h 2494"/>
                <a:gd name="T16" fmla="*/ 85 w 85"/>
                <a:gd name="T17" fmla="*/ 142 h 2494"/>
                <a:gd name="T18" fmla="*/ 42 w 85"/>
                <a:gd name="T19" fmla="*/ 85 h 2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2494">
                  <a:moveTo>
                    <a:pt x="32" y="2494"/>
                  </a:moveTo>
                  <a:lnTo>
                    <a:pt x="32" y="85"/>
                  </a:lnTo>
                  <a:lnTo>
                    <a:pt x="53" y="85"/>
                  </a:lnTo>
                  <a:lnTo>
                    <a:pt x="53" y="2494"/>
                  </a:lnTo>
                  <a:lnTo>
                    <a:pt x="32" y="2494"/>
                  </a:lnTo>
                  <a:close/>
                  <a:moveTo>
                    <a:pt x="42" y="85"/>
                  </a:moveTo>
                  <a:lnTo>
                    <a:pt x="0" y="142"/>
                  </a:lnTo>
                  <a:lnTo>
                    <a:pt x="42" y="0"/>
                  </a:lnTo>
                  <a:lnTo>
                    <a:pt x="85" y="142"/>
                  </a:lnTo>
                  <a:lnTo>
                    <a:pt x="42" y="85"/>
                  </a:lnTo>
                  <a:close/>
                </a:path>
              </a:pathLst>
            </a:custGeom>
            <a:solidFill>
              <a:srgbClr val="000000"/>
            </a:solidFill>
            <a:ln w="1270" cap="flat">
              <a:solidFill>
                <a:srgbClr val="000000"/>
              </a:solidFill>
              <a:prstDash val="solid"/>
              <a:bevel/>
            </a:ln>
          </p:spPr>
          <p:txBody>
            <a:bodyPr/>
            <a:lstStyle/>
            <a:p>
              <a:endParaRPr lang="zh-CN" altLang="en-US"/>
            </a:p>
          </p:txBody>
        </p:sp>
        <p:sp>
          <p:nvSpPr>
            <p:cNvPr id="19" name="Freeform 9"/>
            <p:cNvSpPr>
              <a:spLocks noEditPoints="1"/>
            </p:cNvSpPr>
            <p:nvPr/>
          </p:nvSpPr>
          <p:spPr bwMode="auto">
            <a:xfrm>
              <a:off x="3779912" y="4126001"/>
              <a:ext cx="4644000" cy="36000"/>
            </a:xfrm>
            <a:custGeom>
              <a:avLst/>
              <a:gdLst>
                <a:gd name="T0" fmla="*/ 0 w 6695"/>
                <a:gd name="T1" fmla="*/ 32 h 85"/>
                <a:gd name="T2" fmla="*/ 6609 w 6695"/>
                <a:gd name="T3" fmla="*/ 32 h 85"/>
                <a:gd name="T4" fmla="*/ 6609 w 6695"/>
                <a:gd name="T5" fmla="*/ 53 h 85"/>
                <a:gd name="T6" fmla="*/ 0 w 6695"/>
                <a:gd name="T7" fmla="*/ 53 h 85"/>
                <a:gd name="T8" fmla="*/ 0 w 6695"/>
                <a:gd name="T9" fmla="*/ 32 h 85"/>
                <a:gd name="T10" fmla="*/ 6609 w 6695"/>
                <a:gd name="T11" fmla="*/ 42 h 85"/>
                <a:gd name="T12" fmla="*/ 6552 w 6695"/>
                <a:gd name="T13" fmla="*/ 0 h 85"/>
                <a:gd name="T14" fmla="*/ 6695 w 6695"/>
                <a:gd name="T15" fmla="*/ 42 h 85"/>
                <a:gd name="T16" fmla="*/ 6552 w 6695"/>
                <a:gd name="T17" fmla="*/ 85 h 85"/>
                <a:gd name="T18" fmla="*/ 6609 w 6695"/>
                <a:gd name="T19"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95" h="85">
                  <a:moveTo>
                    <a:pt x="0" y="32"/>
                  </a:moveTo>
                  <a:lnTo>
                    <a:pt x="6609" y="32"/>
                  </a:lnTo>
                  <a:lnTo>
                    <a:pt x="6609" y="53"/>
                  </a:lnTo>
                  <a:lnTo>
                    <a:pt x="0" y="53"/>
                  </a:lnTo>
                  <a:lnTo>
                    <a:pt x="0" y="32"/>
                  </a:lnTo>
                  <a:close/>
                  <a:moveTo>
                    <a:pt x="6609" y="42"/>
                  </a:moveTo>
                  <a:lnTo>
                    <a:pt x="6552" y="0"/>
                  </a:lnTo>
                  <a:lnTo>
                    <a:pt x="6695" y="42"/>
                  </a:lnTo>
                  <a:lnTo>
                    <a:pt x="6552" y="85"/>
                  </a:lnTo>
                  <a:lnTo>
                    <a:pt x="6609" y="42"/>
                  </a:lnTo>
                  <a:close/>
                </a:path>
              </a:pathLst>
            </a:custGeom>
            <a:solidFill>
              <a:srgbClr val="000000"/>
            </a:solidFill>
            <a:ln w="1270" cap="flat">
              <a:solidFill>
                <a:srgbClr val="000000"/>
              </a:solidFill>
              <a:prstDash val="solid"/>
              <a:bevel/>
            </a:ln>
          </p:spPr>
          <p:txBody>
            <a:bodyPr/>
            <a:lstStyle/>
            <a:p>
              <a:endParaRPr lang="zh-CN" altLang="en-US"/>
            </a:p>
          </p:txBody>
        </p:sp>
        <p:sp>
          <p:nvSpPr>
            <p:cNvPr id="20" name="Line 10"/>
            <p:cNvSpPr>
              <a:spLocks noChangeShapeType="1"/>
            </p:cNvSpPr>
            <p:nvPr/>
          </p:nvSpPr>
          <p:spPr bwMode="auto">
            <a:xfrm>
              <a:off x="5161257" y="2403109"/>
              <a:ext cx="0" cy="1775734"/>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1" name="Line 11"/>
            <p:cNvSpPr>
              <a:spLocks noChangeShapeType="1"/>
            </p:cNvSpPr>
            <p:nvPr/>
          </p:nvSpPr>
          <p:spPr bwMode="auto">
            <a:xfrm>
              <a:off x="6526889" y="2375298"/>
              <a:ext cx="1310" cy="1775734"/>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2" name="Line 12"/>
            <p:cNvSpPr>
              <a:spLocks noChangeShapeType="1"/>
            </p:cNvSpPr>
            <p:nvPr/>
          </p:nvSpPr>
          <p:spPr bwMode="auto">
            <a:xfrm>
              <a:off x="7209051" y="2820274"/>
              <a:ext cx="1310" cy="1348834"/>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3" name="Line 13"/>
            <p:cNvSpPr>
              <a:spLocks noChangeShapeType="1"/>
            </p:cNvSpPr>
            <p:nvPr/>
          </p:nvSpPr>
          <p:spPr bwMode="auto">
            <a:xfrm>
              <a:off x="7895141" y="3714398"/>
              <a:ext cx="1310" cy="433852"/>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4" name="Line 15"/>
            <p:cNvSpPr>
              <a:spLocks noChangeShapeType="1"/>
            </p:cNvSpPr>
            <p:nvPr/>
          </p:nvSpPr>
          <p:spPr bwMode="auto">
            <a:xfrm>
              <a:off x="4479095" y="2380860"/>
              <a:ext cx="2737812" cy="1779905"/>
            </a:xfrm>
            <a:prstGeom prst="line">
              <a:avLst/>
            </a:prstGeom>
            <a:noFill/>
            <a:ln w="19050">
              <a:solidFill>
                <a:srgbClr val="000000"/>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5" name="Line 17"/>
            <p:cNvSpPr>
              <a:spLocks noChangeShapeType="1"/>
            </p:cNvSpPr>
            <p:nvPr/>
          </p:nvSpPr>
          <p:spPr bwMode="auto">
            <a:xfrm>
              <a:off x="6524270" y="2387813"/>
              <a:ext cx="682162" cy="444976"/>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6" name="Line 18"/>
            <p:cNvSpPr>
              <a:spLocks noChangeShapeType="1"/>
            </p:cNvSpPr>
            <p:nvPr/>
          </p:nvSpPr>
          <p:spPr bwMode="auto">
            <a:xfrm>
              <a:off x="7222144" y="2845304"/>
              <a:ext cx="672996" cy="869095"/>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7" name="Line 19"/>
            <p:cNvSpPr>
              <a:spLocks noChangeShapeType="1"/>
            </p:cNvSpPr>
            <p:nvPr/>
          </p:nvSpPr>
          <p:spPr bwMode="auto">
            <a:xfrm>
              <a:off x="7910853" y="3733866"/>
              <a:ext cx="199018" cy="422727"/>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8" name="Line 20"/>
            <p:cNvSpPr>
              <a:spLocks noChangeShapeType="1"/>
            </p:cNvSpPr>
            <p:nvPr/>
          </p:nvSpPr>
          <p:spPr bwMode="auto">
            <a:xfrm>
              <a:off x="7206432" y="4169109"/>
              <a:ext cx="348282" cy="451929"/>
            </a:xfrm>
            <a:prstGeom prst="line">
              <a:avLst/>
            </a:prstGeom>
            <a:noFill/>
            <a:ln w="19050">
              <a:solidFill>
                <a:srgbClr val="000000"/>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9" name="Rectangle 23"/>
            <p:cNvSpPr>
              <a:spLocks noChangeArrowheads="1"/>
            </p:cNvSpPr>
            <p:nvPr/>
          </p:nvSpPr>
          <p:spPr bwMode="auto">
            <a:xfrm>
              <a:off x="3821811" y="4156593"/>
              <a:ext cx="183306" cy="21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en-US" altLang="zh-CN" sz="1600" b="1">
                  <a:solidFill>
                    <a:srgbClr val="000000"/>
                  </a:solidFill>
                </a:rPr>
                <a:t>0</a:t>
              </a:r>
              <a:endParaRPr lang="en-US" altLang="zh-CN" sz="1600" b="1"/>
            </a:p>
          </p:txBody>
        </p:sp>
        <p:sp>
          <p:nvSpPr>
            <p:cNvPr id="30" name="Rectangle 26"/>
            <p:cNvSpPr>
              <a:spLocks noChangeArrowheads="1"/>
            </p:cNvSpPr>
            <p:nvPr/>
          </p:nvSpPr>
          <p:spPr bwMode="auto">
            <a:xfrm>
              <a:off x="4128484" y="3071777"/>
              <a:ext cx="839282" cy="21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600" b="1" dirty="0"/>
                <a:t>电容补偿</a:t>
              </a:r>
              <a:endParaRPr lang="zh-CN" altLang="en-US" sz="1600" b="1" dirty="0"/>
            </a:p>
          </p:txBody>
        </p:sp>
        <p:sp>
          <p:nvSpPr>
            <p:cNvPr id="31" name="Rectangle 28"/>
            <p:cNvSpPr>
              <a:spLocks noChangeArrowheads="1"/>
            </p:cNvSpPr>
            <p:nvPr/>
          </p:nvSpPr>
          <p:spPr bwMode="auto">
            <a:xfrm>
              <a:off x="7241784" y="2239264"/>
              <a:ext cx="657284" cy="214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a:r>
                <a:rPr lang="zh-CN" altLang="en-US" sz="1600" b="1" dirty="0"/>
                <a:t>补偿前</a:t>
              </a:r>
              <a:endParaRPr lang="zh-CN" altLang="en-US" sz="1600" b="1" dirty="0"/>
            </a:p>
          </p:txBody>
        </p:sp>
        <p:sp>
          <p:nvSpPr>
            <p:cNvPr id="32" name="Line 29"/>
            <p:cNvSpPr>
              <a:spLocks noChangeShapeType="1"/>
            </p:cNvSpPr>
            <p:nvPr/>
          </p:nvSpPr>
          <p:spPr bwMode="auto">
            <a:xfrm flipV="1">
              <a:off x="4669095" y="2610301"/>
              <a:ext cx="0" cy="418556"/>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3" name="Line 31"/>
            <p:cNvSpPr>
              <a:spLocks noChangeShapeType="1"/>
            </p:cNvSpPr>
            <p:nvPr/>
          </p:nvSpPr>
          <p:spPr bwMode="auto">
            <a:xfrm flipH="1">
              <a:off x="6869454" y="2403109"/>
              <a:ext cx="290672" cy="190506"/>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4" name="Rectangle 32"/>
            <p:cNvSpPr>
              <a:spLocks noChangeArrowheads="1"/>
            </p:cNvSpPr>
            <p:nvPr/>
          </p:nvSpPr>
          <p:spPr bwMode="auto">
            <a:xfrm>
              <a:off x="4886297" y="4269228"/>
              <a:ext cx="443864" cy="29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zh-CN" altLang="zh-CN" sz="1600" b="1"/>
            </a:p>
          </p:txBody>
        </p:sp>
        <p:sp>
          <p:nvSpPr>
            <p:cNvPr id="35" name="Rectangle 33"/>
            <p:cNvSpPr>
              <a:spLocks noChangeArrowheads="1"/>
            </p:cNvSpPr>
            <p:nvPr/>
          </p:nvSpPr>
          <p:spPr bwMode="auto">
            <a:xfrm>
              <a:off x="6327871" y="4213606"/>
              <a:ext cx="424223" cy="2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a:solidFill>
                    <a:srgbClr val="000000"/>
                  </a:solidFill>
                  <a:latin typeface="+mn-lt"/>
                </a:rPr>
                <a:t>f</a:t>
              </a:r>
              <a:r>
                <a:rPr lang="en-US" altLang="zh-CN" sz="1600" b="1" baseline="-25000">
                  <a:solidFill>
                    <a:srgbClr val="000000"/>
                  </a:solidFill>
                  <a:latin typeface="+mn-lt"/>
                </a:rPr>
                <a:t>H1</a:t>
              </a:r>
              <a:endParaRPr lang="en-US" altLang="zh-CN" sz="1600" b="1">
                <a:latin typeface="+mn-lt"/>
              </a:endParaRPr>
            </a:p>
          </p:txBody>
        </p:sp>
        <p:sp>
          <p:nvSpPr>
            <p:cNvPr id="36" name="Rectangle 34"/>
            <p:cNvSpPr>
              <a:spLocks noChangeArrowheads="1"/>
            </p:cNvSpPr>
            <p:nvPr/>
          </p:nvSpPr>
          <p:spPr bwMode="auto">
            <a:xfrm>
              <a:off x="6932782" y="4203872"/>
              <a:ext cx="425533" cy="28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a:solidFill>
                    <a:srgbClr val="000000"/>
                  </a:solidFill>
                  <a:latin typeface="+mn-lt"/>
                </a:rPr>
                <a:t>f</a:t>
              </a:r>
              <a:r>
                <a:rPr lang="en-US" altLang="zh-CN" sz="1600" b="1" baseline="-25000">
                  <a:solidFill>
                    <a:srgbClr val="000000"/>
                  </a:solidFill>
                  <a:latin typeface="+mn-lt"/>
                </a:rPr>
                <a:t>H2</a:t>
              </a:r>
              <a:endParaRPr lang="en-US" altLang="zh-CN" sz="1600" b="1">
                <a:latin typeface="+mn-lt"/>
              </a:endParaRPr>
            </a:p>
          </p:txBody>
        </p:sp>
        <p:sp>
          <p:nvSpPr>
            <p:cNvPr id="37" name="Rectangle 35"/>
            <p:cNvSpPr>
              <a:spLocks noChangeArrowheads="1"/>
            </p:cNvSpPr>
            <p:nvPr/>
          </p:nvSpPr>
          <p:spPr bwMode="auto">
            <a:xfrm>
              <a:off x="7587447" y="4184404"/>
              <a:ext cx="425533" cy="28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a:r>
                <a:rPr lang="en-US" altLang="zh-CN" sz="1600" b="1" i="1" dirty="0">
                  <a:solidFill>
                    <a:srgbClr val="000000"/>
                  </a:solidFill>
                  <a:latin typeface="+mn-lt"/>
                </a:rPr>
                <a:t>f</a:t>
              </a:r>
              <a:r>
                <a:rPr lang="en-US" altLang="zh-CN" sz="1600" b="1" baseline="-25000" dirty="0">
                  <a:solidFill>
                    <a:srgbClr val="000000"/>
                  </a:solidFill>
                  <a:latin typeface="+mn-lt"/>
                </a:rPr>
                <a:t>H3</a:t>
              </a:r>
              <a:endParaRPr lang="en-US" altLang="zh-CN" sz="1600" b="1" dirty="0">
                <a:latin typeface="+mn-lt"/>
              </a:endParaRPr>
            </a:p>
          </p:txBody>
        </p:sp>
        <p:graphicFrame>
          <p:nvGraphicFramePr>
            <p:cNvPr id="38" name="Object 37"/>
            <p:cNvGraphicFramePr>
              <a:graphicFrameLocks noChangeAspect="1"/>
            </p:cNvGraphicFramePr>
            <p:nvPr/>
          </p:nvGraphicFramePr>
          <p:xfrm>
            <a:off x="5018540" y="4209434"/>
            <a:ext cx="311622" cy="330952"/>
          </p:xfrm>
          <a:graphic>
            <a:graphicData uri="http://schemas.openxmlformats.org/presentationml/2006/ole">
              <mc:AlternateContent xmlns:mc="http://schemas.openxmlformats.org/markup-compatibility/2006">
                <mc:Choice xmlns:v="urn:schemas-microsoft-com:vml" Requires="v">
                  <p:oleObj spid="_x0000_s111689" name="Equation" r:id="rId11" imgW="228600" imgH="215900" progId="Equation.DSMT4">
                    <p:embed/>
                  </p:oleObj>
                </mc:Choice>
                <mc:Fallback>
                  <p:oleObj name="Equation" r:id="rId11" imgW="228600" imgH="215900" progId="Equation.DSMT4">
                    <p:embed/>
                    <p:pic>
                      <p:nvPicPr>
                        <p:cNvPr id="0"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8540" y="4209434"/>
                          <a:ext cx="311622" cy="330952"/>
                        </a:xfrm>
                        <a:prstGeom prst="rect">
                          <a:avLst/>
                        </a:prstGeom>
                        <a:noFill/>
                      </p:spPr>
                    </p:pic>
                  </p:oleObj>
                </mc:Fallback>
              </mc:AlternateContent>
            </a:graphicData>
          </a:graphic>
        </p:graphicFrame>
        <p:sp>
          <p:nvSpPr>
            <p:cNvPr id="39" name="Line 14"/>
            <p:cNvSpPr>
              <a:spLocks noChangeShapeType="1"/>
            </p:cNvSpPr>
            <p:nvPr/>
          </p:nvSpPr>
          <p:spPr bwMode="auto">
            <a:xfrm>
              <a:off x="3988096" y="2378079"/>
              <a:ext cx="1169233" cy="1391"/>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0" name="Line 24"/>
            <p:cNvSpPr>
              <a:spLocks noChangeShapeType="1"/>
            </p:cNvSpPr>
            <p:nvPr/>
          </p:nvSpPr>
          <p:spPr bwMode="auto">
            <a:xfrm>
              <a:off x="5148164" y="2371126"/>
              <a:ext cx="2737812" cy="1779905"/>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1" name="Line 25"/>
            <p:cNvSpPr>
              <a:spLocks noChangeShapeType="1"/>
            </p:cNvSpPr>
            <p:nvPr/>
          </p:nvSpPr>
          <p:spPr bwMode="auto">
            <a:xfrm>
              <a:off x="7899068" y="4169109"/>
              <a:ext cx="348282" cy="451929"/>
            </a:xfrm>
            <a:prstGeom prst="line">
              <a:avLst/>
            </a:prstGeom>
            <a:noFill/>
            <a:ln w="19050">
              <a:solidFill>
                <a:srgbClr val="000099"/>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2" name="Rectangle 27"/>
            <p:cNvSpPr>
              <a:spLocks noChangeArrowheads="1"/>
            </p:cNvSpPr>
            <p:nvPr/>
          </p:nvSpPr>
          <p:spPr bwMode="auto">
            <a:xfrm>
              <a:off x="7523291" y="2784999"/>
              <a:ext cx="114042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600" b="1" dirty="0">
                  <a:solidFill>
                    <a:srgbClr val="FF0000"/>
                  </a:solidFill>
                </a:rPr>
                <a:t>RC</a:t>
              </a:r>
              <a:r>
                <a:rPr lang="zh-CN" altLang="en-US" sz="1600" b="1" dirty="0">
                  <a:solidFill>
                    <a:srgbClr val="FF0000"/>
                  </a:solidFill>
                </a:rPr>
                <a:t>滞后补偿</a:t>
              </a:r>
              <a:endParaRPr lang="zh-CN" altLang="en-US" sz="1600" b="1" dirty="0">
                <a:solidFill>
                  <a:srgbClr val="FF0000"/>
                </a:solidFill>
              </a:endParaRPr>
            </a:p>
          </p:txBody>
        </p:sp>
        <p:sp>
          <p:nvSpPr>
            <p:cNvPr id="43" name="Line 30"/>
            <p:cNvSpPr>
              <a:spLocks noChangeShapeType="1"/>
            </p:cNvSpPr>
            <p:nvPr/>
          </p:nvSpPr>
          <p:spPr bwMode="auto">
            <a:xfrm flipH="1">
              <a:off x="7587447" y="3075870"/>
              <a:ext cx="0" cy="828000"/>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animBg="1"/>
      <p:bldP spid="1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Rectangle 2"/>
          <p:cNvSpPr>
            <a:spLocks noChangeArrowheads="1"/>
          </p:cNvSpPr>
          <p:nvPr/>
        </p:nvSpPr>
        <p:spPr bwMode="auto">
          <a:xfrm>
            <a:off x="354965" y="350253"/>
            <a:ext cx="270809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r>
              <a:rPr lang="en-US" altLang="zh-CN" dirty="0" smtClean="0">
                <a:latin typeface="+mn-ea"/>
                <a:ea typeface="+mn-ea"/>
              </a:rPr>
              <a:t>3.</a:t>
            </a:r>
            <a:r>
              <a:rPr lang="zh-CN" altLang="en-US" dirty="0">
                <a:solidFill>
                  <a:srgbClr val="000000"/>
                </a:solidFill>
                <a:latin typeface="宋体" panose="02010600030101010101" pitchFamily="2" charset="-122"/>
                <a:ea typeface="宋体" panose="02010600030101010101" pitchFamily="2" charset="-122"/>
              </a:rPr>
              <a:t>密勒</a:t>
            </a:r>
            <a:r>
              <a:rPr lang="zh-CN" altLang="en-US" dirty="0" smtClean="0">
                <a:solidFill>
                  <a:srgbClr val="000000"/>
                </a:solidFill>
                <a:latin typeface="宋体" panose="02010600030101010101" pitchFamily="2" charset="-122"/>
                <a:ea typeface="宋体" panose="02010600030101010101" pitchFamily="2" charset="-122"/>
              </a:rPr>
              <a:t>效应</a:t>
            </a:r>
            <a:r>
              <a:rPr lang="zh-CN" altLang="en-US" dirty="0" smtClean="0">
                <a:latin typeface="+mn-ea"/>
                <a:ea typeface="+mn-ea"/>
              </a:rPr>
              <a:t>补偿</a:t>
            </a:r>
            <a:endParaRPr lang="zh-CN" altLang="en-US" dirty="0">
              <a:latin typeface="+mn-ea"/>
              <a:ea typeface="+mn-ea"/>
            </a:endParaRPr>
          </a:p>
        </p:txBody>
      </p:sp>
      <p:sp>
        <p:nvSpPr>
          <p:cNvPr id="4" name="矩形 3"/>
          <p:cNvSpPr/>
          <p:nvPr/>
        </p:nvSpPr>
        <p:spPr>
          <a:xfrm>
            <a:off x="354965" y="1008993"/>
            <a:ext cx="8341995" cy="1200329"/>
          </a:xfrm>
          <a:prstGeom prst="rect">
            <a:avLst/>
          </a:prstGeom>
        </p:spPr>
        <p:txBody>
          <a:bodyPr wrap="square">
            <a:spAutoFit/>
          </a:bodyPr>
          <a:lstStyle/>
          <a:p>
            <a:r>
              <a:rPr lang="zh-CN" altLang="en-US" sz="2400" dirty="0">
                <a:solidFill>
                  <a:srgbClr val="000000"/>
                </a:solidFill>
                <a:latin typeface="宋体" panose="02010600030101010101" pitchFamily="2" charset="-122"/>
                <a:ea typeface="宋体" panose="02010600030101010101" pitchFamily="2" charset="-122"/>
              </a:rPr>
              <a:t>在电子制造中，大容量的电容不易集成，而在电容补偿和 </a:t>
            </a:r>
            <a:r>
              <a:rPr lang="en-US" altLang="zh-CN" sz="2400" dirty="0">
                <a:solidFill>
                  <a:srgbClr val="000000"/>
                </a:solidFill>
                <a:latin typeface="TimesNewRomanPSMT"/>
              </a:rPr>
              <a:t>RC </a:t>
            </a:r>
            <a:r>
              <a:rPr lang="zh-CN" altLang="en-US" sz="2400" dirty="0">
                <a:solidFill>
                  <a:srgbClr val="000000"/>
                </a:solidFill>
                <a:latin typeface="宋体" panose="02010600030101010101" pitchFamily="2" charset="-122"/>
                <a:ea typeface="宋体" panose="02010600030101010101" pitchFamily="2" charset="-122"/>
              </a:rPr>
              <a:t>滞后补偿中都需要使用</a:t>
            </a:r>
            <a:r>
              <a:rPr lang="zh-CN" altLang="en-US" sz="2400" dirty="0" smtClean="0">
                <a:solidFill>
                  <a:srgbClr val="000000"/>
                </a:solidFill>
                <a:latin typeface="宋体" panose="02010600030101010101" pitchFamily="2" charset="-122"/>
                <a:ea typeface="宋体" panose="02010600030101010101" pitchFamily="2" charset="-122"/>
              </a:rPr>
              <a:t>容量</a:t>
            </a:r>
            <a:r>
              <a:rPr lang="zh-CN" altLang="en-US" sz="2400" dirty="0">
                <a:solidFill>
                  <a:srgbClr val="000000"/>
                </a:solidFill>
                <a:latin typeface="宋体" panose="02010600030101010101" pitchFamily="2" charset="-122"/>
                <a:ea typeface="宋体" panose="02010600030101010101" pitchFamily="2" charset="-122"/>
              </a:rPr>
              <a:t>较大的电容。为了解决电容的集成问题，密勒效应补偿应运而生。</a:t>
            </a:r>
            <a:endParaRPr lang="zh-CN" altLang="en-US" sz="2400" dirty="0"/>
          </a:p>
        </p:txBody>
      </p:sp>
      <p:pic>
        <p:nvPicPr>
          <p:cNvPr id="5" name="图片 4"/>
          <p:cNvPicPr>
            <a:picLocks noChangeAspect="1"/>
          </p:cNvPicPr>
          <p:nvPr/>
        </p:nvPicPr>
        <p:blipFill>
          <a:blip r:embed="rId1"/>
          <a:stretch>
            <a:fillRect/>
          </a:stretch>
        </p:blipFill>
        <p:spPr>
          <a:xfrm>
            <a:off x="744537" y="2345621"/>
            <a:ext cx="7353810" cy="3162652"/>
          </a:xfrm>
          <a:prstGeom prst="rect">
            <a:avLst/>
          </a:prstGeom>
        </p:spPr>
      </p:pic>
      <p:sp>
        <p:nvSpPr>
          <p:cNvPr id="6" name="矩形 5"/>
          <p:cNvSpPr/>
          <p:nvPr/>
        </p:nvSpPr>
        <p:spPr>
          <a:xfrm>
            <a:off x="336106" y="5780871"/>
            <a:ext cx="8137333" cy="830997"/>
          </a:xfrm>
          <a:prstGeom prst="rect">
            <a:avLst/>
          </a:prstGeom>
        </p:spPr>
        <p:txBody>
          <a:bodyPr wrap="square">
            <a:spAutoFit/>
          </a:bodyPr>
          <a:lstStyle/>
          <a:p>
            <a:r>
              <a:rPr lang="zh-CN" altLang="en-US" sz="2400" b="0" dirty="0">
                <a:solidFill>
                  <a:srgbClr val="000000"/>
                </a:solidFill>
                <a:latin typeface="宋体" panose="02010600030101010101" pitchFamily="2" charset="-122"/>
                <a:ea typeface="宋体" panose="02010600030101010101" pitchFamily="2" charset="-122"/>
              </a:rPr>
              <a:t>密勒效应补偿从本质上来说，补偿效果和电容补偿效果相同，只是</a:t>
            </a:r>
            <a:r>
              <a:rPr lang="zh-CN" altLang="en-US" sz="2400" b="0" dirty="0" smtClean="0">
                <a:solidFill>
                  <a:srgbClr val="000000"/>
                </a:solidFill>
                <a:latin typeface="宋体" panose="02010600030101010101" pitchFamily="2" charset="-122"/>
                <a:ea typeface="宋体" panose="02010600030101010101" pitchFamily="2" charset="-122"/>
              </a:rPr>
              <a:t>缩小</a:t>
            </a:r>
            <a:r>
              <a:rPr lang="zh-CN" altLang="en-US" sz="2400" b="0" dirty="0">
                <a:solidFill>
                  <a:srgbClr val="000000"/>
                </a:solidFill>
                <a:latin typeface="宋体" panose="02010600030101010101" pitchFamily="2" charset="-122"/>
                <a:ea typeface="宋体" panose="02010600030101010101" pitchFamily="2" charset="-122"/>
              </a:rPr>
              <a:t>了</a:t>
            </a:r>
            <a:r>
              <a:rPr lang="zh-CN" altLang="en-US" sz="2400" b="0" dirty="0" smtClean="0">
                <a:solidFill>
                  <a:srgbClr val="000000"/>
                </a:solidFill>
                <a:latin typeface="宋体" panose="02010600030101010101" pitchFamily="2" charset="-122"/>
                <a:ea typeface="宋体" panose="02010600030101010101" pitchFamily="2" charset="-122"/>
              </a:rPr>
              <a:t>外</a:t>
            </a:r>
            <a:r>
              <a:rPr lang="zh-CN" altLang="en-US" sz="2400" b="0" dirty="0">
                <a:solidFill>
                  <a:srgbClr val="000000"/>
                </a:solidFill>
                <a:latin typeface="宋体" panose="02010600030101010101" pitchFamily="2" charset="-122"/>
                <a:ea typeface="宋体" panose="02010600030101010101" pitchFamily="2" charset="-122"/>
              </a:rPr>
              <a:t>接电容的电容量</a:t>
            </a:r>
            <a:endParaRPr lang="zh-CN" alt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文本框 2"/>
          <p:cNvSpPr txBox="1"/>
          <p:nvPr/>
        </p:nvSpPr>
        <p:spPr>
          <a:xfrm>
            <a:off x="213360" y="162560"/>
            <a:ext cx="3820160" cy="523220"/>
          </a:xfrm>
          <a:prstGeom prst="rect">
            <a:avLst/>
          </a:prstGeom>
          <a:noFill/>
        </p:spPr>
        <p:txBody>
          <a:bodyPr wrap="square" rtlCol="0">
            <a:spAutoFit/>
          </a:bodyPr>
          <a:lstStyle/>
          <a:p>
            <a:pPr>
              <a:spcAft>
                <a:spcPts val="1200"/>
              </a:spcAft>
            </a:pPr>
            <a:r>
              <a:rPr lang="zh-CN" altLang="en-US" b="0" dirty="0">
                <a:solidFill>
                  <a:srgbClr val="000000"/>
                </a:solidFill>
                <a:latin typeface="黑体" panose="02010609060101010101" pitchFamily="49" charset="-122"/>
                <a:ea typeface="黑体" panose="02010609060101010101" pitchFamily="49" charset="-122"/>
              </a:rPr>
              <a:t>二、超前补偿</a:t>
            </a:r>
            <a:endParaRPr lang="zh-CN" altLang="en-US" b="0" dirty="0">
              <a:solidFill>
                <a:srgbClr val="000000"/>
              </a:solidFill>
              <a:latin typeface="黑体" panose="02010609060101010101" pitchFamily="49" charset="-122"/>
              <a:ea typeface="黑体" panose="02010609060101010101" pitchFamily="49" charset="-122"/>
            </a:endParaRPr>
          </a:p>
        </p:txBody>
      </p:sp>
      <p:sp>
        <p:nvSpPr>
          <p:cNvPr id="40" name="矩形 39"/>
          <p:cNvSpPr/>
          <p:nvPr/>
        </p:nvSpPr>
        <p:spPr>
          <a:xfrm>
            <a:off x="0" y="1027920"/>
            <a:ext cx="8534400" cy="4454233"/>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400" b="0" dirty="0">
                <a:solidFill>
                  <a:srgbClr val="000000"/>
                </a:solidFill>
                <a:ea typeface="宋体" panose="02010600030101010101" pitchFamily="2" charset="-122"/>
                <a:cs typeface="Times New Roman" panose="02020603050405020304" pitchFamily="18" charset="0"/>
              </a:rPr>
              <a:t>滞后补偿方法通过降低</a:t>
            </a:r>
            <a:r>
              <a:rPr lang="zh-CN" altLang="en-US" sz="2400" b="0" dirty="0" smtClean="0">
                <a:solidFill>
                  <a:srgbClr val="000000"/>
                </a:solidFill>
                <a:ea typeface="宋体" panose="02010600030101010101" pitchFamily="2" charset="-122"/>
                <a:cs typeface="Times New Roman" panose="02020603050405020304" pitchFamily="18" charset="0"/>
              </a:rPr>
              <a:t>开环增益</a:t>
            </a:r>
            <a:r>
              <a:rPr lang="en-US" altLang="zh-CN" sz="2400" b="0" dirty="0" smtClean="0">
                <a:solidFill>
                  <a:srgbClr val="000000"/>
                </a:solidFill>
                <a:ea typeface="宋体" panose="02010600030101010101" pitchFamily="2" charset="-122"/>
                <a:cs typeface="Times New Roman" panose="02020603050405020304" pitchFamily="18" charset="0"/>
              </a:rPr>
              <a:t>A</a:t>
            </a:r>
            <a:r>
              <a:rPr lang="zh-CN" altLang="en-US" sz="2400" b="0" dirty="0" smtClean="0">
                <a:solidFill>
                  <a:srgbClr val="000000"/>
                </a:solidFill>
                <a:ea typeface="宋体" panose="02010600030101010101" pitchFamily="2" charset="-122"/>
                <a:cs typeface="Times New Roman" panose="02020603050405020304" pitchFamily="18" charset="0"/>
              </a:rPr>
              <a:t>的</a:t>
            </a:r>
            <a:r>
              <a:rPr lang="zh-CN" altLang="en-US" sz="2400" b="0" dirty="0">
                <a:solidFill>
                  <a:srgbClr val="000000"/>
                </a:solidFill>
                <a:ea typeface="宋体" panose="02010600030101010101" pitchFamily="2" charset="-122"/>
                <a:cs typeface="Times New Roman" panose="02020603050405020304" pitchFamily="18" charset="0"/>
              </a:rPr>
              <a:t>第一个极点频率 </a:t>
            </a:r>
            <a:r>
              <a:rPr lang="en-US" altLang="zh-CN" sz="2400" b="0" i="1" dirty="0" smtClean="0">
                <a:solidFill>
                  <a:srgbClr val="000000"/>
                </a:solidFill>
                <a:cs typeface="Times New Roman" panose="02020603050405020304" pitchFamily="18" charset="0"/>
              </a:rPr>
              <a:t>f</a:t>
            </a:r>
            <a:r>
              <a:rPr lang="en-US" altLang="zh-CN" sz="2400" b="0" i="1" baseline="-25000" dirty="0" smtClean="0">
                <a:solidFill>
                  <a:srgbClr val="000000"/>
                </a:solidFill>
                <a:cs typeface="Times New Roman" panose="02020603050405020304" pitchFamily="18" charset="0"/>
              </a:rPr>
              <a:t>1</a:t>
            </a:r>
            <a:r>
              <a:rPr lang="zh-CN" altLang="en-US" sz="2400" b="0" dirty="0" smtClean="0">
                <a:solidFill>
                  <a:srgbClr val="000000"/>
                </a:solidFill>
                <a:ea typeface="宋体" panose="02010600030101010101" pitchFamily="2" charset="-122"/>
                <a:cs typeface="Times New Roman" panose="02020603050405020304" pitchFamily="18" charset="0"/>
              </a:rPr>
              <a:t>，</a:t>
            </a:r>
            <a:r>
              <a:rPr lang="zh-CN" altLang="en-US" sz="2400" b="0" dirty="0">
                <a:solidFill>
                  <a:srgbClr val="000000"/>
                </a:solidFill>
                <a:ea typeface="宋体" panose="02010600030101010101" pitchFamily="2" charset="-122"/>
                <a:cs typeface="Times New Roman" panose="02020603050405020304" pitchFamily="18" charset="0"/>
              </a:rPr>
              <a:t>即以降低上限频率 </a:t>
            </a:r>
            <a:r>
              <a:rPr lang="en-US" altLang="zh-CN" sz="2400" b="0" i="1" dirty="0" err="1" smtClean="0">
                <a:solidFill>
                  <a:srgbClr val="000000"/>
                </a:solidFill>
                <a:cs typeface="Times New Roman" panose="02020603050405020304" pitchFamily="18" charset="0"/>
              </a:rPr>
              <a:t>f</a:t>
            </a:r>
            <a:r>
              <a:rPr lang="en-US" altLang="zh-CN" sz="2400" b="0" i="1" baseline="-25000" dirty="0" err="1" smtClean="0">
                <a:solidFill>
                  <a:srgbClr val="000000"/>
                </a:solidFill>
                <a:cs typeface="Times New Roman" panose="02020603050405020304" pitchFamily="18" charset="0"/>
              </a:rPr>
              <a:t>H</a:t>
            </a:r>
            <a:r>
              <a:rPr lang="zh-CN" altLang="en-US" sz="2400" b="0" dirty="0" smtClean="0">
                <a:solidFill>
                  <a:srgbClr val="000000"/>
                </a:solidFill>
                <a:ea typeface="宋体" panose="02010600030101010101" pitchFamily="2" charset="-122"/>
                <a:cs typeface="Times New Roman" panose="02020603050405020304" pitchFamily="18" charset="0"/>
              </a:rPr>
              <a:t>为代价来</a:t>
            </a:r>
            <a:r>
              <a:rPr lang="zh-CN" altLang="en-US" sz="2400" b="0" dirty="0">
                <a:solidFill>
                  <a:srgbClr val="000000"/>
                </a:solidFill>
                <a:ea typeface="宋体" panose="02010600030101010101" pitchFamily="2" charset="-122"/>
                <a:cs typeface="Times New Roman" panose="02020603050405020304" pitchFamily="18" charset="0"/>
              </a:rPr>
              <a:t>获得所需的相位裕度</a:t>
            </a:r>
            <a:r>
              <a:rPr lang="zh-CN" altLang="en-US" sz="2400" b="0" dirty="0" smtClean="0">
                <a:solidFill>
                  <a:srgbClr val="000000"/>
                </a:solidFill>
                <a:ea typeface="宋体" panose="02010600030101010101" pitchFamily="2" charset="-122"/>
                <a:cs typeface="Times New Roman" panose="02020603050405020304" pitchFamily="18" charset="0"/>
              </a:rPr>
              <a:t>。</a:t>
            </a:r>
            <a:endParaRPr lang="en-US" altLang="zh-CN" sz="2400" b="0" dirty="0" smtClean="0">
              <a:solidFill>
                <a:srgbClr val="000000"/>
              </a:solidFill>
              <a:ea typeface="宋体" panose="02010600030101010101" pitchFamily="2" charset="-122"/>
              <a:cs typeface="Times New Roman" panose="02020603050405020304" pitchFamily="18" charset="0"/>
            </a:endParaRPr>
          </a:p>
          <a:p>
            <a:pPr marL="457200" indent="-457200">
              <a:lnSpc>
                <a:spcPct val="150000"/>
              </a:lnSpc>
              <a:buFont typeface="Wingdings" panose="05000000000000000000" pitchFamily="2" charset="2"/>
              <a:buChar char="l"/>
            </a:pPr>
            <a:r>
              <a:rPr lang="zh-CN" altLang="en-US" sz="2400" b="0" dirty="0" smtClean="0">
                <a:solidFill>
                  <a:srgbClr val="000000"/>
                </a:solidFill>
                <a:ea typeface="宋体" panose="02010600030101010101" pitchFamily="2" charset="-122"/>
                <a:cs typeface="Times New Roman" panose="02020603050405020304" pitchFamily="18" charset="0"/>
              </a:rPr>
              <a:t>若</a:t>
            </a:r>
            <a:r>
              <a:rPr lang="zh-CN" altLang="en-US" sz="2400" b="0" dirty="0">
                <a:solidFill>
                  <a:srgbClr val="000000"/>
                </a:solidFill>
                <a:ea typeface="宋体" panose="02010600030101010101" pitchFamily="2" charset="-122"/>
                <a:cs typeface="Times New Roman" panose="02020603050405020304" pitchFamily="18" charset="0"/>
              </a:rPr>
              <a:t>在获得所需的相位裕度的同时，还要不</a:t>
            </a:r>
            <a:r>
              <a:rPr lang="zh-CN" altLang="en-US" sz="2400" b="0" dirty="0" smtClean="0">
                <a:solidFill>
                  <a:srgbClr val="000000"/>
                </a:solidFill>
                <a:ea typeface="宋体" panose="02010600030101010101" pitchFamily="2" charset="-122"/>
                <a:cs typeface="Times New Roman" panose="02020603050405020304" pitchFamily="18" charset="0"/>
              </a:rPr>
              <a:t>降低</a:t>
            </a:r>
            <a:r>
              <a:rPr lang="en-US" altLang="zh-CN" sz="2400" b="0" i="1" dirty="0">
                <a:solidFill>
                  <a:srgbClr val="000000"/>
                </a:solidFill>
                <a:cs typeface="Times New Roman" panose="02020603050405020304" pitchFamily="18" charset="0"/>
              </a:rPr>
              <a:t>f</a:t>
            </a:r>
            <a:r>
              <a:rPr lang="en-US" altLang="zh-CN" sz="2400" b="0" i="1" baseline="-25000" dirty="0">
                <a:solidFill>
                  <a:srgbClr val="000000"/>
                </a:solidFill>
                <a:cs typeface="Times New Roman" panose="02020603050405020304" pitchFamily="18" charset="0"/>
              </a:rPr>
              <a:t>1 </a:t>
            </a:r>
            <a:r>
              <a:rPr lang="zh-CN" altLang="en-US" sz="2400" b="0" dirty="0" smtClean="0">
                <a:solidFill>
                  <a:srgbClr val="000000"/>
                </a:solidFill>
                <a:ea typeface="宋体" panose="02010600030101010101" pitchFamily="2" charset="-122"/>
                <a:cs typeface="Times New Roman" panose="02020603050405020304" pitchFamily="18" charset="0"/>
              </a:rPr>
              <a:t>，</a:t>
            </a:r>
            <a:r>
              <a:rPr lang="zh-CN" altLang="en-US" sz="2400" b="0" dirty="0">
                <a:solidFill>
                  <a:srgbClr val="000000"/>
                </a:solidFill>
                <a:ea typeface="宋体" panose="02010600030101010101" pitchFamily="2" charset="-122"/>
                <a:cs typeface="Times New Roman" panose="02020603050405020304" pitchFamily="18" charset="0"/>
              </a:rPr>
              <a:t>可以采用</a:t>
            </a:r>
            <a:r>
              <a:rPr lang="zh-CN" altLang="en-US" sz="2400" b="0" dirty="0" smtClean="0">
                <a:solidFill>
                  <a:srgbClr val="000000"/>
                </a:solidFill>
                <a:ea typeface="宋体" panose="02010600030101010101" pitchFamily="2" charset="-122"/>
                <a:cs typeface="Times New Roman" panose="02020603050405020304" pitchFamily="18" charset="0"/>
              </a:rPr>
              <a:t>超前补偿</a:t>
            </a:r>
            <a:r>
              <a:rPr lang="zh-CN" altLang="en-US" sz="2400" b="0" dirty="0">
                <a:solidFill>
                  <a:srgbClr val="000000"/>
                </a:solidFill>
                <a:ea typeface="宋体" panose="02010600030101010101" pitchFamily="2" charset="-122"/>
                <a:cs typeface="Times New Roman" panose="02020603050405020304" pitchFamily="18" charset="0"/>
              </a:rPr>
              <a:t>的方法</a:t>
            </a:r>
            <a:r>
              <a:rPr lang="zh-CN" altLang="en-US" sz="2400" b="0" dirty="0" smtClean="0">
                <a:solidFill>
                  <a:srgbClr val="000000"/>
                </a:solidFill>
                <a:ea typeface="宋体" panose="02010600030101010101" pitchFamily="2" charset="-122"/>
                <a:cs typeface="Times New Roman" panose="02020603050405020304" pitchFamily="18" charset="0"/>
              </a:rPr>
              <a:t>。</a:t>
            </a:r>
            <a:endParaRPr lang="en-US" altLang="zh-CN" sz="2400" b="0" dirty="0" smtClean="0">
              <a:solidFill>
                <a:srgbClr val="000000"/>
              </a:solidFill>
              <a:ea typeface="宋体" panose="02010600030101010101" pitchFamily="2" charset="-122"/>
              <a:cs typeface="Times New Roman" panose="02020603050405020304" pitchFamily="18" charset="0"/>
            </a:endParaRPr>
          </a:p>
          <a:p>
            <a:pPr marL="457200" indent="-457200">
              <a:lnSpc>
                <a:spcPct val="150000"/>
              </a:lnSpc>
              <a:buFont typeface="Wingdings" panose="05000000000000000000" pitchFamily="2" charset="2"/>
              <a:buChar char="l"/>
            </a:pPr>
            <a:r>
              <a:rPr lang="zh-CN" altLang="en-US" sz="2400" b="0" dirty="0" smtClean="0">
                <a:solidFill>
                  <a:srgbClr val="000000"/>
                </a:solidFill>
                <a:ea typeface="宋体" panose="02010600030101010101" pitchFamily="2" charset="-122"/>
                <a:cs typeface="Times New Roman" panose="02020603050405020304" pitchFamily="18" charset="0"/>
              </a:rPr>
              <a:t>这种</a:t>
            </a:r>
            <a:r>
              <a:rPr lang="zh-CN" altLang="en-US" sz="2400" b="0" dirty="0">
                <a:solidFill>
                  <a:srgbClr val="000000"/>
                </a:solidFill>
                <a:ea typeface="宋体" panose="02010600030101010101" pitchFamily="2" charset="-122"/>
                <a:cs typeface="Times New Roman" panose="02020603050405020304" pitchFamily="18" charset="0"/>
              </a:rPr>
              <a:t>补偿技术的出发点是</a:t>
            </a:r>
            <a:r>
              <a:rPr lang="zh-CN" altLang="en-US" sz="2400" b="0" dirty="0" smtClean="0">
                <a:solidFill>
                  <a:srgbClr val="000000"/>
                </a:solidFill>
                <a:ea typeface="宋体" panose="02010600030101010101" pitchFamily="2" charset="-122"/>
                <a:cs typeface="Times New Roman" panose="02020603050405020304" pitchFamily="18" charset="0"/>
              </a:rPr>
              <a:t>在</a:t>
            </a:r>
            <a:r>
              <a:rPr lang="en-US" altLang="zh-CN" sz="2400" b="0" dirty="0" smtClean="0">
                <a:solidFill>
                  <a:srgbClr val="000000"/>
                </a:solidFill>
                <a:ea typeface="宋体" panose="02010600030101010101" pitchFamily="2" charset="-122"/>
                <a:cs typeface="Times New Roman" panose="02020603050405020304" pitchFamily="18" charset="0"/>
              </a:rPr>
              <a:t>A</a:t>
            </a:r>
            <a:r>
              <a:rPr lang="zh-CN" altLang="en-US" sz="2400" b="0" dirty="0" smtClean="0">
                <a:solidFill>
                  <a:srgbClr val="000000"/>
                </a:solidFill>
                <a:ea typeface="宋体" panose="02010600030101010101" pitchFamily="2" charset="-122"/>
                <a:cs typeface="Times New Roman" panose="02020603050405020304" pitchFamily="18" charset="0"/>
              </a:rPr>
              <a:t>或</a:t>
            </a:r>
            <a:r>
              <a:rPr lang="en-US" altLang="zh-CN" sz="2400" b="0" dirty="0" smtClean="0">
                <a:solidFill>
                  <a:srgbClr val="000000"/>
                </a:solidFill>
                <a:ea typeface="宋体" panose="02010600030101010101" pitchFamily="2" charset="-122"/>
                <a:cs typeface="Times New Roman" panose="02020603050405020304" pitchFamily="18" charset="0"/>
              </a:rPr>
              <a:t>F</a:t>
            </a:r>
            <a:r>
              <a:rPr lang="zh-CN" altLang="en-US" sz="2400" b="0" dirty="0" smtClean="0">
                <a:solidFill>
                  <a:srgbClr val="000000"/>
                </a:solidFill>
                <a:ea typeface="宋体" panose="02010600030101010101" pitchFamily="2" charset="-122"/>
                <a:cs typeface="Times New Roman" panose="02020603050405020304" pitchFamily="18" charset="0"/>
              </a:rPr>
              <a:t>中</a:t>
            </a:r>
            <a:r>
              <a:rPr lang="zh-CN" altLang="en-US" sz="2400" b="0" dirty="0">
                <a:solidFill>
                  <a:srgbClr val="000000"/>
                </a:solidFill>
                <a:ea typeface="宋体" panose="02010600030101010101" pitchFamily="2" charset="-122"/>
                <a:cs typeface="Times New Roman" panose="02020603050405020304" pitchFamily="18" charset="0"/>
              </a:rPr>
              <a:t>引入一个具有超前相移的零点，</a:t>
            </a:r>
            <a:r>
              <a:rPr lang="zh-CN" altLang="en-US" sz="2400" b="0" dirty="0" smtClean="0">
                <a:solidFill>
                  <a:srgbClr val="000000"/>
                </a:solidFill>
                <a:ea typeface="宋体" panose="02010600030101010101" pitchFamily="2" charset="-122"/>
                <a:cs typeface="Times New Roman" panose="02020603050405020304" pitchFamily="18" charset="0"/>
              </a:rPr>
              <a:t>抵消</a:t>
            </a:r>
            <a:r>
              <a:rPr lang="en-US" altLang="zh-CN" sz="2400" b="0" dirty="0" smtClean="0">
                <a:solidFill>
                  <a:srgbClr val="000000"/>
                </a:solidFill>
                <a:ea typeface="宋体" panose="02010600030101010101" pitchFamily="2" charset="-122"/>
                <a:cs typeface="Times New Roman" panose="02020603050405020304" pitchFamily="18" charset="0"/>
              </a:rPr>
              <a:t>A</a:t>
            </a:r>
            <a:r>
              <a:rPr lang="zh-CN" altLang="en-US" sz="2400" b="0" dirty="0" smtClean="0">
                <a:solidFill>
                  <a:srgbClr val="000000"/>
                </a:solidFill>
                <a:ea typeface="宋体" panose="02010600030101010101" pitchFamily="2" charset="-122"/>
                <a:cs typeface="Times New Roman" panose="02020603050405020304" pitchFamily="18" charset="0"/>
              </a:rPr>
              <a:t>中原来</a:t>
            </a:r>
            <a:r>
              <a:rPr lang="zh-CN" altLang="en-US" sz="2400" b="0" dirty="0">
                <a:solidFill>
                  <a:srgbClr val="000000"/>
                </a:solidFill>
                <a:ea typeface="宋体" panose="02010600030101010101" pitchFamily="2" charset="-122"/>
                <a:cs typeface="Times New Roman" panose="02020603050405020304" pitchFamily="18" charset="0"/>
              </a:rPr>
              <a:t>的滞后相移，使环路增益 </a:t>
            </a:r>
            <a:r>
              <a:rPr lang="en-US" altLang="zh-CN" sz="2400" b="0" dirty="0" smtClean="0">
                <a:solidFill>
                  <a:srgbClr val="000000"/>
                </a:solidFill>
                <a:ea typeface="宋体" panose="02010600030101010101" pitchFamily="2" charset="-122"/>
                <a:cs typeface="Times New Roman" panose="02020603050405020304" pitchFamily="18" charset="0"/>
              </a:rPr>
              <a:t>AF</a:t>
            </a:r>
            <a:r>
              <a:rPr lang="zh-CN" altLang="en-US" sz="2400" b="0" dirty="0" smtClean="0">
                <a:solidFill>
                  <a:srgbClr val="000000"/>
                </a:solidFill>
                <a:ea typeface="宋体" panose="02010600030101010101" pitchFamily="2" charset="-122"/>
                <a:cs typeface="Times New Roman" panose="02020603050405020304" pitchFamily="18" charset="0"/>
              </a:rPr>
              <a:t>的</a:t>
            </a:r>
            <a:r>
              <a:rPr lang="zh-CN" altLang="en-US" sz="2400" b="0" dirty="0">
                <a:solidFill>
                  <a:srgbClr val="000000"/>
                </a:solidFill>
                <a:ea typeface="宋体" panose="02010600030101010101" pitchFamily="2" charset="-122"/>
                <a:cs typeface="Times New Roman" panose="02020603050405020304" pitchFamily="18" charset="0"/>
              </a:rPr>
              <a:t>相位比补偿前超前一个角度</a:t>
            </a:r>
            <a:r>
              <a:rPr lang="zh-CN" altLang="en-US" sz="2400" b="0" dirty="0" smtClean="0">
                <a:solidFill>
                  <a:srgbClr val="000000"/>
                </a:solidFill>
                <a:ea typeface="宋体" panose="02010600030101010101" pitchFamily="2" charset="-122"/>
                <a:cs typeface="Times New Roman" panose="02020603050405020304" pitchFamily="18" charset="0"/>
              </a:rPr>
              <a:t>。</a:t>
            </a:r>
            <a:endParaRPr lang="en-US" altLang="zh-CN" sz="2400" b="0" dirty="0" smtClean="0">
              <a:solidFill>
                <a:srgbClr val="000000"/>
              </a:solidFill>
              <a:ea typeface="宋体" panose="02010600030101010101" pitchFamily="2" charset="-122"/>
              <a:cs typeface="Times New Roman" panose="02020603050405020304" pitchFamily="18" charset="0"/>
            </a:endParaRPr>
          </a:p>
          <a:p>
            <a:pPr marL="457200" indent="-457200">
              <a:lnSpc>
                <a:spcPct val="150000"/>
              </a:lnSpc>
              <a:buFont typeface="Wingdings" panose="05000000000000000000" pitchFamily="2" charset="2"/>
              <a:buChar char="l"/>
            </a:pPr>
            <a:r>
              <a:rPr lang="zh-CN" altLang="en-US" sz="2400" b="0" dirty="0" smtClean="0">
                <a:solidFill>
                  <a:srgbClr val="000000"/>
                </a:solidFill>
                <a:ea typeface="宋体" panose="02010600030101010101" pitchFamily="2" charset="-122"/>
                <a:cs typeface="Times New Roman" panose="02020603050405020304" pitchFamily="18" charset="0"/>
              </a:rPr>
              <a:t>由于</a:t>
            </a:r>
            <a:r>
              <a:rPr lang="zh-CN" altLang="en-US" sz="2400" b="0" dirty="0">
                <a:solidFill>
                  <a:srgbClr val="000000"/>
                </a:solidFill>
                <a:ea typeface="宋体" panose="02010600030101010101" pitchFamily="2" charset="-122"/>
                <a:cs typeface="Times New Roman" panose="02020603050405020304" pitchFamily="18" charset="0"/>
              </a:rPr>
              <a:t>这种补偿使放大</a:t>
            </a:r>
            <a:r>
              <a:rPr lang="zh-CN" altLang="en-US" sz="2400" b="0" dirty="0" smtClean="0">
                <a:solidFill>
                  <a:srgbClr val="000000"/>
                </a:solidFill>
                <a:ea typeface="宋体" panose="02010600030101010101" pitchFamily="2" charset="-122"/>
                <a:cs typeface="Times New Roman" panose="02020603050405020304" pitchFamily="18" charset="0"/>
              </a:rPr>
              <a:t>电路的</a:t>
            </a:r>
            <a:r>
              <a:rPr lang="zh-CN" altLang="en-US" sz="2400" b="0" dirty="0">
                <a:solidFill>
                  <a:srgbClr val="000000"/>
                </a:solidFill>
                <a:ea typeface="宋体" panose="02010600030101010101" pitchFamily="2" charset="-122"/>
                <a:cs typeface="Times New Roman" panose="02020603050405020304" pitchFamily="18" charset="0"/>
              </a:rPr>
              <a:t>相位超前，故称为超前补偿。</a:t>
            </a:r>
            <a:endParaRPr lang="zh-CN" altLang="en-US" sz="2400" dirty="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A2D3CBB-7FF9-45BD-8E83-1A9AA3158425}" type="slidenum">
              <a:rPr lang="zh-CN" altLang="zh-CN" smtClean="0"/>
            </a:fld>
            <a:endParaRPr lang="zh-CN" altLang="zh-CN"/>
          </a:p>
        </p:txBody>
      </p:sp>
      <p:sp>
        <p:nvSpPr>
          <p:cNvPr id="3" name="文本框 2"/>
          <p:cNvSpPr txBox="1"/>
          <p:nvPr/>
        </p:nvSpPr>
        <p:spPr>
          <a:xfrm>
            <a:off x="213360" y="162560"/>
            <a:ext cx="3820160" cy="523220"/>
          </a:xfrm>
          <a:prstGeom prst="rect">
            <a:avLst/>
          </a:prstGeom>
          <a:noFill/>
        </p:spPr>
        <p:txBody>
          <a:bodyPr wrap="square" rtlCol="0">
            <a:spAutoFit/>
          </a:bodyPr>
          <a:lstStyle/>
          <a:p>
            <a:r>
              <a:rPr lang="zh-CN" altLang="en-US" dirty="0" smtClean="0"/>
              <a:t>二、超前补偿</a:t>
            </a:r>
            <a:endParaRPr lang="zh-CN" altLang="en-US" dirty="0"/>
          </a:p>
        </p:txBody>
      </p:sp>
      <p:sp>
        <p:nvSpPr>
          <p:cNvPr id="4" name="Rectangle 5"/>
          <p:cNvSpPr>
            <a:spLocks noChangeArrowheads="1"/>
          </p:cNvSpPr>
          <p:nvPr/>
        </p:nvSpPr>
        <p:spPr bwMode="auto">
          <a:xfrm>
            <a:off x="881674" y="1932265"/>
            <a:ext cx="733425"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sz="1800" b="1">
                <a:solidFill>
                  <a:srgbClr val="000000"/>
                </a:solidFill>
                <a:latin typeface="Times New Roman" panose="02020603050405020304" pitchFamily="18" charset="0"/>
                <a:ea typeface="宋体" panose="02010600030101010101" pitchFamily="2" charset="-122"/>
              </a:rPr>
              <a:t>20lg|</a:t>
            </a:r>
            <a:r>
              <a:rPr kumimoji="1" lang="en-US" altLang="zh-CN" sz="1800" b="1" i="1">
                <a:solidFill>
                  <a:srgbClr val="000000"/>
                </a:solidFill>
                <a:latin typeface="Times New Roman" panose="02020603050405020304" pitchFamily="18" charset="0"/>
                <a:ea typeface="宋体" panose="02010600030101010101" pitchFamily="2" charset="-122"/>
              </a:rPr>
              <a:t>A</a:t>
            </a:r>
            <a:r>
              <a:rPr kumimoji="1" lang="en-US" altLang="zh-CN" sz="1800" b="1">
                <a:solidFill>
                  <a:srgbClr val="000000"/>
                </a:solidFill>
                <a:latin typeface="Times New Roman" panose="02020603050405020304" pitchFamily="18" charset="0"/>
                <a:ea typeface="宋体" panose="02010600030101010101" pitchFamily="2" charset="-122"/>
              </a:rPr>
              <a:t>|</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5" name="Rectangle 6"/>
          <p:cNvSpPr>
            <a:spLocks noChangeArrowheads="1"/>
          </p:cNvSpPr>
          <p:nvPr/>
        </p:nvSpPr>
        <p:spPr bwMode="auto">
          <a:xfrm>
            <a:off x="1317865" y="1805265"/>
            <a:ext cx="769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just" eaLnBrk="1" hangingPunct="1">
              <a:spcBef>
                <a:spcPct val="50000"/>
              </a:spcBef>
            </a:pPr>
            <a:r>
              <a:rPr kumimoji="1" lang="en-US" altLang="zh-CN" sz="1800" b="1">
                <a:solidFill>
                  <a:srgbClr val="000000"/>
                </a:solidFill>
                <a:latin typeface="Times New Roman" panose="02020603050405020304" pitchFamily="18" charset="0"/>
                <a:ea typeface="宋体" panose="02010600030101010101" pitchFamily="2" charset="-122"/>
              </a:rPr>
              <a:t>·</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6" name="Rectangle 7"/>
          <p:cNvSpPr>
            <a:spLocks noChangeArrowheads="1"/>
          </p:cNvSpPr>
          <p:nvPr/>
        </p:nvSpPr>
        <p:spPr bwMode="auto">
          <a:xfrm>
            <a:off x="6869838" y="4242077"/>
            <a:ext cx="238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sz="1800" b="1" i="1">
                <a:solidFill>
                  <a:srgbClr val="000000"/>
                </a:solidFill>
                <a:latin typeface="Times New Roman" panose="02020603050405020304" pitchFamily="18" charset="0"/>
                <a:ea typeface="宋体" panose="02010600030101010101" pitchFamily="2" charset="-122"/>
              </a:rPr>
              <a:t>f</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7" name="Freeform 9"/>
          <p:cNvSpPr>
            <a:spLocks noEditPoints="1"/>
          </p:cNvSpPr>
          <p:nvPr/>
        </p:nvSpPr>
        <p:spPr bwMode="auto">
          <a:xfrm>
            <a:off x="740387" y="1995765"/>
            <a:ext cx="82550" cy="2614613"/>
          </a:xfrm>
          <a:custGeom>
            <a:avLst/>
            <a:gdLst>
              <a:gd name="T0" fmla="*/ 32 w 85"/>
              <a:gd name="T1" fmla="*/ 2494 h 2494"/>
              <a:gd name="T2" fmla="*/ 32 w 85"/>
              <a:gd name="T3" fmla="*/ 85 h 2494"/>
              <a:gd name="T4" fmla="*/ 53 w 85"/>
              <a:gd name="T5" fmla="*/ 85 h 2494"/>
              <a:gd name="T6" fmla="*/ 53 w 85"/>
              <a:gd name="T7" fmla="*/ 2494 h 2494"/>
              <a:gd name="T8" fmla="*/ 32 w 85"/>
              <a:gd name="T9" fmla="*/ 2494 h 2494"/>
              <a:gd name="T10" fmla="*/ 42 w 85"/>
              <a:gd name="T11" fmla="*/ 85 h 2494"/>
              <a:gd name="T12" fmla="*/ 0 w 85"/>
              <a:gd name="T13" fmla="*/ 142 h 2494"/>
              <a:gd name="T14" fmla="*/ 42 w 85"/>
              <a:gd name="T15" fmla="*/ 0 h 2494"/>
              <a:gd name="T16" fmla="*/ 85 w 85"/>
              <a:gd name="T17" fmla="*/ 142 h 2494"/>
              <a:gd name="T18" fmla="*/ 42 w 85"/>
              <a:gd name="T19" fmla="*/ 85 h 2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2494">
                <a:moveTo>
                  <a:pt x="32" y="2494"/>
                </a:moveTo>
                <a:lnTo>
                  <a:pt x="32" y="85"/>
                </a:lnTo>
                <a:lnTo>
                  <a:pt x="53" y="85"/>
                </a:lnTo>
                <a:lnTo>
                  <a:pt x="53" y="2494"/>
                </a:lnTo>
                <a:lnTo>
                  <a:pt x="32" y="2494"/>
                </a:lnTo>
                <a:close/>
                <a:moveTo>
                  <a:pt x="42" y="85"/>
                </a:moveTo>
                <a:lnTo>
                  <a:pt x="0" y="142"/>
                </a:lnTo>
                <a:lnTo>
                  <a:pt x="42" y="0"/>
                </a:lnTo>
                <a:lnTo>
                  <a:pt x="85" y="142"/>
                </a:lnTo>
                <a:lnTo>
                  <a:pt x="42" y="85"/>
                </a:lnTo>
                <a:close/>
              </a:path>
            </a:pathLst>
          </a:custGeom>
          <a:solidFill>
            <a:srgbClr val="000000"/>
          </a:solidFill>
          <a:ln w="1270" cap="flat">
            <a:solidFill>
              <a:srgbClr val="000000"/>
            </a:solidFill>
            <a:prstDash val="solid"/>
            <a:bevel/>
          </a:ln>
        </p:spPr>
        <p:txBody>
          <a:bodyPr/>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8" name="Freeform 10"/>
          <p:cNvSpPr>
            <a:spLocks noEditPoints="1"/>
          </p:cNvSpPr>
          <p:nvPr/>
        </p:nvSpPr>
        <p:spPr bwMode="auto">
          <a:xfrm>
            <a:off x="549887" y="4275415"/>
            <a:ext cx="6210300" cy="80963"/>
          </a:xfrm>
          <a:custGeom>
            <a:avLst/>
            <a:gdLst>
              <a:gd name="T0" fmla="*/ 0 w 6695"/>
              <a:gd name="T1" fmla="*/ 32 h 85"/>
              <a:gd name="T2" fmla="*/ 6609 w 6695"/>
              <a:gd name="T3" fmla="*/ 32 h 85"/>
              <a:gd name="T4" fmla="*/ 6609 w 6695"/>
              <a:gd name="T5" fmla="*/ 53 h 85"/>
              <a:gd name="T6" fmla="*/ 0 w 6695"/>
              <a:gd name="T7" fmla="*/ 53 h 85"/>
              <a:gd name="T8" fmla="*/ 0 w 6695"/>
              <a:gd name="T9" fmla="*/ 32 h 85"/>
              <a:gd name="T10" fmla="*/ 6609 w 6695"/>
              <a:gd name="T11" fmla="*/ 42 h 85"/>
              <a:gd name="T12" fmla="*/ 6552 w 6695"/>
              <a:gd name="T13" fmla="*/ 0 h 85"/>
              <a:gd name="T14" fmla="*/ 6695 w 6695"/>
              <a:gd name="T15" fmla="*/ 42 h 85"/>
              <a:gd name="T16" fmla="*/ 6552 w 6695"/>
              <a:gd name="T17" fmla="*/ 85 h 85"/>
              <a:gd name="T18" fmla="*/ 6609 w 6695"/>
              <a:gd name="T19"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95" h="85">
                <a:moveTo>
                  <a:pt x="0" y="32"/>
                </a:moveTo>
                <a:lnTo>
                  <a:pt x="6609" y="32"/>
                </a:lnTo>
                <a:lnTo>
                  <a:pt x="6609" y="53"/>
                </a:lnTo>
                <a:lnTo>
                  <a:pt x="0" y="53"/>
                </a:lnTo>
                <a:lnTo>
                  <a:pt x="0" y="32"/>
                </a:lnTo>
                <a:close/>
                <a:moveTo>
                  <a:pt x="6609" y="42"/>
                </a:moveTo>
                <a:lnTo>
                  <a:pt x="6552" y="0"/>
                </a:lnTo>
                <a:lnTo>
                  <a:pt x="6695" y="42"/>
                </a:lnTo>
                <a:lnTo>
                  <a:pt x="6552" y="85"/>
                </a:lnTo>
                <a:lnTo>
                  <a:pt x="6609" y="42"/>
                </a:lnTo>
                <a:close/>
              </a:path>
            </a:pathLst>
          </a:custGeom>
          <a:solidFill>
            <a:srgbClr val="000000"/>
          </a:solidFill>
          <a:ln w="1270" cap="flat">
            <a:solidFill>
              <a:srgbClr val="000000"/>
            </a:solidFill>
            <a:prstDash val="solid"/>
            <a:bevel/>
          </a:ln>
        </p:spPr>
        <p:txBody>
          <a:bodyPr/>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9" name="Line 12"/>
          <p:cNvSpPr>
            <a:spLocks noChangeShapeType="1"/>
          </p:cNvSpPr>
          <p:nvPr/>
        </p:nvSpPr>
        <p:spPr bwMode="auto">
          <a:xfrm>
            <a:off x="3880462" y="2276753"/>
            <a:ext cx="1587" cy="2027237"/>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0" name="Line 13"/>
          <p:cNvSpPr>
            <a:spLocks noChangeShapeType="1"/>
          </p:cNvSpPr>
          <p:nvPr/>
        </p:nvSpPr>
        <p:spPr bwMode="auto">
          <a:xfrm>
            <a:off x="4707549" y="2273578"/>
            <a:ext cx="1588" cy="2051050"/>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1" name="Line 14"/>
          <p:cNvSpPr>
            <a:spLocks noChangeShapeType="1"/>
          </p:cNvSpPr>
          <p:nvPr/>
        </p:nvSpPr>
        <p:spPr bwMode="auto">
          <a:xfrm>
            <a:off x="5536224" y="2784753"/>
            <a:ext cx="4763" cy="1516062"/>
          </a:xfrm>
          <a:prstGeom prst="line">
            <a:avLst/>
          </a:prstGeom>
          <a:noFill/>
          <a:ln w="1270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2" name="Line 15"/>
          <p:cNvSpPr>
            <a:spLocks noChangeShapeType="1"/>
          </p:cNvSpPr>
          <p:nvPr/>
        </p:nvSpPr>
        <p:spPr bwMode="auto">
          <a:xfrm>
            <a:off x="802299" y="2279928"/>
            <a:ext cx="1417638" cy="1587"/>
          </a:xfrm>
          <a:prstGeom prst="line">
            <a:avLst/>
          </a:prstGeom>
          <a:noFill/>
          <a:ln w="19050" cap="rnd">
            <a:solidFill>
              <a:srgbClr val="FF0000"/>
            </a:solidFill>
            <a:prstDash val="sys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6"/>
          <p:cNvSpPr>
            <a:spLocks noChangeShapeType="1"/>
          </p:cNvSpPr>
          <p:nvPr/>
        </p:nvSpPr>
        <p:spPr bwMode="auto">
          <a:xfrm>
            <a:off x="1397612" y="2283103"/>
            <a:ext cx="3319462" cy="2032000"/>
          </a:xfrm>
          <a:prstGeom prst="line">
            <a:avLst/>
          </a:prstGeom>
          <a:noFill/>
          <a:ln w="19050">
            <a:solidFill>
              <a:srgbClr val="FF00FF"/>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4" name="Line 17"/>
          <p:cNvSpPr>
            <a:spLocks noChangeShapeType="1"/>
          </p:cNvSpPr>
          <p:nvPr/>
        </p:nvSpPr>
        <p:spPr bwMode="auto">
          <a:xfrm>
            <a:off x="783249" y="2283103"/>
            <a:ext cx="3084513" cy="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5" name="Line 18"/>
          <p:cNvSpPr>
            <a:spLocks noChangeShapeType="1"/>
          </p:cNvSpPr>
          <p:nvPr/>
        </p:nvSpPr>
        <p:spPr bwMode="auto">
          <a:xfrm>
            <a:off x="3877287" y="2291040"/>
            <a:ext cx="827087" cy="50800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6" name="Line 19"/>
          <p:cNvSpPr>
            <a:spLocks noChangeShapeType="1"/>
          </p:cNvSpPr>
          <p:nvPr/>
        </p:nvSpPr>
        <p:spPr bwMode="auto">
          <a:xfrm>
            <a:off x="4723424" y="2813328"/>
            <a:ext cx="815975" cy="992187"/>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7" name="Line 20"/>
          <p:cNvSpPr>
            <a:spLocks noChangeShapeType="1"/>
          </p:cNvSpPr>
          <p:nvPr/>
        </p:nvSpPr>
        <p:spPr bwMode="auto">
          <a:xfrm>
            <a:off x="5558449" y="3827740"/>
            <a:ext cx="241300" cy="482600"/>
          </a:xfrm>
          <a:prstGeom prst="line">
            <a:avLst/>
          </a:prstGeom>
          <a:noFill/>
          <a:ln w="19050">
            <a:solidFill>
              <a:srgbClr val="000000"/>
            </a:solidFill>
            <a:prstDash val="dash"/>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8" name="Line 21"/>
          <p:cNvSpPr>
            <a:spLocks noChangeShapeType="1"/>
          </p:cNvSpPr>
          <p:nvPr/>
        </p:nvSpPr>
        <p:spPr bwMode="auto">
          <a:xfrm>
            <a:off x="4704374" y="4324628"/>
            <a:ext cx="422275" cy="515937"/>
          </a:xfrm>
          <a:prstGeom prst="line">
            <a:avLst/>
          </a:prstGeom>
          <a:noFill/>
          <a:ln w="19050">
            <a:solidFill>
              <a:srgbClr val="FF00FF"/>
            </a:solidFill>
            <a:prstDash val="dash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19" name="Rectangle 24"/>
          <p:cNvSpPr>
            <a:spLocks noChangeArrowheads="1"/>
          </p:cNvSpPr>
          <p:nvPr/>
        </p:nvSpPr>
        <p:spPr bwMode="auto">
          <a:xfrm>
            <a:off x="600687" y="4310340"/>
            <a:ext cx="2222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en-US" altLang="zh-CN" sz="1800" b="1">
                <a:solidFill>
                  <a:srgbClr val="000000"/>
                </a:solidFill>
                <a:latin typeface="Times New Roman" panose="02020603050405020304" pitchFamily="18" charset="0"/>
                <a:ea typeface="宋体" panose="02010600030101010101" pitchFamily="2" charset="-122"/>
              </a:rPr>
              <a:t>0</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20" name="Line 25"/>
          <p:cNvSpPr>
            <a:spLocks noChangeShapeType="1"/>
          </p:cNvSpPr>
          <p:nvPr/>
        </p:nvSpPr>
        <p:spPr bwMode="auto">
          <a:xfrm>
            <a:off x="2243749" y="2286278"/>
            <a:ext cx="3284538" cy="2017712"/>
          </a:xfrm>
          <a:prstGeom prst="line">
            <a:avLst/>
          </a:prstGeom>
          <a:noFill/>
          <a:ln w="19050" cap="rnd">
            <a:solidFill>
              <a:srgbClr val="FF0000"/>
            </a:solidFill>
            <a:prstDash val="sys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1" name="Line 26"/>
          <p:cNvSpPr>
            <a:spLocks noChangeShapeType="1"/>
          </p:cNvSpPr>
          <p:nvPr/>
        </p:nvSpPr>
        <p:spPr bwMode="auto">
          <a:xfrm>
            <a:off x="5544162" y="4324628"/>
            <a:ext cx="422275" cy="515937"/>
          </a:xfrm>
          <a:prstGeom prst="line">
            <a:avLst/>
          </a:prstGeom>
          <a:noFill/>
          <a:ln w="19050" cap="rnd">
            <a:solidFill>
              <a:srgbClr val="FF0000"/>
            </a:solidFill>
            <a:prstDash val="sys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2" name="Rectangle 27"/>
          <p:cNvSpPr>
            <a:spLocks noChangeArrowheads="1"/>
          </p:cNvSpPr>
          <p:nvPr/>
        </p:nvSpPr>
        <p:spPr bwMode="auto">
          <a:xfrm>
            <a:off x="1672249" y="1617940"/>
            <a:ext cx="10175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zh-CN" altLang="en-US" sz="1800" dirty="0">
                <a:solidFill>
                  <a:srgbClr val="000000"/>
                </a:solidFill>
                <a:latin typeface="+mn-ea"/>
                <a:ea typeface="+mn-ea"/>
              </a:rPr>
              <a:t>电容补偿</a:t>
            </a:r>
            <a:endParaRPr kumimoji="1" lang="zh-CN" altLang="en-US" sz="1800" dirty="0">
              <a:solidFill>
                <a:srgbClr val="000000"/>
              </a:solidFill>
              <a:latin typeface="+mn-ea"/>
              <a:ea typeface="+mn-ea"/>
            </a:endParaRPr>
          </a:p>
        </p:txBody>
      </p:sp>
      <p:sp>
        <p:nvSpPr>
          <p:cNvPr id="23" name="Rectangle 28"/>
          <p:cNvSpPr>
            <a:spLocks noChangeArrowheads="1"/>
          </p:cNvSpPr>
          <p:nvPr/>
        </p:nvSpPr>
        <p:spPr bwMode="auto">
          <a:xfrm>
            <a:off x="2578193" y="2368828"/>
            <a:ext cx="13371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eaLnBrk="1" hangingPunct="1">
              <a:spcBef>
                <a:spcPct val="50000"/>
              </a:spcBef>
            </a:pPr>
            <a:r>
              <a:rPr kumimoji="1" lang="en-US" altLang="zh-CN" sz="1800" dirty="0">
                <a:solidFill>
                  <a:srgbClr val="000000"/>
                </a:solidFill>
                <a:latin typeface="+mn-lt"/>
                <a:ea typeface="+mn-ea"/>
              </a:rPr>
              <a:t>RC</a:t>
            </a:r>
            <a:r>
              <a:rPr kumimoji="1" lang="zh-CN" altLang="en-US" sz="1800" dirty="0">
                <a:solidFill>
                  <a:srgbClr val="000000"/>
                </a:solidFill>
                <a:latin typeface="+mn-lt"/>
                <a:ea typeface="+mn-ea"/>
              </a:rPr>
              <a:t>滞后补偿</a:t>
            </a:r>
            <a:endParaRPr kumimoji="1" lang="zh-CN" altLang="en-US" sz="1800" dirty="0">
              <a:solidFill>
                <a:srgbClr val="000000"/>
              </a:solidFill>
              <a:latin typeface="+mn-lt"/>
              <a:ea typeface="+mn-ea"/>
            </a:endParaRPr>
          </a:p>
        </p:txBody>
      </p:sp>
      <p:sp>
        <p:nvSpPr>
          <p:cNvPr id="24" name="Rectangle 29"/>
          <p:cNvSpPr>
            <a:spLocks noChangeArrowheads="1"/>
          </p:cNvSpPr>
          <p:nvPr/>
        </p:nvSpPr>
        <p:spPr bwMode="auto">
          <a:xfrm>
            <a:off x="4137637" y="1575078"/>
            <a:ext cx="7969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just" eaLnBrk="1" hangingPunct="1">
              <a:spcBef>
                <a:spcPct val="50000"/>
              </a:spcBef>
            </a:pPr>
            <a:r>
              <a:rPr kumimoji="1" lang="zh-CN" altLang="en-US" sz="1800" dirty="0">
                <a:solidFill>
                  <a:srgbClr val="000000"/>
                </a:solidFill>
                <a:latin typeface="+mn-ea"/>
                <a:ea typeface="+mn-ea"/>
              </a:rPr>
              <a:t>补偿前</a:t>
            </a:r>
            <a:endParaRPr kumimoji="1" lang="zh-CN" altLang="en-US" sz="1800" dirty="0">
              <a:solidFill>
                <a:srgbClr val="000000"/>
              </a:solidFill>
              <a:latin typeface="+mn-ea"/>
              <a:ea typeface="+mn-ea"/>
            </a:endParaRPr>
          </a:p>
        </p:txBody>
      </p:sp>
      <p:sp>
        <p:nvSpPr>
          <p:cNvPr id="25" name="Line 31"/>
          <p:cNvSpPr>
            <a:spLocks noChangeShapeType="1"/>
          </p:cNvSpPr>
          <p:nvPr/>
        </p:nvSpPr>
        <p:spPr bwMode="auto">
          <a:xfrm flipH="1">
            <a:off x="3428024" y="2622828"/>
            <a:ext cx="14288" cy="366712"/>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6" name="Line 32"/>
          <p:cNvSpPr>
            <a:spLocks noChangeShapeType="1"/>
          </p:cNvSpPr>
          <p:nvPr/>
        </p:nvSpPr>
        <p:spPr bwMode="auto">
          <a:xfrm flipH="1">
            <a:off x="4345599" y="1932265"/>
            <a:ext cx="1588" cy="557213"/>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27" name="Rectangle 33"/>
          <p:cNvSpPr>
            <a:spLocks noChangeArrowheads="1"/>
          </p:cNvSpPr>
          <p:nvPr/>
        </p:nvSpPr>
        <p:spPr bwMode="auto">
          <a:xfrm>
            <a:off x="1891324" y="4438928"/>
            <a:ext cx="5381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1" hangingPunct="1">
              <a:spcBef>
                <a:spcPct val="50000"/>
              </a:spcBef>
            </a:pPr>
            <a:endParaRPr kumimoji="1" lang="zh-CN" altLang="zh-CN" sz="1800" b="1">
              <a:solidFill>
                <a:srgbClr val="000000"/>
              </a:solidFill>
              <a:latin typeface="Times New Roman" panose="02020603050405020304" pitchFamily="18" charset="0"/>
              <a:ea typeface="宋体" panose="02010600030101010101" pitchFamily="2" charset="-122"/>
            </a:endParaRPr>
          </a:p>
        </p:txBody>
      </p:sp>
      <p:sp>
        <p:nvSpPr>
          <p:cNvPr id="28" name="Rectangle 34"/>
          <p:cNvSpPr>
            <a:spLocks noChangeArrowheads="1"/>
          </p:cNvSpPr>
          <p:nvPr/>
        </p:nvSpPr>
        <p:spPr bwMode="auto">
          <a:xfrm>
            <a:off x="3639162" y="4375428"/>
            <a:ext cx="5143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sz="1800" b="1" i="1" dirty="0">
                <a:solidFill>
                  <a:srgbClr val="000000"/>
                </a:solidFill>
                <a:latin typeface="Times New Roman" panose="02020603050405020304" pitchFamily="18" charset="0"/>
                <a:ea typeface="宋体" panose="02010600030101010101" pitchFamily="2" charset="-122"/>
              </a:rPr>
              <a:t>f</a:t>
            </a:r>
            <a:r>
              <a:rPr kumimoji="1" lang="en-US" altLang="zh-CN" sz="1800" b="1" baseline="-25000" dirty="0">
                <a:solidFill>
                  <a:srgbClr val="000000"/>
                </a:solidFill>
                <a:latin typeface="Times New Roman" panose="02020603050405020304" pitchFamily="18" charset="0"/>
                <a:ea typeface="宋体" panose="02010600030101010101" pitchFamily="2" charset="-122"/>
              </a:rPr>
              <a:t>H1</a:t>
            </a:r>
            <a:endParaRPr kumimoji="1" lang="en-US" altLang="zh-CN" sz="1800" b="1" dirty="0">
              <a:solidFill>
                <a:srgbClr val="000000"/>
              </a:solidFill>
              <a:latin typeface="Times New Roman" panose="02020603050405020304" pitchFamily="18" charset="0"/>
              <a:ea typeface="宋体" panose="02010600030101010101" pitchFamily="2" charset="-122"/>
            </a:endParaRPr>
          </a:p>
        </p:txBody>
      </p:sp>
      <p:sp>
        <p:nvSpPr>
          <p:cNvPr id="29" name="Rectangle 35"/>
          <p:cNvSpPr>
            <a:spLocks noChangeArrowheads="1"/>
          </p:cNvSpPr>
          <p:nvPr/>
        </p:nvSpPr>
        <p:spPr bwMode="auto">
          <a:xfrm>
            <a:off x="4372587" y="4364315"/>
            <a:ext cx="515937"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sz="1800" b="1" i="1">
                <a:solidFill>
                  <a:srgbClr val="000000"/>
                </a:solidFill>
                <a:latin typeface="Times New Roman" panose="02020603050405020304" pitchFamily="18" charset="0"/>
                <a:ea typeface="宋体" panose="02010600030101010101" pitchFamily="2" charset="-122"/>
              </a:rPr>
              <a:t>f</a:t>
            </a:r>
            <a:r>
              <a:rPr kumimoji="1" lang="en-US" altLang="zh-CN" sz="1800" b="1" baseline="-25000">
                <a:solidFill>
                  <a:srgbClr val="000000"/>
                </a:solidFill>
                <a:latin typeface="Times New Roman" panose="02020603050405020304" pitchFamily="18" charset="0"/>
                <a:ea typeface="宋体" panose="02010600030101010101" pitchFamily="2" charset="-122"/>
              </a:rPr>
              <a:t>H2</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30" name="Rectangle 36"/>
          <p:cNvSpPr>
            <a:spLocks noChangeArrowheads="1"/>
          </p:cNvSpPr>
          <p:nvPr/>
        </p:nvSpPr>
        <p:spPr bwMode="auto">
          <a:xfrm>
            <a:off x="5166337" y="4342090"/>
            <a:ext cx="515937"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1" hangingPunct="1">
              <a:spcBef>
                <a:spcPct val="50000"/>
              </a:spcBef>
            </a:pPr>
            <a:r>
              <a:rPr kumimoji="1" lang="en-US" altLang="zh-CN" sz="1800" b="1" i="1">
                <a:solidFill>
                  <a:srgbClr val="000000"/>
                </a:solidFill>
                <a:latin typeface="Times New Roman" panose="02020603050405020304" pitchFamily="18" charset="0"/>
                <a:ea typeface="宋体" panose="02010600030101010101" pitchFamily="2" charset="-122"/>
              </a:rPr>
              <a:t>f</a:t>
            </a:r>
            <a:r>
              <a:rPr kumimoji="1" lang="en-US" altLang="zh-CN" sz="1800" b="1" baseline="-25000">
                <a:solidFill>
                  <a:srgbClr val="000000"/>
                </a:solidFill>
                <a:latin typeface="Times New Roman" panose="02020603050405020304" pitchFamily="18" charset="0"/>
                <a:ea typeface="宋体" panose="02010600030101010101" pitchFamily="2" charset="-122"/>
              </a:rPr>
              <a:t>H3</a:t>
            </a:r>
            <a:endParaRPr kumimoji="1" lang="en-US" altLang="zh-CN" sz="1800" b="1">
              <a:solidFill>
                <a:srgbClr val="000000"/>
              </a:solidFill>
              <a:latin typeface="Times New Roman" panose="02020603050405020304" pitchFamily="18" charset="0"/>
              <a:ea typeface="宋体" panose="02010600030101010101" pitchFamily="2" charset="-122"/>
            </a:endParaRPr>
          </a:p>
        </p:txBody>
      </p:sp>
      <p:sp>
        <p:nvSpPr>
          <p:cNvPr id="31" name="Rectangle 38"/>
          <p:cNvSpPr>
            <a:spLocks noChangeArrowheads="1"/>
          </p:cNvSpPr>
          <p:nvPr/>
        </p:nvSpPr>
        <p:spPr bwMode="auto">
          <a:xfrm>
            <a:off x="469219" y="5196791"/>
            <a:ext cx="7429576"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eaLnBrk="1" hangingPunct="1"/>
            <a:r>
              <a:rPr kumimoji="1" lang="zh-CN" altLang="en-US" sz="2400" b="1" dirty="0">
                <a:solidFill>
                  <a:srgbClr val="000000"/>
                </a:solidFill>
                <a:latin typeface="Times New Roman" panose="02020603050405020304" pitchFamily="18" charset="0"/>
                <a:ea typeface="宋体" panose="02010600030101010101" pitchFamily="2" charset="-122"/>
              </a:rPr>
              <a:t>图 </a:t>
            </a:r>
            <a:r>
              <a:rPr kumimoji="1" lang="en-US" altLang="zh-CN" sz="2400" b="1" dirty="0">
                <a:solidFill>
                  <a:srgbClr val="000000"/>
                </a:solidFill>
                <a:latin typeface="Times New Roman" panose="02020603050405020304" pitchFamily="18" charset="0"/>
                <a:ea typeface="宋体" panose="02010600030101010101" pitchFamily="2" charset="-122"/>
              </a:rPr>
              <a:t>6.4.11  </a:t>
            </a:r>
            <a:r>
              <a:rPr kumimoji="1" lang="zh-CN" altLang="en-US" sz="2400" b="1" dirty="0">
                <a:solidFill>
                  <a:srgbClr val="000000"/>
                </a:solidFill>
                <a:latin typeface="Times New Roman" panose="02020603050405020304" pitchFamily="18" charset="0"/>
                <a:ea typeface="宋体" panose="02010600030101010101" pitchFamily="2" charset="-122"/>
              </a:rPr>
              <a:t>超前相位补偿的渐近波特图与其它补偿比较 </a:t>
            </a:r>
            <a:endParaRPr kumimoji="1" lang="zh-CN" altLang="en-US" sz="2400" b="1" dirty="0">
              <a:solidFill>
                <a:srgbClr val="000000"/>
              </a:solidFill>
              <a:latin typeface="Times New Roman" panose="02020603050405020304" pitchFamily="18" charset="0"/>
              <a:ea typeface="宋体" panose="02010600030101010101" pitchFamily="2" charset="-122"/>
            </a:endParaRPr>
          </a:p>
        </p:txBody>
      </p:sp>
      <p:sp>
        <p:nvSpPr>
          <p:cNvPr id="32" name="Line 39"/>
          <p:cNvSpPr>
            <a:spLocks noChangeShapeType="1"/>
          </p:cNvSpPr>
          <p:nvPr/>
        </p:nvSpPr>
        <p:spPr bwMode="auto">
          <a:xfrm>
            <a:off x="827699" y="2284690"/>
            <a:ext cx="3889375" cy="0"/>
          </a:xfrm>
          <a:prstGeom prst="line">
            <a:avLst/>
          </a:prstGeom>
          <a:noFill/>
          <a:ln w="22225">
            <a:solidFill>
              <a:srgbClr val="0000FF"/>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3" name="Line 40"/>
          <p:cNvSpPr>
            <a:spLocks noChangeShapeType="1"/>
          </p:cNvSpPr>
          <p:nvPr/>
        </p:nvSpPr>
        <p:spPr bwMode="auto">
          <a:xfrm>
            <a:off x="4712313" y="2286278"/>
            <a:ext cx="828674" cy="498473"/>
          </a:xfrm>
          <a:prstGeom prst="line">
            <a:avLst/>
          </a:prstGeom>
          <a:noFill/>
          <a:ln w="22225">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4" name="Line 41"/>
          <p:cNvSpPr>
            <a:spLocks noChangeAspect="1" noChangeShapeType="1"/>
          </p:cNvSpPr>
          <p:nvPr/>
        </p:nvSpPr>
        <p:spPr bwMode="auto">
          <a:xfrm>
            <a:off x="5543598" y="2784752"/>
            <a:ext cx="1181664" cy="1436687"/>
          </a:xfrm>
          <a:prstGeom prst="line">
            <a:avLst/>
          </a:prstGeom>
          <a:noFill/>
          <a:ln w="22225">
            <a:solidFill>
              <a:srgbClr val="0000FF"/>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algn="ctr" defTabSz="914400" eaLnBrk="1" fontAlgn="auto" latinLnBrk="0" hangingPunct="1">
              <a:lnSpc>
                <a:spcPct val="100000"/>
              </a:lnSpc>
              <a:spcBef>
                <a:spcPct val="50000"/>
              </a:spcBef>
              <a:spcAft>
                <a:spcPts val="0"/>
              </a:spcAft>
              <a:buClrTx/>
              <a:buSzTx/>
              <a:buFontTx/>
              <a:buNone/>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35" name="Line 42"/>
          <p:cNvSpPr>
            <a:spLocks noChangeShapeType="1"/>
          </p:cNvSpPr>
          <p:nvPr/>
        </p:nvSpPr>
        <p:spPr bwMode="auto">
          <a:xfrm flipH="1">
            <a:off x="5259999" y="2038628"/>
            <a:ext cx="1588" cy="557212"/>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
        <p:nvSpPr>
          <p:cNvPr id="36" name="Rectangle 43"/>
          <p:cNvSpPr>
            <a:spLocks noChangeArrowheads="1"/>
          </p:cNvSpPr>
          <p:nvPr/>
        </p:nvSpPr>
        <p:spPr bwMode="auto">
          <a:xfrm>
            <a:off x="4843949" y="1700490"/>
            <a:ext cx="1111501"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eaLnBrk="1" hangingPunct="1">
              <a:spcBef>
                <a:spcPct val="50000"/>
              </a:spcBef>
            </a:pPr>
            <a:r>
              <a:rPr kumimoji="1" lang="zh-CN" altLang="en-US" sz="1800" dirty="0">
                <a:solidFill>
                  <a:srgbClr val="000000"/>
                </a:solidFill>
                <a:latin typeface="+mn-ea"/>
                <a:ea typeface="+mn-ea"/>
              </a:rPr>
              <a:t>超前补偿</a:t>
            </a:r>
            <a:endParaRPr kumimoji="1" lang="zh-CN" altLang="en-US" sz="1800" dirty="0">
              <a:solidFill>
                <a:srgbClr val="000000"/>
              </a:solidFill>
              <a:latin typeface="+mn-ea"/>
              <a:ea typeface="+mn-ea"/>
            </a:endParaRPr>
          </a:p>
        </p:txBody>
      </p:sp>
      <p:sp>
        <p:nvSpPr>
          <p:cNvPr id="37" name="Rectangle 48"/>
          <p:cNvSpPr>
            <a:spLocks noChangeArrowheads="1"/>
          </p:cNvSpPr>
          <p:nvPr/>
        </p:nvSpPr>
        <p:spPr bwMode="auto">
          <a:xfrm>
            <a:off x="5164231" y="2267228"/>
            <a:ext cx="2506112"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eaLnBrk="1" hangingPunct="1">
              <a:spcBef>
                <a:spcPct val="50000"/>
              </a:spcBef>
            </a:pPr>
            <a:r>
              <a:rPr kumimoji="1" lang="zh-CN" altLang="en-US" sz="1800" dirty="0">
                <a:solidFill>
                  <a:srgbClr val="0000FF"/>
                </a:solidFill>
                <a:latin typeface="+mn-ea"/>
                <a:ea typeface="+mn-ea"/>
              </a:rPr>
              <a:t>引入零点抵消第一极点</a:t>
            </a:r>
            <a:endParaRPr kumimoji="1" lang="zh-CN" altLang="en-US" sz="1800" dirty="0">
              <a:solidFill>
                <a:srgbClr val="0000FF"/>
              </a:solidFill>
              <a:latin typeface="+mn-ea"/>
              <a:ea typeface="+mn-ea"/>
            </a:endParaRPr>
          </a:p>
        </p:txBody>
      </p:sp>
      <p:sp>
        <p:nvSpPr>
          <p:cNvPr id="38" name="Rectangle 49"/>
          <p:cNvSpPr>
            <a:spLocks noChangeArrowheads="1"/>
          </p:cNvSpPr>
          <p:nvPr/>
        </p:nvSpPr>
        <p:spPr bwMode="auto">
          <a:xfrm>
            <a:off x="5781961" y="4599414"/>
            <a:ext cx="2506112" cy="37151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ctr" eaLnBrk="1" hangingPunct="1">
              <a:spcBef>
                <a:spcPct val="50000"/>
              </a:spcBef>
            </a:pPr>
            <a:r>
              <a:rPr kumimoji="1" lang="zh-CN" altLang="en-US" sz="1800" dirty="0">
                <a:solidFill>
                  <a:srgbClr val="FF0000"/>
                </a:solidFill>
                <a:latin typeface="+mn-ea"/>
                <a:ea typeface="+mn-ea"/>
              </a:rPr>
              <a:t>引入零点抵消第二极点</a:t>
            </a:r>
            <a:endParaRPr kumimoji="1" lang="zh-CN" altLang="en-US" sz="1800" dirty="0">
              <a:solidFill>
                <a:srgbClr val="FF0000"/>
              </a:solidFill>
              <a:latin typeface="+mn-ea"/>
              <a:ea typeface="+mn-ea"/>
            </a:endParaRPr>
          </a:p>
        </p:txBody>
      </p:sp>
      <p:sp>
        <p:nvSpPr>
          <p:cNvPr id="39" name="Line 56"/>
          <p:cNvSpPr>
            <a:spLocks noChangeShapeType="1"/>
          </p:cNvSpPr>
          <p:nvPr/>
        </p:nvSpPr>
        <p:spPr bwMode="auto">
          <a:xfrm flipH="1">
            <a:off x="1859574" y="1940203"/>
            <a:ext cx="0" cy="614362"/>
          </a:xfrm>
          <a:prstGeom prst="line">
            <a:avLst/>
          </a:prstGeom>
          <a:noFill/>
          <a:ln w="12700">
            <a:solidFill>
              <a:srgbClr val="00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spcBef>
                <a:spcPct val="50000"/>
              </a:spcBef>
            </a:pPr>
            <a:endParaRPr kumimoji="1" lang="zh-CN" altLang="en-US" sz="2400">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left)">
                                      <p:cBhvr>
                                        <p:cTn id="1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fld id="{68DD4991-3C44-4412-A771-7494E33D12FC}" type="slidenum">
              <a:rPr lang="zh-CN" altLang="zh-CN" sz="1400" smtClean="0"/>
            </a:fld>
            <a:endParaRPr lang="zh-CN" altLang="zh-CN" sz="1400" smtClean="0"/>
          </a:p>
        </p:txBody>
      </p:sp>
      <p:sp>
        <p:nvSpPr>
          <p:cNvPr id="91139" name="Text Box 2"/>
          <p:cNvSpPr txBox="1">
            <a:spLocks noChangeArrowheads="1"/>
          </p:cNvSpPr>
          <p:nvPr/>
        </p:nvSpPr>
        <p:spPr bwMode="auto">
          <a:xfrm>
            <a:off x="3611563" y="1457325"/>
            <a:ext cx="133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zh-CN">
                <a:latin typeface="Times New Roman" panose="02020603050405020304" pitchFamily="18" charset="0"/>
              </a:rPr>
              <a:t>作  业</a:t>
            </a:r>
            <a:endParaRPr lang="zh-CN" altLang="zh-CN">
              <a:latin typeface="Times New Roman" panose="02020603050405020304" pitchFamily="18" charset="0"/>
            </a:endParaRPr>
          </a:p>
        </p:txBody>
      </p:sp>
      <p:sp>
        <p:nvSpPr>
          <p:cNvPr id="91140" name="Rectangle 3"/>
          <p:cNvSpPr>
            <a:spLocks noChangeArrowheads="1"/>
          </p:cNvSpPr>
          <p:nvPr/>
        </p:nvSpPr>
        <p:spPr bwMode="auto">
          <a:xfrm>
            <a:off x="3952875" y="2173605"/>
            <a:ext cx="135318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dirty="0">
                <a:latin typeface="Times New Roman" panose="02020603050405020304" pitchFamily="18" charset="0"/>
              </a:rPr>
              <a:t>6.1，</a:t>
            </a:r>
            <a:r>
              <a:rPr lang="en-US" altLang="zh-CN" sz="2800" dirty="0">
                <a:latin typeface="Times New Roman" panose="02020603050405020304" pitchFamily="18" charset="0"/>
              </a:rPr>
              <a:t> 6.2</a:t>
            </a:r>
            <a:endParaRPr lang="en-US" altLang="zh-CN" sz="2800" dirty="0">
              <a:latin typeface="Times New Roman" panose="02020603050405020304" pitchFamily="18" charset="0"/>
            </a:endParaRPr>
          </a:p>
        </p:txBody>
      </p:sp>
      <p:sp>
        <p:nvSpPr>
          <p:cNvPr id="91142" name="Rectangle 5"/>
          <p:cNvSpPr>
            <a:spLocks noChangeArrowheads="1"/>
          </p:cNvSpPr>
          <p:nvPr/>
        </p:nvSpPr>
        <p:spPr bwMode="auto">
          <a:xfrm>
            <a:off x="3793491" y="2762024"/>
            <a:ext cx="1672590"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dirty="0">
                <a:latin typeface="Times New Roman" panose="02020603050405020304" pitchFamily="18" charset="0"/>
              </a:rPr>
              <a:t>6.9</a:t>
            </a:r>
            <a:r>
              <a:rPr lang="zh-CN" altLang="en-US" sz="2800" dirty="0">
                <a:latin typeface="Times New Roman" panose="02020603050405020304" pitchFamily="18" charset="0"/>
              </a:rPr>
              <a:t>，</a:t>
            </a:r>
            <a:r>
              <a:rPr lang="en-US" altLang="zh-CN" sz="2800" dirty="0">
                <a:latin typeface="Times New Roman" panose="02020603050405020304" pitchFamily="18" charset="0"/>
              </a:rPr>
              <a:t> </a:t>
            </a:r>
            <a:r>
              <a:rPr lang="zh-CN" altLang="zh-CN" sz="2800" dirty="0">
                <a:latin typeface="Times New Roman" panose="02020603050405020304" pitchFamily="18" charset="0"/>
              </a:rPr>
              <a:t>6</a:t>
            </a:r>
            <a:r>
              <a:rPr lang="zh-CN" altLang="zh-CN" sz="2800" dirty="0" smtClean="0">
                <a:latin typeface="Times New Roman" panose="02020603050405020304" pitchFamily="18" charset="0"/>
              </a:rPr>
              <a:t>.</a:t>
            </a:r>
            <a:r>
              <a:rPr lang="en-US" altLang="zh-CN" sz="2800" dirty="0" smtClean="0">
                <a:latin typeface="Times New Roman" panose="02020603050405020304" pitchFamily="18" charset="0"/>
              </a:rPr>
              <a:t>11</a:t>
            </a:r>
            <a:endParaRPr lang="zh-CN" altLang="zh-CN" sz="2800" dirty="0">
              <a:latin typeface="Times New Roman" panose="02020603050405020304" pitchFamily="18" charset="0"/>
            </a:endParaRPr>
          </a:p>
        </p:txBody>
      </p:sp>
      <p:sp>
        <p:nvSpPr>
          <p:cNvPr id="91143" name="Rectangle 6"/>
          <p:cNvSpPr>
            <a:spLocks noChangeArrowheads="1"/>
          </p:cNvSpPr>
          <p:nvPr/>
        </p:nvSpPr>
        <p:spPr bwMode="auto">
          <a:xfrm>
            <a:off x="3855403" y="3429091"/>
            <a:ext cx="1781175"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zh-CN" sz="2800">
                <a:latin typeface="Times New Roman" panose="02020603050405020304" pitchFamily="18" charset="0"/>
              </a:rPr>
              <a:t>6.13，</a:t>
            </a:r>
            <a:r>
              <a:rPr lang="en-US" altLang="zh-CN" sz="2800">
                <a:latin typeface="Times New Roman" panose="02020603050405020304" pitchFamily="18" charset="0"/>
              </a:rPr>
              <a:t>6.15</a:t>
            </a:r>
            <a:endParaRPr lang="en-US" altLang="zh-CN" sz="2800">
              <a:latin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古瓶荷花">
  <a:themeElements>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第六章</Template>
  <TotalTime>0</TotalTime>
  <Words>7276</Words>
  <Application>WPS 演示</Application>
  <PresentationFormat>全屏显示(4:3)</PresentationFormat>
  <Paragraphs>2056</Paragraphs>
  <Slides>97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128</vt:i4>
      </vt:variant>
      <vt:variant>
        <vt:lpstr>幻灯片标题</vt:lpstr>
      </vt:variant>
      <vt:variant>
        <vt:i4>97</vt:i4>
      </vt:variant>
    </vt:vector>
  </HeadingPairs>
  <TitlesOfParts>
    <vt:vector size="237" baseType="lpstr">
      <vt:lpstr>Arial</vt:lpstr>
      <vt:lpstr>宋体</vt:lpstr>
      <vt:lpstr>Wingdings</vt:lpstr>
      <vt:lpstr>Times New Roman</vt:lpstr>
      <vt:lpstr>Symbol</vt:lpstr>
      <vt:lpstr>微软雅黑</vt:lpstr>
      <vt:lpstr>Arial Unicode MS</vt:lpstr>
      <vt:lpstr>TimesNewRomanPSMT</vt:lpstr>
      <vt:lpstr>黑体</vt:lpstr>
      <vt:lpstr>TimesNewRomanPS-ItalicMT</vt:lpstr>
      <vt:lpstr>Segoe Print</vt:lpstr>
      <vt:lpstr>古瓶荷花</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Visio.Drawing.11</vt:lpstr>
      <vt:lpstr>Equation.3</vt:lpstr>
      <vt:lpstr>Visio.Drawing.11</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Visio.Drawing.11</vt:lpstr>
      <vt:lpstr>Equation.3</vt:lpstr>
      <vt:lpstr>Visio.Drawing.11</vt:lpstr>
      <vt:lpstr>Visio.Drawing.11</vt:lpstr>
      <vt:lpstr>Equation.3</vt:lpstr>
      <vt:lpstr>Visio.Drawing.11</vt:lpstr>
      <vt:lpstr>Visio.Drawing.11</vt:lpstr>
      <vt:lpstr>Equation.3</vt:lpstr>
      <vt:lpstr>Equation.3</vt:lpstr>
      <vt:lpstr>Equation.DSMT4</vt:lpstr>
      <vt:lpstr>Visio.Drawing.11</vt:lpstr>
      <vt:lpstr>Equation.3</vt:lpstr>
      <vt:lpstr>Visio.Drawing.11</vt:lpstr>
      <vt:lpstr>Equation.3</vt:lpstr>
      <vt:lpstr>Visio.Drawing.11</vt:lpstr>
      <vt:lpstr>Visio.Drawing.11</vt:lpstr>
      <vt:lpstr>Equation.3</vt:lpstr>
      <vt:lpstr>Equation.3</vt:lpstr>
      <vt:lpstr>Visio.Drawing.11</vt:lpstr>
      <vt:lpstr>Visio.Drawing.11</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第六章  反馈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结论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反馈</dc:title>
  <dc:creator>Microsoft</dc:creator>
  <cp:lastModifiedBy>邓丽城</cp:lastModifiedBy>
  <cp:revision>39</cp:revision>
  <dcterms:created xsi:type="dcterms:W3CDTF">2023-11-26T14:22:00Z</dcterms:created>
  <dcterms:modified xsi:type="dcterms:W3CDTF">2025-11-06T06:44:38Z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4D749F84D2984A7F8D9C59A7CE51DBC8_12</vt:lpwstr>
  </property>
</Properties>
</file>